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2" r:id="rId5"/>
    <p:sldMasterId id="2147483695" r:id="rId6"/>
    <p:sldMasterId id="2147483705" r:id="rId7"/>
  </p:sldMasterIdLst>
  <p:notesMasterIdLst>
    <p:notesMasterId r:id="rId67"/>
  </p:notesMasterIdLst>
  <p:sldIdLst>
    <p:sldId id="309" r:id="rId8"/>
    <p:sldId id="346" r:id="rId9"/>
    <p:sldId id="345" r:id="rId10"/>
    <p:sldId id="319" r:id="rId11"/>
    <p:sldId id="320" r:id="rId12"/>
    <p:sldId id="321" r:id="rId13"/>
    <p:sldId id="326" r:id="rId14"/>
    <p:sldId id="322" r:id="rId15"/>
    <p:sldId id="323" r:id="rId16"/>
    <p:sldId id="324" r:id="rId17"/>
    <p:sldId id="11610" r:id="rId18"/>
    <p:sldId id="325" r:id="rId19"/>
    <p:sldId id="318" r:id="rId20"/>
    <p:sldId id="312" r:id="rId21"/>
    <p:sldId id="267" r:id="rId22"/>
    <p:sldId id="11609" r:id="rId23"/>
    <p:sldId id="327" r:id="rId24"/>
    <p:sldId id="11608" r:id="rId25"/>
    <p:sldId id="329" r:id="rId26"/>
    <p:sldId id="330" r:id="rId27"/>
    <p:sldId id="331" r:id="rId28"/>
    <p:sldId id="332" r:id="rId29"/>
    <p:sldId id="328" r:id="rId30"/>
    <p:sldId id="315" r:id="rId31"/>
    <p:sldId id="316" r:id="rId32"/>
    <p:sldId id="310" r:id="rId33"/>
    <p:sldId id="347" r:id="rId34"/>
    <p:sldId id="317" r:id="rId35"/>
    <p:sldId id="11496" r:id="rId36"/>
    <p:sldId id="4028" r:id="rId37"/>
    <p:sldId id="4029" r:id="rId38"/>
    <p:sldId id="11590" r:id="rId39"/>
    <p:sldId id="4021" r:id="rId40"/>
    <p:sldId id="333" r:id="rId41"/>
    <p:sldId id="335" r:id="rId42"/>
    <p:sldId id="336" r:id="rId43"/>
    <p:sldId id="337" r:id="rId44"/>
    <p:sldId id="339" r:id="rId45"/>
    <p:sldId id="340" r:id="rId46"/>
    <p:sldId id="338" r:id="rId47"/>
    <p:sldId id="334" r:id="rId48"/>
    <p:sldId id="341" r:id="rId49"/>
    <p:sldId id="313" r:id="rId50"/>
    <p:sldId id="11591" r:id="rId51"/>
    <p:sldId id="343" r:id="rId52"/>
    <p:sldId id="11592" r:id="rId53"/>
    <p:sldId id="11593" r:id="rId54"/>
    <p:sldId id="11594" r:id="rId55"/>
    <p:sldId id="11595" r:id="rId56"/>
    <p:sldId id="11596" r:id="rId57"/>
    <p:sldId id="11597" r:id="rId58"/>
    <p:sldId id="11607" r:id="rId59"/>
    <p:sldId id="11598" r:id="rId60"/>
    <p:sldId id="11599" r:id="rId61"/>
    <p:sldId id="11600" r:id="rId62"/>
    <p:sldId id="11601" r:id="rId63"/>
    <p:sldId id="11602" r:id="rId64"/>
    <p:sldId id="11603" r:id="rId65"/>
    <p:sldId id="11604" r:id="rId66"/>
  </p:sldIdLst>
  <p:sldSz cx="17345025" cy="9752013"/>
  <p:notesSz cx="6858000" cy="1866900"/>
  <p:defaultTextStyle>
    <a:defPPr>
      <a:defRPr lang="nb-NO"/>
    </a:defPPr>
    <a:lvl1pPr marL="0" algn="l" defTabSz="1300643" rtl="0" eaLnBrk="1" latinLnBrk="0" hangingPunct="1">
      <a:defRPr sz="2560" kern="1200">
        <a:solidFill>
          <a:schemeClr val="tx1"/>
        </a:solidFill>
        <a:latin typeface="+mn-lt"/>
        <a:ea typeface="+mn-ea"/>
        <a:cs typeface="+mn-cs"/>
      </a:defRPr>
    </a:lvl1pPr>
    <a:lvl2pPr marL="650321" algn="l" defTabSz="1300643" rtl="0" eaLnBrk="1" latinLnBrk="0" hangingPunct="1">
      <a:defRPr sz="2560" kern="1200">
        <a:solidFill>
          <a:schemeClr val="tx1"/>
        </a:solidFill>
        <a:latin typeface="+mn-lt"/>
        <a:ea typeface="+mn-ea"/>
        <a:cs typeface="+mn-cs"/>
      </a:defRPr>
    </a:lvl2pPr>
    <a:lvl3pPr marL="1300643" algn="l" defTabSz="1300643" rtl="0" eaLnBrk="1" latinLnBrk="0" hangingPunct="1">
      <a:defRPr sz="2560" kern="1200">
        <a:solidFill>
          <a:schemeClr val="tx1"/>
        </a:solidFill>
        <a:latin typeface="+mn-lt"/>
        <a:ea typeface="+mn-ea"/>
        <a:cs typeface="+mn-cs"/>
      </a:defRPr>
    </a:lvl3pPr>
    <a:lvl4pPr marL="1950964" algn="l" defTabSz="1300643" rtl="0" eaLnBrk="1" latinLnBrk="0" hangingPunct="1">
      <a:defRPr sz="2560" kern="1200">
        <a:solidFill>
          <a:schemeClr val="tx1"/>
        </a:solidFill>
        <a:latin typeface="+mn-lt"/>
        <a:ea typeface="+mn-ea"/>
        <a:cs typeface="+mn-cs"/>
      </a:defRPr>
    </a:lvl4pPr>
    <a:lvl5pPr marL="2601285" algn="l" defTabSz="1300643" rtl="0" eaLnBrk="1" latinLnBrk="0" hangingPunct="1">
      <a:defRPr sz="2560" kern="1200">
        <a:solidFill>
          <a:schemeClr val="tx1"/>
        </a:solidFill>
        <a:latin typeface="+mn-lt"/>
        <a:ea typeface="+mn-ea"/>
        <a:cs typeface="+mn-cs"/>
      </a:defRPr>
    </a:lvl5pPr>
    <a:lvl6pPr marL="3251606" algn="l" defTabSz="1300643" rtl="0" eaLnBrk="1" latinLnBrk="0" hangingPunct="1">
      <a:defRPr sz="2560" kern="1200">
        <a:solidFill>
          <a:schemeClr val="tx1"/>
        </a:solidFill>
        <a:latin typeface="+mn-lt"/>
        <a:ea typeface="+mn-ea"/>
        <a:cs typeface="+mn-cs"/>
      </a:defRPr>
    </a:lvl6pPr>
    <a:lvl7pPr marL="3901928" algn="l" defTabSz="1300643" rtl="0" eaLnBrk="1" latinLnBrk="0" hangingPunct="1">
      <a:defRPr sz="2560" kern="1200">
        <a:solidFill>
          <a:schemeClr val="tx1"/>
        </a:solidFill>
        <a:latin typeface="+mn-lt"/>
        <a:ea typeface="+mn-ea"/>
        <a:cs typeface="+mn-cs"/>
      </a:defRPr>
    </a:lvl7pPr>
    <a:lvl8pPr marL="4552249" algn="l" defTabSz="1300643" rtl="0" eaLnBrk="1" latinLnBrk="0" hangingPunct="1">
      <a:defRPr sz="2560" kern="1200">
        <a:solidFill>
          <a:schemeClr val="tx1"/>
        </a:solidFill>
        <a:latin typeface="+mn-lt"/>
        <a:ea typeface="+mn-ea"/>
        <a:cs typeface="+mn-cs"/>
      </a:defRPr>
    </a:lvl8pPr>
    <a:lvl9pPr marL="5202570" algn="l" defTabSz="1300643"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0DDD49-8066-4352-B6B5-FC1A8E5854EA}">
  <a:tblStyle styleId="{5F0DDD49-8066-4352-B6B5-FC1A8E5854EA}" styleName="Oslo Met tabellstil">
    <a:wholeTbl>
      <a:tcTxStyle>
        <a:fontRef idx="minor">
          <a:prstClr val="black"/>
        </a:fontRef>
        <a:schemeClr val="dk1"/>
      </a:tcTxStyle>
      <a:tcStyle>
        <a:tcBdr>
          <a:left>
            <a:ln w="0" cmpd="sng">
              <a:solidFill>
                <a:schemeClr val="lt1"/>
              </a:solidFill>
            </a:ln>
          </a:left>
          <a:right>
            <a:ln w="0" cmpd="sng">
              <a:solidFill>
                <a:schemeClr val="lt1"/>
              </a:solidFill>
            </a:ln>
          </a:right>
          <a:top>
            <a:ln w="6350" cmpd="sng">
              <a:solidFill>
                <a:srgbClr val="D7D7D7"/>
              </a:solidFill>
            </a:ln>
          </a:top>
          <a:bottom>
            <a:ln w="6350" cmpd="sng">
              <a:solidFill>
                <a:srgbClr val="D7D7D7"/>
              </a:solidFill>
            </a:ln>
          </a:bottom>
          <a:insideH>
            <a:ln w="6350" cmpd="sng">
              <a:solidFill>
                <a:srgbClr val="D7D7D7"/>
              </a:solidFill>
            </a:ln>
          </a:insideH>
          <a:insideV>
            <a:ln w="0" cmpd="sng">
              <a:solidFill>
                <a:schemeClr val="lt1"/>
              </a:solidFill>
            </a:ln>
          </a:insideV>
        </a:tcBdr>
        <a:fill>
          <a:solidFill>
            <a:schemeClr val="lt1"/>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dk1"/>
      </a:tcTxStyle>
      <a:tcStyle>
        <a:tcBdr/>
        <a:fill>
          <a:solidFill>
            <a:schemeClr val="lt1"/>
          </a:solidFill>
        </a:fill>
      </a:tcStyle>
    </a:lastCol>
    <a:firstCol>
      <a:tcTxStyle b="on">
        <a:fontRef idx="minor">
          <a:prstClr val="black"/>
        </a:fontRef>
        <a:schemeClr val="dk1"/>
      </a:tcTxStyle>
      <a:tcStyle>
        <a:tcBdr/>
        <a:fill>
          <a:solidFill>
            <a:schemeClr val="lt1"/>
          </a:solidFill>
        </a:fill>
      </a:tcStyle>
    </a:firstCol>
    <a:lastRow>
      <a:tcTxStyle b="on">
        <a:fontRef idx="minor">
          <a:prstClr val="black"/>
        </a:fontRef>
        <a:schemeClr val="dk1"/>
      </a:tcTxStyle>
      <a:tcStyle>
        <a:tcBdr>
          <a:top>
            <a:ln w="19050" cmpd="sng">
              <a:solidFill>
                <a:schemeClr val="accent1"/>
              </a:solidFill>
            </a:ln>
          </a:top>
          <a:bottom>
            <a:ln w="19050" cmpd="sng">
              <a:solidFill>
                <a:schemeClr val="accent1"/>
              </a:solidFill>
            </a:ln>
          </a:bottom>
        </a:tcBdr>
        <a:fill>
          <a:noFill/>
        </a:fill>
      </a:tcStyle>
    </a:lastRow>
    <a:firstRow>
      <a:tcTxStyle b="on">
        <a:fontRef idx="minor">
          <a:prstClr val="black"/>
        </a:fontRef>
        <a:schemeClr val="dk1"/>
      </a:tcTxStyle>
      <a:tcStyle>
        <a:tcBdr>
          <a:bottom>
            <a:ln w="19050" cmpd="sng">
              <a:solidFill>
                <a:schemeClr val="accent1"/>
              </a:solidFill>
            </a:ln>
          </a:bottom>
        </a:tcBdr>
        <a:fill>
          <a:noFill/>
        </a:fill>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ys stil 1 – utheving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2" autoAdjust="0"/>
    <p:restoredTop sz="75616" autoAdjust="0"/>
  </p:normalViewPr>
  <p:slideViewPr>
    <p:cSldViewPr snapToGrid="0">
      <p:cViewPr varScale="1">
        <p:scale>
          <a:sx n="61" d="100"/>
          <a:sy n="61" d="100"/>
        </p:scale>
        <p:origin x="256" y="3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B7B040-7AAC-4A31-805D-A772300221D6}" type="datetimeFigureOut">
              <a:rPr lang="en-US" smtClean="0"/>
              <a:t>9/8/26</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C6333F-E368-4746-A020-FE91A90E005B}" type="slidenum">
              <a:rPr lang="en-US" smtClean="0"/>
              <a:t>‹#›</a:t>
            </a:fld>
            <a:endParaRPr lang="en-US"/>
          </a:p>
        </p:txBody>
      </p:sp>
    </p:spTree>
    <p:extLst>
      <p:ext uri="{BB962C8B-B14F-4D97-AF65-F5344CB8AC3E}">
        <p14:creationId xmlns:p14="http://schemas.microsoft.com/office/powerpoint/2010/main" val="1894998186"/>
      </p:ext>
    </p:extLst>
  </p:cSld>
  <p:clrMap bg1="lt1" tx1="dk1" bg2="lt2" tx2="dk2" accent1="accent1" accent2="accent2" accent3="accent3" accent4="accent4" accent5="accent5" accent6="accent6" hlink="hlink" folHlink="folHlink"/>
  <p:notesStyle>
    <a:lvl1pPr marL="0" algn="l" defTabSz="1300643" rtl="0" eaLnBrk="1" latinLnBrk="0" hangingPunct="1">
      <a:defRPr sz="1707" kern="1200">
        <a:solidFill>
          <a:schemeClr val="tx1"/>
        </a:solidFill>
        <a:latin typeface="+mn-lt"/>
        <a:ea typeface="+mn-ea"/>
        <a:cs typeface="+mn-cs"/>
      </a:defRPr>
    </a:lvl1pPr>
    <a:lvl2pPr marL="650321" algn="l" defTabSz="1300643" rtl="0" eaLnBrk="1" latinLnBrk="0" hangingPunct="1">
      <a:defRPr sz="1707" kern="1200">
        <a:solidFill>
          <a:schemeClr val="tx1"/>
        </a:solidFill>
        <a:latin typeface="+mn-lt"/>
        <a:ea typeface="+mn-ea"/>
        <a:cs typeface="+mn-cs"/>
      </a:defRPr>
    </a:lvl2pPr>
    <a:lvl3pPr marL="1300643" algn="l" defTabSz="1300643" rtl="0" eaLnBrk="1" latinLnBrk="0" hangingPunct="1">
      <a:defRPr sz="1707" kern="1200">
        <a:solidFill>
          <a:schemeClr val="tx1"/>
        </a:solidFill>
        <a:latin typeface="+mn-lt"/>
        <a:ea typeface="+mn-ea"/>
        <a:cs typeface="+mn-cs"/>
      </a:defRPr>
    </a:lvl3pPr>
    <a:lvl4pPr marL="1950964" algn="l" defTabSz="1300643" rtl="0" eaLnBrk="1" latinLnBrk="0" hangingPunct="1">
      <a:defRPr sz="1707" kern="1200">
        <a:solidFill>
          <a:schemeClr val="tx1"/>
        </a:solidFill>
        <a:latin typeface="+mn-lt"/>
        <a:ea typeface="+mn-ea"/>
        <a:cs typeface="+mn-cs"/>
      </a:defRPr>
    </a:lvl4pPr>
    <a:lvl5pPr marL="2601285" algn="l" defTabSz="1300643" rtl="0" eaLnBrk="1" latinLnBrk="0" hangingPunct="1">
      <a:defRPr sz="1707" kern="1200">
        <a:solidFill>
          <a:schemeClr val="tx1"/>
        </a:solidFill>
        <a:latin typeface="+mn-lt"/>
        <a:ea typeface="+mn-ea"/>
        <a:cs typeface="+mn-cs"/>
      </a:defRPr>
    </a:lvl5pPr>
    <a:lvl6pPr marL="3251606" algn="l" defTabSz="1300643" rtl="0" eaLnBrk="1" latinLnBrk="0" hangingPunct="1">
      <a:defRPr sz="1707" kern="1200">
        <a:solidFill>
          <a:schemeClr val="tx1"/>
        </a:solidFill>
        <a:latin typeface="+mn-lt"/>
        <a:ea typeface="+mn-ea"/>
        <a:cs typeface="+mn-cs"/>
      </a:defRPr>
    </a:lvl6pPr>
    <a:lvl7pPr marL="3901928" algn="l" defTabSz="1300643" rtl="0" eaLnBrk="1" latinLnBrk="0" hangingPunct="1">
      <a:defRPr sz="1707" kern="1200">
        <a:solidFill>
          <a:schemeClr val="tx1"/>
        </a:solidFill>
        <a:latin typeface="+mn-lt"/>
        <a:ea typeface="+mn-ea"/>
        <a:cs typeface="+mn-cs"/>
      </a:defRPr>
    </a:lvl7pPr>
    <a:lvl8pPr marL="4552249" algn="l" defTabSz="1300643" rtl="0" eaLnBrk="1" latinLnBrk="0" hangingPunct="1">
      <a:defRPr sz="1707" kern="1200">
        <a:solidFill>
          <a:schemeClr val="tx1"/>
        </a:solidFill>
        <a:latin typeface="+mn-lt"/>
        <a:ea typeface="+mn-ea"/>
        <a:cs typeface="+mn-cs"/>
      </a:defRPr>
    </a:lvl8pPr>
    <a:lvl9pPr marL="5202570" algn="l" defTabSz="1300643" rtl="0" eaLnBrk="1" latinLnBrk="0" hangingPunct="1">
      <a:defRPr sz="170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Scatter_plot"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en.wikipedia.org/wiki/Iris_flower_data_set"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Machine learning is the part of artificial intelligence where a program works out its own rules from examples, instead of being given rules by a programmer.</a:t>
            </a:r>
          </a:p>
          <a:p>
            <a:endParaRPr/>
          </a:p>
          <a:p>
            <a:r>
              <a:t>This lecture covers what machine learning is, the main types of it, and then one algorithm in full: linear regression, including how to measure how wrong it is.</a:t>
            </a:r>
          </a:p>
          <a:p>
            <a:endParaRPr/>
          </a:p>
          <a:p>
            <a:r>
              <a:t>Reading: Elements of AI, Chapter 4 — the sections on types of machine learning and on linear regression.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slides borrow from a course on supervised machine learning (DIKU 004). The file is on Canvas together with the lecture.</a:t>
            </a:r>
          </a:p>
          <a:p>
            <a:endParaRPr/>
          </a:p>
          <a:p>
            <a:r>
              <a:t>The other two resources for this part of the course are Elements of AI Chapter 4, which covers the same ground more slowly, and Machine Learning Yearning by Andrew Ng, which is about how to run a machine learning project rather than about the algorithms.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ideas come before any machine learning: probability, because a model gives you an estimate with uncertainty attached rather than a certainty, and statistics, because you have to understand a dataset before you can model it.</a:t>
            </a:r>
          </a:p>
          <a:p>
            <a:endParaRPr/>
          </a:p>
          <a:p>
            <a:r>
              <a:t>Neither is treated in depth here. What follows is the minimum needed to read the rest of the course.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Whenever we’re unsure about the outcome of an event, we can talk about the probabilities of certain outcomes—how likely they are. The analysis of events governed by probability is called statistics.</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4</a:t>
            </a:fld>
            <a:endParaRPr lang="en-US"/>
          </a:p>
        </p:txBody>
      </p:sp>
    </p:spTree>
    <p:extLst>
      <p:ext uri="{BB962C8B-B14F-4D97-AF65-F5344CB8AC3E}">
        <p14:creationId xmlns:p14="http://schemas.microsoft.com/office/powerpoint/2010/main" val="1585517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fair coin has two possible outcomes and one of them is heads, so the probability is one out of two: 0.5, or 50%.</a:t>
            </a:r>
          </a:p>
          <a:p>
            <a:endParaRPr/>
          </a:p>
          <a:p>
            <a:r>
              <a:t>The formula assumes every outcome is equally likely, which is true for a fair coin and usually false in real data. Working out the probability of something in a real dataset normally means counting how often it happened, not counting possibilities.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questions on one die. The probability of rolling a one is 1/6, about 17%. The probability of rolling a one or a six is 2/6, which is 1/3, about 33%.</a:t>
            </a:r>
          </a:p>
          <a:p>
            <a:endParaRPr/>
          </a:p>
          <a:p>
            <a:r>
              <a:t>The probabilities add together because the two outcomes are mutually exclusive — a single die cannot show a one and a six at the same time. When events can happen together, adding them counts the overlap twice.</a:t>
            </a:r>
          </a:p>
          <a:p>
            <a:endParaRPr/>
          </a:p>
          <a:p>
            <a:r>
              <a:t>https://www.khanacademy.org/math/statistics-probability/probability-library/basic-theoretical-probability/a/probability-the-basics</a:t>
            </a:r>
          </a:p>
        </p:txBody>
      </p:sp>
      <p:sp>
        <p:nvSpPr>
          <p:cNvPr id="4" name="Slide Number Placeholder 3"/>
          <p:cNvSpPr>
            <a:spLocks noGrp="1"/>
          </p:cNvSpPr>
          <p:nvPr>
            <p:ph type="sldNum" sz="quarter" idx="5"/>
          </p:nvPr>
        </p:nvSpPr>
        <p:spPr/>
        <p:txBody>
          <a:bodyPr/>
          <a:lstStyle/>
          <a:p>
            <a:fld id="{61C6333F-E368-4746-A020-FE91A90E005B}" type="slidenum">
              <a:rPr lang="en-US" smtClean="0"/>
              <a:t>6</a:t>
            </a:fld>
            <a:endParaRPr lang="en-US"/>
          </a:p>
        </p:txBody>
      </p:sp>
    </p:spTree>
    <p:extLst>
      <p:ext uri="{BB962C8B-B14F-4D97-AF65-F5344CB8AC3E}">
        <p14:creationId xmlns:p14="http://schemas.microsoft.com/office/powerpoint/2010/main" val="1830761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very different uses of the same mathematics.</a:t>
            </a:r>
          </a:p>
          <a:p>
            <a:endParaRPr/>
          </a:p>
          <a:p>
            <a:r>
              <a:t>A self-driving car has to act while uncertain: its software assigns probabilities to what an object beside the road is and to what it will do next, and then chooses an action that is safe across those possibilities.</a:t>
            </a:r>
          </a:p>
          <a:p>
            <a:endParaRPr/>
          </a:p>
          <a:p>
            <a:r>
              <a:t>The spreadsheet does something far more ordinary — Excel's PROB function gives the probability that product sales land between 50 and 80, which comes to 0.68. Forecasting in a business works on exactly the same principles as the car.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Statistics comes in two halves. Descriptive statistics summarise the data you have: the mean, the median, the quartiles, the counts. That is what describe() produced last week.</a:t>
            </a:r>
          </a:p>
          <a:p>
            <a:endParaRPr/>
          </a:p>
          <a:p>
            <a:r>
              <a:t>Inferential statistics use a sample to draw conclusions about a larger population, with a statement about how confident you can be.</a:t>
            </a:r>
          </a:p>
          <a:p>
            <a:endParaRPr/>
          </a:p>
          <a:p>
            <a:r>
              <a:t>In this lecture statistics is used for a third purpose: looking for relationships in the data that are worth building a model around.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Titanic passenger list is the standard first dataset in machine learning: 891 passengers, twelve columns, and one column recording whether each person survived.</a:t>
            </a:r>
          </a:p>
          <a:p>
            <a:endParaRPr/>
          </a:p>
          <a:p>
            <a:r>
              <a:t>It is used throughout this course because it is small enough to read by eye and rich enough to be interesting — it contains numbers, categories, missing values and a clear question to answer.</a:t>
            </a:r>
          </a:p>
          <a:p>
            <a:endParaRPr/>
          </a:p>
          <a:p>
            <a:r>
              <a:t>Ref: https://www.kaggle.com/masumrumi/a-statistical-analysis-ml-workflow-of-titanic</a:t>
            </a:r>
          </a:p>
        </p:txBody>
      </p:sp>
      <p:sp>
        <p:nvSpPr>
          <p:cNvPr id="4" name="Slide Number Placeholder 3"/>
          <p:cNvSpPr>
            <a:spLocks noGrp="1"/>
          </p:cNvSpPr>
          <p:nvPr>
            <p:ph type="sldNum" sz="quarter" idx="5"/>
          </p:nvPr>
        </p:nvSpPr>
        <p:spPr/>
        <p:txBody>
          <a:bodyPr/>
          <a:lstStyle/>
          <a:p>
            <a:fld id="{61C6333F-E368-4746-A020-FE91A90E005B}" type="slidenum">
              <a:rPr lang="en-US" smtClean="0"/>
              <a:t>9</a:t>
            </a:fld>
            <a:endParaRPr lang="en-US"/>
          </a:p>
        </p:txBody>
      </p:sp>
    </p:spTree>
    <p:extLst>
      <p:ext uri="{BB962C8B-B14F-4D97-AF65-F5344CB8AC3E}">
        <p14:creationId xmlns:p14="http://schemas.microsoft.com/office/powerpoint/2010/main" val="2213514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compelling facet grid illustrating four features relationship at once.</a:t>
            </a:r>
          </a:p>
          <a:p>
            <a:r>
              <a:rPr lang="en-GB" dirty="0"/>
              <a:t> They are </a:t>
            </a:r>
            <a:r>
              <a:rPr lang="en-GB" b="1" dirty="0"/>
              <a:t>Embarked, Age, Survived &amp; Sex</a:t>
            </a:r>
            <a:r>
              <a:rPr lang="en-GB" dirty="0"/>
              <a:t>.</a:t>
            </a:r>
          </a:p>
          <a:p>
            <a:r>
              <a:rPr lang="en-GB" dirty="0"/>
              <a:t>The </a:t>
            </a:r>
            <a:r>
              <a:rPr lang="en-GB" dirty="0" err="1"/>
              <a:t>color</a:t>
            </a:r>
            <a:r>
              <a:rPr lang="en-GB" dirty="0"/>
              <a:t> illustrates passengers survival status(green represents survived, </a:t>
            </a:r>
            <a:r>
              <a:rPr lang="en-GB" dirty="0" err="1"/>
              <a:t>gray</a:t>
            </a:r>
            <a:r>
              <a:rPr lang="en-GB" dirty="0"/>
              <a:t> represents not survived)</a:t>
            </a:r>
          </a:p>
          <a:p>
            <a:r>
              <a:rPr lang="en-GB" dirty="0"/>
              <a:t>The column represents Sex(left being male, right stands for female)</a:t>
            </a:r>
          </a:p>
          <a:p>
            <a:r>
              <a:rPr lang="en-GB" dirty="0"/>
              <a:t>The row represents Embarked(from top to bottom: S, C, Q)</a:t>
            </a:r>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10</a:t>
            </a:fld>
            <a:endParaRPr lang="en-US"/>
          </a:p>
        </p:txBody>
      </p:sp>
    </p:spTree>
    <p:extLst>
      <p:ext uri="{BB962C8B-B14F-4D97-AF65-F5344CB8AC3E}">
        <p14:creationId xmlns:p14="http://schemas.microsoft.com/office/powerpoint/2010/main" val="3564318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matters in three ways that come back throughout the course.</a:t>
            </a:r>
          </a:p>
          <a:p>
            <a:endParaRPr dirty="0"/>
          </a:p>
          <a:p>
            <a:r>
              <a:rPr dirty="0"/>
              <a:t>First, a feature can predict well while explaining nothing. For predicting who survived, Embarked is a perfectly useful feature. For understanding why people died, it is misleading. Prediction and explanation are different goals.</a:t>
            </a:r>
          </a:p>
          <a:p>
            <a:endParaRPr dirty="0"/>
          </a:p>
          <a:p>
            <a:r>
              <a:rPr dirty="0"/>
              <a:t>Second, it is why exploring data before modelling is worth the time — the pattern you notice first is often a shadow of something else.</a:t>
            </a:r>
          </a:p>
          <a:p>
            <a:endParaRPr dirty="0"/>
          </a:p>
          <a:p>
            <a:r>
              <a:rPr dirty="0"/>
              <a:t>Third, this is how a model can pick up a bias you thought you had removed. A model built without the Sex column would still reconstruct most of that information from Embarked, Fare and the passenger's title.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tooltip="Scatter plot"/>
              </a:rPr>
              <a:t>Scatter plots</a:t>
            </a:r>
            <a:r>
              <a:rPr lang="en-GB" dirty="0"/>
              <a:t> are used in descriptive statistics to show the observed relationships between different variables, here using the </a:t>
            </a:r>
            <a:r>
              <a:rPr lang="en-GB" dirty="0">
                <a:hlinkClick r:id="rId4" tooltip="Iris flower data set"/>
              </a:rPr>
              <a:t>Iris flower data set</a:t>
            </a:r>
            <a:r>
              <a:rPr lang="en-GB" dirty="0"/>
              <a:t>.</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12</a:t>
            </a:fld>
            <a:endParaRPr lang="en-US"/>
          </a:p>
        </p:txBody>
      </p:sp>
    </p:spTree>
    <p:extLst>
      <p:ext uri="{BB962C8B-B14F-4D97-AF65-F5344CB8AC3E}">
        <p14:creationId xmlns:p14="http://schemas.microsoft.com/office/powerpoint/2010/main" val="3766603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passenger car registrations in Germany, June 2021 against June 2020, with Tesla highlighted.</a:t>
            </a:r>
          </a:p>
          <a:p>
            <a:endParaRPr/>
          </a:p>
          <a:p>
            <a:r>
              <a:t>Tesla's growth is 431% year on year, which looks spectacular until you look at the numbers behind it: 841 cars to 4 466. Its share of the market is still 1.6%. VW sold 57 159 in the same month.</a:t>
            </a:r>
          </a:p>
          <a:p>
            <a:endParaRPr/>
          </a:p>
          <a:p>
            <a:r>
              <a:t>This is the most common way statistics mislead: a percentage change without the size it started from. A small number growing fast produces a large percentage. Always ask what the base was.</a:t>
            </a:r>
          </a:p>
        </p:txBody>
      </p:sp>
      <p:sp>
        <p:nvSpPr>
          <p:cNvPr id="4" name="Slide Number Placeholder 3"/>
          <p:cNvSpPr>
            <a:spLocks noGrp="1"/>
          </p:cNvSpPr>
          <p:nvPr>
            <p:ph type="sldNum" sz="quarter" idx="5"/>
          </p:nvPr>
        </p:nvSpPr>
        <p:spPr/>
        <p:txBody>
          <a:bodyPr/>
          <a:lstStyle/>
          <a:p>
            <a:fld id="{61C6333F-E368-4746-A020-FE91A90E005B}" type="slidenum">
              <a:rPr lang="en-US" smtClean="0"/>
              <a:t>13</a:t>
            </a:fld>
            <a:endParaRPr lang="en-US"/>
          </a:p>
        </p:txBody>
      </p:sp>
    </p:spTree>
    <p:extLst>
      <p:ext uri="{BB962C8B-B14F-4D97-AF65-F5344CB8AC3E}">
        <p14:creationId xmlns:p14="http://schemas.microsoft.com/office/powerpoint/2010/main" val="2455705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ML algorithms can learn on its own from past experiences, just like humans do. When exposed to new data, these algorithms learn, change and grow by themselves without you needing to change the code every single time.</a:t>
            </a:r>
          </a:p>
          <a:p>
            <a:endParaRPr lang="en-GB" dirty="0"/>
          </a:p>
          <a:p>
            <a:r>
              <a:rPr lang="en-GB" dirty="0"/>
              <a:t>Ref: https://</a:t>
            </a:r>
            <a:r>
              <a:rPr lang="en-GB" dirty="0" err="1"/>
              <a:t>www.verzeo.in</a:t>
            </a:r>
            <a:r>
              <a:rPr lang="en-GB" dirty="0"/>
              <a:t>/blog-what-is-machine-learning</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14</a:t>
            </a:fld>
            <a:endParaRPr lang="en-US"/>
          </a:p>
        </p:txBody>
      </p:sp>
    </p:spTree>
    <p:extLst>
      <p:ext uri="{BB962C8B-B14F-4D97-AF65-F5344CB8AC3E}">
        <p14:creationId xmlns:p14="http://schemas.microsoft.com/office/powerpoint/2010/main" val="1530491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You supply examples of the answer and the algorithm works backwards to a rule that reproduces them. The fourth row is the one with professional consequences: conventional software fails loudly on inputs it was not written for, while a model returns a confident answer for anything you hand it, including nonsense. That is why monitoring exists.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distinction between parameters and hyperparameters matters and is easy to mix up. Parameters are learned by the algorithm; hyperparameters are settings you decide in advance, such as how many neighbours to look at or how deep a tree may grow.</a:t>
            </a:r>
          </a:p>
          <a:p>
            <a:endParaRPr/>
          </a:p>
          <a:p>
            <a:r>
              <a:t>Generalisation is the point of the whole exercise. A model that answers perfectly on the data it was trained on and badly on anything new has not learned the pattern — it has memorised the examples.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Machine learning is behind a great deal of ordinary software: recommendations on Netflix, Spotify and Amazon; fraud and money-laundering detection in banks; finding tumours and disease in medical scans; transcribing speech; translation and sentiment analysis; credit and insurance scoring; predicting equipment failure from sensor readings; and predicting delays and demand in transport.</a:t>
            </a:r>
          </a:p>
          <a:p>
            <a:endParaRPr/>
          </a:p>
          <a:p>
            <a:r>
              <a:t>What all of them have in common is that nobody could write the rule by hand, but plenty of past examples exist to learn from.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one of these is a problem where nobody could write down the rule, but where large numbers of past examples exist. That combination is the signal that machine learning is the right tool.</a:t>
            </a:r>
          </a:p>
          <a:p>
            <a:endParaRPr/>
          </a:p>
          <a:p>
            <a:r>
              <a:t>Several of them are also regulated. Credit scoring, insurance and medical decisions affect people directly, so in those areas being able to explain a prediction matters as much as being accurate — a theme we return to at the end of the course.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important step is the fourth one. The model starts with random guesses about which patterns of pixels indicate a cat, and every mistake nudges its internal numbers towards what would have been correct. That adjustment is automatic and happens thousands or millions of times.</a:t>
            </a:r>
          </a:p>
          <a:p>
            <a:endParaRPr/>
          </a:p>
          <a:p>
            <a:r>
              <a:t>The end result is a rule that recognises cats, stored as numbers inside the model. Nobody ever wrote down what a cat looks like, which is also why it is hard to explain how such a model reaches a particular answer.</a:t>
            </a:r>
          </a:p>
          <a:p>
            <a:endParaRPr/>
          </a:p>
          <a:p>
            <a:r>
              <a:t>Ref: https://www.verzeo.in/blog-what-is-machine-learning</a:t>
            </a:r>
          </a:p>
        </p:txBody>
      </p:sp>
      <p:sp>
        <p:nvSpPr>
          <p:cNvPr id="4" name="Slide Number Placeholder 3"/>
          <p:cNvSpPr>
            <a:spLocks noGrp="1"/>
          </p:cNvSpPr>
          <p:nvPr>
            <p:ph type="sldNum" sz="quarter" idx="5"/>
          </p:nvPr>
        </p:nvSpPr>
        <p:spPr/>
        <p:txBody>
          <a:bodyPr/>
          <a:lstStyle/>
          <a:p>
            <a:fld id="{61C6333F-E368-4746-A020-FE91A90E005B}" type="slidenum">
              <a:rPr lang="en-US" smtClean="0"/>
              <a:t>19</a:t>
            </a:fld>
            <a:endParaRPr lang="en-US"/>
          </a:p>
        </p:txBody>
      </p:sp>
    </p:spTree>
    <p:extLst>
      <p:ext uri="{BB962C8B-B14F-4D97-AF65-F5344CB8AC3E}">
        <p14:creationId xmlns:p14="http://schemas.microsoft.com/office/powerpoint/2010/main" val="4060495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looking at the answer, think about what a program would actually need.</a:t>
            </a:r>
          </a:p>
          <a:p>
            <a:endParaRPr/>
          </a:p>
          <a:p>
            <a:r>
              <a:t>It needs examples — a lot of photographs. It needs to be told which of them contain a cat, because otherwise there is nothing to learn from. It needs a way to change itself when it gets one wrong. And it needs photographs it has never seen, to check whether it learned anything or simply memorised the ones it was shown.</a:t>
            </a:r>
          </a:p>
          <a:p>
            <a:endParaRPr/>
          </a:p>
          <a:p>
            <a:r>
              <a:t>Those four requirements are the next two slides.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two steps, and the expensive ones.</a:t>
            </a:r>
          </a:p>
          <a:p>
            <a:endParaRPr/>
          </a:p>
          <a:p>
            <a:r>
              <a:t>Collecting the images is straightforward. Labelling them — recording for each photograph whether it shows a cat or a lion — is manual work, and on a real project it is often the largest single cost.</a:t>
            </a:r>
          </a:p>
          <a:p>
            <a:endParaRPr/>
          </a:p>
          <a:p>
            <a:r>
              <a:t>It also sets a ceiling on the result. If the people labelling disagree with each other, the model cannot be more consistent than they were, and no change to the algorithm will fix that.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is the important one. The model is tested on images it has never seen.</a:t>
            </a:r>
          </a:p>
          <a:p>
            <a:endParaRPr/>
          </a:p>
          <a:p>
            <a:r>
              <a:t>A model that answers correctly on its training images but badly on new ones has not learned what a cat looks like — it has memorised the specific photographs. That is called overfitting, and it is why data is always split into a part used for learning and a part kept back for judging. Detecting and fixing it is a large part of the later lectures.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loop rather than the line. Preparing data comes before choosing an algorithm, and evaluating the result usually sends you backwards — most often back to the data, not to the algorithm.</a:t>
            </a:r>
          </a:p>
          <a:p>
            <a:endParaRPr/>
          </a:p>
          <a:p>
            <a:r>
              <a:t>The last stage matters in practice and is easy to forget: a model that is deployed has to be monitored, because the world changes while the model stays exactly as it was.</a:t>
            </a:r>
          </a:p>
          <a:p>
            <a:endParaRPr/>
          </a:p>
          <a:p>
            <a:r>
              <a:t>Ref: https://no.pinterest.com/pin/704883779153047931/</a:t>
            </a:r>
          </a:p>
        </p:txBody>
      </p:sp>
      <p:sp>
        <p:nvSpPr>
          <p:cNvPr id="4" name="Slide Number Placeholder 3"/>
          <p:cNvSpPr>
            <a:spLocks noGrp="1"/>
          </p:cNvSpPr>
          <p:nvPr>
            <p:ph type="sldNum" sz="quarter" idx="5"/>
          </p:nvPr>
        </p:nvSpPr>
        <p:spPr/>
        <p:txBody>
          <a:bodyPr/>
          <a:lstStyle/>
          <a:p>
            <a:fld id="{61C6333F-E368-4746-A020-FE91A90E005B}" type="slidenum">
              <a:rPr lang="en-US" smtClean="0"/>
              <a:t>23</a:t>
            </a:fld>
            <a:endParaRPr lang="en-US"/>
          </a:p>
        </p:txBody>
      </p:sp>
    </p:spTree>
    <p:extLst>
      <p:ext uri="{BB962C8B-B14F-4D97-AF65-F5344CB8AC3E}">
        <p14:creationId xmlns:p14="http://schemas.microsoft.com/office/powerpoint/2010/main" val="2900571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types are told apart by what you can give the algorithm, not by the subject area or the algorithm itself.</a:t>
            </a:r>
          </a:p>
          <a:p>
            <a:endParaRPr/>
          </a:p>
          <a:p>
            <a:r>
              <a:t>Supervised learning needs examples with the answers attached. Unsupervised learning works without answers, finding structure on its own. Reinforcement learning has no dataset at all — an agent acts in an environment and is rewarded or penalised. Recommender systems work from records of what people interacted with.</a:t>
            </a:r>
          </a:p>
          <a:p>
            <a:endParaRPr/>
          </a:p>
          <a:p>
            <a:r>
              <a:t>Supervised and unsupervised learning are covered in depth next week.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 a supervised learning</a:t>
            </a:r>
            <a:r>
              <a:rPr lang="en-GB" dirty="0"/>
              <a:t> model, the algorithm learns on a </a:t>
            </a:r>
            <a:r>
              <a:rPr lang="en-GB" dirty="0" err="1"/>
              <a:t>labeled</a:t>
            </a:r>
            <a:r>
              <a:rPr lang="en-GB" dirty="0"/>
              <a:t> dataset, providing an answer key that the algorithm can use to evaluate its accuracy on </a:t>
            </a:r>
            <a:r>
              <a:rPr lang="en-GB" b="1" dirty="0"/>
              <a:t>training</a:t>
            </a:r>
            <a:r>
              <a:rPr lang="en-GB" dirty="0"/>
              <a:t> data. </a:t>
            </a:r>
          </a:p>
          <a:p>
            <a:endParaRPr lang="en-GB" dirty="0"/>
          </a:p>
          <a:p>
            <a:r>
              <a:rPr lang="en-GB" dirty="0"/>
              <a:t>Ref: https://</a:t>
            </a:r>
            <a:r>
              <a:rPr lang="en-GB" dirty="0" err="1"/>
              <a:t>blogs.nvidia.com</a:t>
            </a:r>
            <a:r>
              <a:rPr lang="en-GB" dirty="0"/>
              <a:t>/blog/2018/08/02/supervised-unsupervised-learning/</a:t>
            </a:r>
          </a:p>
          <a:p>
            <a:pPr marL="0" marR="0" lvl="0" indent="0" algn="l" defTabSz="1300643" rtl="0" eaLnBrk="1" fontAlgn="auto" latinLnBrk="0" hangingPunct="1">
              <a:lnSpc>
                <a:spcPct val="100000"/>
              </a:lnSpc>
              <a:spcBef>
                <a:spcPts val="0"/>
              </a:spcBef>
              <a:spcAft>
                <a:spcPts val="0"/>
              </a:spcAft>
              <a:buClrTx/>
              <a:buSzTx/>
              <a:buFontTx/>
              <a:buNone/>
              <a:tabLst/>
              <a:defRPr/>
            </a:pPr>
            <a:endParaRPr lang="en-GB" dirty="0"/>
          </a:p>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Image ref: </a:t>
            </a:r>
            <a:r>
              <a:rPr lang="en-NO" sz="1600" dirty="0"/>
              <a:t>https://www.verzeo.in/blog-what-is-machine-learning</a:t>
            </a:r>
          </a:p>
          <a:p>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25</a:t>
            </a:fld>
            <a:endParaRPr lang="en-US"/>
          </a:p>
        </p:txBody>
      </p:sp>
    </p:spTree>
    <p:extLst>
      <p:ext uri="{BB962C8B-B14F-4D97-AF65-F5344CB8AC3E}">
        <p14:creationId xmlns:p14="http://schemas.microsoft.com/office/powerpoint/2010/main" val="9102053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What do you see?</a:t>
            </a:r>
            <a:endParaRPr dirty="0"/>
          </a:p>
        </p:txBody>
      </p:sp>
      <p:sp>
        <p:nvSpPr>
          <p:cNvPr id="357" name="Google Shape;35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NO"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193773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A project with </a:t>
            </a:r>
            <a:r>
              <a:rPr lang="en-GB" dirty="0" err="1"/>
              <a:t>simula</a:t>
            </a:r>
            <a:r>
              <a:rPr lang="en-GB" dirty="0"/>
              <a:t> to identify dry eye disease.</a:t>
            </a:r>
            <a:endParaRPr dirty="0"/>
          </a:p>
        </p:txBody>
      </p:sp>
      <p:sp>
        <p:nvSpPr>
          <p:cNvPr id="357" name="Google Shape;35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NO"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7339396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Image ref: </a:t>
            </a:r>
            <a:r>
              <a:rPr lang="en-NO" sz="1800" dirty="0"/>
              <a:t>https://www.verzeo.in/blog-what-is-machine-learning</a:t>
            </a:r>
          </a:p>
          <a:p>
            <a:endParaRPr lang="en-NO" sz="1800" dirty="0"/>
          </a:p>
          <a:p>
            <a:r>
              <a:rPr lang="en-GB" sz="1800" dirty="0"/>
              <a:t>An </a:t>
            </a:r>
            <a:r>
              <a:rPr lang="en-GB" sz="1800" b="1" dirty="0"/>
              <a:t>unsupervised</a:t>
            </a:r>
            <a:r>
              <a:rPr lang="en-GB" sz="1800" dirty="0"/>
              <a:t> model, provides </a:t>
            </a:r>
            <a:r>
              <a:rPr lang="en-GB" sz="1800" dirty="0" err="1"/>
              <a:t>unlabeled</a:t>
            </a:r>
            <a:r>
              <a:rPr lang="en-GB" sz="1800" dirty="0"/>
              <a:t> data that the algorithm tries to make sense of by extracting features and patterns on its own</a:t>
            </a:r>
            <a:endParaRPr lang="en-NO" sz="1800" dirty="0"/>
          </a:p>
          <a:p>
            <a:pPr marL="0" marR="0" lvl="0" indent="0" algn="l" defTabSz="1300643" rtl="0" eaLnBrk="1" fontAlgn="auto" latinLnBrk="0" hangingPunct="1">
              <a:lnSpc>
                <a:spcPct val="100000"/>
              </a:lnSpc>
              <a:spcBef>
                <a:spcPts val="0"/>
              </a:spcBef>
              <a:spcAft>
                <a:spcPts val="0"/>
              </a:spcAft>
              <a:buClrTx/>
              <a:buSzTx/>
              <a:buFontTx/>
              <a:buNone/>
              <a:tabLst/>
              <a:defRPr/>
            </a:pPr>
            <a:endParaRPr lang="en-NO" sz="1800" dirty="0"/>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The training data is unknown or unlabelled.</a:t>
            </a:r>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The model tries to find patterns and relationships in the dataset by creating clusters in it</a:t>
            </a:r>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Model cannot add labels to the data</a:t>
            </a:r>
            <a:endParaRPr lang="en-NO" sz="1800" dirty="0"/>
          </a:p>
        </p:txBody>
      </p:sp>
      <p:sp>
        <p:nvSpPr>
          <p:cNvPr id="4" name="Slide Number Placeholder 3"/>
          <p:cNvSpPr>
            <a:spLocks noGrp="1"/>
          </p:cNvSpPr>
          <p:nvPr>
            <p:ph type="sldNum" sz="quarter" idx="5"/>
          </p:nvPr>
        </p:nvSpPr>
        <p:spPr/>
        <p:txBody>
          <a:bodyPr/>
          <a:lstStyle/>
          <a:p>
            <a:fld id="{61C6333F-E368-4746-A020-FE91A90E005B}" type="slidenum">
              <a:rPr lang="en-US" smtClean="0"/>
              <a:t>28</a:t>
            </a:fld>
            <a:endParaRPr lang="en-US"/>
          </a:p>
        </p:txBody>
      </p:sp>
    </p:spTree>
    <p:extLst>
      <p:ext uri="{BB962C8B-B14F-4D97-AF65-F5344CB8AC3E}">
        <p14:creationId xmlns:p14="http://schemas.microsoft.com/office/powerpoint/2010/main" val="3293239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raw material for the project on the following slides: newspaper coverage and customer complaints about bus services — pupils standing in the aisle, a bus that did not stop, someone late for school.</a:t>
            </a:r>
          </a:p>
          <a:p>
            <a:endParaRPr/>
          </a:p>
          <a:p>
            <a:r>
              <a:t>Notice what kind of data this is. It is free text, written by the public, with no labels, no structure and no fixed vocabulary. Nobody has marked which complaints are serious. That is exactly the situation unsupervised methods exist for.</a:t>
            </a:r>
          </a:p>
        </p:txBody>
      </p:sp>
      <p:sp>
        <p:nvSpPr>
          <p:cNvPr id="4" name="Slide Number Placeholder 3"/>
          <p:cNvSpPr>
            <a:spLocks noGrp="1"/>
          </p:cNvSpPr>
          <p:nvPr>
            <p:ph type="sldNum" sz="quarter" idx="5"/>
          </p:nvPr>
        </p:nvSpPr>
        <p:spPr/>
        <p:txBody>
          <a:bodyPr/>
          <a:lstStyle/>
          <a:p>
            <a:pPr marL="0" marR="0" lvl="0" indent="0" algn="ctr" defTabSz="1689080" rtl="0" eaLnBrk="1" fontAlgn="auto" latinLnBrk="0" hangingPunct="1">
              <a:lnSpc>
                <a:spcPct val="100000"/>
              </a:lnSpc>
              <a:spcBef>
                <a:spcPts val="0"/>
              </a:spcBef>
              <a:spcAft>
                <a:spcPts val="0"/>
              </a:spcAft>
              <a:buClrTx/>
              <a:buSzTx/>
              <a:buFontTx/>
              <a:buNone/>
              <a:tabLst/>
              <a:defRPr/>
            </a:pPr>
            <a:fld id="{086F0DA2-D057-4407-B384-D99DC5D11D7A}" type="slidenum">
              <a:rPr kumimoji="0" lang="nb-NO" sz="12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1689080" rtl="0" eaLnBrk="1" fontAlgn="auto" latinLnBrk="0" hangingPunct="1">
                <a:lnSpc>
                  <a:spcPct val="100000"/>
                </a:lnSpc>
                <a:spcBef>
                  <a:spcPts val="0"/>
                </a:spcBef>
                <a:spcAft>
                  <a:spcPts val="0"/>
                </a:spcAft>
                <a:buClrTx/>
                <a:buSzTx/>
                <a:buFontTx/>
                <a:buNone/>
                <a:tabLst/>
                <a:defRPr/>
              </a:pPr>
              <a:t>29</a:t>
            </a:fld>
            <a:endParaRPr kumimoji="0" lang="nb-NO"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82812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question was not "what are people complaining about" but "how angry are they". Sentiment analysis assigns each piece of text a score for how positive or negative it is, which turns thousands of unstructured complaints into something that can be sorted, counted and mapped.</a:t>
            </a:r>
          </a:p>
          <a:p>
            <a:endParaRPr/>
          </a:p>
          <a:p>
            <a:r>
              <a:t>Only once that exists is it possible to ask the more useful question: what are the angriest people angry about?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dot is one complaint. Roughly ten thousand of them.</a:t>
            </a:r>
          </a:p>
          <a:p>
            <a:endParaRPr/>
          </a:p>
          <a:p>
            <a:r>
              <a:t>The position of each dot comes from the words in the complaint itself — complaints about similar things end up near each other. No human decided the layout or the groups; the structure was found in the text. The colour shows how negative the complaint is, from mild through medium to hot and extra hot.</a:t>
            </a:r>
          </a:p>
          <a:p>
            <a:endParaRPr/>
          </a:p>
          <a:p>
            <a:r>
              <a:t>The useful part is the dense red areas at the bottom and on the right. Those are subjects that reliably produce furious customers, and they were found without anyone deciding in advance what the subjects were.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NorBERT is a language model for Norwegian, built by the Language Technology Group at the University of Oslo.</a:t>
            </a:r>
          </a:p>
          <a:p>
            <a:endParaRPr/>
          </a:p>
          <a:p>
            <a:r>
              <a:t>Using a Norwegian model matters here. Models trained mostly on English handle Norwegian poorly, and they miss the things that carry sentiment in practice: dialect, sarcasm, compound words, and place and route names. Working in a smaller language usually means either finding a model built for it or adapting one yourself.</a:t>
            </a:r>
          </a:p>
          <a:p>
            <a:endParaRPr/>
          </a:p>
          <a:p>
            <a:r>
              <a:t>How models like this work is covered later in the course, in the lecture on large language models.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complaints, placed on a map of Oslo and the surrounding region. Red is negative, and the larger circles are places with more complaints.</a:t>
            </a:r>
          </a:p>
          <a:p>
            <a:endParaRPr/>
          </a:p>
          <a:p>
            <a:r>
              <a:t>This is the step that turns analysis into something a transport operator can act on. A sentiment score for the whole company is interesting; a cluster of angry complaints on one corridor is a work order.</a:t>
            </a:r>
          </a:p>
          <a:p>
            <a:endParaRPr/>
          </a:p>
          <a:p>
            <a:r>
              <a:t>It is also a good illustration of why joining data to other data — here, location — often adds more value than improving the model.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vocabulary of reinforcement learning: an agent takes actions in an environment, and receives a reward or a penalty in return. Over many attempts it learns a policy — what to do in each situation.</a:t>
            </a:r>
          </a:p>
          <a:p>
            <a:endParaRPr/>
          </a:p>
          <a:p>
            <a:r>
              <a:t>The difference from the other types is that there is no dataset. The agent generates its own experience by acting, and the reward is the only teacher it has.</a:t>
            </a:r>
          </a:p>
        </p:txBody>
      </p:sp>
      <p:sp>
        <p:nvSpPr>
          <p:cNvPr id="4" name="Slide Number Placeholder 3"/>
          <p:cNvSpPr>
            <a:spLocks noGrp="1"/>
          </p:cNvSpPr>
          <p:nvPr>
            <p:ph type="sldNum" sz="quarter" idx="5"/>
          </p:nvPr>
        </p:nvSpPr>
        <p:spPr/>
        <p:txBody>
          <a:bodyPr/>
          <a:lstStyle/>
          <a:p>
            <a:fld id="{61C6333F-E368-4746-A020-FE91A90E005B}" type="slidenum">
              <a:rPr lang="en-US" smtClean="0"/>
              <a:t>34</a:t>
            </a:fld>
            <a:endParaRPr lang="en-US"/>
          </a:p>
        </p:txBody>
      </p:sp>
    </p:spTree>
    <p:extLst>
      <p:ext uri="{BB962C8B-B14F-4D97-AF65-F5344CB8AC3E}">
        <p14:creationId xmlns:p14="http://schemas.microsoft.com/office/powerpoint/2010/main" val="351702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the model has to go superhuman in Chess, Go or Atari games, preparing the simulation environment is relatively simple. When it comes to building a model capable of driving an autonomous car, building a realistic simulator is crucial before letting the car ride on the street. The model has to figure out how to brake or avoid a collision in a safe environment, where sacrificing even a thousand cars comes at a minimal cost. Transferring the model out of the training environment and into to the real world is where things get tricky.</a:t>
            </a:r>
            <a:endParaRPr lang="en-NO" dirty="0"/>
          </a:p>
        </p:txBody>
      </p:sp>
      <p:sp>
        <p:nvSpPr>
          <p:cNvPr id="4" name="Slide Number Placeholder 3"/>
          <p:cNvSpPr>
            <a:spLocks noGrp="1"/>
          </p:cNvSpPr>
          <p:nvPr>
            <p:ph type="sldNum" sz="quarter" idx="5"/>
          </p:nvPr>
        </p:nvSpPr>
        <p:spPr/>
        <p:txBody>
          <a:bodyPr/>
          <a:lstStyle/>
          <a:p>
            <a:fld id="{61C6333F-E368-4746-A020-FE91A90E005B}" type="slidenum">
              <a:rPr lang="en-US" smtClean="0"/>
              <a:t>35</a:t>
            </a:fld>
            <a:endParaRPr lang="en-US"/>
          </a:p>
        </p:txBody>
      </p:sp>
    </p:spTree>
    <p:extLst>
      <p:ext uri="{BB962C8B-B14F-4D97-AF65-F5344CB8AC3E}">
        <p14:creationId xmlns:p14="http://schemas.microsoft.com/office/powerpoint/2010/main" val="3479479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example is a boat racing game. The agent found that it could score more points by driving in circles in a lagoon, repeatedly hitting bonus targets that reappeared, than by finishing the race. It scored higher than human players while crashing constantly and never completing a lap.</a:t>
            </a:r>
          </a:p>
          <a:p>
            <a:endParaRPr/>
          </a:p>
          <a:p>
            <a:r>
              <a:t>The agent was not broken. It optimised exactly what it was rewarded for — points — which was not what its designers meant. This is called reward hacking, and the general version is worth remembering: any system optimising a measure will optimise that measure, not your intention.</a:t>
            </a:r>
          </a:p>
          <a:p>
            <a:endParaRPr/>
          </a:p>
          <a:p>
            <a:r>
              <a:t>Ref: OpenAI, Faulty Reward Functions in the Wild (2016).</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frames show the same agent after no training, after fifteen minutes and after thirty minutes.</a:t>
            </a:r>
          </a:p>
          <a:p>
            <a:endParaRPr/>
          </a:p>
          <a:p>
            <a:r>
              <a:t>At the end it has discovered that digging a tunnel through the side of the wall and letting the ball bounce around behind it scores far faster than chipping away at the front. Nobody programmed that strategy or even suggested it. It was found by trial and error against a score.</a:t>
            </a:r>
          </a:p>
          <a:p>
            <a:endParaRPr/>
          </a:p>
          <a:p>
            <a:r>
              <a:t>https://deepsense.ai/what-is-reinforcement-learning-the-complete-guide/</a:t>
            </a:r>
          </a:p>
        </p:txBody>
      </p:sp>
      <p:sp>
        <p:nvSpPr>
          <p:cNvPr id="4" name="Slide Number Placeholder 3"/>
          <p:cNvSpPr>
            <a:spLocks noGrp="1"/>
          </p:cNvSpPr>
          <p:nvPr>
            <p:ph type="sldNum" sz="quarter" idx="5"/>
          </p:nvPr>
        </p:nvSpPr>
        <p:spPr/>
        <p:txBody>
          <a:bodyPr/>
          <a:lstStyle/>
          <a:p>
            <a:fld id="{61C6333F-E368-4746-A020-FE91A90E005B}" type="slidenum">
              <a:rPr lang="en-US" smtClean="0"/>
              <a:t>37</a:t>
            </a:fld>
            <a:endParaRPr lang="en-US"/>
          </a:p>
        </p:txBody>
      </p:sp>
    </p:spTree>
    <p:extLst>
      <p:ext uri="{BB962C8B-B14F-4D97-AF65-F5344CB8AC3E}">
        <p14:creationId xmlns:p14="http://schemas.microsoft.com/office/powerpoint/2010/main" val="15584126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progression in a different game, which is the point: the agent was not written for Breakout or for Assault. It was given a screen, a set of controls and a score, and it learned each game from scratch.</a:t>
            </a:r>
          </a:p>
          <a:p>
            <a:endParaRPr/>
          </a:p>
          <a:p>
            <a:r>
              <a:t>https://deepsense.ai/what-is-reinforcement-learning-the-complete-guide/</a:t>
            </a:r>
          </a:p>
        </p:txBody>
      </p:sp>
      <p:sp>
        <p:nvSpPr>
          <p:cNvPr id="4" name="Slide Number Placeholder 3"/>
          <p:cNvSpPr>
            <a:spLocks noGrp="1"/>
          </p:cNvSpPr>
          <p:nvPr>
            <p:ph type="sldNum" sz="quarter" idx="5"/>
          </p:nvPr>
        </p:nvSpPr>
        <p:spPr/>
        <p:txBody>
          <a:bodyPr/>
          <a:lstStyle/>
          <a:p>
            <a:fld id="{61C6333F-E368-4746-A020-FE91A90E005B}" type="slidenum">
              <a:rPr lang="en-US" smtClean="0"/>
              <a:t>38</a:t>
            </a:fld>
            <a:endParaRPr lang="en-US"/>
          </a:p>
        </p:txBody>
      </p:sp>
    </p:spTree>
    <p:extLst>
      <p:ext uri="{BB962C8B-B14F-4D97-AF65-F5344CB8AC3E}">
        <p14:creationId xmlns:p14="http://schemas.microsoft.com/office/powerpoint/2010/main" val="24455066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is impressive in games and rare in industry, and the reason is the environment. An agent needs somewhere it can fail thousands of times at no cost. A game provides that; a hospital, a road or a payment system does not.</a:t>
            </a:r>
          </a:p>
          <a:p>
            <a:endParaRPr/>
          </a:p>
          <a:p>
            <a:r>
              <a:t>That is why the successes you hear about are mostly games, simulations and robotics, where a simulator can be built.</a:t>
            </a:r>
          </a:p>
          <a:p>
            <a:endParaRPr/>
          </a:p>
          <a:p>
            <a:r>
              <a:t>https://www.kdnuggets.com/2018/03/5-things-reinforcement-learning.html</a:t>
            </a:r>
          </a:p>
        </p:txBody>
      </p:sp>
      <p:sp>
        <p:nvSpPr>
          <p:cNvPr id="4" name="Slide Number Placeholder 3"/>
          <p:cNvSpPr>
            <a:spLocks noGrp="1"/>
          </p:cNvSpPr>
          <p:nvPr>
            <p:ph type="sldNum" sz="quarter" idx="5"/>
          </p:nvPr>
        </p:nvSpPr>
        <p:spPr/>
        <p:txBody>
          <a:bodyPr/>
          <a:lstStyle/>
          <a:p>
            <a:fld id="{61C6333F-E368-4746-A020-FE91A90E005B}" type="slidenum">
              <a:rPr lang="en-US" smtClean="0"/>
              <a:t>39</a:t>
            </a:fld>
            <a:endParaRPr lang="en-US"/>
          </a:p>
        </p:txBody>
      </p:sp>
    </p:spTree>
    <p:extLst>
      <p:ext uri="{BB962C8B-B14F-4D97-AF65-F5344CB8AC3E}">
        <p14:creationId xmlns:p14="http://schemas.microsoft.com/office/powerpoint/2010/main" val="18225138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Gymnasium is the standard toolkit for experimenting with reinforcement learning, and is the maintained successor to OpenAI Gym, which is no longer developed.</a:t>
            </a:r>
          </a:p>
          <a:p>
            <a:endParaRPr/>
          </a:p>
          <a:p>
            <a:r>
              <a:t>    pip install gymnasium</a:t>
            </a:r>
          </a:p>
          <a:p>
            <a:endParaRPr/>
          </a:p>
          <a:p>
            <a:r>
              <a:t>It provides ready-made environments — balancing a pole, landing a spacecraft, Atari games — all with the same interface, so you can write an agent once and try it on many problems. It is worth an evening if you are curious; it is not needed for the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two main strategies, and they are quite different.</a:t>
            </a:r>
          </a:p>
          <a:p>
            <a:endParaRPr/>
          </a:p>
          <a:p>
            <a:r>
              <a:t>Content-based filtering recommends items similar to ones you already liked, which requires knowing something about the items themselves — genre, author, ingredients.</a:t>
            </a:r>
          </a:p>
          <a:p>
            <a:endParaRPr/>
          </a:p>
          <a:p>
            <a:r>
              <a:t>Collaborative filtering recommends what people similar to you liked. It needs to know nothing at all about the items, only who interacted with what. That is the idea behind "customers who bought this also bought…", and it is why it scales to catalogues nobody could ever describe by hand.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one of these services runs on the same fuel: a record of what each user clicked, watched, bought, skipped or liked. Each interaction is another training example.</a:t>
            </a:r>
          </a:p>
          <a:p>
            <a:endParaRPr/>
          </a:p>
          <a:p>
            <a:r>
              <a:t>It is worth noticing the loop that creates. Recommendations shape what you see, what you see shapes what you interact with, and what you interact with becomes tomorrow's training data. Over time a recommender can narrow what it shows you without any line of the algorithm intending it.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Recommendation is the machine learning that most people meet most often, usually without noticing it. Search rankings, social feeds, shop front pages, autoplay and "people also bought" are all the same class of system.</a:t>
            </a:r>
          </a:p>
          <a:p>
            <a:endParaRPr/>
          </a:p>
          <a:p>
            <a:r>
              <a:t>Ref: https://www.wordstream.com/blog/ws/2017/07/28/machine-learning-applications</a:t>
            </a:r>
          </a:p>
        </p:txBody>
      </p:sp>
      <p:sp>
        <p:nvSpPr>
          <p:cNvPr id="4" name="Slide Number Placeholder 3"/>
          <p:cNvSpPr>
            <a:spLocks noGrp="1"/>
          </p:cNvSpPr>
          <p:nvPr>
            <p:ph type="sldNum" sz="quarter" idx="5"/>
          </p:nvPr>
        </p:nvSpPr>
        <p:spPr/>
        <p:txBody>
          <a:bodyPr/>
          <a:lstStyle/>
          <a:p>
            <a:fld id="{61C6333F-E368-4746-A020-FE91A90E005B}" type="slidenum">
              <a:rPr lang="en-US" smtClean="0"/>
              <a:t>43</a:t>
            </a:fld>
            <a:endParaRPr lang="en-US"/>
          </a:p>
        </p:txBody>
      </p:sp>
    </p:spTree>
    <p:extLst>
      <p:ext uri="{BB962C8B-B14F-4D97-AF65-F5344CB8AC3E}">
        <p14:creationId xmlns:p14="http://schemas.microsoft.com/office/powerpoint/2010/main" val="6008115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type of machine learning is decided by what you can give the algorithm, not by the subject area. If you have labelled examples of the answer, it is supervised. If you have no labels, it is unsupervised. If there is no dataset at all, only an environment that responds to actions, it is reinforcement learning.</a:t>
            </a:r>
          </a:p>
          <a:p>
            <a:endParaRPr/>
          </a:p>
          <a:p>
            <a:r>
              <a:t>The last row catches most people. "Find unusual readings" sounds like classification, but with no examples of what unusual looks like there are no labels, so it is unsupervised (anomaly detection). If someone hands you 500 labelled failures, the same problem becomes supervised.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single answer, but there is a checklist. Machine learning is worth using when the rule is too complicated to write by hand, when a pattern genuinely exists in the data, when enough relevant examples are available, and when the occasional mistake is tolerable or a human checks the output.</a:t>
            </a:r>
          </a:p>
          <a:p>
            <a:endParaRPr/>
          </a:p>
          <a:p>
            <a:r>
              <a:t>It is the wrong tool when ordinary rules already work — nobody should train a model to calculate VAT — when there is no data, when every individual decision has to be explained and defended, or when a single error is catastrophic and nothing checks it.</a:t>
            </a:r>
          </a:p>
          <a:p>
            <a:endParaRPr/>
          </a:p>
          <a:p>
            <a:r>
              <a:t>https://se.mathworks.com/discovery/machine-learning.html</a:t>
            </a:r>
          </a:p>
        </p:txBody>
      </p:sp>
      <p:sp>
        <p:nvSpPr>
          <p:cNvPr id="4" name="Slide Number Placeholder 3"/>
          <p:cNvSpPr>
            <a:spLocks noGrp="1"/>
          </p:cNvSpPr>
          <p:nvPr>
            <p:ph type="sldNum" sz="quarter" idx="5"/>
          </p:nvPr>
        </p:nvSpPr>
        <p:spPr/>
        <p:txBody>
          <a:bodyPr/>
          <a:lstStyle/>
          <a:p>
            <a:fld id="{61C6333F-E368-4746-A020-FE91A90E005B}" type="slidenum">
              <a:rPr lang="en-US" smtClean="0"/>
              <a:t>45</a:t>
            </a:fld>
            <a:endParaRPr lang="en-US"/>
          </a:p>
        </p:txBody>
      </p:sp>
    </p:spTree>
    <p:extLst>
      <p:ext uri="{BB962C8B-B14F-4D97-AF65-F5344CB8AC3E}">
        <p14:creationId xmlns:p14="http://schemas.microsoft.com/office/powerpoint/2010/main" val="3635295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split runs through the rest of the course. It decides which algorithms you can use, which numbers you use to judge the result, and even what model.score() returns in scikit-learn.</a:t>
            </a:r>
          </a:p>
          <a:p>
            <a:endParaRPr/>
          </a:p>
          <a:p>
            <a:r>
              <a:t>The rest of this lecture is about regression. Classification comes next week.</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through the list before looking at the next slide. The test is simply whether the answer is a number on a scale or one of a set of categories.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Stock market prediction is the interesting case. Asking what the price will be tomorrow gives you a number, so it is regression. Asking whether the price will go up or down gives you two categories, so it is classification. Both are legitimate; they are different problems with different models and different measures of success.</a:t>
            </a:r>
          </a:p>
          <a:p>
            <a:endParaRPr/>
          </a:p>
          <a:p>
            <a:r>
              <a:t>The general lesson: the type of task is decided by how you frame the target, not by the subject matter. That is why framing the question is the first step of any machine learning project.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 all the straight lines that could be drawn through a cloud of data points, linear regression picks the one that makes the total squared vertical distance from the points to the line as small as possible. That method is called least squares, and it is why the error measures later in this lecture are built on squared differences.</a:t>
            </a:r>
          </a:p>
          <a:p>
            <a:endParaRPr/>
          </a:p>
          <a:p>
            <a:r>
              <a:t>Simple as it is, this is the model to understand properly — most of what follows in the course is a variation on it.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cautions. First, the size of a coefficient depends on the unit of the feature: measure size in square centimetres instead of square metres and the coefficient changes by a factor of 10 000 while the model is exactly the same. So you cannot read raw coefficients as a ranking of which feature matters most unless the features are on the same scale.</a:t>
            </a:r>
          </a:p>
          <a:p>
            <a:endParaRPr/>
          </a:p>
          <a:p>
            <a:r>
              <a:t>Second, a coefficient describes the fitted line, not cause and effect. Dividing one room into two to add a bedroom does not add 1 000 to the value of the house.</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Polynomial regression fits Y = a + b₁X + b₂X² + … Each term is still a coefficient multiplied by a known value, which is what "linear" refers to, so exactly the same fitting machinery works — you simply hand the model X² as an extra column.</a:t>
            </a:r>
          </a:p>
          <a:p>
            <a:endParaRPr/>
          </a:p>
          <a:p>
            <a:r>
              <a:t>The risk is that a high enough degree lets the curve pass through every single training point and then predict nonsense between them. That is overfitting, and it is covered later in the course.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reason last week's lecture spent its time on preparing data. The model is fitted using the training rows only, and every number reported in the next few slides is calculated on the test rows — data the model has never seen.</a:t>
            </a:r>
          </a:p>
          <a:p>
            <a:endParaRPr/>
          </a:p>
          <a:p>
            <a:r>
              <a:t>If you fit anything (a model, a scaler, an imputer) using the full dataset before splitting, information about the test rows leaks into training and the reported score is better than the truth. That is called data leakage.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model.coef_ is a plain array of numbers in the same order as the columns of X_train, with no names attached. Pairing it with the column names using zip() is worth doing every time — reading the array by position is how people end up reporting the wrong feature.</a:t>
            </a:r>
          </a:p>
          <a:p>
            <a:endParaRPr/>
          </a:p>
          <a:p>
            <a:r>
              <a:t>Notice that the model is fitted on the training data and used to predict on the test data. Scoring a model on the same rows it learned from measures its memory, not whether it is useful.</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predicted-against-actual plot, a perfect model would put every point on the dashed diagonal. Three patterns are worth recognising:</a:t>
            </a:r>
          </a:p>
          <a:p>
            <a:endParaRPr/>
          </a:p>
          <a:p>
            <a:r>
              <a:t>Points sitting consistently above or below the line at one end mean the model is biased in that range. A fan shape that widens to the right means the errors grow as the values grow, which is common with prices. A curved band rather than a straight one means a straight line is the wrong shape for this data, and a polynomial or a different model would fit better.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a least squares fit the residuals always add up to zero, so their mean tells you nothing at all. There are two standard ways around this: take the absolute value of each residual, or square each residual. Those two choices produce the error measures on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small table is used to work out all four error measures on the next two slides. Working through it by hand once is the difference between memorising formulas and understanding them.</a:t>
            </a:r>
          </a:p>
          <a:p>
            <a:endParaRPr/>
          </a:p>
          <a:p>
            <a:r>
              <a:t>Notice the two errors of 20 among three errors of 10 — they are what makes RMSE differ from MAE.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RMSE (14.83) larger than MAE (14) on the same data? Because squaring gives the two errors of 20 more weight than the three errors of 10. RMSE is always greater than or equal to MAE, and the gap grows when a few errors are much larger than the rest.</a:t>
            </a:r>
          </a:p>
          <a:p>
            <a:endParaRPr/>
          </a:p>
          <a:p>
            <a:r>
              <a:t>That makes the gap useful in itself: if RMSE is much bigger than MAE, the error is concentrated in a small number of bad predictions rather than spread evenly, so it is worth looking at those particular rows.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SS_tot here is (200−300)² + (250−300)² + (300−300)² + (350−300)² + (400−300)², which is 10 000 + 2 500 + 0 + 2 500 + 10 000 = 25 000.</a:t>
            </a:r>
          </a:p>
          <a:p>
            <a:endParaRPr/>
          </a:p>
          <a:p>
            <a:r>
              <a:t>The last line is the reason R² is readable at all: it compares your model against the simplest possible model, which is to ignore the inputs and always predict the average. Working that out shows why R² = 0 means what it means. Always compute this baseline for your own models — scikit-learn's DummyRegressor does it in two lines — because a number like R² = 0.4 means nothing until you know what guessing the average would have scored.</a:t>
            </a:r>
          </a:p>
          <a:p>
            <a:endParaRPr/>
          </a:p>
          <a:p>
            <a:r>
              <a:t>A negative R² usually means the model was fitted on different data than it is being scored on, that features and target are misaligned, or that the relationship is nothing like a straight line.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watch for. root_mean_squared_error needs scikit-learn 1.4 or newer; older code writes mean_squared_error(..., squared=False), which no longer works in current versions.</a:t>
            </a:r>
          </a:p>
          <a:p>
            <a:endParaRPr/>
          </a:p>
          <a:p>
            <a:r>
              <a:t>And .score() returns R² for a regression model but accuracy for a classification model, so the same line of code means something different once you change task.</a:t>
            </a:r>
          </a:p>
          <a:p>
            <a:endParaRPr/>
          </a:p>
          <a:p>
            <a:r>
              <a:t>Which measure to report: MAE when explaining to a non-specialist, RMSE when large errors are especially costly, R² when comparing across different datasets because it has no unit. Decide which one matters before you look at the results, not after.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72623479-E8CA-0D42-8E18-5ABC3E919714}" type="datetime1">
              <a:rPr lang="nb-NO" smtClean="0"/>
              <a:t>08.09.2026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14240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D7F5E9D1-9800-D24D-BC52-FD0BBB1E0A9C}" type="datetime1">
              <a:rPr lang="nb-NO" smtClean="0"/>
              <a:t>08.09.2026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490294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BB236F63-A279-D541-B1F2-EB8F050A160F}" type="datetime1">
              <a:rPr lang="nb-NO" smtClean="0"/>
              <a:t>08.09.2026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51411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A0BA136-A7EE-D749-8CBD-D1EEEBC2FF9C}" type="datetime1">
              <a:rPr lang="nb-NO" smtClean="0"/>
              <a:t>08.09.2026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699102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A740944C-380E-824F-84B0-A997B25A652A}" type="datetime1">
              <a:rPr lang="nb-NO" smtClean="0"/>
              <a:t>08.09.2026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838673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16BBAB6F-04B8-5C4E-B1C8-0FDA653A0EF8}" type="datetime1">
              <a:rPr lang="nb-NO" smtClean="0"/>
              <a:t>08.09.2026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87963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B7321CCC-3273-4642-8929-189E178DA97A}" type="datetime1">
              <a:rPr lang="nb-NO" smtClean="0"/>
              <a:t>08.09.2026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473004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5AE6739E-6E3E-AC48-A2BB-172B20FCB366}" type="datetime1">
              <a:rPr lang="nb-NO" smtClean="0"/>
              <a:t>08.09.2026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784744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D140523B-80AB-E544-A6BA-C2309CA59130}"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2125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B6221054-38F0-AE47-81A4-66CD8155A783}"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58411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C6EBBC40-60EA-744C-ACBA-7B246C281866}"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303826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6A1C65C-1B95-7046-A0F3-75D50F4A61FD}"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0937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60B2D32-1CC6-4041-9F1A-CDF2228AD2F3}"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729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F08D645-E4A5-374D-A682-B70E4C4922B2}"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2509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0E1F61F-A745-894B-B094-425AFCC38AFA}" type="datetime1">
              <a:rPr lang="nb-NO" smtClean="0"/>
              <a:t>08.09.2026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63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5057FFEC-F8CD-5648-B59A-F182A70B4ACC}" type="datetime1">
              <a:rPr lang="nb-NO" smtClean="0"/>
              <a:t>08.09.2026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1304279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83B7EFA6-D0C6-A546-917F-269E8A647E2B}"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907710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717D5A58-49EE-AE4D-91F8-B0EFC76277DA}" type="datetime1">
              <a:rPr lang="nb-NO" smtClean="0"/>
              <a:t>08.09.2026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72570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CF51ADE7-B66C-644D-B9FB-CF2371A307CE}" type="datetime1">
              <a:rPr lang="nb-NO" smtClean="0"/>
              <a:t>08.09.2026</a:t>
            </a:fld>
            <a:endParaRPr lang="nb-NO"/>
          </a:p>
        </p:txBody>
      </p:sp>
      <p:sp>
        <p:nvSpPr>
          <p:cNvPr id="6" name="Plassholder for bunntekst 5"/>
          <p:cNvSpPr>
            <a:spLocks noGrp="1"/>
          </p:cNvSpPr>
          <p:nvPr>
            <p:ph type="ftr" sz="quarter" idx="11"/>
          </p:nvPr>
        </p:nvSpPr>
        <p:spPr/>
        <p:txBody>
          <a:bodyPr/>
          <a:lstStyle/>
          <a:p>
            <a:r>
              <a:rPr lang="nb-NO"/>
              <a:t>DAVE3625- Intro to A.I. by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13274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1C7409FD-3FD2-3C4B-8A3C-39D93513BF3C}" type="datetime1">
              <a:rPr lang="nb-NO" smtClean="0"/>
              <a:t>08.09.2026</a:t>
            </a:fld>
            <a:endParaRPr lang="nb-NO"/>
          </a:p>
        </p:txBody>
      </p:sp>
      <p:sp>
        <p:nvSpPr>
          <p:cNvPr id="8" name="Plassholder for bunntekst 7"/>
          <p:cNvSpPr>
            <a:spLocks noGrp="1"/>
          </p:cNvSpPr>
          <p:nvPr>
            <p:ph type="ftr" sz="quarter" idx="11"/>
          </p:nvPr>
        </p:nvSpPr>
        <p:spPr/>
        <p:txBody>
          <a:bodyPr/>
          <a:lstStyle/>
          <a:p>
            <a:r>
              <a:rPr lang="nb-NO"/>
              <a:t>DAVE3625- Intro to A.I. by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46632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AC54932A-435C-2141-AA75-F89DDE44A7A7}" type="datetime1">
              <a:rPr lang="nb-NO" smtClean="0"/>
              <a:t>08.09.2026</a:t>
            </a:fld>
            <a:endParaRPr lang="nb-NO"/>
          </a:p>
        </p:txBody>
      </p:sp>
      <p:sp>
        <p:nvSpPr>
          <p:cNvPr id="4" name="Plassholder for bunntekst 3"/>
          <p:cNvSpPr>
            <a:spLocks noGrp="1"/>
          </p:cNvSpPr>
          <p:nvPr>
            <p:ph type="ftr" sz="quarter" idx="11"/>
          </p:nvPr>
        </p:nvSpPr>
        <p:spPr/>
        <p:txBody>
          <a:bodyPr/>
          <a:lstStyle/>
          <a:p>
            <a:r>
              <a:rPr lang="nb-NO"/>
              <a:t>DAVE3625- Intro to A.I. by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098047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D66F95F-571D-9C4C-BA1E-40FBBA42C7E9}" type="datetime1">
              <a:rPr lang="nb-NO" smtClean="0"/>
              <a:t>08.09.2026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943840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AB5FD3A5-9664-D748-972C-19F95BA3C393}" type="datetime1">
              <a:rPr lang="nb-NO" smtClean="0"/>
              <a:t>08.09.2026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169284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9876034"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1" y="5489579"/>
            <a:ext cx="9876034"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2057005A-1C7E-CA47-A195-82BA3A522E4E}" type="datetime1">
              <a:rPr lang="nb-NO" smtClean="0"/>
              <a:t>08.09.2026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4858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507"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50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4D405009-CE4A-344B-9712-45A3DD6AECA7}" type="datetime1">
              <a:rPr lang="nb-NO" smtClean="0"/>
              <a:t>08.09.2026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767858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38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38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8774"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858EE03-BCF6-564A-8B33-302197A1BB16}" type="datetime1">
              <a:rPr lang="nb-NO" smtClean="0"/>
              <a:t>08.09.2026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26889017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2" y="2963894"/>
            <a:ext cx="13008769"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13008769"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5BB0C57D-B2FA-4C4C-9173-DAE3559B723F}" type="datetime1">
              <a:rPr lang="nb-NO" smtClean="0"/>
              <a:t>08.09.2026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972122" y="7668958"/>
            <a:ext cx="4680585" cy="554469"/>
          </a:xfrm>
        </p:spPr>
        <p:txBody>
          <a:bodyPr anchor="t">
            <a:normAutofit/>
          </a:bodyPr>
          <a:lstStyle>
            <a:lvl1pPr>
              <a:defRPr sz="1800"/>
            </a:lvl1pPr>
          </a:lstStyle>
          <a:p>
            <a:r>
              <a:rPr lang="nb-NO"/>
              <a:t>DAVE3625- Intro to A.I. by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566196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81145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963894"/>
            <a:ext cx="9876377" cy="2160591"/>
          </a:xfrm>
        </p:spPr>
        <p:txBody>
          <a:bodyPr anchor="b">
            <a:normAutofit/>
          </a:bodyPr>
          <a:lstStyle>
            <a:lvl1pPr algn="l">
              <a:defRPr sz="7800"/>
            </a:lvl1pPr>
          </a:lstStyle>
          <a:p>
            <a:r>
              <a:rPr lang="en-US"/>
              <a:t>Click to edit Master title style</a:t>
            </a:r>
            <a:endParaRPr lang="nb-NO"/>
          </a:p>
        </p:txBody>
      </p:sp>
      <p:sp>
        <p:nvSpPr>
          <p:cNvPr id="3" name="Undertittel 2"/>
          <p:cNvSpPr>
            <a:spLocks noGrp="1"/>
          </p:cNvSpPr>
          <p:nvPr>
            <p:ph type="subTitle" idx="1"/>
          </p:nvPr>
        </p:nvSpPr>
        <p:spPr>
          <a:xfrm>
            <a:off x="972122" y="5489579"/>
            <a:ext cx="9876377"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11296269" y="-1"/>
            <a:ext cx="6048756" cy="9757220"/>
          </a:xfrm>
          <a:prstGeom prst="rect">
            <a:avLst/>
          </a:prstGeom>
          <a:blipFill>
            <a:blip r:embed="rId4"/>
            <a:stretch>
              <a:fillRect/>
            </a:stretch>
          </a:blipFill>
        </p:spPr>
        <p:txBody>
          <a:bodyPr lIns="0" tIns="1800000" rIns="0" bIns="0">
            <a:normAutofit/>
          </a:bodyPr>
          <a:lstStyle>
            <a:lvl1pPr marL="0" indent="0" algn="ctr">
              <a:buNone/>
              <a:defRPr sz="3000"/>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804041E3-DE8C-ED4E-8875-4D964039AE99}" type="datetime1">
              <a:rPr lang="nb-NO" smtClean="0"/>
              <a:t>08.09.2026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972122" y="7668520"/>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10135267"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39180391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972123" y="2862294"/>
            <a:ext cx="7258850"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7258850"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468058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6210776" y="7258051"/>
            <a:ext cx="1323500" cy="276999"/>
          </a:xfrm>
        </p:spPr>
        <p:txBody>
          <a:bodyPr>
            <a:normAutofit/>
          </a:bodyPr>
          <a:lstStyle>
            <a:lvl1pPr marL="0" indent="0">
              <a:spcAft>
                <a:spcPts val="0"/>
              </a:spcAft>
              <a:buNone/>
              <a:defRPr sz="1800"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8667940" y="0"/>
            <a:ext cx="8677085" cy="9757220"/>
          </a:xfrm>
          <a:prstGeom prst="rect">
            <a:avLst/>
          </a:prstGeom>
          <a:blipFill>
            <a:blip r:embed="rId4"/>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6377E8C6-53F3-034E-8772-931A4B05526C}" type="datetime1">
              <a:rPr lang="nb-NO" smtClean="0"/>
              <a:t>08.09.2026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972122" y="7668521"/>
            <a:ext cx="4680585"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7517740"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12103541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ctrTitle"/>
          </p:nvPr>
        </p:nvSpPr>
        <p:spPr>
          <a:xfrm>
            <a:off x="972123" y="2862294"/>
            <a:ext cx="4637723" cy="2160591"/>
          </a:xfrm>
        </p:spPr>
        <p:txBody>
          <a:bodyPr anchor="b">
            <a:normAutofit/>
          </a:bodyPr>
          <a:lstStyle>
            <a:lvl1pPr algn="l">
              <a:defRPr sz="4800"/>
            </a:lvl1pPr>
          </a:lstStyle>
          <a:p>
            <a:r>
              <a:rPr lang="en-US"/>
              <a:t>Click to edit Master title style</a:t>
            </a:r>
            <a:endParaRPr lang="nb-NO"/>
          </a:p>
        </p:txBody>
      </p:sp>
      <p:sp>
        <p:nvSpPr>
          <p:cNvPr id="3" name="Undertittel 2"/>
          <p:cNvSpPr>
            <a:spLocks noGrp="1"/>
          </p:cNvSpPr>
          <p:nvPr>
            <p:ph type="subTitle" idx="1"/>
          </p:nvPr>
        </p:nvSpPr>
        <p:spPr>
          <a:xfrm>
            <a:off x="972122" y="5489579"/>
            <a:ext cx="4637723" cy="923330"/>
          </a:xfrm>
        </p:spPr>
        <p:txBody>
          <a:bodyPr>
            <a:normAutofit/>
          </a:bodyPr>
          <a:lstStyle>
            <a:lvl1pPr marL="0" indent="0" algn="l">
              <a:spcAft>
                <a:spcPts val="0"/>
              </a:spcAft>
              <a:buNone/>
              <a:defRPr sz="3000"/>
            </a:lvl1pPr>
            <a:lvl2pPr marL="650138" indent="0" algn="ctr">
              <a:buNone/>
              <a:defRPr sz="2844"/>
            </a:lvl2pPr>
            <a:lvl3pPr marL="1300277" indent="0" algn="ctr">
              <a:buNone/>
              <a:defRPr sz="2560"/>
            </a:lvl3pPr>
            <a:lvl4pPr marL="1950415" indent="0" algn="ctr">
              <a:buNone/>
              <a:defRPr sz="2275"/>
            </a:lvl4pPr>
            <a:lvl5pPr marL="2600554" indent="0" algn="ctr">
              <a:buNone/>
              <a:defRPr sz="2275"/>
            </a:lvl5pPr>
            <a:lvl6pPr marL="3250692" indent="0" algn="ctr">
              <a:buNone/>
              <a:defRPr sz="2275"/>
            </a:lvl6pPr>
            <a:lvl7pPr marL="3900830" indent="0" algn="ctr">
              <a:buNone/>
              <a:defRPr sz="2275"/>
            </a:lvl7pPr>
            <a:lvl8pPr marL="4550969" indent="0" algn="ctr">
              <a:buNone/>
              <a:defRPr sz="2275"/>
            </a:lvl8pPr>
            <a:lvl9pPr marL="5201107" indent="0" algn="ctr">
              <a:buNone/>
              <a:defRPr sz="2275"/>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971550" y="7258051"/>
            <a:ext cx="3240405" cy="276999"/>
          </a:xfrm>
        </p:spPr>
        <p:txBody>
          <a:bodyPr>
            <a:normAutofit/>
          </a:bodyPr>
          <a:lstStyle>
            <a:lvl1pPr marL="0" indent="0">
              <a:spcAft>
                <a:spcPts val="0"/>
              </a:spcAft>
              <a:buNone/>
              <a:defRPr sz="1800"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49688" y="7258051"/>
            <a:ext cx="1260157" cy="276999"/>
          </a:xfrm>
        </p:spPr>
        <p:txBody>
          <a:bodyPr>
            <a:normAutofit/>
          </a:bodyPr>
          <a:lstStyle>
            <a:lvl1pPr marL="0" indent="0">
              <a:spcAft>
                <a:spcPts val="0"/>
              </a:spcAft>
              <a:buNone/>
              <a:defRPr sz="1800"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B671DC47-2562-B54B-AC71-8B3032B43A86}" type="datetime1">
              <a:rPr lang="nb-NO" smtClean="0"/>
              <a:t>08.09.2026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971551" y="7661755"/>
            <a:ext cx="4637723" cy="553998"/>
          </a:xfrm>
        </p:spPr>
        <p:txBody>
          <a:bodyPr anchor="t">
            <a:normAutofit/>
          </a:bodyPr>
          <a:lstStyle>
            <a:lvl1pPr>
              <a:defRPr sz="1800"/>
            </a:lvl1pPr>
          </a:lstStyle>
          <a:p>
            <a:r>
              <a:rPr lang="nb-NO"/>
              <a:t>DAVE3625- Intro to A.I. by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4896612" y="972122"/>
            <a:ext cx="713233" cy="650749"/>
          </a:xfrm>
          <a:prstGeom prst="rect">
            <a:avLst/>
          </a:prstGeom>
        </p:spPr>
        <p:txBody>
          <a:bodyPr lIns="91440" tIns="45720" rIns="91440" bIns="45720"/>
          <a:lstStyle>
            <a:lvl1pPr marL="0" indent="0" algn="ctr">
              <a:buNone/>
              <a:defRPr sz="1200"/>
            </a:lvl1pPr>
          </a:lstStyle>
          <a:p>
            <a:r>
              <a:rPr lang="en-US"/>
              <a:t>Logo</a:t>
            </a:r>
          </a:p>
        </p:txBody>
      </p:sp>
    </p:spTree>
    <p:extLst>
      <p:ext uri="{BB962C8B-B14F-4D97-AF65-F5344CB8AC3E}">
        <p14:creationId xmlns:p14="http://schemas.microsoft.com/office/powerpoint/2010/main" val="2532442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FD2B554A-D1E1-B246-8A1F-2ABBCC20AB6D}"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86925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4528153"/>
            <a:ext cx="15373922" cy="3323987"/>
          </a:xfrm>
        </p:spPr>
        <p:txBody>
          <a:bodyPr anchor="b">
            <a:normAutofit/>
          </a:bodyPr>
          <a:lstStyle>
            <a:lvl1pPr>
              <a:defRPr sz="120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A867E511-A6E5-D744-8A8B-1BCCAA832FBA}"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4844641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972122" y="5560923"/>
            <a:ext cx="15373922" cy="2160591"/>
          </a:xfrm>
        </p:spPr>
        <p:txBody>
          <a:bodyPr anchor="b">
            <a:normAutofit/>
          </a:bodyPr>
          <a:lstStyle>
            <a:lvl1pPr>
              <a:defRPr sz="7800"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8032840-EA62-D74B-8C25-75DF4B794485}"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205704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83F52445-04DA-F948-A09D-77375E698062}"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1157544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984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1" y="2374096"/>
            <a:ext cx="10027253" cy="664797"/>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BDF663F1-539E-8548-866B-61A244FCECBB}"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2"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6228778" y="3492436"/>
            <a:ext cx="4770596"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27098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11296269" y="-1"/>
            <a:ext cx="6048756" cy="9757220"/>
          </a:xfrm>
          <a:prstGeom prst="rect">
            <a:avLst/>
          </a:prstGeom>
          <a:blipFill>
            <a:blip r:embed="rId2"/>
            <a:stretch>
              <a:fillRect/>
            </a:stretch>
          </a:blipFill>
        </p:spPr>
        <p:txBody>
          <a:bodyPr lIns="0" tIns="1800000" rIns="0" bIns="0"/>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2374096"/>
            <a:ext cx="10027254" cy="664797"/>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8F7164F9-B6F9-3041-A528-65F839CB90CD}"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10027254"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95090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6057614" y="0"/>
            <a:ext cx="11287411" cy="9757220"/>
          </a:xfrm>
          <a:prstGeom prst="rect">
            <a:avLst/>
          </a:prstGeom>
          <a:blipFill>
            <a:blip r:embed="rId2"/>
            <a:stretch>
              <a:fillRect/>
            </a:stretch>
          </a:blipFill>
        </p:spPr>
        <p:txBody>
          <a:bodyPr lIns="0" tIns="1800000" rIns="0" bIns="0" anchor="t" anchorCtr="1">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p:nvPr>
        </p:nvSpPr>
        <p:spPr>
          <a:xfrm>
            <a:off x="972122" y="1709298"/>
            <a:ext cx="4860608" cy="1329595"/>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09CFC784-8590-594D-9CEE-7B6FCCD754BC}" type="datetime1">
              <a:rPr lang="nb-NO" smtClean="0"/>
              <a:t>08.09.2026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972121" y="3492436"/>
            <a:ext cx="4860608" cy="4680585"/>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60424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3237FBC2-F254-E440-8307-3F29EC8C348E}" type="datetime1">
              <a:rPr lang="nb-NO" smtClean="0"/>
              <a:t>08.09.2026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40847756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972122" y="4517203"/>
            <a:ext cx="15373922" cy="3240887"/>
          </a:xfrm>
        </p:spPr>
        <p:txBody>
          <a:bodyPr anchor="b">
            <a:normAutofit/>
          </a:bodyPr>
          <a:lstStyle>
            <a:lvl1pPr>
              <a:defRPr sz="7800" cap="all" baseline="0"/>
            </a:lvl1pPr>
          </a:lstStyle>
          <a:p>
            <a:r>
              <a:rPr lang="nb-NO"/>
              <a:t>Klikk for å legge til sitat</a:t>
            </a:r>
          </a:p>
        </p:txBody>
      </p:sp>
      <p:sp>
        <p:nvSpPr>
          <p:cNvPr id="4" name="Plassholder for dato 3"/>
          <p:cNvSpPr>
            <a:spLocks noGrp="1"/>
          </p:cNvSpPr>
          <p:nvPr>
            <p:ph type="dt" sz="half" idx="10"/>
          </p:nvPr>
        </p:nvSpPr>
        <p:spPr/>
        <p:txBody>
          <a:bodyPr/>
          <a:lstStyle/>
          <a:p>
            <a:fld id="{46038089-D00E-194D-A8E9-F0C50814D13C}"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6607060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7345025" cy="9757220"/>
          </a:xfrm>
          <a:prstGeom prst="rect">
            <a:avLst/>
          </a:prstGeom>
          <a:blipFill>
            <a:blip r:embed="rId2"/>
            <a:stretch>
              <a:fillRect/>
            </a:stretch>
          </a:blipFill>
        </p:spPr>
        <p:txBody>
          <a:bodyPr lIns="0" tIns="1800000" rIns="0" bIns="0">
            <a:normAutofit/>
          </a:bodyPr>
          <a:lstStyle>
            <a:lvl1pPr marL="0" indent="0" algn="ctr">
              <a:buNone/>
              <a:defRPr sz="3000">
                <a:solidFill>
                  <a:schemeClr val="lt1"/>
                </a:solidFill>
              </a:defRPr>
            </a:lvl1pPr>
          </a:lstStyle>
          <a:p>
            <a:r>
              <a:rPr lang="en-US"/>
              <a:t>Click icon to add picture</a:t>
            </a:r>
          </a:p>
        </p:txBody>
      </p:sp>
      <p:sp>
        <p:nvSpPr>
          <p:cNvPr id="2" name="Tittel 1"/>
          <p:cNvSpPr>
            <a:spLocks noGrp="1"/>
          </p:cNvSpPr>
          <p:nvPr>
            <p:ph type="title" hasCustomPrompt="1"/>
          </p:nvPr>
        </p:nvSpPr>
        <p:spPr>
          <a:xfrm>
            <a:off x="972122" y="5597499"/>
            <a:ext cx="15373922" cy="2160591"/>
          </a:xfrm>
        </p:spPr>
        <p:txBody>
          <a:bodyPr anchor="b">
            <a:normAutofit/>
          </a:bodyPr>
          <a:lstStyle>
            <a:lvl1pPr>
              <a:defRPr sz="7800"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94CDCFE1-2630-7A42-8500-EBF29F76AC40}" type="datetime1">
              <a:rPr lang="nb-NO" smtClean="0"/>
              <a:t>08.09.2026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972122" y="7956995"/>
            <a:ext cx="15373922" cy="276999"/>
          </a:xfrm>
        </p:spPr>
        <p:txBody>
          <a:bodyPr>
            <a:normAutofit/>
          </a:bodyPr>
          <a:lstStyle>
            <a:lvl1pPr marL="0" indent="0">
              <a:buNone/>
              <a:defRPr sz="1800"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972122" y="972122"/>
            <a:ext cx="1004318" cy="595885"/>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972123" y="8774297"/>
            <a:ext cx="2313437" cy="272797"/>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6337445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972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8965122" y="3492436"/>
            <a:ext cx="7380922" cy="46805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D5D597C9-C994-F046-BC95-097EF74890E7}" type="datetime1">
              <a:rPr lang="nb-NO" smtClean="0"/>
              <a:t>08.09.2026</a:t>
            </a:fld>
            <a:endParaRPr lang="nb-NO"/>
          </a:p>
        </p:txBody>
      </p:sp>
      <p:sp>
        <p:nvSpPr>
          <p:cNvPr id="6" name="Plassholder for bunntekst 5"/>
          <p:cNvSpPr>
            <a:spLocks noGrp="1"/>
          </p:cNvSpPr>
          <p:nvPr>
            <p:ph type="ftr" sz="quarter" idx="11"/>
          </p:nvPr>
        </p:nvSpPr>
        <p:spPr/>
        <p:txBody>
          <a:bodyPr/>
          <a:lstStyle/>
          <a:p>
            <a:r>
              <a:rPr lang="nb-NO"/>
              <a:t>DAVE3625- Intro to A.I. by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6628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972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4" name="Plassholder for innhold 3"/>
          <p:cNvSpPr>
            <a:spLocks noGrp="1"/>
          </p:cNvSpPr>
          <p:nvPr>
            <p:ph sz="half" idx="2"/>
          </p:nvPr>
        </p:nvSpPr>
        <p:spPr>
          <a:xfrm>
            <a:off x="972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8965122" y="3492436"/>
            <a:ext cx="7380922" cy="461665"/>
          </a:xfrm>
        </p:spPr>
        <p:txBody>
          <a:bodyPr anchor="b">
            <a:normAutofit/>
          </a:bodyPr>
          <a:lstStyle>
            <a:lvl1pPr marL="0" indent="0">
              <a:spcAft>
                <a:spcPts val="0"/>
              </a:spcAft>
              <a:buNone/>
              <a:defRPr sz="3000" b="1"/>
            </a:lvl1pPr>
            <a:lvl2pPr marL="650138" indent="0">
              <a:buNone/>
              <a:defRPr sz="2844" b="1"/>
            </a:lvl2pPr>
            <a:lvl3pPr marL="1300277" indent="0">
              <a:buNone/>
              <a:defRPr sz="2560" b="1"/>
            </a:lvl3pPr>
            <a:lvl4pPr marL="1950415" indent="0">
              <a:buNone/>
              <a:defRPr sz="2275" b="1"/>
            </a:lvl4pPr>
            <a:lvl5pPr marL="2600554" indent="0">
              <a:buNone/>
              <a:defRPr sz="2275" b="1"/>
            </a:lvl5pPr>
            <a:lvl6pPr marL="3250692" indent="0">
              <a:buNone/>
              <a:defRPr sz="2275" b="1"/>
            </a:lvl6pPr>
            <a:lvl7pPr marL="3900830" indent="0">
              <a:buNone/>
              <a:defRPr sz="2275" b="1"/>
            </a:lvl7pPr>
            <a:lvl8pPr marL="4550969" indent="0">
              <a:buNone/>
              <a:defRPr sz="2275" b="1"/>
            </a:lvl8pPr>
            <a:lvl9pPr marL="5201107" indent="0">
              <a:buNone/>
              <a:defRPr sz="2275" b="1"/>
            </a:lvl9pPr>
          </a:lstStyle>
          <a:p>
            <a:pPr lvl="0"/>
            <a:r>
              <a:rPr lang="en-US"/>
              <a:t>Edit Master text styles</a:t>
            </a:r>
          </a:p>
        </p:txBody>
      </p:sp>
      <p:sp>
        <p:nvSpPr>
          <p:cNvPr id="6" name="Plassholder for innhold 5"/>
          <p:cNvSpPr>
            <a:spLocks noGrp="1"/>
          </p:cNvSpPr>
          <p:nvPr>
            <p:ph sz="quarter" idx="4"/>
          </p:nvPr>
        </p:nvSpPr>
        <p:spPr>
          <a:xfrm>
            <a:off x="8965122" y="3954101"/>
            <a:ext cx="7380922" cy="421892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478F014A-0650-2F46-8017-65804110EF33}" type="datetime1">
              <a:rPr lang="nb-NO" smtClean="0"/>
              <a:t>08.09.2026</a:t>
            </a:fld>
            <a:endParaRPr lang="nb-NO"/>
          </a:p>
        </p:txBody>
      </p:sp>
      <p:sp>
        <p:nvSpPr>
          <p:cNvPr id="8" name="Plassholder for bunntekst 7"/>
          <p:cNvSpPr>
            <a:spLocks noGrp="1"/>
          </p:cNvSpPr>
          <p:nvPr>
            <p:ph type="ftr" sz="quarter" idx="11"/>
          </p:nvPr>
        </p:nvSpPr>
        <p:spPr/>
        <p:txBody>
          <a:bodyPr/>
          <a:lstStyle/>
          <a:p>
            <a:r>
              <a:rPr lang="nb-NO"/>
              <a:t>DAVE3625- Intro to A.I. by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18195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3FEF5241-E11D-9446-90EA-9CB3266B0EC6}" type="datetime1">
              <a:rPr lang="nb-NO" smtClean="0"/>
              <a:t>08.09.2026</a:t>
            </a:fld>
            <a:endParaRPr lang="nb-NO"/>
          </a:p>
        </p:txBody>
      </p:sp>
      <p:sp>
        <p:nvSpPr>
          <p:cNvPr id="4" name="Plassholder for bunntekst 3"/>
          <p:cNvSpPr>
            <a:spLocks noGrp="1"/>
          </p:cNvSpPr>
          <p:nvPr>
            <p:ph type="ftr" sz="quarter" idx="11"/>
          </p:nvPr>
        </p:nvSpPr>
        <p:spPr/>
        <p:txBody>
          <a:bodyPr/>
          <a:lstStyle/>
          <a:p>
            <a:r>
              <a:rPr lang="nb-NO"/>
              <a:t>DAVE3625- Intro to A.I. by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6109871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6D2E24B-D850-DB4E-8F8F-C67A1ADD6EF6}" type="datetime1">
              <a:rPr lang="nb-NO" smtClean="0"/>
              <a:t>08.09.2026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759863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7"/>
          <p:cNvSpPr txBox="1">
            <a:spLocks noGrp="1"/>
          </p:cNvSpPr>
          <p:nvPr>
            <p:ph type="title"/>
          </p:nvPr>
        </p:nvSpPr>
        <p:spPr>
          <a:xfrm>
            <a:off x="1192472" y="519205"/>
            <a:ext cx="14960084" cy="1884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body" idx="1"/>
          </p:nvPr>
        </p:nvSpPr>
        <p:spPr>
          <a:xfrm>
            <a:off x="1192472" y="2596022"/>
            <a:ext cx="14960084" cy="6187563"/>
          </a:xfrm>
          <a:prstGeom prst="rect">
            <a:avLst/>
          </a:prstGeom>
          <a:noFill/>
          <a:ln>
            <a:noFill/>
          </a:ln>
        </p:spPr>
        <p:txBody>
          <a:bodyPr spcFirstLastPara="1" wrap="square" lIns="91425" tIns="45700" rIns="91425" bIns="45700" anchor="t" anchorCtr="0">
            <a:normAutofit/>
          </a:bodyPr>
          <a:lstStyle>
            <a:lvl1pPr marL="650138" lvl="0" indent="-487604" algn="l">
              <a:lnSpc>
                <a:spcPct val="90000"/>
              </a:lnSpc>
              <a:spcBef>
                <a:spcPts val="1280"/>
              </a:spcBef>
              <a:spcAft>
                <a:spcPts val="0"/>
              </a:spcAft>
              <a:buClr>
                <a:schemeClr val="dk1"/>
              </a:buClr>
              <a:buSzPts val="1800"/>
              <a:buChar char="•"/>
              <a:defRPr/>
            </a:lvl1pPr>
            <a:lvl2pPr marL="1300277" lvl="1" indent="-487604" algn="l">
              <a:lnSpc>
                <a:spcPct val="90000"/>
              </a:lnSpc>
              <a:spcBef>
                <a:spcPts val="640"/>
              </a:spcBef>
              <a:spcAft>
                <a:spcPts val="0"/>
              </a:spcAft>
              <a:buClr>
                <a:schemeClr val="dk1"/>
              </a:buClr>
              <a:buSzPts val="1800"/>
              <a:buChar char="•"/>
              <a:defRPr/>
            </a:lvl2pPr>
            <a:lvl3pPr marL="1950415" lvl="2" indent="-487604" algn="l">
              <a:lnSpc>
                <a:spcPct val="90000"/>
              </a:lnSpc>
              <a:spcBef>
                <a:spcPts val="640"/>
              </a:spcBef>
              <a:spcAft>
                <a:spcPts val="0"/>
              </a:spcAft>
              <a:buClr>
                <a:schemeClr val="dk1"/>
              </a:buClr>
              <a:buSzPts val="1800"/>
              <a:buChar char="•"/>
              <a:defRPr/>
            </a:lvl3pPr>
            <a:lvl4pPr marL="2600554" lvl="3" indent="-487604" algn="l">
              <a:lnSpc>
                <a:spcPct val="90000"/>
              </a:lnSpc>
              <a:spcBef>
                <a:spcPts val="640"/>
              </a:spcBef>
              <a:spcAft>
                <a:spcPts val="0"/>
              </a:spcAft>
              <a:buClr>
                <a:schemeClr val="dk1"/>
              </a:buClr>
              <a:buSzPts val="1800"/>
              <a:buChar char="•"/>
              <a:defRPr/>
            </a:lvl4pPr>
            <a:lvl5pPr marL="3250692" lvl="4" indent="-487604" algn="l">
              <a:lnSpc>
                <a:spcPct val="90000"/>
              </a:lnSpc>
              <a:spcBef>
                <a:spcPts val="640"/>
              </a:spcBef>
              <a:spcAft>
                <a:spcPts val="0"/>
              </a:spcAft>
              <a:buClr>
                <a:schemeClr val="dk1"/>
              </a:buClr>
              <a:buSzPts val="1800"/>
              <a:buChar char="•"/>
              <a:defRPr/>
            </a:lvl5pPr>
            <a:lvl6pPr marL="3900830" lvl="5" indent="-487604" algn="l">
              <a:lnSpc>
                <a:spcPct val="90000"/>
              </a:lnSpc>
              <a:spcBef>
                <a:spcPts val="640"/>
              </a:spcBef>
              <a:spcAft>
                <a:spcPts val="0"/>
              </a:spcAft>
              <a:buClr>
                <a:schemeClr val="dk1"/>
              </a:buClr>
              <a:buSzPts val="1800"/>
              <a:buChar char="•"/>
              <a:defRPr/>
            </a:lvl6pPr>
            <a:lvl7pPr marL="4550969" lvl="6" indent="-487604" algn="l">
              <a:lnSpc>
                <a:spcPct val="90000"/>
              </a:lnSpc>
              <a:spcBef>
                <a:spcPts val="640"/>
              </a:spcBef>
              <a:spcAft>
                <a:spcPts val="0"/>
              </a:spcAft>
              <a:buClr>
                <a:schemeClr val="dk1"/>
              </a:buClr>
              <a:buSzPts val="1800"/>
              <a:buChar char="•"/>
              <a:defRPr/>
            </a:lvl7pPr>
            <a:lvl8pPr marL="5201107" lvl="7" indent="-487604" algn="l">
              <a:lnSpc>
                <a:spcPct val="90000"/>
              </a:lnSpc>
              <a:spcBef>
                <a:spcPts val="640"/>
              </a:spcBef>
              <a:spcAft>
                <a:spcPts val="0"/>
              </a:spcAft>
              <a:buClr>
                <a:schemeClr val="dk1"/>
              </a:buClr>
              <a:buSzPts val="1800"/>
              <a:buChar char="•"/>
              <a:defRPr/>
            </a:lvl8pPr>
            <a:lvl9pPr marL="5851246" lvl="8" indent="-487604" algn="l">
              <a:lnSpc>
                <a:spcPct val="90000"/>
              </a:lnSpc>
              <a:spcBef>
                <a:spcPts val="640"/>
              </a:spcBef>
              <a:spcAft>
                <a:spcPts val="0"/>
              </a:spcAft>
              <a:buClr>
                <a:schemeClr val="dk1"/>
              </a:buClr>
              <a:buSzPts val="1800"/>
              <a:buChar char="•"/>
              <a:defRPr/>
            </a:lvl9pPr>
          </a:lstStyle>
          <a:p>
            <a:endParaRPr/>
          </a:p>
        </p:txBody>
      </p:sp>
      <p:sp>
        <p:nvSpPr>
          <p:cNvPr id="18" name="Google Shape;18;p27"/>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9904567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35"/>
          <p:cNvSpPr txBox="1">
            <a:spLocks noGrp="1"/>
          </p:cNvSpPr>
          <p:nvPr>
            <p:ph type="title"/>
          </p:nvPr>
        </p:nvSpPr>
        <p:spPr>
          <a:xfrm>
            <a:off x="1183437" y="2431234"/>
            <a:ext cx="14960084" cy="40565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397"/>
              <a:buFont typeface="Calibri"/>
              <a:buNone/>
              <a:defRPr sz="76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5"/>
          <p:cNvSpPr txBox="1">
            <a:spLocks noGrp="1"/>
          </p:cNvSpPr>
          <p:nvPr>
            <p:ph type="body" idx="1"/>
          </p:nvPr>
        </p:nvSpPr>
        <p:spPr>
          <a:xfrm>
            <a:off x="1183437" y="6526176"/>
            <a:ext cx="14960084" cy="2133252"/>
          </a:xfrm>
          <a:prstGeom prst="rect">
            <a:avLst/>
          </a:prstGeom>
          <a:noFill/>
          <a:ln>
            <a:noFill/>
          </a:ln>
        </p:spPr>
        <p:txBody>
          <a:bodyPr spcFirstLastPara="1" wrap="square" lIns="91425" tIns="45700" rIns="91425" bIns="45700" anchor="t" anchorCtr="0">
            <a:normAutofit/>
          </a:bodyPr>
          <a:lstStyle>
            <a:lvl1pPr marL="650138" lvl="0" indent="-325069" algn="l">
              <a:lnSpc>
                <a:spcPct val="90000"/>
              </a:lnSpc>
              <a:spcBef>
                <a:spcPts val="1280"/>
              </a:spcBef>
              <a:spcAft>
                <a:spcPts val="0"/>
              </a:spcAft>
              <a:buClr>
                <a:srgbClr val="888888"/>
              </a:buClr>
              <a:buSzPts val="2159"/>
              <a:buNone/>
              <a:defRPr sz="3070">
                <a:solidFill>
                  <a:srgbClr val="888888"/>
                </a:solidFill>
              </a:defRPr>
            </a:lvl1pPr>
            <a:lvl2pPr marL="1300277" lvl="1" indent="-325069" algn="l">
              <a:lnSpc>
                <a:spcPct val="90000"/>
              </a:lnSpc>
              <a:spcBef>
                <a:spcPts val="640"/>
              </a:spcBef>
              <a:spcAft>
                <a:spcPts val="0"/>
              </a:spcAft>
              <a:buClr>
                <a:srgbClr val="888888"/>
              </a:buClr>
              <a:buSzPts val="1799"/>
              <a:buNone/>
              <a:defRPr sz="2558">
                <a:solidFill>
                  <a:srgbClr val="888888"/>
                </a:solidFill>
              </a:defRPr>
            </a:lvl2pPr>
            <a:lvl3pPr marL="1950415" lvl="2" indent="-325069" algn="l">
              <a:lnSpc>
                <a:spcPct val="90000"/>
              </a:lnSpc>
              <a:spcBef>
                <a:spcPts val="640"/>
              </a:spcBef>
              <a:spcAft>
                <a:spcPts val="0"/>
              </a:spcAft>
              <a:buClr>
                <a:srgbClr val="888888"/>
              </a:buClr>
              <a:buSzPts val="1619"/>
              <a:buNone/>
              <a:defRPr sz="2302">
                <a:solidFill>
                  <a:srgbClr val="888888"/>
                </a:solidFill>
              </a:defRPr>
            </a:lvl3pPr>
            <a:lvl4pPr marL="2600554" lvl="3" indent="-325069" algn="l">
              <a:lnSpc>
                <a:spcPct val="90000"/>
              </a:lnSpc>
              <a:spcBef>
                <a:spcPts val="640"/>
              </a:spcBef>
              <a:spcAft>
                <a:spcPts val="0"/>
              </a:spcAft>
              <a:buClr>
                <a:srgbClr val="888888"/>
              </a:buClr>
              <a:buSzPts val="1439"/>
              <a:buNone/>
              <a:defRPr sz="2046">
                <a:solidFill>
                  <a:srgbClr val="888888"/>
                </a:solidFill>
              </a:defRPr>
            </a:lvl4pPr>
            <a:lvl5pPr marL="3250692" lvl="4" indent="-325069" algn="l">
              <a:lnSpc>
                <a:spcPct val="90000"/>
              </a:lnSpc>
              <a:spcBef>
                <a:spcPts val="640"/>
              </a:spcBef>
              <a:spcAft>
                <a:spcPts val="0"/>
              </a:spcAft>
              <a:buClr>
                <a:srgbClr val="888888"/>
              </a:buClr>
              <a:buSzPts val="1439"/>
              <a:buNone/>
              <a:defRPr sz="2046">
                <a:solidFill>
                  <a:srgbClr val="888888"/>
                </a:solidFill>
              </a:defRPr>
            </a:lvl5pPr>
            <a:lvl6pPr marL="3900830" lvl="5" indent="-325069" algn="l">
              <a:lnSpc>
                <a:spcPct val="90000"/>
              </a:lnSpc>
              <a:spcBef>
                <a:spcPts val="640"/>
              </a:spcBef>
              <a:spcAft>
                <a:spcPts val="0"/>
              </a:spcAft>
              <a:buClr>
                <a:srgbClr val="888888"/>
              </a:buClr>
              <a:buSzPts val="1439"/>
              <a:buNone/>
              <a:defRPr sz="2046">
                <a:solidFill>
                  <a:srgbClr val="888888"/>
                </a:solidFill>
              </a:defRPr>
            </a:lvl6pPr>
            <a:lvl7pPr marL="4550969" lvl="6" indent="-325069" algn="l">
              <a:lnSpc>
                <a:spcPct val="90000"/>
              </a:lnSpc>
              <a:spcBef>
                <a:spcPts val="640"/>
              </a:spcBef>
              <a:spcAft>
                <a:spcPts val="0"/>
              </a:spcAft>
              <a:buClr>
                <a:srgbClr val="888888"/>
              </a:buClr>
              <a:buSzPts val="1439"/>
              <a:buNone/>
              <a:defRPr sz="2046">
                <a:solidFill>
                  <a:srgbClr val="888888"/>
                </a:solidFill>
              </a:defRPr>
            </a:lvl7pPr>
            <a:lvl8pPr marL="5201107" lvl="7" indent="-325069" algn="l">
              <a:lnSpc>
                <a:spcPct val="90000"/>
              </a:lnSpc>
              <a:spcBef>
                <a:spcPts val="640"/>
              </a:spcBef>
              <a:spcAft>
                <a:spcPts val="0"/>
              </a:spcAft>
              <a:buClr>
                <a:srgbClr val="888888"/>
              </a:buClr>
              <a:buSzPts val="1439"/>
              <a:buNone/>
              <a:defRPr sz="2046">
                <a:solidFill>
                  <a:srgbClr val="888888"/>
                </a:solidFill>
              </a:defRPr>
            </a:lvl8pPr>
            <a:lvl9pPr marL="5851246" lvl="8" indent="-325069" algn="l">
              <a:lnSpc>
                <a:spcPct val="90000"/>
              </a:lnSpc>
              <a:spcBef>
                <a:spcPts val="640"/>
              </a:spcBef>
              <a:spcAft>
                <a:spcPts val="0"/>
              </a:spcAft>
              <a:buClr>
                <a:srgbClr val="888888"/>
              </a:buClr>
              <a:buSzPts val="1439"/>
              <a:buNone/>
              <a:defRPr sz="2046">
                <a:solidFill>
                  <a:srgbClr val="888888"/>
                </a:solidFill>
              </a:defRPr>
            </a:lvl9pPr>
          </a:lstStyle>
          <a:p>
            <a:endParaRPr/>
          </a:p>
        </p:txBody>
      </p:sp>
      <p:sp>
        <p:nvSpPr>
          <p:cNvPr id="30" name="Google Shape;30;p35"/>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5"/>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5"/>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465560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37"/>
          <p:cNvSpPr txBox="1">
            <a:spLocks noGrp="1"/>
          </p:cNvSpPr>
          <p:nvPr>
            <p:ph type="title"/>
          </p:nvPr>
        </p:nvSpPr>
        <p:spPr>
          <a:xfrm>
            <a:off x="1194731" y="519205"/>
            <a:ext cx="14960084" cy="1884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7"/>
          <p:cNvSpPr txBox="1">
            <a:spLocks noGrp="1"/>
          </p:cNvSpPr>
          <p:nvPr>
            <p:ph type="body" idx="1"/>
          </p:nvPr>
        </p:nvSpPr>
        <p:spPr>
          <a:xfrm>
            <a:off x="1194730" y="2390598"/>
            <a:ext cx="7337758" cy="1171595"/>
          </a:xfrm>
          <a:prstGeom prst="rect">
            <a:avLst/>
          </a:prstGeom>
          <a:noFill/>
          <a:ln>
            <a:noFill/>
          </a:ln>
        </p:spPr>
        <p:txBody>
          <a:bodyPr spcFirstLastPara="1" wrap="square" lIns="91425" tIns="45700" rIns="91425" bIns="45700" anchor="b" anchorCtr="0">
            <a:normAutofit/>
          </a:bodyPr>
          <a:lstStyle>
            <a:lvl1pPr marL="650138" lvl="0" indent="-325069" algn="l">
              <a:lnSpc>
                <a:spcPct val="90000"/>
              </a:lnSpc>
              <a:spcBef>
                <a:spcPts val="1280"/>
              </a:spcBef>
              <a:spcAft>
                <a:spcPts val="0"/>
              </a:spcAft>
              <a:buClr>
                <a:schemeClr val="dk1"/>
              </a:buClr>
              <a:buSzPts val="2159"/>
              <a:buNone/>
              <a:defRPr sz="3070" b="1"/>
            </a:lvl1pPr>
            <a:lvl2pPr marL="1300277" lvl="1" indent="-325069" algn="l">
              <a:lnSpc>
                <a:spcPct val="90000"/>
              </a:lnSpc>
              <a:spcBef>
                <a:spcPts val="640"/>
              </a:spcBef>
              <a:spcAft>
                <a:spcPts val="0"/>
              </a:spcAft>
              <a:buClr>
                <a:schemeClr val="dk1"/>
              </a:buClr>
              <a:buSzPts val="1799"/>
              <a:buNone/>
              <a:defRPr sz="2558" b="1"/>
            </a:lvl2pPr>
            <a:lvl3pPr marL="1950415" lvl="2" indent="-325069" algn="l">
              <a:lnSpc>
                <a:spcPct val="90000"/>
              </a:lnSpc>
              <a:spcBef>
                <a:spcPts val="640"/>
              </a:spcBef>
              <a:spcAft>
                <a:spcPts val="0"/>
              </a:spcAft>
              <a:buClr>
                <a:schemeClr val="dk1"/>
              </a:buClr>
              <a:buSzPts val="1619"/>
              <a:buNone/>
              <a:defRPr sz="2302" b="1"/>
            </a:lvl3pPr>
            <a:lvl4pPr marL="2600554" lvl="3" indent="-325069" algn="l">
              <a:lnSpc>
                <a:spcPct val="90000"/>
              </a:lnSpc>
              <a:spcBef>
                <a:spcPts val="640"/>
              </a:spcBef>
              <a:spcAft>
                <a:spcPts val="0"/>
              </a:spcAft>
              <a:buClr>
                <a:schemeClr val="dk1"/>
              </a:buClr>
              <a:buSzPts val="1439"/>
              <a:buNone/>
              <a:defRPr sz="2046" b="1"/>
            </a:lvl4pPr>
            <a:lvl5pPr marL="3250692" lvl="4" indent="-325069" algn="l">
              <a:lnSpc>
                <a:spcPct val="90000"/>
              </a:lnSpc>
              <a:spcBef>
                <a:spcPts val="640"/>
              </a:spcBef>
              <a:spcAft>
                <a:spcPts val="0"/>
              </a:spcAft>
              <a:buClr>
                <a:schemeClr val="dk1"/>
              </a:buClr>
              <a:buSzPts val="1439"/>
              <a:buNone/>
              <a:defRPr sz="2046" b="1"/>
            </a:lvl5pPr>
            <a:lvl6pPr marL="3900830" lvl="5" indent="-325069" algn="l">
              <a:lnSpc>
                <a:spcPct val="90000"/>
              </a:lnSpc>
              <a:spcBef>
                <a:spcPts val="640"/>
              </a:spcBef>
              <a:spcAft>
                <a:spcPts val="0"/>
              </a:spcAft>
              <a:buClr>
                <a:schemeClr val="dk1"/>
              </a:buClr>
              <a:buSzPts val="1439"/>
              <a:buNone/>
              <a:defRPr sz="2046" b="1"/>
            </a:lvl6pPr>
            <a:lvl7pPr marL="4550969" lvl="6" indent="-325069" algn="l">
              <a:lnSpc>
                <a:spcPct val="90000"/>
              </a:lnSpc>
              <a:spcBef>
                <a:spcPts val="640"/>
              </a:spcBef>
              <a:spcAft>
                <a:spcPts val="0"/>
              </a:spcAft>
              <a:buClr>
                <a:schemeClr val="dk1"/>
              </a:buClr>
              <a:buSzPts val="1439"/>
              <a:buNone/>
              <a:defRPr sz="2046" b="1"/>
            </a:lvl7pPr>
            <a:lvl8pPr marL="5201107" lvl="7" indent="-325069" algn="l">
              <a:lnSpc>
                <a:spcPct val="90000"/>
              </a:lnSpc>
              <a:spcBef>
                <a:spcPts val="640"/>
              </a:spcBef>
              <a:spcAft>
                <a:spcPts val="0"/>
              </a:spcAft>
              <a:buClr>
                <a:schemeClr val="dk1"/>
              </a:buClr>
              <a:buSzPts val="1439"/>
              <a:buNone/>
              <a:defRPr sz="2046" b="1"/>
            </a:lvl8pPr>
            <a:lvl9pPr marL="5851246" lvl="8" indent="-325069" algn="l">
              <a:lnSpc>
                <a:spcPct val="90000"/>
              </a:lnSpc>
              <a:spcBef>
                <a:spcPts val="640"/>
              </a:spcBef>
              <a:spcAft>
                <a:spcPts val="0"/>
              </a:spcAft>
              <a:buClr>
                <a:schemeClr val="dk1"/>
              </a:buClr>
              <a:buSzPts val="1439"/>
              <a:buNone/>
              <a:defRPr sz="2046" b="1"/>
            </a:lvl9pPr>
          </a:lstStyle>
          <a:p>
            <a:endParaRPr/>
          </a:p>
        </p:txBody>
      </p:sp>
      <p:sp>
        <p:nvSpPr>
          <p:cNvPr id="43" name="Google Shape;43;p37"/>
          <p:cNvSpPr txBox="1">
            <a:spLocks noGrp="1"/>
          </p:cNvSpPr>
          <p:nvPr>
            <p:ph type="body" idx="2"/>
          </p:nvPr>
        </p:nvSpPr>
        <p:spPr>
          <a:xfrm>
            <a:off x="1194730" y="3562194"/>
            <a:ext cx="7337758" cy="5239450"/>
          </a:xfrm>
          <a:prstGeom prst="rect">
            <a:avLst/>
          </a:prstGeom>
          <a:noFill/>
          <a:ln>
            <a:noFill/>
          </a:ln>
        </p:spPr>
        <p:txBody>
          <a:bodyPr spcFirstLastPara="1" wrap="square" lIns="91425" tIns="45700" rIns="91425" bIns="45700" anchor="t" anchorCtr="0">
            <a:normAutofit/>
          </a:bodyPr>
          <a:lstStyle>
            <a:lvl1pPr marL="650138" lvl="0" indent="-487604" algn="l">
              <a:lnSpc>
                <a:spcPct val="90000"/>
              </a:lnSpc>
              <a:spcBef>
                <a:spcPts val="1280"/>
              </a:spcBef>
              <a:spcAft>
                <a:spcPts val="0"/>
              </a:spcAft>
              <a:buClr>
                <a:schemeClr val="dk1"/>
              </a:buClr>
              <a:buSzPts val="1800"/>
              <a:buChar char="•"/>
              <a:defRPr/>
            </a:lvl1pPr>
            <a:lvl2pPr marL="1300277" lvl="1" indent="-487604" algn="l">
              <a:lnSpc>
                <a:spcPct val="90000"/>
              </a:lnSpc>
              <a:spcBef>
                <a:spcPts val="640"/>
              </a:spcBef>
              <a:spcAft>
                <a:spcPts val="0"/>
              </a:spcAft>
              <a:buClr>
                <a:schemeClr val="dk1"/>
              </a:buClr>
              <a:buSzPts val="1800"/>
              <a:buChar char="•"/>
              <a:defRPr/>
            </a:lvl2pPr>
            <a:lvl3pPr marL="1950415" lvl="2" indent="-487604" algn="l">
              <a:lnSpc>
                <a:spcPct val="90000"/>
              </a:lnSpc>
              <a:spcBef>
                <a:spcPts val="640"/>
              </a:spcBef>
              <a:spcAft>
                <a:spcPts val="0"/>
              </a:spcAft>
              <a:buClr>
                <a:schemeClr val="dk1"/>
              </a:buClr>
              <a:buSzPts val="1800"/>
              <a:buChar char="•"/>
              <a:defRPr/>
            </a:lvl3pPr>
            <a:lvl4pPr marL="2600554" lvl="3" indent="-487604" algn="l">
              <a:lnSpc>
                <a:spcPct val="90000"/>
              </a:lnSpc>
              <a:spcBef>
                <a:spcPts val="640"/>
              </a:spcBef>
              <a:spcAft>
                <a:spcPts val="0"/>
              </a:spcAft>
              <a:buClr>
                <a:schemeClr val="dk1"/>
              </a:buClr>
              <a:buSzPts val="1800"/>
              <a:buChar char="•"/>
              <a:defRPr/>
            </a:lvl4pPr>
            <a:lvl5pPr marL="3250692" lvl="4" indent="-487604" algn="l">
              <a:lnSpc>
                <a:spcPct val="90000"/>
              </a:lnSpc>
              <a:spcBef>
                <a:spcPts val="640"/>
              </a:spcBef>
              <a:spcAft>
                <a:spcPts val="0"/>
              </a:spcAft>
              <a:buClr>
                <a:schemeClr val="dk1"/>
              </a:buClr>
              <a:buSzPts val="1800"/>
              <a:buChar char="•"/>
              <a:defRPr/>
            </a:lvl5pPr>
            <a:lvl6pPr marL="3900830" lvl="5" indent="-487604" algn="l">
              <a:lnSpc>
                <a:spcPct val="90000"/>
              </a:lnSpc>
              <a:spcBef>
                <a:spcPts val="640"/>
              </a:spcBef>
              <a:spcAft>
                <a:spcPts val="0"/>
              </a:spcAft>
              <a:buClr>
                <a:schemeClr val="dk1"/>
              </a:buClr>
              <a:buSzPts val="1800"/>
              <a:buChar char="•"/>
              <a:defRPr/>
            </a:lvl6pPr>
            <a:lvl7pPr marL="4550969" lvl="6" indent="-487604" algn="l">
              <a:lnSpc>
                <a:spcPct val="90000"/>
              </a:lnSpc>
              <a:spcBef>
                <a:spcPts val="640"/>
              </a:spcBef>
              <a:spcAft>
                <a:spcPts val="0"/>
              </a:spcAft>
              <a:buClr>
                <a:schemeClr val="dk1"/>
              </a:buClr>
              <a:buSzPts val="1800"/>
              <a:buChar char="•"/>
              <a:defRPr/>
            </a:lvl7pPr>
            <a:lvl8pPr marL="5201107" lvl="7" indent="-487604" algn="l">
              <a:lnSpc>
                <a:spcPct val="90000"/>
              </a:lnSpc>
              <a:spcBef>
                <a:spcPts val="640"/>
              </a:spcBef>
              <a:spcAft>
                <a:spcPts val="0"/>
              </a:spcAft>
              <a:buClr>
                <a:schemeClr val="dk1"/>
              </a:buClr>
              <a:buSzPts val="1800"/>
              <a:buChar char="•"/>
              <a:defRPr/>
            </a:lvl8pPr>
            <a:lvl9pPr marL="5851246" lvl="8" indent="-487604" algn="l">
              <a:lnSpc>
                <a:spcPct val="90000"/>
              </a:lnSpc>
              <a:spcBef>
                <a:spcPts val="640"/>
              </a:spcBef>
              <a:spcAft>
                <a:spcPts val="0"/>
              </a:spcAft>
              <a:buClr>
                <a:schemeClr val="dk1"/>
              </a:buClr>
              <a:buSzPts val="1800"/>
              <a:buChar char="•"/>
              <a:defRPr/>
            </a:lvl9pPr>
          </a:lstStyle>
          <a:p>
            <a:endParaRPr/>
          </a:p>
        </p:txBody>
      </p:sp>
      <p:sp>
        <p:nvSpPr>
          <p:cNvPr id="44" name="Google Shape;44;p37"/>
          <p:cNvSpPr txBox="1">
            <a:spLocks noGrp="1"/>
          </p:cNvSpPr>
          <p:nvPr>
            <p:ph type="body" idx="3"/>
          </p:nvPr>
        </p:nvSpPr>
        <p:spPr>
          <a:xfrm>
            <a:off x="8780919" y="2390598"/>
            <a:ext cx="7373895" cy="1171595"/>
          </a:xfrm>
          <a:prstGeom prst="rect">
            <a:avLst/>
          </a:prstGeom>
          <a:noFill/>
          <a:ln>
            <a:noFill/>
          </a:ln>
        </p:spPr>
        <p:txBody>
          <a:bodyPr spcFirstLastPara="1" wrap="square" lIns="91425" tIns="45700" rIns="91425" bIns="45700" anchor="b" anchorCtr="0">
            <a:normAutofit/>
          </a:bodyPr>
          <a:lstStyle>
            <a:lvl1pPr marL="650138" lvl="0" indent="-325069" algn="l">
              <a:lnSpc>
                <a:spcPct val="90000"/>
              </a:lnSpc>
              <a:spcBef>
                <a:spcPts val="1280"/>
              </a:spcBef>
              <a:spcAft>
                <a:spcPts val="0"/>
              </a:spcAft>
              <a:buClr>
                <a:schemeClr val="dk1"/>
              </a:buClr>
              <a:buSzPts val="2159"/>
              <a:buNone/>
              <a:defRPr sz="3070" b="1"/>
            </a:lvl1pPr>
            <a:lvl2pPr marL="1300277" lvl="1" indent="-325069" algn="l">
              <a:lnSpc>
                <a:spcPct val="90000"/>
              </a:lnSpc>
              <a:spcBef>
                <a:spcPts val="640"/>
              </a:spcBef>
              <a:spcAft>
                <a:spcPts val="0"/>
              </a:spcAft>
              <a:buClr>
                <a:schemeClr val="dk1"/>
              </a:buClr>
              <a:buSzPts val="1799"/>
              <a:buNone/>
              <a:defRPr sz="2558" b="1"/>
            </a:lvl2pPr>
            <a:lvl3pPr marL="1950415" lvl="2" indent="-325069" algn="l">
              <a:lnSpc>
                <a:spcPct val="90000"/>
              </a:lnSpc>
              <a:spcBef>
                <a:spcPts val="640"/>
              </a:spcBef>
              <a:spcAft>
                <a:spcPts val="0"/>
              </a:spcAft>
              <a:buClr>
                <a:schemeClr val="dk1"/>
              </a:buClr>
              <a:buSzPts val="1619"/>
              <a:buNone/>
              <a:defRPr sz="2302" b="1"/>
            </a:lvl3pPr>
            <a:lvl4pPr marL="2600554" lvl="3" indent="-325069" algn="l">
              <a:lnSpc>
                <a:spcPct val="90000"/>
              </a:lnSpc>
              <a:spcBef>
                <a:spcPts val="640"/>
              </a:spcBef>
              <a:spcAft>
                <a:spcPts val="0"/>
              </a:spcAft>
              <a:buClr>
                <a:schemeClr val="dk1"/>
              </a:buClr>
              <a:buSzPts val="1439"/>
              <a:buNone/>
              <a:defRPr sz="2046" b="1"/>
            </a:lvl4pPr>
            <a:lvl5pPr marL="3250692" lvl="4" indent="-325069" algn="l">
              <a:lnSpc>
                <a:spcPct val="90000"/>
              </a:lnSpc>
              <a:spcBef>
                <a:spcPts val="640"/>
              </a:spcBef>
              <a:spcAft>
                <a:spcPts val="0"/>
              </a:spcAft>
              <a:buClr>
                <a:schemeClr val="dk1"/>
              </a:buClr>
              <a:buSzPts val="1439"/>
              <a:buNone/>
              <a:defRPr sz="2046" b="1"/>
            </a:lvl5pPr>
            <a:lvl6pPr marL="3900830" lvl="5" indent="-325069" algn="l">
              <a:lnSpc>
                <a:spcPct val="90000"/>
              </a:lnSpc>
              <a:spcBef>
                <a:spcPts val="640"/>
              </a:spcBef>
              <a:spcAft>
                <a:spcPts val="0"/>
              </a:spcAft>
              <a:buClr>
                <a:schemeClr val="dk1"/>
              </a:buClr>
              <a:buSzPts val="1439"/>
              <a:buNone/>
              <a:defRPr sz="2046" b="1"/>
            </a:lvl6pPr>
            <a:lvl7pPr marL="4550969" lvl="6" indent="-325069" algn="l">
              <a:lnSpc>
                <a:spcPct val="90000"/>
              </a:lnSpc>
              <a:spcBef>
                <a:spcPts val="640"/>
              </a:spcBef>
              <a:spcAft>
                <a:spcPts val="0"/>
              </a:spcAft>
              <a:buClr>
                <a:schemeClr val="dk1"/>
              </a:buClr>
              <a:buSzPts val="1439"/>
              <a:buNone/>
              <a:defRPr sz="2046" b="1"/>
            </a:lvl7pPr>
            <a:lvl8pPr marL="5201107" lvl="7" indent="-325069" algn="l">
              <a:lnSpc>
                <a:spcPct val="90000"/>
              </a:lnSpc>
              <a:spcBef>
                <a:spcPts val="640"/>
              </a:spcBef>
              <a:spcAft>
                <a:spcPts val="0"/>
              </a:spcAft>
              <a:buClr>
                <a:schemeClr val="dk1"/>
              </a:buClr>
              <a:buSzPts val="1439"/>
              <a:buNone/>
              <a:defRPr sz="2046" b="1"/>
            </a:lvl8pPr>
            <a:lvl9pPr marL="5851246" lvl="8" indent="-325069" algn="l">
              <a:lnSpc>
                <a:spcPct val="90000"/>
              </a:lnSpc>
              <a:spcBef>
                <a:spcPts val="640"/>
              </a:spcBef>
              <a:spcAft>
                <a:spcPts val="0"/>
              </a:spcAft>
              <a:buClr>
                <a:schemeClr val="dk1"/>
              </a:buClr>
              <a:buSzPts val="1439"/>
              <a:buNone/>
              <a:defRPr sz="2046" b="1"/>
            </a:lvl9pPr>
          </a:lstStyle>
          <a:p>
            <a:endParaRPr/>
          </a:p>
        </p:txBody>
      </p:sp>
      <p:sp>
        <p:nvSpPr>
          <p:cNvPr id="45" name="Google Shape;45;p37"/>
          <p:cNvSpPr txBox="1">
            <a:spLocks noGrp="1"/>
          </p:cNvSpPr>
          <p:nvPr>
            <p:ph type="body" idx="4"/>
          </p:nvPr>
        </p:nvSpPr>
        <p:spPr>
          <a:xfrm>
            <a:off x="8780919" y="3562194"/>
            <a:ext cx="7373895" cy="5239450"/>
          </a:xfrm>
          <a:prstGeom prst="rect">
            <a:avLst/>
          </a:prstGeom>
          <a:noFill/>
          <a:ln>
            <a:noFill/>
          </a:ln>
        </p:spPr>
        <p:txBody>
          <a:bodyPr spcFirstLastPara="1" wrap="square" lIns="91425" tIns="45700" rIns="91425" bIns="45700" anchor="t" anchorCtr="0">
            <a:normAutofit/>
          </a:bodyPr>
          <a:lstStyle>
            <a:lvl1pPr marL="650138" lvl="0" indent="-487604" algn="l">
              <a:lnSpc>
                <a:spcPct val="90000"/>
              </a:lnSpc>
              <a:spcBef>
                <a:spcPts val="1280"/>
              </a:spcBef>
              <a:spcAft>
                <a:spcPts val="0"/>
              </a:spcAft>
              <a:buClr>
                <a:schemeClr val="dk1"/>
              </a:buClr>
              <a:buSzPts val="1800"/>
              <a:buChar char="•"/>
              <a:defRPr/>
            </a:lvl1pPr>
            <a:lvl2pPr marL="1300277" lvl="1" indent="-487604" algn="l">
              <a:lnSpc>
                <a:spcPct val="90000"/>
              </a:lnSpc>
              <a:spcBef>
                <a:spcPts val="640"/>
              </a:spcBef>
              <a:spcAft>
                <a:spcPts val="0"/>
              </a:spcAft>
              <a:buClr>
                <a:schemeClr val="dk1"/>
              </a:buClr>
              <a:buSzPts val="1800"/>
              <a:buChar char="•"/>
              <a:defRPr/>
            </a:lvl2pPr>
            <a:lvl3pPr marL="1950415" lvl="2" indent="-487604" algn="l">
              <a:lnSpc>
                <a:spcPct val="90000"/>
              </a:lnSpc>
              <a:spcBef>
                <a:spcPts val="640"/>
              </a:spcBef>
              <a:spcAft>
                <a:spcPts val="0"/>
              </a:spcAft>
              <a:buClr>
                <a:schemeClr val="dk1"/>
              </a:buClr>
              <a:buSzPts val="1800"/>
              <a:buChar char="•"/>
              <a:defRPr/>
            </a:lvl3pPr>
            <a:lvl4pPr marL="2600554" lvl="3" indent="-487604" algn="l">
              <a:lnSpc>
                <a:spcPct val="90000"/>
              </a:lnSpc>
              <a:spcBef>
                <a:spcPts val="640"/>
              </a:spcBef>
              <a:spcAft>
                <a:spcPts val="0"/>
              </a:spcAft>
              <a:buClr>
                <a:schemeClr val="dk1"/>
              </a:buClr>
              <a:buSzPts val="1800"/>
              <a:buChar char="•"/>
              <a:defRPr/>
            </a:lvl4pPr>
            <a:lvl5pPr marL="3250692" lvl="4" indent="-487604" algn="l">
              <a:lnSpc>
                <a:spcPct val="90000"/>
              </a:lnSpc>
              <a:spcBef>
                <a:spcPts val="640"/>
              </a:spcBef>
              <a:spcAft>
                <a:spcPts val="0"/>
              </a:spcAft>
              <a:buClr>
                <a:schemeClr val="dk1"/>
              </a:buClr>
              <a:buSzPts val="1800"/>
              <a:buChar char="•"/>
              <a:defRPr/>
            </a:lvl5pPr>
            <a:lvl6pPr marL="3900830" lvl="5" indent="-487604" algn="l">
              <a:lnSpc>
                <a:spcPct val="90000"/>
              </a:lnSpc>
              <a:spcBef>
                <a:spcPts val="640"/>
              </a:spcBef>
              <a:spcAft>
                <a:spcPts val="0"/>
              </a:spcAft>
              <a:buClr>
                <a:schemeClr val="dk1"/>
              </a:buClr>
              <a:buSzPts val="1800"/>
              <a:buChar char="•"/>
              <a:defRPr/>
            </a:lvl6pPr>
            <a:lvl7pPr marL="4550969" lvl="6" indent="-487604" algn="l">
              <a:lnSpc>
                <a:spcPct val="90000"/>
              </a:lnSpc>
              <a:spcBef>
                <a:spcPts val="640"/>
              </a:spcBef>
              <a:spcAft>
                <a:spcPts val="0"/>
              </a:spcAft>
              <a:buClr>
                <a:schemeClr val="dk1"/>
              </a:buClr>
              <a:buSzPts val="1800"/>
              <a:buChar char="•"/>
              <a:defRPr/>
            </a:lvl7pPr>
            <a:lvl8pPr marL="5201107" lvl="7" indent="-487604" algn="l">
              <a:lnSpc>
                <a:spcPct val="90000"/>
              </a:lnSpc>
              <a:spcBef>
                <a:spcPts val="640"/>
              </a:spcBef>
              <a:spcAft>
                <a:spcPts val="0"/>
              </a:spcAft>
              <a:buClr>
                <a:schemeClr val="dk1"/>
              </a:buClr>
              <a:buSzPts val="1800"/>
              <a:buChar char="•"/>
              <a:defRPr/>
            </a:lvl8pPr>
            <a:lvl9pPr marL="5851246" lvl="8" indent="-487604" algn="l">
              <a:lnSpc>
                <a:spcPct val="90000"/>
              </a:lnSpc>
              <a:spcBef>
                <a:spcPts val="640"/>
              </a:spcBef>
              <a:spcAft>
                <a:spcPts val="0"/>
              </a:spcAft>
              <a:buClr>
                <a:schemeClr val="dk1"/>
              </a:buClr>
              <a:buSzPts val="1800"/>
              <a:buChar char="•"/>
              <a:defRPr/>
            </a:lvl9pPr>
          </a:lstStyle>
          <a:p>
            <a:endParaRPr/>
          </a:p>
        </p:txBody>
      </p:sp>
      <p:sp>
        <p:nvSpPr>
          <p:cNvPr id="46" name="Google Shape;46;p37"/>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7"/>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6895181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38"/>
          <p:cNvSpPr txBox="1">
            <a:spLocks noGrp="1"/>
          </p:cNvSpPr>
          <p:nvPr>
            <p:ph type="title"/>
          </p:nvPr>
        </p:nvSpPr>
        <p:spPr>
          <a:xfrm>
            <a:off x="1192472" y="519205"/>
            <a:ext cx="14960084" cy="1884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8"/>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8"/>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8"/>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5592438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9"/>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9"/>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9"/>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34051741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40"/>
          <p:cNvSpPr txBox="1">
            <a:spLocks noGrp="1"/>
          </p:cNvSpPr>
          <p:nvPr>
            <p:ph type="title"/>
          </p:nvPr>
        </p:nvSpPr>
        <p:spPr>
          <a:xfrm>
            <a:off x="1194732" y="650134"/>
            <a:ext cx="5594222" cy="227547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79"/>
              <a:buFont typeface="Calibri"/>
              <a:buNone/>
              <a:defRPr sz="4094"/>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0"/>
          <p:cNvSpPr txBox="1">
            <a:spLocks noGrp="1"/>
          </p:cNvSpPr>
          <p:nvPr>
            <p:ph type="body" idx="1"/>
          </p:nvPr>
        </p:nvSpPr>
        <p:spPr>
          <a:xfrm>
            <a:off x="7373895" y="1404111"/>
            <a:ext cx="8780919" cy="6930250"/>
          </a:xfrm>
          <a:prstGeom prst="rect">
            <a:avLst/>
          </a:prstGeom>
          <a:noFill/>
          <a:ln>
            <a:noFill/>
          </a:ln>
        </p:spPr>
        <p:txBody>
          <a:bodyPr spcFirstLastPara="1" wrap="square" lIns="91425" tIns="45700" rIns="91425" bIns="45700" anchor="t" anchorCtr="0">
            <a:normAutofit/>
          </a:bodyPr>
          <a:lstStyle>
            <a:lvl1pPr marL="650138" lvl="0" indent="-585034" algn="l">
              <a:lnSpc>
                <a:spcPct val="90000"/>
              </a:lnSpc>
              <a:spcBef>
                <a:spcPts val="1280"/>
              </a:spcBef>
              <a:spcAft>
                <a:spcPts val="0"/>
              </a:spcAft>
              <a:buClr>
                <a:schemeClr val="dk1"/>
              </a:buClr>
              <a:buSzPts val="2879"/>
              <a:buChar char="•"/>
              <a:defRPr sz="4094"/>
            </a:lvl1pPr>
            <a:lvl2pPr marL="1300277" lvl="1" indent="-552527" algn="l">
              <a:lnSpc>
                <a:spcPct val="90000"/>
              </a:lnSpc>
              <a:spcBef>
                <a:spcPts val="640"/>
              </a:spcBef>
              <a:spcAft>
                <a:spcPts val="0"/>
              </a:spcAft>
              <a:buClr>
                <a:schemeClr val="dk1"/>
              </a:buClr>
              <a:buSzPts val="2519"/>
              <a:buChar char="•"/>
              <a:defRPr sz="3582"/>
            </a:lvl2pPr>
            <a:lvl3pPr marL="1950415" lvl="2" indent="-520020" algn="l">
              <a:lnSpc>
                <a:spcPct val="90000"/>
              </a:lnSpc>
              <a:spcBef>
                <a:spcPts val="640"/>
              </a:spcBef>
              <a:spcAft>
                <a:spcPts val="0"/>
              </a:spcAft>
              <a:buClr>
                <a:schemeClr val="dk1"/>
              </a:buClr>
              <a:buSzPts val="2159"/>
              <a:buChar char="•"/>
              <a:defRPr sz="3070"/>
            </a:lvl3pPr>
            <a:lvl4pPr marL="2600554" lvl="3" indent="-487513" algn="l">
              <a:lnSpc>
                <a:spcPct val="90000"/>
              </a:lnSpc>
              <a:spcBef>
                <a:spcPts val="640"/>
              </a:spcBef>
              <a:spcAft>
                <a:spcPts val="0"/>
              </a:spcAft>
              <a:buClr>
                <a:schemeClr val="dk1"/>
              </a:buClr>
              <a:buSzPts val="1799"/>
              <a:buChar char="•"/>
              <a:defRPr sz="2558"/>
            </a:lvl4pPr>
            <a:lvl5pPr marL="3250692" lvl="4" indent="-487513" algn="l">
              <a:lnSpc>
                <a:spcPct val="90000"/>
              </a:lnSpc>
              <a:spcBef>
                <a:spcPts val="640"/>
              </a:spcBef>
              <a:spcAft>
                <a:spcPts val="0"/>
              </a:spcAft>
              <a:buClr>
                <a:schemeClr val="dk1"/>
              </a:buClr>
              <a:buSzPts val="1799"/>
              <a:buChar char="•"/>
              <a:defRPr sz="2558"/>
            </a:lvl5pPr>
            <a:lvl6pPr marL="3900830" lvl="5" indent="-487513" algn="l">
              <a:lnSpc>
                <a:spcPct val="90000"/>
              </a:lnSpc>
              <a:spcBef>
                <a:spcPts val="640"/>
              </a:spcBef>
              <a:spcAft>
                <a:spcPts val="0"/>
              </a:spcAft>
              <a:buClr>
                <a:schemeClr val="dk1"/>
              </a:buClr>
              <a:buSzPts val="1799"/>
              <a:buChar char="•"/>
              <a:defRPr sz="2558"/>
            </a:lvl6pPr>
            <a:lvl7pPr marL="4550969" lvl="6" indent="-487513" algn="l">
              <a:lnSpc>
                <a:spcPct val="90000"/>
              </a:lnSpc>
              <a:spcBef>
                <a:spcPts val="640"/>
              </a:spcBef>
              <a:spcAft>
                <a:spcPts val="0"/>
              </a:spcAft>
              <a:buClr>
                <a:schemeClr val="dk1"/>
              </a:buClr>
              <a:buSzPts val="1799"/>
              <a:buChar char="•"/>
              <a:defRPr sz="2558"/>
            </a:lvl7pPr>
            <a:lvl8pPr marL="5201107" lvl="7" indent="-487513" algn="l">
              <a:lnSpc>
                <a:spcPct val="90000"/>
              </a:lnSpc>
              <a:spcBef>
                <a:spcPts val="640"/>
              </a:spcBef>
              <a:spcAft>
                <a:spcPts val="0"/>
              </a:spcAft>
              <a:buClr>
                <a:schemeClr val="dk1"/>
              </a:buClr>
              <a:buSzPts val="1799"/>
              <a:buChar char="•"/>
              <a:defRPr sz="2558"/>
            </a:lvl8pPr>
            <a:lvl9pPr marL="5851246" lvl="8" indent="-487513" algn="l">
              <a:lnSpc>
                <a:spcPct val="90000"/>
              </a:lnSpc>
              <a:spcBef>
                <a:spcPts val="640"/>
              </a:spcBef>
              <a:spcAft>
                <a:spcPts val="0"/>
              </a:spcAft>
              <a:buClr>
                <a:schemeClr val="dk1"/>
              </a:buClr>
              <a:buSzPts val="1799"/>
              <a:buChar char="•"/>
              <a:defRPr sz="2558"/>
            </a:lvl9pPr>
          </a:lstStyle>
          <a:p>
            <a:endParaRPr/>
          </a:p>
        </p:txBody>
      </p:sp>
      <p:sp>
        <p:nvSpPr>
          <p:cNvPr id="61" name="Google Shape;61;p40"/>
          <p:cNvSpPr txBox="1">
            <a:spLocks noGrp="1"/>
          </p:cNvSpPr>
          <p:nvPr>
            <p:ph type="body" idx="2"/>
          </p:nvPr>
        </p:nvSpPr>
        <p:spPr>
          <a:xfrm>
            <a:off x="1194732" y="2925604"/>
            <a:ext cx="5594222" cy="5420043"/>
          </a:xfrm>
          <a:prstGeom prst="rect">
            <a:avLst/>
          </a:prstGeom>
          <a:noFill/>
          <a:ln>
            <a:noFill/>
          </a:ln>
        </p:spPr>
        <p:txBody>
          <a:bodyPr spcFirstLastPara="1" wrap="square" lIns="91425" tIns="45700" rIns="91425" bIns="45700" anchor="t" anchorCtr="0">
            <a:normAutofit/>
          </a:bodyPr>
          <a:lstStyle>
            <a:lvl1pPr marL="650138" lvl="0" indent="-325069" algn="l">
              <a:lnSpc>
                <a:spcPct val="90000"/>
              </a:lnSpc>
              <a:spcBef>
                <a:spcPts val="1280"/>
              </a:spcBef>
              <a:spcAft>
                <a:spcPts val="0"/>
              </a:spcAft>
              <a:buClr>
                <a:schemeClr val="dk1"/>
              </a:buClr>
              <a:buSzPts val="1439"/>
              <a:buNone/>
              <a:defRPr sz="2046"/>
            </a:lvl1pPr>
            <a:lvl2pPr marL="1300277" lvl="1" indent="-325069" algn="l">
              <a:lnSpc>
                <a:spcPct val="90000"/>
              </a:lnSpc>
              <a:spcBef>
                <a:spcPts val="640"/>
              </a:spcBef>
              <a:spcAft>
                <a:spcPts val="0"/>
              </a:spcAft>
              <a:buClr>
                <a:schemeClr val="dk1"/>
              </a:buClr>
              <a:buSzPts val="1260"/>
              <a:buNone/>
              <a:defRPr sz="1792"/>
            </a:lvl2pPr>
            <a:lvl3pPr marL="1950415" lvl="2" indent="-325069" algn="l">
              <a:lnSpc>
                <a:spcPct val="90000"/>
              </a:lnSpc>
              <a:spcBef>
                <a:spcPts val="640"/>
              </a:spcBef>
              <a:spcAft>
                <a:spcPts val="0"/>
              </a:spcAft>
              <a:buClr>
                <a:schemeClr val="dk1"/>
              </a:buClr>
              <a:buSzPts val="1079"/>
              <a:buNone/>
              <a:defRPr sz="1534"/>
            </a:lvl3pPr>
            <a:lvl4pPr marL="2600554" lvl="3" indent="-325069" algn="l">
              <a:lnSpc>
                <a:spcPct val="90000"/>
              </a:lnSpc>
              <a:spcBef>
                <a:spcPts val="640"/>
              </a:spcBef>
              <a:spcAft>
                <a:spcPts val="0"/>
              </a:spcAft>
              <a:buClr>
                <a:schemeClr val="dk1"/>
              </a:buClr>
              <a:buSzPts val="900"/>
              <a:buNone/>
              <a:defRPr sz="1280"/>
            </a:lvl4pPr>
            <a:lvl5pPr marL="3250692" lvl="4" indent="-325069" algn="l">
              <a:lnSpc>
                <a:spcPct val="90000"/>
              </a:lnSpc>
              <a:spcBef>
                <a:spcPts val="640"/>
              </a:spcBef>
              <a:spcAft>
                <a:spcPts val="0"/>
              </a:spcAft>
              <a:buClr>
                <a:schemeClr val="dk1"/>
              </a:buClr>
              <a:buSzPts val="900"/>
              <a:buNone/>
              <a:defRPr sz="1280"/>
            </a:lvl5pPr>
            <a:lvl6pPr marL="3900830" lvl="5" indent="-325069" algn="l">
              <a:lnSpc>
                <a:spcPct val="90000"/>
              </a:lnSpc>
              <a:spcBef>
                <a:spcPts val="640"/>
              </a:spcBef>
              <a:spcAft>
                <a:spcPts val="0"/>
              </a:spcAft>
              <a:buClr>
                <a:schemeClr val="dk1"/>
              </a:buClr>
              <a:buSzPts val="900"/>
              <a:buNone/>
              <a:defRPr sz="1280"/>
            </a:lvl6pPr>
            <a:lvl7pPr marL="4550969" lvl="6" indent="-325069" algn="l">
              <a:lnSpc>
                <a:spcPct val="90000"/>
              </a:lnSpc>
              <a:spcBef>
                <a:spcPts val="640"/>
              </a:spcBef>
              <a:spcAft>
                <a:spcPts val="0"/>
              </a:spcAft>
              <a:buClr>
                <a:schemeClr val="dk1"/>
              </a:buClr>
              <a:buSzPts val="900"/>
              <a:buNone/>
              <a:defRPr sz="1280"/>
            </a:lvl7pPr>
            <a:lvl8pPr marL="5201107" lvl="7" indent="-325069" algn="l">
              <a:lnSpc>
                <a:spcPct val="90000"/>
              </a:lnSpc>
              <a:spcBef>
                <a:spcPts val="640"/>
              </a:spcBef>
              <a:spcAft>
                <a:spcPts val="0"/>
              </a:spcAft>
              <a:buClr>
                <a:schemeClr val="dk1"/>
              </a:buClr>
              <a:buSzPts val="900"/>
              <a:buNone/>
              <a:defRPr sz="1280"/>
            </a:lvl8pPr>
            <a:lvl9pPr marL="5851246" lvl="8" indent="-325069" algn="l">
              <a:lnSpc>
                <a:spcPct val="90000"/>
              </a:lnSpc>
              <a:spcBef>
                <a:spcPts val="640"/>
              </a:spcBef>
              <a:spcAft>
                <a:spcPts val="0"/>
              </a:spcAft>
              <a:buClr>
                <a:schemeClr val="dk1"/>
              </a:buClr>
              <a:buSzPts val="900"/>
              <a:buNone/>
              <a:defRPr sz="1280"/>
            </a:lvl9pPr>
          </a:lstStyle>
          <a:p>
            <a:endParaRPr/>
          </a:p>
        </p:txBody>
      </p:sp>
      <p:sp>
        <p:nvSpPr>
          <p:cNvPr id="62" name="Google Shape;62;p40"/>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0"/>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0"/>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17261055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41"/>
          <p:cNvSpPr txBox="1">
            <a:spLocks noGrp="1"/>
          </p:cNvSpPr>
          <p:nvPr>
            <p:ph type="title"/>
          </p:nvPr>
        </p:nvSpPr>
        <p:spPr>
          <a:xfrm>
            <a:off x="1194732" y="650134"/>
            <a:ext cx="5594222" cy="227547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79"/>
              <a:buFont typeface="Calibri"/>
              <a:buNone/>
              <a:defRPr sz="4094"/>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1"/>
          <p:cNvSpPr>
            <a:spLocks noGrp="1"/>
          </p:cNvSpPr>
          <p:nvPr>
            <p:ph type="pic" idx="2"/>
          </p:nvPr>
        </p:nvSpPr>
        <p:spPr>
          <a:xfrm>
            <a:off x="7373895" y="1404111"/>
            <a:ext cx="8780919" cy="6930250"/>
          </a:xfrm>
          <a:prstGeom prst="rect">
            <a:avLst/>
          </a:prstGeom>
          <a:noFill/>
          <a:ln>
            <a:noFill/>
          </a:ln>
        </p:spPr>
      </p:sp>
      <p:sp>
        <p:nvSpPr>
          <p:cNvPr id="68" name="Google Shape;68;p41"/>
          <p:cNvSpPr txBox="1">
            <a:spLocks noGrp="1"/>
          </p:cNvSpPr>
          <p:nvPr>
            <p:ph type="body" idx="1"/>
          </p:nvPr>
        </p:nvSpPr>
        <p:spPr>
          <a:xfrm>
            <a:off x="1194732" y="2925604"/>
            <a:ext cx="5594222" cy="5420043"/>
          </a:xfrm>
          <a:prstGeom prst="rect">
            <a:avLst/>
          </a:prstGeom>
          <a:noFill/>
          <a:ln>
            <a:noFill/>
          </a:ln>
        </p:spPr>
        <p:txBody>
          <a:bodyPr spcFirstLastPara="1" wrap="square" lIns="91425" tIns="45700" rIns="91425" bIns="45700" anchor="t" anchorCtr="0">
            <a:normAutofit/>
          </a:bodyPr>
          <a:lstStyle>
            <a:lvl1pPr marL="650138" lvl="0" indent="-325069" algn="l">
              <a:lnSpc>
                <a:spcPct val="90000"/>
              </a:lnSpc>
              <a:spcBef>
                <a:spcPts val="1280"/>
              </a:spcBef>
              <a:spcAft>
                <a:spcPts val="0"/>
              </a:spcAft>
              <a:buClr>
                <a:schemeClr val="dk1"/>
              </a:buClr>
              <a:buSzPts val="1439"/>
              <a:buNone/>
              <a:defRPr sz="2046"/>
            </a:lvl1pPr>
            <a:lvl2pPr marL="1300277" lvl="1" indent="-325069" algn="l">
              <a:lnSpc>
                <a:spcPct val="90000"/>
              </a:lnSpc>
              <a:spcBef>
                <a:spcPts val="640"/>
              </a:spcBef>
              <a:spcAft>
                <a:spcPts val="0"/>
              </a:spcAft>
              <a:buClr>
                <a:schemeClr val="dk1"/>
              </a:buClr>
              <a:buSzPts val="1260"/>
              <a:buNone/>
              <a:defRPr sz="1792"/>
            </a:lvl2pPr>
            <a:lvl3pPr marL="1950415" lvl="2" indent="-325069" algn="l">
              <a:lnSpc>
                <a:spcPct val="90000"/>
              </a:lnSpc>
              <a:spcBef>
                <a:spcPts val="640"/>
              </a:spcBef>
              <a:spcAft>
                <a:spcPts val="0"/>
              </a:spcAft>
              <a:buClr>
                <a:schemeClr val="dk1"/>
              </a:buClr>
              <a:buSzPts val="1079"/>
              <a:buNone/>
              <a:defRPr sz="1534"/>
            </a:lvl3pPr>
            <a:lvl4pPr marL="2600554" lvl="3" indent="-325069" algn="l">
              <a:lnSpc>
                <a:spcPct val="90000"/>
              </a:lnSpc>
              <a:spcBef>
                <a:spcPts val="640"/>
              </a:spcBef>
              <a:spcAft>
                <a:spcPts val="0"/>
              </a:spcAft>
              <a:buClr>
                <a:schemeClr val="dk1"/>
              </a:buClr>
              <a:buSzPts val="900"/>
              <a:buNone/>
              <a:defRPr sz="1280"/>
            </a:lvl4pPr>
            <a:lvl5pPr marL="3250692" lvl="4" indent="-325069" algn="l">
              <a:lnSpc>
                <a:spcPct val="90000"/>
              </a:lnSpc>
              <a:spcBef>
                <a:spcPts val="640"/>
              </a:spcBef>
              <a:spcAft>
                <a:spcPts val="0"/>
              </a:spcAft>
              <a:buClr>
                <a:schemeClr val="dk1"/>
              </a:buClr>
              <a:buSzPts val="900"/>
              <a:buNone/>
              <a:defRPr sz="1280"/>
            </a:lvl5pPr>
            <a:lvl6pPr marL="3900830" lvl="5" indent="-325069" algn="l">
              <a:lnSpc>
                <a:spcPct val="90000"/>
              </a:lnSpc>
              <a:spcBef>
                <a:spcPts val="640"/>
              </a:spcBef>
              <a:spcAft>
                <a:spcPts val="0"/>
              </a:spcAft>
              <a:buClr>
                <a:schemeClr val="dk1"/>
              </a:buClr>
              <a:buSzPts val="900"/>
              <a:buNone/>
              <a:defRPr sz="1280"/>
            </a:lvl6pPr>
            <a:lvl7pPr marL="4550969" lvl="6" indent="-325069" algn="l">
              <a:lnSpc>
                <a:spcPct val="90000"/>
              </a:lnSpc>
              <a:spcBef>
                <a:spcPts val="640"/>
              </a:spcBef>
              <a:spcAft>
                <a:spcPts val="0"/>
              </a:spcAft>
              <a:buClr>
                <a:schemeClr val="dk1"/>
              </a:buClr>
              <a:buSzPts val="900"/>
              <a:buNone/>
              <a:defRPr sz="1280"/>
            </a:lvl7pPr>
            <a:lvl8pPr marL="5201107" lvl="7" indent="-325069" algn="l">
              <a:lnSpc>
                <a:spcPct val="90000"/>
              </a:lnSpc>
              <a:spcBef>
                <a:spcPts val="640"/>
              </a:spcBef>
              <a:spcAft>
                <a:spcPts val="0"/>
              </a:spcAft>
              <a:buClr>
                <a:schemeClr val="dk1"/>
              </a:buClr>
              <a:buSzPts val="900"/>
              <a:buNone/>
              <a:defRPr sz="1280"/>
            </a:lvl8pPr>
            <a:lvl9pPr marL="5851246" lvl="8" indent="-325069" algn="l">
              <a:lnSpc>
                <a:spcPct val="90000"/>
              </a:lnSpc>
              <a:spcBef>
                <a:spcPts val="640"/>
              </a:spcBef>
              <a:spcAft>
                <a:spcPts val="0"/>
              </a:spcAft>
              <a:buClr>
                <a:schemeClr val="dk1"/>
              </a:buClr>
              <a:buSzPts val="900"/>
              <a:buNone/>
              <a:defRPr sz="1280"/>
            </a:lvl9pPr>
          </a:lstStyle>
          <a:p>
            <a:endParaRPr/>
          </a:p>
        </p:txBody>
      </p:sp>
      <p:sp>
        <p:nvSpPr>
          <p:cNvPr id="69" name="Google Shape;69;p41"/>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1"/>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1"/>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21158210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1192472" y="519205"/>
            <a:ext cx="14960084" cy="1884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2"/>
          <p:cNvSpPr txBox="1">
            <a:spLocks noGrp="1"/>
          </p:cNvSpPr>
          <p:nvPr>
            <p:ph type="body" idx="1"/>
          </p:nvPr>
        </p:nvSpPr>
        <p:spPr>
          <a:xfrm rot="5400000">
            <a:off x="5578732" y="-1790239"/>
            <a:ext cx="6187563" cy="14960084"/>
          </a:xfrm>
          <a:prstGeom prst="rect">
            <a:avLst/>
          </a:prstGeom>
          <a:noFill/>
          <a:ln>
            <a:noFill/>
          </a:ln>
        </p:spPr>
        <p:txBody>
          <a:bodyPr spcFirstLastPara="1" wrap="square" lIns="91425" tIns="45700" rIns="91425" bIns="45700" anchor="t" anchorCtr="0">
            <a:normAutofit/>
          </a:bodyPr>
          <a:lstStyle>
            <a:lvl1pPr marL="650138" lvl="0" indent="-487604" algn="l">
              <a:lnSpc>
                <a:spcPct val="90000"/>
              </a:lnSpc>
              <a:spcBef>
                <a:spcPts val="1280"/>
              </a:spcBef>
              <a:spcAft>
                <a:spcPts val="0"/>
              </a:spcAft>
              <a:buClr>
                <a:schemeClr val="dk1"/>
              </a:buClr>
              <a:buSzPts val="1800"/>
              <a:buChar char="•"/>
              <a:defRPr/>
            </a:lvl1pPr>
            <a:lvl2pPr marL="1300277" lvl="1" indent="-487604" algn="l">
              <a:lnSpc>
                <a:spcPct val="90000"/>
              </a:lnSpc>
              <a:spcBef>
                <a:spcPts val="640"/>
              </a:spcBef>
              <a:spcAft>
                <a:spcPts val="0"/>
              </a:spcAft>
              <a:buClr>
                <a:schemeClr val="dk1"/>
              </a:buClr>
              <a:buSzPts val="1800"/>
              <a:buChar char="•"/>
              <a:defRPr/>
            </a:lvl2pPr>
            <a:lvl3pPr marL="1950415" lvl="2" indent="-487604" algn="l">
              <a:lnSpc>
                <a:spcPct val="90000"/>
              </a:lnSpc>
              <a:spcBef>
                <a:spcPts val="640"/>
              </a:spcBef>
              <a:spcAft>
                <a:spcPts val="0"/>
              </a:spcAft>
              <a:buClr>
                <a:schemeClr val="dk1"/>
              </a:buClr>
              <a:buSzPts val="1800"/>
              <a:buChar char="•"/>
              <a:defRPr/>
            </a:lvl3pPr>
            <a:lvl4pPr marL="2600554" lvl="3" indent="-487604" algn="l">
              <a:lnSpc>
                <a:spcPct val="90000"/>
              </a:lnSpc>
              <a:spcBef>
                <a:spcPts val="640"/>
              </a:spcBef>
              <a:spcAft>
                <a:spcPts val="0"/>
              </a:spcAft>
              <a:buClr>
                <a:schemeClr val="dk1"/>
              </a:buClr>
              <a:buSzPts val="1800"/>
              <a:buChar char="•"/>
              <a:defRPr/>
            </a:lvl4pPr>
            <a:lvl5pPr marL="3250692" lvl="4" indent="-487604" algn="l">
              <a:lnSpc>
                <a:spcPct val="90000"/>
              </a:lnSpc>
              <a:spcBef>
                <a:spcPts val="640"/>
              </a:spcBef>
              <a:spcAft>
                <a:spcPts val="0"/>
              </a:spcAft>
              <a:buClr>
                <a:schemeClr val="dk1"/>
              </a:buClr>
              <a:buSzPts val="1800"/>
              <a:buChar char="•"/>
              <a:defRPr/>
            </a:lvl5pPr>
            <a:lvl6pPr marL="3900830" lvl="5" indent="-487604" algn="l">
              <a:lnSpc>
                <a:spcPct val="90000"/>
              </a:lnSpc>
              <a:spcBef>
                <a:spcPts val="640"/>
              </a:spcBef>
              <a:spcAft>
                <a:spcPts val="0"/>
              </a:spcAft>
              <a:buClr>
                <a:schemeClr val="dk1"/>
              </a:buClr>
              <a:buSzPts val="1800"/>
              <a:buChar char="•"/>
              <a:defRPr/>
            </a:lvl6pPr>
            <a:lvl7pPr marL="4550969" lvl="6" indent="-487604" algn="l">
              <a:lnSpc>
                <a:spcPct val="90000"/>
              </a:lnSpc>
              <a:spcBef>
                <a:spcPts val="640"/>
              </a:spcBef>
              <a:spcAft>
                <a:spcPts val="0"/>
              </a:spcAft>
              <a:buClr>
                <a:schemeClr val="dk1"/>
              </a:buClr>
              <a:buSzPts val="1800"/>
              <a:buChar char="•"/>
              <a:defRPr/>
            </a:lvl7pPr>
            <a:lvl8pPr marL="5201107" lvl="7" indent="-487604" algn="l">
              <a:lnSpc>
                <a:spcPct val="90000"/>
              </a:lnSpc>
              <a:spcBef>
                <a:spcPts val="640"/>
              </a:spcBef>
              <a:spcAft>
                <a:spcPts val="0"/>
              </a:spcAft>
              <a:buClr>
                <a:schemeClr val="dk1"/>
              </a:buClr>
              <a:buSzPts val="1800"/>
              <a:buChar char="•"/>
              <a:defRPr/>
            </a:lvl8pPr>
            <a:lvl9pPr marL="5851246" lvl="8" indent="-487604" algn="l">
              <a:lnSpc>
                <a:spcPct val="90000"/>
              </a:lnSpc>
              <a:spcBef>
                <a:spcPts val="640"/>
              </a:spcBef>
              <a:spcAft>
                <a:spcPts val="0"/>
              </a:spcAft>
              <a:buClr>
                <a:schemeClr val="dk1"/>
              </a:buClr>
              <a:buSzPts val="1800"/>
              <a:buChar char="•"/>
              <a:defRPr/>
            </a:lvl9pPr>
          </a:lstStyle>
          <a:p>
            <a:endParaRPr/>
          </a:p>
        </p:txBody>
      </p:sp>
      <p:sp>
        <p:nvSpPr>
          <p:cNvPr id="75" name="Google Shape;75;p42"/>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2"/>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2"/>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35678514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43"/>
          <p:cNvSpPr txBox="1">
            <a:spLocks noGrp="1"/>
          </p:cNvSpPr>
          <p:nvPr>
            <p:ph type="title"/>
          </p:nvPr>
        </p:nvSpPr>
        <p:spPr>
          <a:xfrm rot="5400000">
            <a:off x="10150355" y="2781384"/>
            <a:ext cx="8264380" cy="37400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3"/>
          <p:cNvSpPr txBox="1">
            <a:spLocks noGrp="1"/>
          </p:cNvSpPr>
          <p:nvPr>
            <p:ph type="body" idx="1"/>
          </p:nvPr>
        </p:nvSpPr>
        <p:spPr>
          <a:xfrm rot="5400000">
            <a:off x="2561906" y="-850230"/>
            <a:ext cx="8264380" cy="11003250"/>
          </a:xfrm>
          <a:prstGeom prst="rect">
            <a:avLst/>
          </a:prstGeom>
          <a:noFill/>
          <a:ln>
            <a:noFill/>
          </a:ln>
        </p:spPr>
        <p:txBody>
          <a:bodyPr spcFirstLastPara="1" wrap="square" lIns="91425" tIns="45700" rIns="91425" bIns="45700" anchor="t" anchorCtr="0">
            <a:normAutofit/>
          </a:bodyPr>
          <a:lstStyle>
            <a:lvl1pPr marL="650138" lvl="0" indent="-487604" algn="l">
              <a:lnSpc>
                <a:spcPct val="90000"/>
              </a:lnSpc>
              <a:spcBef>
                <a:spcPts val="1280"/>
              </a:spcBef>
              <a:spcAft>
                <a:spcPts val="0"/>
              </a:spcAft>
              <a:buClr>
                <a:schemeClr val="dk1"/>
              </a:buClr>
              <a:buSzPts val="1800"/>
              <a:buChar char="•"/>
              <a:defRPr/>
            </a:lvl1pPr>
            <a:lvl2pPr marL="1300277" lvl="1" indent="-487604" algn="l">
              <a:lnSpc>
                <a:spcPct val="90000"/>
              </a:lnSpc>
              <a:spcBef>
                <a:spcPts val="640"/>
              </a:spcBef>
              <a:spcAft>
                <a:spcPts val="0"/>
              </a:spcAft>
              <a:buClr>
                <a:schemeClr val="dk1"/>
              </a:buClr>
              <a:buSzPts val="1800"/>
              <a:buChar char="•"/>
              <a:defRPr/>
            </a:lvl2pPr>
            <a:lvl3pPr marL="1950415" lvl="2" indent="-487604" algn="l">
              <a:lnSpc>
                <a:spcPct val="90000"/>
              </a:lnSpc>
              <a:spcBef>
                <a:spcPts val="640"/>
              </a:spcBef>
              <a:spcAft>
                <a:spcPts val="0"/>
              </a:spcAft>
              <a:buClr>
                <a:schemeClr val="dk1"/>
              </a:buClr>
              <a:buSzPts val="1800"/>
              <a:buChar char="•"/>
              <a:defRPr/>
            </a:lvl3pPr>
            <a:lvl4pPr marL="2600554" lvl="3" indent="-487604" algn="l">
              <a:lnSpc>
                <a:spcPct val="90000"/>
              </a:lnSpc>
              <a:spcBef>
                <a:spcPts val="640"/>
              </a:spcBef>
              <a:spcAft>
                <a:spcPts val="0"/>
              </a:spcAft>
              <a:buClr>
                <a:schemeClr val="dk1"/>
              </a:buClr>
              <a:buSzPts val="1800"/>
              <a:buChar char="•"/>
              <a:defRPr/>
            </a:lvl4pPr>
            <a:lvl5pPr marL="3250692" lvl="4" indent="-487604" algn="l">
              <a:lnSpc>
                <a:spcPct val="90000"/>
              </a:lnSpc>
              <a:spcBef>
                <a:spcPts val="640"/>
              </a:spcBef>
              <a:spcAft>
                <a:spcPts val="0"/>
              </a:spcAft>
              <a:buClr>
                <a:schemeClr val="dk1"/>
              </a:buClr>
              <a:buSzPts val="1800"/>
              <a:buChar char="•"/>
              <a:defRPr/>
            </a:lvl5pPr>
            <a:lvl6pPr marL="3900830" lvl="5" indent="-487604" algn="l">
              <a:lnSpc>
                <a:spcPct val="90000"/>
              </a:lnSpc>
              <a:spcBef>
                <a:spcPts val="640"/>
              </a:spcBef>
              <a:spcAft>
                <a:spcPts val="0"/>
              </a:spcAft>
              <a:buClr>
                <a:schemeClr val="dk1"/>
              </a:buClr>
              <a:buSzPts val="1800"/>
              <a:buChar char="•"/>
              <a:defRPr/>
            </a:lvl6pPr>
            <a:lvl7pPr marL="4550969" lvl="6" indent="-487604" algn="l">
              <a:lnSpc>
                <a:spcPct val="90000"/>
              </a:lnSpc>
              <a:spcBef>
                <a:spcPts val="640"/>
              </a:spcBef>
              <a:spcAft>
                <a:spcPts val="0"/>
              </a:spcAft>
              <a:buClr>
                <a:schemeClr val="dk1"/>
              </a:buClr>
              <a:buSzPts val="1800"/>
              <a:buChar char="•"/>
              <a:defRPr/>
            </a:lvl7pPr>
            <a:lvl8pPr marL="5201107" lvl="7" indent="-487604" algn="l">
              <a:lnSpc>
                <a:spcPct val="90000"/>
              </a:lnSpc>
              <a:spcBef>
                <a:spcPts val="640"/>
              </a:spcBef>
              <a:spcAft>
                <a:spcPts val="0"/>
              </a:spcAft>
              <a:buClr>
                <a:schemeClr val="dk1"/>
              </a:buClr>
              <a:buSzPts val="1800"/>
              <a:buChar char="•"/>
              <a:defRPr/>
            </a:lvl8pPr>
            <a:lvl9pPr marL="5851246" lvl="8" indent="-487604" algn="l">
              <a:lnSpc>
                <a:spcPct val="90000"/>
              </a:lnSpc>
              <a:spcBef>
                <a:spcPts val="640"/>
              </a:spcBef>
              <a:spcAft>
                <a:spcPts val="0"/>
              </a:spcAft>
              <a:buClr>
                <a:schemeClr val="dk1"/>
              </a:buClr>
              <a:buSzPts val="1800"/>
              <a:buChar char="•"/>
              <a:defRPr/>
            </a:lvl9pPr>
          </a:lstStyle>
          <a:p>
            <a:endParaRPr/>
          </a:p>
        </p:txBody>
      </p:sp>
      <p:sp>
        <p:nvSpPr>
          <p:cNvPr id="81" name="Google Shape;81;p43"/>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3"/>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3"/>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22140134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tellysbilde">
    <p:bg>
      <p:bgPr>
        <a:solidFill>
          <a:schemeClr val="tx1"/>
        </a:solidFill>
        <a:effectLst/>
      </p:bgPr>
    </p:bg>
    <p:spTree>
      <p:nvGrpSpPr>
        <p:cNvPr id="1" name=""/>
        <p:cNvGrpSpPr/>
        <p:nvPr/>
      </p:nvGrpSpPr>
      <p:grpSpPr>
        <a:xfrm>
          <a:off x="0" y="0"/>
          <a:ext cx="0" cy="0"/>
          <a:chOff x="0" y="0"/>
          <a:chExt cx="0" cy="0"/>
        </a:xfrm>
      </p:grpSpPr>
      <p:pic>
        <p:nvPicPr>
          <p:cNvPr id="14" name="Bilde 13" descr="Logo-hvit.png"/>
          <p:cNvPicPr>
            <a:picLocks noChangeAspect="1"/>
          </p:cNvPicPr>
          <p:nvPr userDrawn="1"/>
        </p:nvPicPr>
        <p:blipFill>
          <a:blip r:embed="rId2" cstate="print"/>
          <a:stretch>
            <a:fillRect/>
          </a:stretch>
        </p:blipFill>
        <p:spPr>
          <a:xfrm>
            <a:off x="14454354" y="8840613"/>
            <a:ext cx="2199958" cy="421511"/>
          </a:xfrm>
          <a:prstGeom prst="rect">
            <a:avLst/>
          </a:prstGeom>
          <a:noFill/>
          <a:ln>
            <a:noFill/>
          </a:ln>
        </p:spPr>
      </p:pic>
      <p:sp>
        <p:nvSpPr>
          <p:cNvPr id="10" name="Rektangel 9"/>
          <p:cNvSpPr/>
          <p:nvPr userDrawn="1"/>
        </p:nvSpPr>
        <p:spPr>
          <a:xfrm>
            <a:off x="886872" y="1599376"/>
            <a:ext cx="15707870" cy="392513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62227" tIns="81113" rIns="162227" bIns="81113" rtlCol="0" anchor="ctr"/>
          <a:lstStyle/>
          <a:p>
            <a:pPr algn="ctr"/>
            <a:endParaRPr lang="nb-NO" sz="2459"/>
          </a:p>
        </p:txBody>
      </p:sp>
      <p:sp>
        <p:nvSpPr>
          <p:cNvPr id="2" name="Tittel 1"/>
          <p:cNvSpPr>
            <a:spLocks noGrp="1"/>
          </p:cNvSpPr>
          <p:nvPr>
            <p:ph type="ctrTitle"/>
          </p:nvPr>
        </p:nvSpPr>
        <p:spPr>
          <a:xfrm>
            <a:off x="1159347" y="1725781"/>
            <a:ext cx="14743271" cy="1160472"/>
          </a:xfrm>
        </p:spPr>
        <p:txBody>
          <a:bodyPr/>
          <a:lstStyle>
            <a:lvl1pPr>
              <a:defRPr sz="4994">
                <a:latin typeface="DIN-Bold" charset="0"/>
                <a:ea typeface="DIN-Bold" charset="0"/>
                <a:cs typeface="DIN-Bold" charset="0"/>
              </a:defRPr>
            </a:lvl1pPr>
          </a:lstStyle>
          <a:p>
            <a:r>
              <a:rPr lang="en-GB"/>
              <a:t>Click to edit Master title style</a:t>
            </a:r>
            <a:endParaRPr lang="nb-NO"/>
          </a:p>
        </p:txBody>
      </p:sp>
      <p:sp>
        <p:nvSpPr>
          <p:cNvPr id="3" name="Undertittel 2"/>
          <p:cNvSpPr>
            <a:spLocks noGrp="1"/>
          </p:cNvSpPr>
          <p:nvPr>
            <p:ph type="subTitle" idx="1"/>
          </p:nvPr>
        </p:nvSpPr>
        <p:spPr>
          <a:xfrm>
            <a:off x="1159348" y="2892536"/>
            <a:ext cx="14752444" cy="1228736"/>
          </a:xfrm>
        </p:spPr>
        <p:txBody>
          <a:bodyPr>
            <a:noAutofit/>
          </a:bodyPr>
          <a:lstStyle>
            <a:lvl1pPr marL="0" indent="0" algn="l">
              <a:buNone/>
              <a:defRPr sz="4994">
                <a:solidFill>
                  <a:schemeClr val="tx1"/>
                </a:solidFill>
                <a:latin typeface="DIN-Regular" charset="0"/>
                <a:ea typeface="DIN-Regular" charset="0"/>
                <a:cs typeface="DIN-Regular" charset="0"/>
              </a:defRPr>
            </a:lvl1pPr>
            <a:lvl2pPr marL="811096" indent="0" algn="ctr">
              <a:buNone/>
              <a:defRPr>
                <a:solidFill>
                  <a:schemeClr val="tx1">
                    <a:tint val="75000"/>
                  </a:schemeClr>
                </a:solidFill>
              </a:defRPr>
            </a:lvl2pPr>
            <a:lvl3pPr marL="1622192" indent="0" algn="ctr">
              <a:buNone/>
              <a:defRPr>
                <a:solidFill>
                  <a:schemeClr val="tx1">
                    <a:tint val="75000"/>
                  </a:schemeClr>
                </a:solidFill>
              </a:defRPr>
            </a:lvl3pPr>
            <a:lvl4pPr marL="2433289" indent="0" algn="ctr">
              <a:buNone/>
              <a:defRPr>
                <a:solidFill>
                  <a:schemeClr val="tx1">
                    <a:tint val="75000"/>
                  </a:schemeClr>
                </a:solidFill>
              </a:defRPr>
            </a:lvl4pPr>
            <a:lvl5pPr marL="3244384" indent="0" algn="ctr">
              <a:buNone/>
              <a:defRPr>
                <a:solidFill>
                  <a:schemeClr val="tx1">
                    <a:tint val="75000"/>
                  </a:schemeClr>
                </a:solidFill>
              </a:defRPr>
            </a:lvl5pPr>
            <a:lvl6pPr marL="4055480" indent="0" algn="ctr">
              <a:buNone/>
              <a:defRPr>
                <a:solidFill>
                  <a:schemeClr val="tx1">
                    <a:tint val="75000"/>
                  </a:schemeClr>
                </a:solidFill>
              </a:defRPr>
            </a:lvl6pPr>
            <a:lvl7pPr marL="4866576" indent="0" algn="ctr">
              <a:buNone/>
              <a:defRPr>
                <a:solidFill>
                  <a:schemeClr val="tx1">
                    <a:tint val="75000"/>
                  </a:schemeClr>
                </a:solidFill>
              </a:defRPr>
            </a:lvl7pPr>
            <a:lvl8pPr marL="5677673" indent="0" algn="ctr">
              <a:buNone/>
              <a:defRPr>
                <a:solidFill>
                  <a:schemeClr val="tx1">
                    <a:tint val="75000"/>
                  </a:schemeClr>
                </a:solidFill>
              </a:defRPr>
            </a:lvl8pPr>
            <a:lvl9pPr marL="6488769" indent="0" algn="ctr">
              <a:buNone/>
              <a:defRPr>
                <a:solidFill>
                  <a:schemeClr val="tx1">
                    <a:tint val="75000"/>
                  </a:schemeClr>
                </a:solidFill>
              </a:defRPr>
            </a:lvl9pPr>
          </a:lstStyle>
          <a:p>
            <a:r>
              <a:rPr lang="en-GB"/>
              <a:t>Click to edit Master subtitle style</a:t>
            </a:r>
            <a:endParaRPr lang="nb-NO"/>
          </a:p>
        </p:txBody>
      </p:sp>
      <p:sp>
        <p:nvSpPr>
          <p:cNvPr id="4" name="Plassholder for dato 3"/>
          <p:cNvSpPr>
            <a:spLocks noGrp="1"/>
          </p:cNvSpPr>
          <p:nvPr>
            <p:ph type="dt" sz="half" idx="10"/>
          </p:nvPr>
        </p:nvSpPr>
        <p:spPr>
          <a:xfrm>
            <a:off x="2116184" y="8870677"/>
            <a:ext cx="1912263" cy="415534"/>
          </a:xfrm>
        </p:spPr>
        <p:txBody>
          <a:bodyPr/>
          <a:lstStyle>
            <a:lvl1pPr>
              <a:defRPr>
                <a:solidFill>
                  <a:schemeClr val="bg1"/>
                </a:solidFill>
                <a:latin typeface="DIN-Regular" charset="0"/>
                <a:ea typeface="DIN-Regular" charset="0"/>
                <a:cs typeface="DIN-Regular" charset="0"/>
              </a:defRPr>
            </a:lvl1pPr>
          </a:lstStyle>
          <a:p>
            <a:fld id="{32FF37D6-FF96-2A4D-BD02-BBC7F1FC5D34}" type="datetime1">
              <a:rPr lang="nb-NO" smtClean="0"/>
              <a:t>08.09.2026</a:t>
            </a:fld>
            <a:endParaRPr lang="nb-NO"/>
          </a:p>
        </p:txBody>
      </p:sp>
      <p:sp>
        <p:nvSpPr>
          <p:cNvPr id="5" name="Plassholder for bunntekst 4"/>
          <p:cNvSpPr>
            <a:spLocks noGrp="1"/>
          </p:cNvSpPr>
          <p:nvPr>
            <p:ph type="ftr" sz="quarter" idx="11"/>
          </p:nvPr>
        </p:nvSpPr>
        <p:spPr>
          <a:xfrm>
            <a:off x="4165038" y="8870677"/>
            <a:ext cx="9834492" cy="415534"/>
          </a:xfrm>
        </p:spPr>
        <p:txBody>
          <a:bodyPr/>
          <a:lstStyle>
            <a:lvl1pPr>
              <a:defRPr>
                <a:solidFill>
                  <a:schemeClr val="bg1"/>
                </a:solidFill>
                <a:latin typeface="DIN-Regular" charset="0"/>
                <a:ea typeface="DIN-Regular" charset="0"/>
                <a:cs typeface="DIN-Regular" charset="0"/>
              </a:defRPr>
            </a:lvl1pPr>
          </a:lstStyle>
          <a:p>
            <a:r>
              <a:rPr lang="nb-NO"/>
              <a:t>Introduction to A.I - Umair M.I</a:t>
            </a:r>
          </a:p>
        </p:txBody>
      </p:sp>
      <p:sp>
        <p:nvSpPr>
          <p:cNvPr id="6" name="Plassholder for lysbildenummer 5"/>
          <p:cNvSpPr>
            <a:spLocks noGrp="1"/>
          </p:cNvSpPr>
          <p:nvPr>
            <p:ph type="sldNum" sz="quarter" idx="12"/>
          </p:nvPr>
        </p:nvSpPr>
        <p:spPr>
          <a:xfrm>
            <a:off x="1159348" y="8869401"/>
            <a:ext cx="769008" cy="409578"/>
          </a:xfrm>
        </p:spPr>
        <p:txBody>
          <a:bodyPr/>
          <a:lstStyle>
            <a:lvl1pPr>
              <a:defRPr>
                <a:solidFill>
                  <a:schemeClr val="bg1"/>
                </a:solidFill>
              </a:defRPr>
            </a:lvl1pPr>
          </a:lstStyle>
          <a:p>
            <a:fld id="{7B785221-A51B-4371-B866-038075B34EEB}" type="slidenum">
              <a:rPr lang="nb-NO" smtClean="0"/>
              <a:pPr/>
              <a:t>‹#›</a:t>
            </a:fld>
            <a:endParaRPr lang="nb-NO"/>
          </a:p>
        </p:txBody>
      </p:sp>
      <p:sp>
        <p:nvSpPr>
          <p:cNvPr id="11" name="Plassholder for tekst 10"/>
          <p:cNvSpPr>
            <a:spLocks noGrp="1"/>
          </p:cNvSpPr>
          <p:nvPr>
            <p:ph type="body" sz="quarter" idx="13" hasCustomPrompt="1"/>
          </p:nvPr>
        </p:nvSpPr>
        <p:spPr>
          <a:xfrm>
            <a:off x="1159347" y="4193376"/>
            <a:ext cx="14752304" cy="1229830"/>
          </a:xfrm>
        </p:spPr>
        <p:txBody>
          <a:bodyPr>
            <a:normAutofit/>
          </a:bodyPr>
          <a:lstStyle>
            <a:lvl1pPr marL="0" indent="0">
              <a:buNone/>
              <a:defRPr sz="3265" baseline="0">
                <a:latin typeface="DIN-Regular" charset="0"/>
                <a:ea typeface="DIN-Regular" charset="0"/>
                <a:cs typeface="DIN-Regular" charset="0"/>
              </a:defRPr>
            </a:lvl1pPr>
            <a:lvl2pPr>
              <a:buNone/>
              <a:defRPr/>
            </a:lvl2pPr>
            <a:lvl3pPr>
              <a:buNone/>
              <a:defRPr/>
            </a:lvl3pPr>
            <a:lvl4pPr>
              <a:buNone/>
              <a:defRPr/>
            </a:lvl4pPr>
            <a:lvl5pPr>
              <a:buNone/>
              <a:defRPr/>
            </a:lvl5pPr>
          </a:lstStyle>
          <a:p>
            <a:pPr lvl="0"/>
            <a:r>
              <a:rPr lang="nb-NO"/>
              <a:t>Klikk for å legge til sted og dato</a:t>
            </a:r>
            <a:br>
              <a:rPr lang="nb-NO"/>
            </a:br>
            <a:r>
              <a:rPr lang="nb-NO"/>
              <a:t>og fornavn, etternavn og stillingstittel</a:t>
            </a:r>
          </a:p>
        </p:txBody>
      </p:sp>
      <p:pic>
        <p:nvPicPr>
          <p:cNvPr id="13" name="Picture 12">
            <a:extLst>
              <a:ext uri="{FF2B5EF4-FFF2-40B4-BE49-F238E27FC236}">
                <a16:creationId xmlns:a16="http://schemas.microsoft.com/office/drawing/2014/main" id="{380A26BF-7A3C-1845-9527-88B52C5FDB8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11250" b="16629"/>
          <a:stretch/>
        </p:blipFill>
        <p:spPr>
          <a:xfrm>
            <a:off x="-1" y="1"/>
            <a:ext cx="17345026" cy="9752013"/>
          </a:xfrm>
          <a:prstGeom prst="rect">
            <a:avLst/>
          </a:prstGeom>
        </p:spPr>
      </p:pic>
    </p:spTree>
    <p:extLst>
      <p:ext uri="{BB962C8B-B14F-4D97-AF65-F5344CB8AC3E}">
        <p14:creationId xmlns:p14="http://schemas.microsoft.com/office/powerpoint/2010/main" val="1913150915"/>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b="1" i="0">
                <a:latin typeface="TID" pitchFamily="2" charset="77"/>
              </a:defRPr>
            </a:lvl1pPr>
          </a:lstStyle>
          <a:p>
            <a:r>
              <a:rPr lang="en-GB"/>
              <a:t>Click to edit Master title style</a:t>
            </a:r>
            <a:endParaRPr lang="nb-NO"/>
          </a:p>
        </p:txBody>
      </p:sp>
      <p:sp>
        <p:nvSpPr>
          <p:cNvPr id="3" name="Plassholder for innhold 2"/>
          <p:cNvSpPr>
            <a:spLocks noGrp="1"/>
          </p:cNvSpPr>
          <p:nvPr>
            <p:ph idx="1"/>
          </p:nvPr>
        </p:nvSpPr>
        <p:spPr/>
        <p:txBody>
          <a:bodyPr/>
          <a:lstStyle>
            <a:lvl1pPr>
              <a:defRPr b="0" i="0">
                <a:latin typeface="TID" pitchFamily="2" charset="77"/>
              </a:defRPr>
            </a:lvl1pPr>
            <a:lvl2pPr>
              <a:defRPr b="0" i="0">
                <a:latin typeface="TID" pitchFamily="2" charset="77"/>
              </a:defRPr>
            </a:lvl2pPr>
            <a:lvl3pPr>
              <a:defRPr b="0" i="0">
                <a:latin typeface="TID" pitchFamily="2" charset="77"/>
              </a:defRPr>
            </a:lvl3pPr>
            <a:lvl4pPr>
              <a:defRPr b="0" i="0">
                <a:latin typeface="TID" pitchFamily="2" charset="77"/>
              </a:defRPr>
            </a:lvl4pPr>
            <a:lvl5pPr>
              <a:defRPr b="0" i="0">
                <a:latin typeface="TID"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4" name="Plassholder for dato 3"/>
          <p:cNvSpPr>
            <a:spLocks noGrp="1"/>
          </p:cNvSpPr>
          <p:nvPr>
            <p:ph type="dt" sz="half" idx="10"/>
          </p:nvPr>
        </p:nvSpPr>
        <p:spPr/>
        <p:txBody>
          <a:bodyPr/>
          <a:lstStyle/>
          <a:p>
            <a:fld id="{9FB28DE2-FCED-814F-99F7-F2F69E8A6876}"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9944195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b="1" i="0">
                <a:latin typeface="TID" pitchFamily="2" charset="77"/>
              </a:defRPr>
            </a:lvl1pPr>
          </a:lstStyle>
          <a:p>
            <a:r>
              <a:rPr lang="en-GB"/>
              <a:t>Click to edit Master title style</a:t>
            </a:r>
            <a:endParaRPr lang="nb-NO"/>
          </a:p>
        </p:txBody>
      </p:sp>
      <p:sp>
        <p:nvSpPr>
          <p:cNvPr id="3" name="Plassholder for innhold 2"/>
          <p:cNvSpPr>
            <a:spLocks noGrp="1"/>
          </p:cNvSpPr>
          <p:nvPr>
            <p:ph sz="half" idx="1"/>
          </p:nvPr>
        </p:nvSpPr>
        <p:spPr>
          <a:xfrm>
            <a:off x="1159347" y="2008956"/>
            <a:ext cx="7103395" cy="6702393"/>
          </a:xfrm>
        </p:spPr>
        <p:txBody>
          <a:bodyPr>
            <a:normAutofit/>
          </a:bodyPr>
          <a:lstStyle>
            <a:lvl1pPr>
              <a:defRPr sz="3265" b="0" i="0">
                <a:latin typeface="TID" pitchFamily="2" charset="77"/>
              </a:defRPr>
            </a:lvl1pPr>
            <a:lvl2pPr>
              <a:defRPr sz="3265" b="0" i="0">
                <a:latin typeface="TID" pitchFamily="2" charset="77"/>
              </a:defRPr>
            </a:lvl2pPr>
            <a:lvl3pPr>
              <a:defRPr sz="3265" b="0" i="0">
                <a:latin typeface="TID" pitchFamily="2" charset="77"/>
              </a:defRPr>
            </a:lvl3pPr>
            <a:lvl4pPr>
              <a:defRPr sz="3265" b="0" i="0">
                <a:latin typeface="TID" pitchFamily="2" charset="77"/>
              </a:defRPr>
            </a:lvl4pPr>
            <a:lvl5pPr>
              <a:defRPr sz="3265" b="0" i="0">
                <a:latin typeface="TID" pitchFamily="2" charset="77"/>
              </a:defRPr>
            </a:lvl5pPr>
            <a:lvl6pPr>
              <a:defRPr sz="3169"/>
            </a:lvl6pPr>
            <a:lvl7pPr>
              <a:defRPr sz="3169"/>
            </a:lvl7pPr>
            <a:lvl8pPr>
              <a:defRPr sz="3169"/>
            </a:lvl8pPr>
            <a:lvl9pPr>
              <a:defRPr sz="316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4" name="Plassholder for innhold 3"/>
          <p:cNvSpPr>
            <a:spLocks noGrp="1"/>
          </p:cNvSpPr>
          <p:nvPr>
            <p:ph sz="half" idx="2"/>
          </p:nvPr>
        </p:nvSpPr>
        <p:spPr>
          <a:xfrm>
            <a:off x="8945693" y="2008956"/>
            <a:ext cx="7532081" cy="6702393"/>
          </a:xfrm>
        </p:spPr>
        <p:txBody>
          <a:bodyPr>
            <a:normAutofit/>
          </a:bodyPr>
          <a:lstStyle>
            <a:lvl1pPr>
              <a:defRPr sz="3265" b="0" i="0">
                <a:latin typeface="TID" pitchFamily="2" charset="77"/>
              </a:defRPr>
            </a:lvl1pPr>
            <a:lvl2pPr>
              <a:defRPr sz="3265" b="0" i="0">
                <a:latin typeface="TID" pitchFamily="2" charset="77"/>
              </a:defRPr>
            </a:lvl2pPr>
            <a:lvl3pPr>
              <a:defRPr sz="3265" b="0" i="0">
                <a:latin typeface="TID" pitchFamily="2" charset="77"/>
              </a:defRPr>
            </a:lvl3pPr>
            <a:lvl4pPr>
              <a:defRPr sz="3265" b="0" i="0">
                <a:latin typeface="TID" pitchFamily="2" charset="77"/>
              </a:defRPr>
            </a:lvl4pPr>
            <a:lvl5pPr>
              <a:defRPr sz="3265" b="0" i="0">
                <a:latin typeface="TID" pitchFamily="2" charset="77"/>
              </a:defRPr>
            </a:lvl5pPr>
            <a:lvl6pPr>
              <a:defRPr sz="3169"/>
            </a:lvl6pPr>
            <a:lvl7pPr>
              <a:defRPr sz="3169"/>
            </a:lvl7pPr>
            <a:lvl8pPr>
              <a:defRPr sz="3169"/>
            </a:lvl8pPr>
            <a:lvl9pPr>
              <a:defRPr sz="316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5" name="Plassholder for dato 4"/>
          <p:cNvSpPr>
            <a:spLocks noGrp="1"/>
          </p:cNvSpPr>
          <p:nvPr>
            <p:ph type="dt" sz="half" idx="10"/>
          </p:nvPr>
        </p:nvSpPr>
        <p:spPr/>
        <p:txBody>
          <a:bodyPr/>
          <a:lstStyle/>
          <a:p>
            <a:fld id="{EABB4BE1-2BEB-EC47-9706-489E8D29116D}" type="datetime1">
              <a:rPr lang="nb-NO" smtClean="0"/>
              <a:t>08.09.2026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6667696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en-GB"/>
              <a:t>Click to edit Master title style</a:t>
            </a:r>
            <a:endParaRPr lang="nb-NO"/>
          </a:p>
        </p:txBody>
      </p:sp>
      <p:sp>
        <p:nvSpPr>
          <p:cNvPr id="3" name="Plassholder for tekst 2"/>
          <p:cNvSpPr>
            <a:spLocks noGrp="1"/>
          </p:cNvSpPr>
          <p:nvPr>
            <p:ph type="body" idx="1"/>
          </p:nvPr>
        </p:nvSpPr>
        <p:spPr>
          <a:xfrm>
            <a:off x="1159347" y="2008955"/>
            <a:ext cx="7103395" cy="1216885"/>
          </a:xfrm>
        </p:spPr>
        <p:txBody>
          <a:bodyPr anchor="t">
            <a:normAutofit/>
          </a:bodyPr>
          <a:lstStyle>
            <a:lvl1pPr marL="0" indent="0">
              <a:buNone/>
              <a:defRPr sz="3265" b="0"/>
            </a:lvl1pPr>
            <a:lvl2pPr marL="811096" indent="0">
              <a:buNone/>
              <a:defRPr sz="3553" b="1"/>
            </a:lvl2pPr>
            <a:lvl3pPr marL="1622192" indent="0">
              <a:buNone/>
              <a:defRPr sz="3169" b="1"/>
            </a:lvl3pPr>
            <a:lvl4pPr marL="2433289" indent="0">
              <a:buNone/>
              <a:defRPr sz="2881" b="1"/>
            </a:lvl4pPr>
            <a:lvl5pPr marL="3244384" indent="0">
              <a:buNone/>
              <a:defRPr sz="2881" b="1"/>
            </a:lvl5pPr>
            <a:lvl6pPr marL="4055480" indent="0">
              <a:buNone/>
              <a:defRPr sz="2881" b="1"/>
            </a:lvl6pPr>
            <a:lvl7pPr marL="4866576" indent="0">
              <a:buNone/>
              <a:defRPr sz="2881" b="1"/>
            </a:lvl7pPr>
            <a:lvl8pPr marL="5677673" indent="0">
              <a:buNone/>
              <a:defRPr sz="2881" b="1"/>
            </a:lvl8pPr>
            <a:lvl9pPr marL="6488769" indent="0">
              <a:buNone/>
              <a:defRPr sz="2881" b="1"/>
            </a:lvl9pPr>
          </a:lstStyle>
          <a:p>
            <a:pPr lvl="0"/>
            <a:r>
              <a:rPr lang="en-GB"/>
              <a:t>Click to edit Master text styles</a:t>
            </a:r>
          </a:p>
        </p:txBody>
      </p:sp>
      <p:sp>
        <p:nvSpPr>
          <p:cNvPr id="4" name="Plassholder for innhold 3"/>
          <p:cNvSpPr>
            <a:spLocks noGrp="1"/>
          </p:cNvSpPr>
          <p:nvPr>
            <p:ph sz="half" idx="2"/>
          </p:nvPr>
        </p:nvSpPr>
        <p:spPr>
          <a:xfrm>
            <a:off x="1159347" y="3237691"/>
            <a:ext cx="7103395" cy="5473656"/>
          </a:xfrm>
        </p:spPr>
        <p:txBody>
          <a:bodyPr>
            <a:normAutofit/>
          </a:bodyPr>
          <a:lstStyle>
            <a:lvl1pPr>
              <a:defRPr sz="3265"/>
            </a:lvl1pPr>
            <a:lvl2pPr>
              <a:defRPr sz="3265"/>
            </a:lvl2pPr>
            <a:lvl3pPr>
              <a:defRPr sz="3265"/>
            </a:lvl3pPr>
            <a:lvl4pPr>
              <a:defRPr sz="3265"/>
            </a:lvl4pPr>
            <a:lvl5pPr>
              <a:defRPr sz="3265"/>
            </a:lvl5pPr>
            <a:lvl6pPr>
              <a:defRPr sz="2881"/>
            </a:lvl6pPr>
            <a:lvl7pPr>
              <a:defRPr sz="2881"/>
            </a:lvl7pPr>
            <a:lvl8pPr>
              <a:defRPr sz="2881"/>
            </a:lvl8pPr>
            <a:lvl9pPr>
              <a:defRPr sz="288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5" name="Plassholder for tekst 4"/>
          <p:cNvSpPr>
            <a:spLocks noGrp="1"/>
          </p:cNvSpPr>
          <p:nvPr>
            <p:ph type="body" sz="quarter" idx="3"/>
          </p:nvPr>
        </p:nvSpPr>
        <p:spPr>
          <a:xfrm>
            <a:off x="8945696" y="2008954"/>
            <a:ext cx="7649522" cy="1228736"/>
          </a:xfrm>
        </p:spPr>
        <p:txBody>
          <a:bodyPr anchor="t">
            <a:normAutofit/>
          </a:bodyPr>
          <a:lstStyle>
            <a:lvl1pPr marL="0" indent="0">
              <a:buNone/>
              <a:defRPr sz="3265" b="0"/>
            </a:lvl1pPr>
            <a:lvl2pPr marL="811096" indent="0">
              <a:buNone/>
              <a:defRPr sz="3553" b="1"/>
            </a:lvl2pPr>
            <a:lvl3pPr marL="1622192" indent="0">
              <a:buNone/>
              <a:defRPr sz="3169" b="1"/>
            </a:lvl3pPr>
            <a:lvl4pPr marL="2433289" indent="0">
              <a:buNone/>
              <a:defRPr sz="2881" b="1"/>
            </a:lvl4pPr>
            <a:lvl5pPr marL="3244384" indent="0">
              <a:buNone/>
              <a:defRPr sz="2881" b="1"/>
            </a:lvl5pPr>
            <a:lvl6pPr marL="4055480" indent="0">
              <a:buNone/>
              <a:defRPr sz="2881" b="1"/>
            </a:lvl6pPr>
            <a:lvl7pPr marL="4866576" indent="0">
              <a:buNone/>
              <a:defRPr sz="2881" b="1"/>
            </a:lvl7pPr>
            <a:lvl8pPr marL="5677673" indent="0">
              <a:buNone/>
              <a:defRPr sz="2881" b="1"/>
            </a:lvl8pPr>
            <a:lvl9pPr marL="6488769" indent="0">
              <a:buNone/>
              <a:defRPr sz="2881" b="1"/>
            </a:lvl9pPr>
          </a:lstStyle>
          <a:p>
            <a:pPr lvl="0"/>
            <a:r>
              <a:rPr lang="en-GB"/>
              <a:t>Click to edit Master text styles</a:t>
            </a:r>
          </a:p>
        </p:txBody>
      </p:sp>
      <p:sp>
        <p:nvSpPr>
          <p:cNvPr id="6" name="Plassholder for innhold 5"/>
          <p:cNvSpPr>
            <a:spLocks noGrp="1"/>
          </p:cNvSpPr>
          <p:nvPr>
            <p:ph sz="quarter" idx="4"/>
          </p:nvPr>
        </p:nvSpPr>
        <p:spPr>
          <a:xfrm>
            <a:off x="8923619" y="3229314"/>
            <a:ext cx="7532081" cy="5618695"/>
          </a:xfrm>
        </p:spPr>
        <p:txBody>
          <a:bodyPr>
            <a:normAutofit/>
          </a:bodyPr>
          <a:lstStyle>
            <a:lvl1pPr>
              <a:defRPr sz="3265"/>
            </a:lvl1pPr>
            <a:lvl2pPr>
              <a:defRPr sz="3265"/>
            </a:lvl2pPr>
            <a:lvl3pPr>
              <a:defRPr sz="3265"/>
            </a:lvl3pPr>
            <a:lvl4pPr>
              <a:defRPr sz="3265"/>
            </a:lvl4pPr>
            <a:lvl5pPr>
              <a:defRPr sz="3265"/>
            </a:lvl5pPr>
            <a:lvl6pPr>
              <a:defRPr sz="2881"/>
            </a:lvl6pPr>
            <a:lvl7pPr>
              <a:defRPr sz="2881"/>
            </a:lvl7pPr>
            <a:lvl8pPr>
              <a:defRPr sz="2881"/>
            </a:lvl8pPr>
            <a:lvl9pPr>
              <a:defRPr sz="288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7" name="Plassholder for dato 6"/>
          <p:cNvSpPr>
            <a:spLocks noGrp="1"/>
          </p:cNvSpPr>
          <p:nvPr>
            <p:ph type="dt" sz="half" idx="10"/>
          </p:nvPr>
        </p:nvSpPr>
        <p:spPr/>
        <p:txBody>
          <a:bodyPr/>
          <a:lstStyle/>
          <a:p>
            <a:fld id="{E30B0EAC-00C0-4647-8C7E-746A59CAA025}" type="datetime1">
              <a:rPr lang="nb-NO" smtClean="0"/>
              <a:t>08.09.2026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0814993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rødtekst med punkt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en-GB"/>
              <a:t>Click to edit Master title style</a:t>
            </a:r>
            <a:endParaRPr lang="nb-NO"/>
          </a:p>
        </p:txBody>
      </p:sp>
      <p:sp>
        <p:nvSpPr>
          <p:cNvPr id="3" name="Plassholder for tekst 2"/>
          <p:cNvSpPr>
            <a:spLocks noGrp="1"/>
          </p:cNvSpPr>
          <p:nvPr>
            <p:ph type="body" idx="1" hasCustomPrompt="1"/>
          </p:nvPr>
        </p:nvSpPr>
        <p:spPr>
          <a:xfrm>
            <a:off x="1159348" y="2008954"/>
            <a:ext cx="15435868" cy="2764657"/>
          </a:xfrm>
        </p:spPr>
        <p:txBody>
          <a:bodyPr tIns="132998" anchor="t">
            <a:normAutofit/>
          </a:bodyPr>
          <a:lstStyle>
            <a:lvl1pPr marL="0" indent="0">
              <a:buNone/>
              <a:defRPr sz="3265" b="0"/>
            </a:lvl1pPr>
            <a:lvl2pPr marL="811096" indent="0">
              <a:buNone/>
              <a:defRPr sz="3553" b="1"/>
            </a:lvl2pPr>
            <a:lvl3pPr marL="1622192" indent="0">
              <a:buNone/>
              <a:defRPr sz="3169" b="1"/>
            </a:lvl3pPr>
            <a:lvl4pPr marL="2433289" indent="0">
              <a:buNone/>
              <a:defRPr sz="2881" b="1"/>
            </a:lvl4pPr>
            <a:lvl5pPr marL="3244384" indent="0">
              <a:buNone/>
              <a:defRPr sz="2881" b="1"/>
            </a:lvl5pPr>
            <a:lvl6pPr marL="4055480" indent="0">
              <a:buNone/>
              <a:defRPr sz="2881" b="1"/>
            </a:lvl6pPr>
            <a:lvl7pPr marL="4866576" indent="0">
              <a:buNone/>
              <a:defRPr sz="2881" b="1"/>
            </a:lvl7pPr>
            <a:lvl8pPr marL="5677673" indent="0">
              <a:buNone/>
              <a:defRPr sz="2881" b="1"/>
            </a:lvl8pPr>
            <a:lvl9pPr marL="6488769" indent="0">
              <a:buNone/>
              <a:defRPr sz="2881" b="1"/>
            </a:lvl9pPr>
          </a:lstStyle>
          <a:p>
            <a:pPr lvl="0"/>
            <a:r>
              <a:rPr lang="nb-NO"/>
              <a:t>Klikk for å skrive brødtekst</a:t>
            </a:r>
          </a:p>
        </p:txBody>
      </p:sp>
      <p:sp>
        <p:nvSpPr>
          <p:cNvPr id="4" name="Plassholder for innhold 3"/>
          <p:cNvSpPr>
            <a:spLocks noGrp="1"/>
          </p:cNvSpPr>
          <p:nvPr>
            <p:ph sz="half" idx="2"/>
          </p:nvPr>
        </p:nvSpPr>
        <p:spPr>
          <a:xfrm>
            <a:off x="1159348" y="4876007"/>
            <a:ext cx="15435868" cy="3835340"/>
          </a:xfrm>
        </p:spPr>
        <p:txBody>
          <a:bodyPr>
            <a:normAutofit/>
          </a:bodyPr>
          <a:lstStyle>
            <a:lvl1pPr>
              <a:defRPr sz="3265"/>
            </a:lvl1pPr>
            <a:lvl2pPr>
              <a:defRPr sz="3265"/>
            </a:lvl2pPr>
            <a:lvl3pPr>
              <a:defRPr sz="3265"/>
            </a:lvl3pPr>
            <a:lvl4pPr>
              <a:defRPr sz="3265"/>
            </a:lvl4pPr>
            <a:lvl5pPr>
              <a:defRPr sz="3265"/>
            </a:lvl5pPr>
            <a:lvl6pPr>
              <a:defRPr sz="2881"/>
            </a:lvl6pPr>
            <a:lvl7pPr>
              <a:defRPr sz="2881"/>
            </a:lvl7pPr>
            <a:lvl8pPr>
              <a:defRPr sz="2881"/>
            </a:lvl8pPr>
            <a:lvl9pPr>
              <a:defRPr sz="2881"/>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7" name="Plassholder for dato 6"/>
          <p:cNvSpPr>
            <a:spLocks noGrp="1"/>
          </p:cNvSpPr>
          <p:nvPr>
            <p:ph type="dt" sz="half" idx="10"/>
          </p:nvPr>
        </p:nvSpPr>
        <p:spPr/>
        <p:txBody>
          <a:bodyPr/>
          <a:lstStyle/>
          <a:p>
            <a:fld id="{C02E5BE2-9662-3F46-81C3-C6F3E805F806}" type="datetime1">
              <a:rPr lang="nb-NO" smtClean="0"/>
              <a:t>08.09.2026</a:t>
            </a:fld>
            <a:endParaRPr lang="nb-NO"/>
          </a:p>
        </p:txBody>
      </p:sp>
      <p:sp>
        <p:nvSpPr>
          <p:cNvPr id="8" name="Plassholder for bunntekst 7"/>
          <p:cNvSpPr>
            <a:spLocks noGrp="1"/>
          </p:cNvSpPr>
          <p:nvPr>
            <p:ph type="ftr" sz="quarter" idx="11"/>
          </p:nvPr>
        </p:nvSpPr>
        <p:spPr/>
        <p:txBody>
          <a:bodyPr/>
          <a:lstStyle/>
          <a:p>
            <a:r>
              <a:rPr lang="nb-NO"/>
              <a:t>Introduction to A.I - Umair M.I</a:t>
            </a:r>
          </a:p>
        </p:txBody>
      </p:sp>
      <p:sp>
        <p:nvSpPr>
          <p:cNvPr id="9" name="Plassholder for lysbildenummer 8"/>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23003759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GB"/>
              <a:t>Click to edit Master title style</a:t>
            </a:r>
            <a:endParaRPr lang="nb-NO"/>
          </a:p>
        </p:txBody>
      </p:sp>
      <p:sp>
        <p:nvSpPr>
          <p:cNvPr id="3" name="Plassholder for dato 2"/>
          <p:cNvSpPr>
            <a:spLocks noGrp="1"/>
          </p:cNvSpPr>
          <p:nvPr>
            <p:ph type="dt" sz="half" idx="10"/>
          </p:nvPr>
        </p:nvSpPr>
        <p:spPr/>
        <p:txBody>
          <a:bodyPr/>
          <a:lstStyle/>
          <a:p>
            <a:fld id="{6CD292F4-1187-1149-8063-F42423A50C84}" type="datetime1">
              <a:rPr lang="nb-NO" smtClean="0"/>
              <a:t>08.09.2026</a:t>
            </a:fld>
            <a:endParaRPr lang="nb-NO"/>
          </a:p>
        </p:txBody>
      </p:sp>
      <p:sp>
        <p:nvSpPr>
          <p:cNvPr id="4" name="Plassholder for bunntekst 3"/>
          <p:cNvSpPr>
            <a:spLocks noGrp="1"/>
          </p:cNvSpPr>
          <p:nvPr>
            <p:ph type="ftr" sz="quarter" idx="11"/>
          </p:nvPr>
        </p:nvSpPr>
        <p:spPr/>
        <p:txBody>
          <a:bodyPr/>
          <a:lstStyle/>
          <a:p>
            <a:r>
              <a:rPr lang="nb-NO"/>
              <a:t>Introduction to A.I - Umair M.I</a:t>
            </a:r>
          </a:p>
        </p:txBody>
      </p:sp>
      <p:sp>
        <p:nvSpPr>
          <p:cNvPr id="5" name="Plassholder for lysbildenummer 4"/>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3266027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A556C219-A980-C245-9629-D890ED4D1C64}" type="datetime1">
              <a:rPr lang="nb-NO" smtClean="0"/>
              <a:t>08.09.2026</a:t>
            </a:fld>
            <a:endParaRPr lang="nb-NO"/>
          </a:p>
        </p:txBody>
      </p:sp>
      <p:sp>
        <p:nvSpPr>
          <p:cNvPr id="3" name="Plassholder for bunntekst 2"/>
          <p:cNvSpPr>
            <a:spLocks noGrp="1"/>
          </p:cNvSpPr>
          <p:nvPr>
            <p:ph type="ftr" sz="quarter" idx="11"/>
          </p:nvPr>
        </p:nvSpPr>
        <p:spPr/>
        <p:txBody>
          <a:bodyPr/>
          <a:lstStyle/>
          <a:p>
            <a:r>
              <a:rPr lang="nb-NO"/>
              <a:t>Introduction to A.I - Umair M.I</a:t>
            </a:r>
          </a:p>
        </p:txBody>
      </p:sp>
      <p:sp>
        <p:nvSpPr>
          <p:cNvPr id="4" name="Plassholder for lysbildenummer 3"/>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10535846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vadratisk bilde og tekst">
    <p:spTree>
      <p:nvGrpSpPr>
        <p:cNvPr id="1" name=""/>
        <p:cNvGrpSpPr/>
        <p:nvPr/>
      </p:nvGrpSpPr>
      <p:grpSpPr>
        <a:xfrm>
          <a:off x="0" y="0"/>
          <a:ext cx="0" cy="0"/>
          <a:chOff x="0" y="0"/>
          <a:chExt cx="0" cy="0"/>
        </a:xfrm>
      </p:grpSpPr>
      <p:sp>
        <p:nvSpPr>
          <p:cNvPr id="3" name="Plassholder for bilde 2"/>
          <p:cNvSpPr>
            <a:spLocks noGrp="1"/>
          </p:cNvSpPr>
          <p:nvPr>
            <p:ph type="pic" idx="1"/>
          </p:nvPr>
        </p:nvSpPr>
        <p:spPr>
          <a:xfrm>
            <a:off x="1354564" y="2316102"/>
            <a:ext cx="6926287" cy="5170359"/>
          </a:xfrm>
        </p:spPr>
        <p:txBody>
          <a:bodyPr/>
          <a:lstStyle>
            <a:lvl1pPr marL="0" indent="0">
              <a:buNone/>
              <a:defRPr sz="5666"/>
            </a:lvl1pPr>
            <a:lvl2pPr marL="811096" indent="0">
              <a:buNone/>
              <a:defRPr sz="4994"/>
            </a:lvl2pPr>
            <a:lvl3pPr marL="1622192" indent="0">
              <a:buNone/>
              <a:defRPr sz="4226"/>
            </a:lvl3pPr>
            <a:lvl4pPr marL="2433289" indent="0">
              <a:buNone/>
              <a:defRPr sz="3553"/>
            </a:lvl4pPr>
            <a:lvl5pPr marL="3244384" indent="0">
              <a:buNone/>
              <a:defRPr sz="3553"/>
            </a:lvl5pPr>
            <a:lvl6pPr marL="4055480" indent="0">
              <a:buNone/>
              <a:defRPr sz="3553"/>
            </a:lvl6pPr>
            <a:lvl7pPr marL="4866576" indent="0">
              <a:buNone/>
              <a:defRPr sz="3553"/>
            </a:lvl7pPr>
            <a:lvl8pPr marL="5677673" indent="0">
              <a:buNone/>
              <a:defRPr sz="3553"/>
            </a:lvl8pPr>
            <a:lvl9pPr marL="6488769" indent="0">
              <a:buNone/>
              <a:defRPr sz="3553"/>
            </a:lvl9pPr>
          </a:lstStyle>
          <a:p>
            <a:r>
              <a:rPr lang="en-GB"/>
              <a:t>Click icon to add picture</a:t>
            </a:r>
            <a:endParaRPr lang="nb-NO"/>
          </a:p>
        </p:txBody>
      </p:sp>
      <p:sp>
        <p:nvSpPr>
          <p:cNvPr id="5" name="Plassholder for dato 4"/>
          <p:cNvSpPr>
            <a:spLocks noGrp="1"/>
          </p:cNvSpPr>
          <p:nvPr>
            <p:ph type="dt" sz="half" idx="10"/>
          </p:nvPr>
        </p:nvSpPr>
        <p:spPr/>
        <p:txBody>
          <a:bodyPr/>
          <a:lstStyle/>
          <a:p>
            <a:fld id="{F68743DD-72A4-9641-965E-F39CADAF2764}" type="datetime1">
              <a:rPr lang="nb-NO" smtClean="0"/>
              <a:t>08.09.2026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7B785221-A51B-4371-B866-038075B34EEB}" type="slidenum">
              <a:rPr lang="nb-NO" smtClean="0"/>
              <a:pPr/>
              <a:t>‹#›</a:t>
            </a:fld>
            <a:endParaRPr lang="nb-NO"/>
          </a:p>
        </p:txBody>
      </p:sp>
      <p:sp>
        <p:nvSpPr>
          <p:cNvPr id="9" name="Plassholder for innhold 3"/>
          <p:cNvSpPr>
            <a:spLocks noGrp="1"/>
          </p:cNvSpPr>
          <p:nvPr>
            <p:ph sz="half" idx="2"/>
          </p:nvPr>
        </p:nvSpPr>
        <p:spPr>
          <a:xfrm>
            <a:off x="8945693" y="2008956"/>
            <a:ext cx="7532081" cy="5529315"/>
          </a:xfrm>
        </p:spPr>
        <p:txBody>
          <a:bodyPr>
            <a:normAutofit/>
          </a:bodyPr>
          <a:lstStyle>
            <a:lvl1pPr>
              <a:defRPr sz="3265"/>
            </a:lvl1pPr>
            <a:lvl2pPr>
              <a:defRPr sz="3265"/>
            </a:lvl2pPr>
            <a:lvl3pPr>
              <a:defRPr sz="3265"/>
            </a:lvl3pPr>
            <a:lvl4pPr>
              <a:defRPr sz="3265"/>
            </a:lvl4pPr>
            <a:lvl5pPr>
              <a:defRPr sz="3265"/>
            </a:lvl5pPr>
            <a:lvl6pPr>
              <a:defRPr sz="3169"/>
            </a:lvl6pPr>
            <a:lvl7pPr>
              <a:defRPr sz="3169"/>
            </a:lvl7pPr>
            <a:lvl8pPr>
              <a:defRPr sz="3169"/>
            </a:lvl8pPr>
            <a:lvl9pPr>
              <a:defRPr sz="316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10" name="Tittel 1"/>
          <p:cNvSpPr>
            <a:spLocks noGrp="1"/>
          </p:cNvSpPr>
          <p:nvPr>
            <p:ph type="title"/>
          </p:nvPr>
        </p:nvSpPr>
        <p:spPr>
          <a:xfrm>
            <a:off x="1160053" y="882613"/>
            <a:ext cx="15317721" cy="1023454"/>
          </a:xfrm>
        </p:spPr>
        <p:txBody>
          <a:bodyPr/>
          <a:lstStyle/>
          <a:p>
            <a:r>
              <a:rPr lang="en-GB"/>
              <a:t>Click to edit Master title style</a:t>
            </a:r>
            <a:endParaRPr lang="nb-NO"/>
          </a:p>
        </p:txBody>
      </p:sp>
    </p:spTree>
    <p:extLst>
      <p:ext uri="{BB962C8B-B14F-4D97-AF65-F5344CB8AC3E}">
        <p14:creationId xmlns:p14="http://schemas.microsoft.com/office/powerpoint/2010/main" val="12979479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anoramabilde">
    <p:spTree>
      <p:nvGrpSpPr>
        <p:cNvPr id="1" name=""/>
        <p:cNvGrpSpPr/>
        <p:nvPr/>
      </p:nvGrpSpPr>
      <p:grpSpPr>
        <a:xfrm>
          <a:off x="0" y="0"/>
          <a:ext cx="0" cy="0"/>
          <a:chOff x="0" y="0"/>
          <a:chExt cx="0" cy="0"/>
        </a:xfrm>
      </p:grpSpPr>
      <p:sp>
        <p:nvSpPr>
          <p:cNvPr id="3" name="Plassholder for bilde 2"/>
          <p:cNvSpPr>
            <a:spLocks noGrp="1"/>
          </p:cNvSpPr>
          <p:nvPr>
            <p:ph type="pic" idx="1"/>
          </p:nvPr>
        </p:nvSpPr>
        <p:spPr>
          <a:xfrm>
            <a:off x="1354564" y="2316102"/>
            <a:ext cx="15240651" cy="5170359"/>
          </a:xfrm>
        </p:spPr>
        <p:txBody>
          <a:bodyPr/>
          <a:lstStyle>
            <a:lvl1pPr marL="0" indent="0">
              <a:buNone/>
              <a:defRPr sz="5666"/>
            </a:lvl1pPr>
            <a:lvl2pPr marL="811096" indent="0">
              <a:buNone/>
              <a:defRPr sz="4994"/>
            </a:lvl2pPr>
            <a:lvl3pPr marL="1622192" indent="0">
              <a:buNone/>
              <a:defRPr sz="4226"/>
            </a:lvl3pPr>
            <a:lvl4pPr marL="2433289" indent="0">
              <a:buNone/>
              <a:defRPr sz="3553"/>
            </a:lvl4pPr>
            <a:lvl5pPr marL="3244384" indent="0">
              <a:buNone/>
              <a:defRPr sz="3553"/>
            </a:lvl5pPr>
            <a:lvl6pPr marL="4055480" indent="0">
              <a:buNone/>
              <a:defRPr sz="3553"/>
            </a:lvl6pPr>
            <a:lvl7pPr marL="4866576" indent="0">
              <a:buNone/>
              <a:defRPr sz="3553"/>
            </a:lvl7pPr>
            <a:lvl8pPr marL="5677673" indent="0">
              <a:buNone/>
              <a:defRPr sz="3553"/>
            </a:lvl8pPr>
            <a:lvl9pPr marL="6488769" indent="0">
              <a:buNone/>
              <a:defRPr sz="3553"/>
            </a:lvl9pPr>
          </a:lstStyle>
          <a:p>
            <a:r>
              <a:rPr lang="en-GB"/>
              <a:t>Click icon to add picture</a:t>
            </a:r>
            <a:endParaRPr lang="nb-NO"/>
          </a:p>
        </p:txBody>
      </p:sp>
      <p:sp>
        <p:nvSpPr>
          <p:cNvPr id="5" name="Plassholder for dato 4"/>
          <p:cNvSpPr>
            <a:spLocks noGrp="1"/>
          </p:cNvSpPr>
          <p:nvPr>
            <p:ph type="dt" sz="half" idx="10"/>
          </p:nvPr>
        </p:nvSpPr>
        <p:spPr/>
        <p:txBody>
          <a:bodyPr/>
          <a:lstStyle/>
          <a:p>
            <a:fld id="{D8D6BC8B-88B8-3842-AF0C-2637401044F0}" type="datetime1">
              <a:rPr lang="nb-NO" smtClean="0"/>
              <a:t>08.09.2026</a:t>
            </a:fld>
            <a:endParaRPr lang="nb-NO"/>
          </a:p>
        </p:txBody>
      </p:sp>
      <p:sp>
        <p:nvSpPr>
          <p:cNvPr id="6" name="Plassholder for bunntekst 5"/>
          <p:cNvSpPr>
            <a:spLocks noGrp="1"/>
          </p:cNvSpPr>
          <p:nvPr>
            <p:ph type="ftr" sz="quarter" idx="11"/>
          </p:nvPr>
        </p:nvSpPr>
        <p:spPr/>
        <p:txBody>
          <a:bodyPr/>
          <a:lstStyle/>
          <a:p>
            <a:r>
              <a:rPr lang="nb-NO"/>
              <a:t>Introduction to A.I - Umair M.I</a:t>
            </a:r>
          </a:p>
        </p:txBody>
      </p:sp>
      <p:sp>
        <p:nvSpPr>
          <p:cNvPr id="7" name="Plassholder for lysbildenummer 6"/>
          <p:cNvSpPr>
            <a:spLocks noGrp="1"/>
          </p:cNvSpPr>
          <p:nvPr>
            <p:ph type="sldNum" sz="quarter" idx="12"/>
          </p:nvPr>
        </p:nvSpPr>
        <p:spPr/>
        <p:txBody>
          <a:bodyPr/>
          <a:lstStyle/>
          <a:p>
            <a:fld id="{7B785221-A51B-4371-B866-038075B34EEB}" type="slidenum">
              <a:rPr lang="nb-NO" smtClean="0"/>
              <a:pPr/>
              <a:t>‹#›</a:t>
            </a:fld>
            <a:endParaRPr lang="nb-NO"/>
          </a:p>
        </p:txBody>
      </p:sp>
      <p:sp>
        <p:nvSpPr>
          <p:cNvPr id="10" name="Tittel 1"/>
          <p:cNvSpPr>
            <a:spLocks noGrp="1"/>
          </p:cNvSpPr>
          <p:nvPr>
            <p:ph type="title"/>
          </p:nvPr>
        </p:nvSpPr>
        <p:spPr>
          <a:xfrm>
            <a:off x="1160053" y="882613"/>
            <a:ext cx="15317721" cy="1023454"/>
          </a:xfrm>
        </p:spPr>
        <p:txBody>
          <a:bodyPr/>
          <a:lstStyle/>
          <a:p>
            <a:r>
              <a:rPr lang="en-GB"/>
              <a:t>Click to edit Master title style</a:t>
            </a:r>
            <a:endParaRPr lang="nb-NO"/>
          </a:p>
        </p:txBody>
      </p:sp>
    </p:spTree>
    <p:extLst>
      <p:ext uri="{BB962C8B-B14F-4D97-AF65-F5344CB8AC3E}">
        <p14:creationId xmlns:p14="http://schemas.microsoft.com/office/powerpoint/2010/main" val="29238675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GB"/>
              <a:t>Click to edit Master title style</a:t>
            </a:r>
            <a:endParaRPr lang="nb-NO"/>
          </a:p>
        </p:txBody>
      </p:sp>
      <p:sp>
        <p:nvSpPr>
          <p:cNvPr id="3" name="Plassholder for loddrett tekst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4" name="Plassholder for dato 3"/>
          <p:cNvSpPr>
            <a:spLocks noGrp="1"/>
          </p:cNvSpPr>
          <p:nvPr>
            <p:ph type="dt" sz="half" idx="10"/>
          </p:nvPr>
        </p:nvSpPr>
        <p:spPr/>
        <p:txBody>
          <a:bodyPr/>
          <a:lstStyle/>
          <a:p>
            <a:fld id="{EB1B8576-F550-544E-BDBE-7B0611543EE3}"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2243251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12575143" y="390534"/>
            <a:ext cx="3902631" cy="8320815"/>
          </a:xfrm>
        </p:spPr>
        <p:txBody>
          <a:bodyPr vert="eaVert"/>
          <a:lstStyle/>
          <a:p>
            <a:r>
              <a:rPr lang="en-GB"/>
              <a:t>Click to edit Master title style</a:t>
            </a:r>
            <a:endParaRPr lang="nb-NO"/>
          </a:p>
        </p:txBody>
      </p:sp>
      <p:sp>
        <p:nvSpPr>
          <p:cNvPr id="3" name="Plassholder for loddrett tekst 2"/>
          <p:cNvSpPr>
            <a:spLocks noGrp="1"/>
          </p:cNvSpPr>
          <p:nvPr>
            <p:ph type="body" orient="vert" idx="1"/>
          </p:nvPr>
        </p:nvSpPr>
        <p:spPr>
          <a:xfrm>
            <a:off x="867252" y="390534"/>
            <a:ext cx="11418808" cy="832081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4" name="Plassholder for dato 3"/>
          <p:cNvSpPr>
            <a:spLocks noGrp="1"/>
          </p:cNvSpPr>
          <p:nvPr>
            <p:ph type="dt" sz="half" idx="10"/>
          </p:nvPr>
        </p:nvSpPr>
        <p:spPr/>
        <p:txBody>
          <a:bodyPr/>
          <a:lstStyle/>
          <a:p>
            <a:fld id="{BD676EC6-A6BC-124A-B25F-CC549F85C778}" type="datetime1">
              <a:rPr lang="nb-NO" smtClean="0"/>
              <a:t>08.09.2026</a:t>
            </a:fld>
            <a:endParaRPr lang="nb-NO"/>
          </a:p>
        </p:txBody>
      </p:sp>
      <p:sp>
        <p:nvSpPr>
          <p:cNvPr id="5" name="Plassholder for bunntekst 4"/>
          <p:cNvSpPr>
            <a:spLocks noGrp="1"/>
          </p:cNvSpPr>
          <p:nvPr>
            <p:ph type="ftr" sz="quarter" idx="11"/>
          </p:nvPr>
        </p:nvSpPr>
        <p:spPr/>
        <p:txBody>
          <a:bodyPr/>
          <a:lstStyle/>
          <a:p>
            <a:r>
              <a:rPr lang="nb-NO"/>
              <a:t>Introduction to A.I - Umair M.I</a:t>
            </a:r>
          </a:p>
        </p:txBody>
      </p:sp>
      <p:sp>
        <p:nvSpPr>
          <p:cNvPr id="6" name="Plassholder for lysbildenummer 5"/>
          <p:cNvSpPr>
            <a:spLocks noGrp="1"/>
          </p:cNvSpPr>
          <p:nvPr>
            <p:ph type="sldNum" sz="quarter" idx="12"/>
          </p:nvPr>
        </p:nvSpPr>
        <p:spPr/>
        <p:txBody>
          <a:bodyPr/>
          <a:lstStyle/>
          <a:p>
            <a:fld id="{7B785221-A51B-4371-B866-038075B34EEB}" type="slidenum">
              <a:rPr lang="nb-NO" smtClean="0"/>
              <a:pPr/>
              <a:t>‹#›</a:t>
            </a:fld>
            <a:endParaRPr lang="nb-NO"/>
          </a:p>
        </p:txBody>
      </p:sp>
    </p:spTree>
    <p:extLst>
      <p:ext uri="{BB962C8B-B14F-4D97-AF65-F5344CB8AC3E}">
        <p14:creationId xmlns:p14="http://schemas.microsoft.com/office/powerpoint/2010/main" val="27514806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Heldekkende bilde med hvit logo">
    <p:bg>
      <p:bgPr>
        <a:solidFill>
          <a:schemeClr val="tx1"/>
        </a:solidFill>
        <a:effectLst/>
      </p:bgPr>
    </p:bg>
    <p:spTree>
      <p:nvGrpSpPr>
        <p:cNvPr id="1" name=""/>
        <p:cNvGrpSpPr/>
        <p:nvPr/>
      </p:nvGrpSpPr>
      <p:grpSpPr>
        <a:xfrm>
          <a:off x="0" y="0"/>
          <a:ext cx="0" cy="0"/>
          <a:chOff x="0" y="0"/>
          <a:chExt cx="0" cy="0"/>
        </a:xfrm>
      </p:grpSpPr>
      <p:sp>
        <p:nvSpPr>
          <p:cNvPr id="16" name="Plassholder for bilde 15"/>
          <p:cNvSpPr>
            <a:spLocks noGrp="1"/>
          </p:cNvSpPr>
          <p:nvPr>
            <p:ph type="pic" sz="quarter" idx="10" hasCustomPrompt="1"/>
          </p:nvPr>
        </p:nvSpPr>
        <p:spPr>
          <a:xfrm>
            <a:off x="0" y="0"/>
            <a:ext cx="17345025" cy="9752013"/>
          </a:xfrm>
        </p:spPr>
        <p:txBody>
          <a:bodyPr>
            <a:normAutofit/>
          </a:bodyPr>
          <a:lstStyle>
            <a:lvl1pPr>
              <a:defRPr sz="3265" baseline="0">
                <a:solidFill>
                  <a:schemeClr val="bg1"/>
                </a:solidFill>
              </a:defRPr>
            </a:lvl1pPr>
          </a:lstStyle>
          <a:p>
            <a:r>
              <a:rPr lang="nb-NO">
                <a:solidFill>
                  <a:schemeClr val="bg1"/>
                </a:solidFill>
              </a:rPr>
              <a:t>Trykk på knappen midt i lysbildet for å sette inn heldekkende bilde</a:t>
            </a:r>
            <a:endParaRPr lang="nb-NO"/>
          </a:p>
        </p:txBody>
      </p:sp>
      <p:sp>
        <p:nvSpPr>
          <p:cNvPr id="21" name="Plassholder for tekst 20"/>
          <p:cNvSpPr>
            <a:spLocks noGrp="1"/>
          </p:cNvSpPr>
          <p:nvPr>
            <p:ph type="body" sz="quarter" idx="11" hasCustomPrompt="1"/>
          </p:nvPr>
        </p:nvSpPr>
        <p:spPr>
          <a:xfrm>
            <a:off x="14463292" y="8825444"/>
            <a:ext cx="2222585" cy="432200"/>
          </a:xfrm>
          <a:blipFill>
            <a:blip r:embed="rId2" cstate="print"/>
            <a:stretch>
              <a:fillRect/>
            </a:stretch>
          </a:blipFill>
        </p:spPr>
        <p:txBody>
          <a:bodyPr/>
          <a:lstStyle>
            <a:lvl1pPr>
              <a:buNone/>
              <a:defRPr baseline="0"/>
            </a:lvl1pPr>
            <a:lvl2pPr>
              <a:buNone/>
              <a:defRPr/>
            </a:lvl2pPr>
            <a:lvl3pPr>
              <a:buNone/>
              <a:defRPr/>
            </a:lvl3pPr>
            <a:lvl4pPr>
              <a:buNone/>
              <a:defRPr/>
            </a:lvl4pPr>
            <a:lvl5pPr>
              <a:buNone/>
              <a:defRPr/>
            </a:lvl5pPr>
          </a:lstStyle>
          <a:p>
            <a:pPr lvl="0"/>
            <a:r>
              <a:rPr lang="nb-NO"/>
              <a:t> </a:t>
            </a:r>
          </a:p>
        </p:txBody>
      </p:sp>
    </p:spTree>
    <p:extLst>
      <p:ext uri="{BB962C8B-B14F-4D97-AF65-F5344CB8AC3E}">
        <p14:creationId xmlns:p14="http://schemas.microsoft.com/office/powerpoint/2010/main" val="17760412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Heldekkende bilde med sort logo">
    <p:bg>
      <p:bgPr>
        <a:solidFill>
          <a:schemeClr val="bg2"/>
        </a:solidFill>
        <a:effectLst/>
      </p:bgPr>
    </p:bg>
    <p:spTree>
      <p:nvGrpSpPr>
        <p:cNvPr id="1" name=""/>
        <p:cNvGrpSpPr/>
        <p:nvPr/>
      </p:nvGrpSpPr>
      <p:grpSpPr>
        <a:xfrm>
          <a:off x="0" y="0"/>
          <a:ext cx="0" cy="0"/>
          <a:chOff x="0" y="0"/>
          <a:chExt cx="0" cy="0"/>
        </a:xfrm>
      </p:grpSpPr>
      <p:sp>
        <p:nvSpPr>
          <p:cNvPr id="16" name="Plassholder for bilde 15"/>
          <p:cNvSpPr>
            <a:spLocks noGrp="1"/>
          </p:cNvSpPr>
          <p:nvPr>
            <p:ph type="pic" sz="quarter" idx="10" hasCustomPrompt="1"/>
          </p:nvPr>
        </p:nvSpPr>
        <p:spPr>
          <a:xfrm>
            <a:off x="0" y="0"/>
            <a:ext cx="17345025" cy="9752013"/>
          </a:xfrm>
        </p:spPr>
        <p:txBody>
          <a:bodyPr>
            <a:normAutofit/>
          </a:bodyPr>
          <a:lstStyle>
            <a:lvl1pPr>
              <a:defRPr sz="3265" baseline="0">
                <a:solidFill>
                  <a:schemeClr val="tx1"/>
                </a:solidFill>
              </a:defRPr>
            </a:lvl1pPr>
          </a:lstStyle>
          <a:p>
            <a:r>
              <a:rPr lang="nb-NO">
                <a:solidFill>
                  <a:schemeClr val="bg1"/>
                </a:solidFill>
              </a:rPr>
              <a:t>Trykk på knappen midt i lysbildet for å sette inn heldekkende bilde</a:t>
            </a:r>
            <a:br>
              <a:rPr lang="nb-NO">
                <a:solidFill>
                  <a:schemeClr val="bg1"/>
                </a:solidFill>
              </a:rPr>
            </a:br>
            <a:endParaRPr lang="nb-NO"/>
          </a:p>
        </p:txBody>
      </p:sp>
      <p:sp>
        <p:nvSpPr>
          <p:cNvPr id="4" name="Plassholder for tekst 20"/>
          <p:cNvSpPr>
            <a:spLocks noGrp="1"/>
          </p:cNvSpPr>
          <p:nvPr>
            <p:ph type="body" sz="quarter" idx="12" hasCustomPrompt="1"/>
          </p:nvPr>
        </p:nvSpPr>
        <p:spPr>
          <a:xfrm>
            <a:off x="14463292" y="8825444"/>
            <a:ext cx="2222585" cy="432200"/>
          </a:xfrm>
          <a:blipFill>
            <a:blip r:embed="rId2" cstate="print"/>
            <a:stretch>
              <a:fillRect/>
            </a:stretch>
          </a:blipFill>
        </p:spPr>
        <p:txBody>
          <a:bodyPr/>
          <a:lstStyle>
            <a:lvl1pPr>
              <a:buNone/>
              <a:defRPr baseline="0"/>
            </a:lvl1pPr>
            <a:lvl2pPr>
              <a:buNone/>
              <a:defRPr/>
            </a:lvl2pPr>
            <a:lvl3pPr>
              <a:buNone/>
              <a:defRPr/>
            </a:lvl3pPr>
            <a:lvl4pPr>
              <a:buNone/>
              <a:defRPr/>
            </a:lvl4pPr>
            <a:lvl5pPr>
              <a:buNone/>
              <a:defRPr/>
            </a:lvl5pPr>
          </a:lstStyle>
          <a:p>
            <a:pPr lvl="0"/>
            <a:r>
              <a:rPr lang="nb-NO"/>
              <a:t> </a:t>
            </a:r>
          </a:p>
        </p:txBody>
      </p:sp>
    </p:spTree>
    <p:extLst>
      <p:ext uri="{BB962C8B-B14F-4D97-AF65-F5344CB8AC3E}">
        <p14:creationId xmlns:p14="http://schemas.microsoft.com/office/powerpoint/2010/main" val="42571651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secHead">
  <p:cSld name="Kapittelside Mørk Blå">
    <p:spTree>
      <p:nvGrpSpPr>
        <p:cNvPr id="1" name=""/>
        <p:cNvGrpSpPr/>
        <p:nvPr/>
      </p:nvGrpSpPr>
      <p:grpSpPr>
        <a:xfrm>
          <a:off x="0" y="0"/>
          <a:ext cx="0" cy="0"/>
          <a:chOff x="0" y="0"/>
          <a:chExt cx="0" cy="0"/>
        </a:xfrm>
      </p:grpSpPr>
      <p:pic>
        <p:nvPicPr>
          <p:cNvPr id="11" name="Bild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86"/>
            <a:ext cx="17347937" cy="9756399"/>
          </a:xfrm>
          <a:prstGeom prst="rect">
            <a:avLst/>
          </a:prstGeom>
        </p:spPr>
      </p:pic>
      <p:sp>
        <p:nvSpPr>
          <p:cNvPr id="2" name="Tittel 1"/>
          <p:cNvSpPr>
            <a:spLocks noGrp="1"/>
          </p:cNvSpPr>
          <p:nvPr>
            <p:ph type="title"/>
          </p:nvPr>
        </p:nvSpPr>
        <p:spPr>
          <a:xfrm>
            <a:off x="1183436" y="3903076"/>
            <a:ext cx="14960084" cy="991712"/>
          </a:xfrm>
        </p:spPr>
        <p:txBody>
          <a:bodyPr anchor="b"/>
          <a:lstStyle>
            <a:lvl1pPr algn="ctr">
              <a:lnSpc>
                <a:spcPct val="100000"/>
              </a:lnSpc>
              <a:defRPr sz="5799">
                <a:solidFill>
                  <a:schemeClr val="bg1"/>
                </a:solidFill>
              </a:defRPr>
            </a:lvl1pPr>
          </a:lstStyle>
          <a:p>
            <a:r>
              <a:rPr lang="nb-NO"/>
              <a:t>Klikk for å redigere tittelstil</a:t>
            </a:r>
          </a:p>
        </p:txBody>
      </p:sp>
      <p:sp>
        <p:nvSpPr>
          <p:cNvPr id="3" name="Plassholder for tekst 2"/>
          <p:cNvSpPr>
            <a:spLocks noGrp="1"/>
          </p:cNvSpPr>
          <p:nvPr>
            <p:ph type="body" idx="1"/>
          </p:nvPr>
        </p:nvSpPr>
        <p:spPr>
          <a:xfrm>
            <a:off x="1183436" y="5453330"/>
            <a:ext cx="14960084" cy="2133253"/>
          </a:xfrm>
        </p:spPr>
        <p:txBody>
          <a:bodyPr>
            <a:normAutofit/>
          </a:bodyPr>
          <a:lstStyle>
            <a:lvl1pPr marL="0" indent="0" algn="ctr">
              <a:buNone/>
              <a:defRPr sz="3070">
                <a:solidFill>
                  <a:schemeClr val="bg1"/>
                </a:solidFill>
              </a:defRPr>
            </a:lvl1pPr>
            <a:lvl2pPr marL="584755" indent="0">
              <a:buNone/>
              <a:defRPr sz="2559">
                <a:solidFill>
                  <a:schemeClr val="tx1">
                    <a:tint val="75000"/>
                  </a:schemeClr>
                </a:solidFill>
              </a:defRPr>
            </a:lvl2pPr>
            <a:lvl3pPr marL="1169507" indent="0">
              <a:buNone/>
              <a:defRPr sz="2302">
                <a:solidFill>
                  <a:schemeClr val="tx1">
                    <a:tint val="75000"/>
                  </a:schemeClr>
                </a:solidFill>
              </a:defRPr>
            </a:lvl3pPr>
            <a:lvl4pPr marL="1754262" indent="0">
              <a:buNone/>
              <a:defRPr sz="2047">
                <a:solidFill>
                  <a:schemeClr val="tx1">
                    <a:tint val="75000"/>
                  </a:schemeClr>
                </a:solidFill>
              </a:defRPr>
            </a:lvl4pPr>
            <a:lvl5pPr marL="2339015" indent="0">
              <a:buNone/>
              <a:defRPr sz="2047">
                <a:solidFill>
                  <a:schemeClr val="tx1">
                    <a:tint val="75000"/>
                  </a:schemeClr>
                </a:solidFill>
              </a:defRPr>
            </a:lvl5pPr>
            <a:lvl6pPr marL="2923769" indent="0">
              <a:buNone/>
              <a:defRPr sz="2047">
                <a:solidFill>
                  <a:schemeClr val="tx1">
                    <a:tint val="75000"/>
                  </a:schemeClr>
                </a:solidFill>
              </a:defRPr>
            </a:lvl6pPr>
            <a:lvl7pPr marL="3508522" indent="0">
              <a:buNone/>
              <a:defRPr sz="2047">
                <a:solidFill>
                  <a:schemeClr val="tx1">
                    <a:tint val="75000"/>
                  </a:schemeClr>
                </a:solidFill>
              </a:defRPr>
            </a:lvl7pPr>
            <a:lvl8pPr marL="4093276" indent="0">
              <a:buNone/>
              <a:defRPr sz="2047">
                <a:solidFill>
                  <a:schemeClr val="tx1">
                    <a:tint val="75000"/>
                  </a:schemeClr>
                </a:solidFill>
              </a:defRPr>
            </a:lvl8pPr>
            <a:lvl9pPr marL="4678031" indent="0">
              <a:buNone/>
              <a:defRPr sz="2047">
                <a:solidFill>
                  <a:schemeClr val="tx1">
                    <a:tint val="75000"/>
                  </a:schemeClr>
                </a:solidFill>
              </a:defRPr>
            </a:lvl9pPr>
          </a:lstStyle>
          <a:p>
            <a:pPr lvl="0"/>
            <a:r>
              <a:rPr lang="nb-NO"/>
              <a:t>Klikk for å redigere tekststiler i malen</a:t>
            </a:r>
          </a:p>
        </p:txBody>
      </p:sp>
      <p:sp>
        <p:nvSpPr>
          <p:cNvPr id="6" name="Plassholder for bunntekst 4"/>
          <p:cNvSpPr>
            <a:spLocks noGrp="1"/>
          </p:cNvSpPr>
          <p:nvPr>
            <p:ph type="ftr" sz="quarter" idx="3"/>
          </p:nvPr>
        </p:nvSpPr>
        <p:spPr>
          <a:xfrm>
            <a:off x="-136592" y="68245"/>
            <a:ext cx="0" cy="683520"/>
          </a:xfrm>
          <a:prstGeom prst="rect">
            <a:avLst/>
          </a:prstGeom>
        </p:spPr>
        <p:txBody>
          <a:bodyPr vert="horz" lIns="0" tIns="0" rIns="0" bIns="0" rtlCol="0" anchor="t">
            <a:spAutoFit/>
          </a:bodyPr>
          <a:lstStyle>
            <a:lvl1pPr algn="l">
              <a:defRPr sz="171">
                <a:solidFill>
                  <a:schemeClr val="bg1"/>
                </a:solidFill>
              </a:defRPr>
            </a:lvl1pPr>
          </a:lstStyle>
          <a:p>
            <a:r>
              <a:rPr lang="nb-NO"/>
              <a:t>Introduction to A.I - Umair M.I</a:t>
            </a:r>
          </a:p>
        </p:txBody>
      </p:sp>
      <p:sp>
        <p:nvSpPr>
          <p:cNvPr id="8" name="Plassholder for lysbildenummer 5"/>
          <p:cNvSpPr>
            <a:spLocks noGrp="1"/>
          </p:cNvSpPr>
          <p:nvPr>
            <p:ph type="sldNum" sz="quarter" idx="4"/>
          </p:nvPr>
        </p:nvSpPr>
        <p:spPr>
          <a:xfrm>
            <a:off x="-136592" y="72551"/>
            <a:ext cx="0" cy="78889"/>
          </a:xfrm>
          <a:prstGeom prst="rect">
            <a:avLst/>
          </a:prstGeom>
        </p:spPr>
        <p:txBody>
          <a:bodyPr vert="horz" wrap="square" lIns="0" tIns="0" rIns="0" bIns="0" rtlCol="0" anchor="ctr">
            <a:spAutoFit/>
          </a:bodyPr>
          <a:lstStyle>
            <a:lvl1pPr algn="l">
              <a:defRPr sz="171">
                <a:solidFill>
                  <a:schemeClr val="bg1"/>
                </a:solidFill>
              </a:defRPr>
            </a:lvl1pPr>
          </a:lstStyle>
          <a:p>
            <a:fld id="{304AD70F-8AF0-406B-B894-62E0F3D04367}" type="slidenum">
              <a:rPr lang="nb-NO" smtClean="0"/>
              <a:pPr/>
              <a:t>‹#›</a:t>
            </a:fld>
            <a:endParaRPr lang="nb-NO"/>
          </a:p>
        </p:txBody>
      </p:sp>
      <p:pic>
        <p:nvPicPr>
          <p:cNvPr id="9" name="Bild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23563" y="8816107"/>
            <a:ext cx="2821463" cy="935907"/>
          </a:xfrm>
          <a:prstGeom prst="rect">
            <a:avLst/>
          </a:prstGeom>
        </p:spPr>
      </p:pic>
    </p:spTree>
    <p:extLst>
      <p:ext uri="{BB962C8B-B14F-4D97-AF65-F5344CB8AC3E}">
        <p14:creationId xmlns:p14="http://schemas.microsoft.com/office/powerpoint/2010/main" val="14611127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36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2579184-8144-4884-AEF3-83955D28A354}"/>
              </a:ext>
            </a:extLst>
          </p:cNvPr>
          <p:cNvSpPr>
            <a:spLocks noGrp="1"/>
          </p:cNvSpPr>
          <p:nvPr>
            <p:ph type="pic" sz="quarter" idx="10"/>
          </p:nvPr>
        </p:nvSpPr>
        <p:spPr>
          <a:xfrm>
            <a:off x="0" y="0"/>
            <a:ext cx="17345025" cy="9752013"/>
          </a:xfrm>
          <a:prstGeom prst="rect">
            <a:avLst/>
          </a:prstGeom>
        </p:spPr>
        <p:txBody>
          <a:bodyPr/>
          <a:lstStyle/>
          <a:p>
            <a:endParaRPr lang="en-US"/>
          </a:p>
        </p:txBody>
      </p:sp>
    </p:spTree>
    <p:extLst>
      <p:ext uri="{BB962C8B-B14F-4D97-AF65-F5344CB8AC3E}">
        <p14:creationId xmlns:p14="http://schemas.microsoft.com/office/powerpoint/2010/main" val="1838515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2.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image" Target="../media/image1.png"/><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5" Type="http://schemas.openxmlformats.org/officeDocument/2006/relationships/slideLayout" Target="../slideLayouts/slideLayout49.xml"/><Relationship Id="rId10" Type="http://schemas.openxmlformats.org/officeDocument/2006/relationships/theme" Target="../theme/theme3.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image" Target="../media/image10.png"/><Relationship Id="rId2" Type="http://schemas.openxmlformats.org/officeDocument/2006/relationships/slideLayout" Target="../slideLayouts/slideLayout55.xml"/><Relationship Id="rId16" Type="http://schemas.openxmlformats.org/officeDocument/2006/relationships/theme" Target="../theme/theme4.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4CB3F13C-F71E-B845-B734-ECB977509381}" type="datetime1">
              <a:rPr lang="nb-NO" smtClean="0"/>
              <a:t>08.09.2026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DAVE3625- Intro to A.I. by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643857197"/>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3" r:id="rId3"/>
    <p:sldLayoutId id="2147483664" r:id="rId4"/>
    <p:sldLayoutId id="2147483662" r:id="rId5"/>
    <p:sldLayoutId id="2147483666" r:id="rId6"/>
    <p:sldLayoutId id="2147483667" r:id="rId7"/>
    <p:sldLayoutId id="2147483668" r:id="rId8"/>
    <p:sldLayoutId id="2147483650" r:id="rId9"/>
    <p:sldLayoutId id="2147483651" r:id="rId10"/>
    <p:sldLayoutId id="2147483656" r:id="rId11"/>
    <p:sldLayoutId id="2147483658" r:id="rId12"/>
    <p:sldLayoutId id="2147483659" r:id="rId13"/>
    <p:sldLayoutId id="2147483660" r:id="rId14"/>
    <p:sldLayoutId id="2147483661" r:id="rId15"/>
    <p:sldLayoutId id="2147483657" r:id="rId16"/>
    <p:sldLayoutId id="2147483670" r:id="rId17"/>
    <p:sldLayoutId id="2147483671" r:id="rId18"/>
    <p:sldLayoutId id="2147483652" r:id="rId19"/>
    <p:sldLayoutId id="2147483653" r:id="rId20"/>
    <p:sldLayoutId id="2147483654" r:id="rId21"/>
    <p:sldLayoutId id="2147483655"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972122" y="2374096"/>
            <a:ext cx="15373922" cy="664797"/>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972122" y="3492436"/>
            <a:ext cx="15373922" cy="4680585"/>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4865312" y="8705717"/>
            <a:ext cx="1080135" cy="262593"/>
          </a:xfrm>
          <a:prstGeom prst="rect">
            <a:avLst/>
          </a:prstGeom>
        </p:spPr>
        <p:txBody>
          <a:bodyPr vert="horz" lIns="0" tIns="0" rIns="0" bIns="0" rtlCol="0" anchor="ctr">
            <a:normAutofit/>
          </a:bodyPr>
          <a:lstStyle>
            <a:lvl1pPr algn="l">
              <a:defRPr sz="1100">
                <a:solidFill>
                  <a:schemeClr val="dk1"/>
                </a:solidFill>
              </a:defRPr>
            </a:lvl1pPr>
          </a:lstStyle>
          <a:p>
            <a:fld id="{D6835584-C816-674E-98F0-3936CCF19CA3}" type="datetime1">
              <a:rPr lang="nb-NO" smtClean="0"/>
              <a:t>08.09.2026</a:t>
            </a:fld>
            <a:endParaRPr lang="nb-NO"/>
          </a:p>
        </p:txBody>
      </p:sp>
      <p:sp>
        <p:nvSpPr>
          <p:cNvPr id="5" name="Plassholder for bunntekst 4"/>
          <p:cNvSpPr>
            <a:spLocks noGrp="1"/>
          </p:cNvSpPr>
          <p:nvPr>
            <p:ph type="ftr" sz="quarter" idx="3"/>
          </p:nvPr>
        </p:nvSpPr>
        <p:spPr>
          <a:xfrm>
            <a:off x="6210772" y="8705717"/>
            <a:ext cx="9001125" cy="262593"/>
          </a:xfrm>
          <a:prstGeom prst="rect">
            <a:avLst/>
          </a:prstGeom>
        </p:spPr>
        <p:txBody>
          <a:bodyPr vert="horz" lIns="0" tIns="0" rIns="0" bIns="0" rtlCol="0" anchor="ctr">
            <a:normAutofit/>
          </a:bodyPr>
          <a:lstStyle>
            <a:lvl1pPr algn="l">
              <a:defRPr sz="1100" cap="all" baseline="0">
                <a:solidFill>
                  <a:schemeClr val="dk1"/>
                </a:solidFill>
              </a:defRPr>
            </a:lvl1pPr>
          </a:lstStyle>
          <a:p>
            <a:r>
              <a:rPr lang="nb-NO"/>
              <a:t>DAVE3625- Intro to A.I. by Umair M.I</a:t>
            </a:r>
          </a:p>
        </p:txBody>
      </p:sp>
      <p:sp>
        <p:nvSpPr>
          <p:cNvPr id="6" name="Plassholder for lysbildenummer 5"/>
          <p:cNvSpPr>
            <a:spLocks noGrp="1"/>
          </p:cNvSpPr>
          <p:nvPr>
            <p:ph type="sldNum" sz="quarter" idx="4"/>
          </p:nvPr>
        </p:nvSpPr>
        <p:spPr>
          <a:xfrm>
            <a:off x="15906712" y="8705717"/>
            <a:ext cx="439332" cy="262593"/>
          </a:xfrm>
          <a:prstGeom prst="rect">
            <a:avLst/>
          </a:prstGeom>
        </p:spPr>
        <p:txBody>
          <a:bodyPr vert="horz" lIns="0" tIns="0" rIns="0" bIns="0" rtlCol="0" anchor="ctr">
            <a:normAutofit/>
          </a:bodyPr>
          <a:lstStyle>
            <a:lvl1pPr algn="r">
              <a:defRPr sz="1100">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972122" y="972122"/>
            <a:ext cx="1002794" cy="592837"/>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972122" y="8774297"/>
            <a:ext cx="2313437" cy="272797"/>
          </a:xfrm>
          <a:prstGeom prst="rect">
            <a:avLst/>
          </a:prstGeom>
        </p:spPr>
      </p:pic>
    </p:spTree>
    <p:extLst>
      <p:ext uri="{BB962C8B-B14F-4D97-AF65-F5344CB8AC3E}">
        <p14:creationId xmlns:p14="http://schemas.microsoft.com/office/powerpoint/2010/main" val="1533868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sldNum="0" hdr="0" dt="0"/>
  <p:txStyles>
    <p:title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325069" indent="-325069" algn="l" defTabSz="1300277" rtl="0" eaLnBrk="1" latinLnBrk="0" hangingPunct="1">
        <a:lnSpc>
          <a:spcPct val="100000"/>
        </a:lnSpc>
        <a:spcBef>
          <a:spcPts val="0"/>
        </a:spcBef>
        <a:spcAft>
          <a:spcPts val="1000"/>
        </a:spcAft>
        <a:buClr>
          <a:schemeClr val="accent1"/>
        </a:buClr>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
          <a:schemeClr val="accent1"/>
        </a:buClr>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nb-NO"/>
      </a:defPPr>
      <a:lvl1pPr marL="0" algn="l" defTabSz="1300277" rtl="0" eaLnBrk="1" latinLnBrk="0" hangingPunct="1">
        <a:defRPr sz="2560" kern="1200">
          <a:solidFill>
            <a:schemeClr val="tx1"/>
          </a:solidFill>
          <a:latin typeface="+mn-lt"/>
          <a:ea typeface="+mn-ea"/>
          <a:cs typeface="+mn-cs"/>
        </a:defRPr>
      </a:lvl1pPr>
      <a:lvl2pPr marL="650138" algn="l" defTabSz="1300277" rtl="0" eaLnBrk="1" latinLnBrk="0" hangingPunct="1">
        <a:defRPr sz="2560" kern="1200">
          <a:solidFill>
            <a:schemeClr val="tx1"/>
          </a:solidFill>
          <a:latin typeface="+mn-lt"/>
          <a:ea typeface="+mn-ea"/>
          <a:cs typeface="+mn-cs"/>
        </a:defRPr>
      </a:lvl2pPr>
      <a:lvl3pPr marL="1300277" algn="l" defTabSz="1300277" rtl="0" eaLnBrk="1" latinLnBrk="0" hangingPunct="1">
        <a:defRPr sz="2560" kern="1200">
          <a:solidFill>
            <a:schemeClr val="tx1"/>
          </a:solidFill>
          <a:latin typeface="+mn-lt"/>
          <a:ea typeface="+mn-ea"/>
          <a:cs typeface="+mn-cs"/>
        </a:defRPr>
      </a:lvl3pPr>
      <a:lvl4pPr marL="1950415" algn="l" defTabSz="1300277" rtl="0" eaLnBrk="1" latinLnBrk="0" hangingPunct="1">
        <a:defRPr sz="2560" kern="1200">
          <a:solidFill>
            <a:schemeClr val="tx1"/>
          </a:solidFill>
          <a:latin typeface="+mn-lt"/>
          <a:ea typeface="+mn-ea"/>
          <a:cs typeface="+mn-cs"/>
        </a:defRPr>
      </a:lvl4pPr>
      <a:lvl5pPr marL="2600554" algn="l" defTabSz="1300277" rtl="0" eaLnBrk="1" latinLnBrk="0" hangingPunct="1">
        <a:defRPr sz="2560" kern="1200">
          <a:solidFill>
            <a:schemeClr val="tx1"/>
          </a:solidFill>
          <a:latin typeface="+mn-lt"/>
          <a:ea typeface="+mn-ea"/>
          <a:cs typeface="+mn-cs"/>
        </a:defRPr>
      </a:lvl5pPr>
      <a:lvl6pPr marL="3250692" algn="l" defTabSz="1300277" rtl="0" eaLnBrk="1" latinLnBrk="0" hangingPunct="1">
        <a:defRPr sz="2560" kern="1200">
          <a:solidFill>
            <a:schemeClr val="tx1"/>
          </a:solidFill>
          <a:latin typeface="+mn-lt"/>
          <a:ea typeface="+mn-ea"/>
          <a:cs typeface="+mn-cs"/>
        </a:defRPr>
      </a:lvl6pPr>
      <a:lvl7pPr marL="3900830" algn="l" defTabSz="1300277" rtl="0" eaLnBrk="1" latinLnBrk="0" hangingPunct="1">
        <a:defRPr sz="2560" kern="1200">
          <a:solidFill>
            <a:schemeClr val="tx1"/>
          </a:solidFill>
          <a:latin typeface="+mn-lt"/>
          <a:ea typeface="+mn-ea"/>
          <a:cs typeface="+mn-cs"/>
        </a:defRPr>
      </a:lvl7pPr>
      <a:lvl8pPr marL="4550969" algn="l" defTabSz="1300277" rtl="0" eaLnBrk="1" latinLnBrk="0" hangingPunct="1">
        <a:defRPr sz="2560" kern="1200">
          <a:solidFill>
            <a:schemeClr val="tx1"/>
          </a:solidFill>
          <a:latin typeface="+mn-lt"/>
          <a:ea typeface="+mn-ea"/>
          <a:cs typeface="+mn-cs"/>
        </a:defRPr>
      </a:lvl8pPr>
      <a:lvl9pPr marL="5201107" algn="l" defTabSz="1300277" rtl="0" eaLnBrk="1" latinLnBrk="0" hangingPunct="1">
        <a:defRPr sz="25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1192472" y="519205"/>
            <a:ext cx="14960084" cy="188493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958"/>
              <a:buFont typeface="Calibri"/>
              <a:buNone/>
              <a:defRPr sz="3958"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1192472" y="2596022"/>
            <a:ext cx="14960084" cy="6187563"/>
          </a:xfrm>
          <a:prstGeom prst="rect">
            <a:avLst/>
          </a:prstGeom>
          <a:noFill/>
          <a:ln>
            <a:noFill/>
          </a:ln>
        </p:spPr>
        <p:txBody>
          <a:bodyPr spcFirstLastPara="1" wrap="square" lIns="91425" tIns="45700" rIns="91425" bIns="45700" anchor="t" anchorCtr="0">
            <a:normAutofit/>
          </a:bodyPr>
          <a:lstStyle>
            <a:lvl1pPr marL="457200" marR="0" lvl="0" indent="-388556" algn="l" rtl="0">
              <a:lnSpc>
                <a:spcPct val="90000"/>
              </a:lnSpc>
              <a:spcBef>
                <a:spcPts val="900"/>
              </a:spcBef>
              <a:spcAft>
                <a:spcPts val="0"/>
              </a:spcAft>
              <a:buClr>
                <a:schemeClr val="dk1"/>
              </a:buClr>
              <a:buSzPts val="2519"/>
              <a:buFont typeface="Arial"/>
              <a:buChar char="•"/>
              <a:defRPr sz="2519" b="0" i="0" u="none" strike="noStrike" cap="none">
                <a:solidFill>
                  <a:schemeClr val="dk1"/>
                </a:solidFill>
                <a:latin typeface="Calibri"/>
                <a:ea typeface="Calibri"/>
                <a:cs typeface="Calibri"/>
                <a:sym typeface="Calibri"/>
              </a:defRPr>
            </a:lvl1pPr>
            <a:lvl2pPr marL="914400" marR="0" lvl="1" indent="-365696" algn="l" rtl="0">
              <a:lnSpc>
                <a:spcPct val="90000"/>
              </a:lnSpc>
              <a:spcBef>
                <a:spcPts val="450"/>
              </a:spcBef>
              <a:spcAft>
                <a:spcPts val="0"/>
              </a:spcAft>
              <a:buClr>
                <a:schemeClr val="dk1"/>
              </a:buClr>
              <a:buSzPts val="2159"/>
              <a:buFont typeface="Arial"/>
              <a:buChar char="•"/>
              <a:defRPr sz="2159" b="0" i="0" u="none" strike="noStrike" cap="none">
                <a:solidFill>
                  <a:schemeClr val="dk1"/>
                </a:solidFill>
                <a:latin typeface="Calibri"/>
                <a:ea typeface="Calibri"/>
                <a:cs typeface="Calibri"/>
                <a:sym typeface="Calibri"/>
              </a:defRPr>
            </a:lvl2pPr>
            <a:lvl3pPr marL="1371600" marR="0" lvl="2" indent="-342836" algn="l" rtl="0">
              <a:lnSpc>
                <a:spcPct val="90000"/>
              </a:lnSpc>
              <a:spcBef>
                <a:spcPts val="450"/>
              </a:spcBef>
              <a:spcAft>
                <a:spcPts val="0"/>
              </a:spcAft>
              <a:buClr>
                <a:schemeClr val="dk1"/>
              </a:buClr>
              <a:buSzPts val="1799"/>
              <a:buFont typeface="Arial"/>
              <a:buChar char="•"/>
              <a:defRPr sz="1799" b="0" i="0" u="none" strike="noStrike" cap="none">
                <a:solidFill>
                  <a:schemeClr val="dk1"/>
                </a:solidFill>
                <a:latin typeface="Calibri"/>
                <a:ea typeface="Calibri"/>
                <a:cs typeface="Calibri"/>
                <a:sym typeface="Calibri"/>
              </a:defRPr>
            </a:lvl3pPr>
            <a:lvl4pPr marL="1828800" marR="0" lvl="3"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4pPr>
            <a:lvl5pPr marL="2286000" marR="0" lvl="4"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5pPr>
            <a:lvl6pPr marL="2743200" marR="0" lvl="5"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6pPr>
            <a:lvl7pPr marL="3200400" marR="0" lvl="6"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7pPr>
            <a:lvl8pPr marL="3657600" marR="0" lvl="7"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8pPr>
            <a:lvl9pPr marL="4114800" marR="0" lvl="8" indent="-331406" algn="l" rtl="0">
              <a:lnSpc>
                <a:spcPct val="90000"/>
              </a:lnSpc>
              <a:spcBef>
                <a:spcPts val="450"/>
              </a:spcBef>
              <a:spcAft>
                <a:spcPts val="0"/>
              </a:spcAft>
              <a:buClr>
                <a:schemeClr val="dk1"/>
              </a:buClr>
              <a:buSzPts val="1619"/>
              <a:buFont typeface="Arial"/>
              <a:buChar char="•"/>
              <a:defRPr sz="1619"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1192472" y="9038674"/>
            <a:ext cx="3902631" cy="51920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534"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5745541" y="9038674"/>
            <a:ext cx="5853946" cy="51920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534"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56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12249924" y="9038674"/>
            <a:ext cx="3902631" cy="51920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79"/>
              <a:buFont typeface="Arial"/>
              <a:buNone/>
              <a:defRPr sz="1534" b="0" i="0" u="none" strike="noStrike" cap="none">
                <a:solidFill>
                  <a:srgbClr val="888888"/>
                </a:solidFill>
                <a:latin typeface="Calibri"/>
                <a:ea typeface="Calibri"/>
                <a:cs typeface="Calibri"/>
                <a:sym typeface="Calibri"/>
              </a:defRPr>
            </a:lvl9pPr>
          </a:lstStyle>
          <a:p>
            <a:fld id="{00000000-1234-1234-1234-123412341234}" type="slidenum">
              <a:rPr lang="en-NO" smtClean="0"/>
              <a:pPr/>
              <a:t>‹#›</a:t>
            </a:fld>
            <a:endParaRPr lang="en-NO"/>
          </a:p>
        </p:txBody>
      </p:sp>
    </p:spTree>
    <p:extLst>
      <p:ext uri="{BB962C8B-B14F-4D97-AF65-F5344CB8AC3E}">
        <p14:creationId xmlns:p14="http://schemas.microsoft.com/office/powerpoint/2010/main" val="1360383572"/>
      </p:ext>
    </p:extLst>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91"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1160053" y="882613"/>
            <a:ext cx="15317721" cy="1023454"/>
          </a:xfrm>
          <a:prstGeom prst="rect">
            <a:avLst/>
          </a:prstGeom>
        </p:spPr>
        <p:txBody>
          <a:bodyPr vert="horz" lIns="168908" tIns="84454" rIns="168908" bIns="84454" rtlCol="0" anchor="b">
            <a:noAutofit/>
          </a:bodyPr>
          <a:lstStyle/>
          <a:p>
            <a:r>
              <a:rPr lang="nb-NO"/>
              <a:t>Klikk for å redigere tittelstil</a:t>
            </a:r>
          </a:p>
        </p:txBody>
      </p:sp>
      <p:sp>
        <p:nvSpPr>
          <p:cNvPr id="3" name="Plassholder for tekst 2"/>
          <p:cNvSpPr>
            <a:spLocks noGrp="1"/>
          </p:cNvSpPr>
          <p:nvPr>
            <p:ph type="body" idx="1"/>
          </p:nvPr>
        </p:nvSpPr>
        <p:spPr>
          <a:xfrm>
            <a:off x="1159348" y="2008955"/>
            <a:ext cx="15435868" cy="6395245"/>
          </a:xfrm>
          <a:prstGeom prst="rect">
            <a:avLst/>
          </a:prstGeom>
        </p:spPr>
        <p:txBody>
          <a:bodyPr vert="horz" lIns="168908" tIns="84454" rIns="168908" bIns="84454"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2116184" y="8870677"/>
            <a:ext cx="1912263" cy="415534"/>
          </a:xfrm>
          <a:prstGeom prst="rect">
            <a:avLst/>
          </a:prstGeom>
        </p:spPr>
        <p:txBody>
          <a:bodyPr vert="horz" lIns="168908" tIns="84454" rIns="168908" bIns="84454" rtlCol="0" anchor="ctr"/>
          <a:lstStyle>
            <a:lvl1pPr marL="0" algn="l" defTabSz="1622192" rtl="0" eaLnBrk="1" latinLnBrk="0" hangingPunct="1">
              <a:defRPr lang="nb-NO" sz="2113" kern="1200" smtClean="0">
                <a:solidFill>
                  <a:schemeClr val="tx2"/>
                </a:solidFill>
                <a:latin typeface="DIN-Regular" panose="02000503030000020003" pitchFamily="2" charset="0"/>
                <a:ea typeface="+mn-ea"/>
                <a:cs typeface="+mn-cs"/>
              </a:defRPr>
            </a:lvl1pPr>
          </a:lstStyle>
          <a:p>
            <a:fld id="{A004968B-293D-5243-9D89-EB4290FE7D91}" type="datetime1">
              <a:rPr lang="nb-NO" smtClean="0"/>
              <a:t>08.09.2026</a:t>
            </a:fld>
            <a:endParaRPr lang="nb-NO"/>
          </a:p>
        </p:txBody>
      </p:sp>
      <p:sp>
        <p:nvSpPr>
          <p:cNvPr id="5" name="Plassholder for bunntekst 4"/>
          <p:cNvSpPr>
            <a:spLocks noGrp="1"/>
          </p:cNvSpPr>
          <p:nvPr>
            <p:ph type="ftr" sz="quarter" idx="3"/>
          </p:nvPr>
        </p:nvSpPr>
        <p:spPr>
          <a:xfrm>
            <a:off x="4165038" y="8870677"/>
            <a:ext cx="9834492" cy="415534"/>
          </a:xfrm>
          <a:prstGeom prst="rect">
            <a:avLst/>
          </a:prstGeom>
        </p:spPr>
        <p:txBody>
          <a:bodyPr vert="horz" lIns="168908" tIns="84454" rIns="168908" bIns="84454" rtlCol="0" anchor="ctr"/>
          <a:lstStyle>
            <a:lvl1pPr marL="0" algn="l" defTabSz="1622192" rtl="0" eaLnBrk="1" latinLnBrk="0" hangingPunct="1">
              <a:defRPr lang="nb-NO" sz="2113" kern="1200" dirty="0" smtClean="0">
                <a:solidFill>
                  <a:schemeClr val="tx2"/>
                </a:solidFill>
                <a:latin typeface="DIN-Regular" panose="02000503030000020003" pitchFamily="2" charset="0"/>
                <a:ea typeface="+mn-ea"/>
                <a:cs typeface="+mn-cs"/>
              </a:defRPr>
            </a:lvl1pPr>
          </a:lstStyle>
          <a:p>
            <a:r>
              <a:rPr lang="nb-NO"/>
              <a:t>Introduction to A.I - Umair M.I</a:t>
            </a:r>
          </a:p>
        </p:txBody>
      </p:sp>
      <p:sp>
        <p:nvSpPr>
          <p:cNvPr id="6" name="Plassholder for lysbildenummer 5"/>
          <p:cNvSpPr>
            <a:spLocks noGrp="1"/>
          </p:cNvSpPr>
          <p:nvPr>
            <p:ph type="sldNum" sz="quarter" idx="4"/>
          </p:nvPr>
        </p:nvSpPr>
        <p:spPr>
          <a:xfrm>
            <a:off x="1159348" y="8869401"/>
            <a:ext cx="769008" cy="409578"/>
          </a:xfrm>
          <a:prstGeom prst="rect">
            <a:avLst/>
          </a:prstGeom>
        </p:spPr>
        <p:txBody>
          <a:bodyPr vert="horz" lIns="168908" tIns="84454" rIns="168908" bIns="84454" rtlCol="0" anchor="ctr"/>
          <a:lstStyle>
            <a:lvl1pPr algn="l">
              <a:defRPr sz="2113">
                <a:solidFill>
                  <a:schemeClr val="tx2"/>
                </a:solidFill>
                <a:latin typeface="DIN-Regular" panose="02000503030000020003" pitchFamily="2" charset="0"/>
              </a:defRPr>
            </a:lvl1pPr>
          </a:lstStyle>
          <a:p>
            <a:fld id="{7B785221-A51B-4371-B866-038075B34EEB}" type="slidenum">
              <a:rPr lang="nb-NO" smtClean="0"/>
              <a:pPr/>
              <a:t>‹#›</a:t>
            </a:fld>
            <a:endParaRPr lang="nb-NO"/>
          </a:p>
        </p:txBody>
      </p:sp>
      <p:pic>
        <p:nvPicPr>
          <p:cNvPr id="13" name="Bilde 12" descr="Logo-hvit.png"/>
          <p:cNvPicPr>
            <a:picLocks noChangeAspect="1"/>
          </p:cNvPicPr>
          <p:nvPr/>
        </p:nvPicPr>
        <p:blipFill>
          <a:blip r:embed="rId17" cstate="print"/>
          <a:stretch>
            <a:fillRect/>
          </a:stretch>
        </p:blipFill>
        <p:spPr>
          <a:xfrm>
            <a:off x="14449797" y="8830689"/>
            <a:ext cx="2221833" cy="425702"/>
          </a:xfrm>
          <a:prstGeom prst="rect">
            <a:avLst/>
          </a:prstGeom>
          <a:noFill/>
          <a:ln>
            <a:noFill/>
          </a:ln>
        </p:spPr>
      </p:pic>
    </p:spTree>
    <p:extLst>
      <p:ext uri="{BB962C8B-B14F-4D97-AF65-F5344CB8AC3E}">
        <p14:creationId xmlns:p14="http://schemas.microsoft.com/office/powerpoint/2010/main" val="252610923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Lst>
  <p:hf sldNum="0" hdr="0" ftr="0" dt="0"/>
  <p:txStyles>
    <p:titleStyle>
      <a:lvl1pPr algn="l" defTabSz="1622192" rtl="0" eaLnBrk="1" latinLnBrk="0" hangingPunct="1">
        <a:spcBef>
          <a:spcPct val="0"/>
        </a:spcBef>
        <a:buNone/>
        <a:defRPr sz="4610" b="0" kern="1200">
          <a:solidFill>
            <a:schemeClr val="tx1"/>
          </a:solidFill>
          <a:latin typeface="DIN-Bold" charset="0"/>
          <a:ea typeface="DIN-Bold" charset="0"/>
          <a:cs typeface="DIN-Bold" charset="0"/>
        </a:defRPr>
      </a:lvl1pPr>
    </p:titleStyle>
    <p:bodyStyle>
      <a:lvl1pPr marL="478772" indent="-478772" algn="l" defTabSz="1622192" rtl="0" eaLnBrk="1" latinLnBrk="0" hangingPunct="1">
        <a:spcBef>
          <a:spcPct val="20000"/>
        </a:spcBef>
        <a:buClr>
          <a:schemeClr val="accent1"/>
        </a:buClr>
        <a:buFont typeface="Wingdings" pitchFamily="2" charset="2"/>
        <a:buChar char="§"/>
        <a:defRPr sz="3265" kern="1200">
          <a:solidFill>
            <a:schemeClr val="tx1"/>
          </a:solidFill>
          <a:latin typeface="DIN-Regular" charset="0"/>
          <a:ea typeface="DIN-Regular" charset="0"/>
          <a:cs typeface="DIN-Regular" charset="0"/>
        </a:defRPr>
      </a:lvl1pPr>
      <a:lvl2pPr marL="957544" indent="-478772" algn="l" defTabSz="1622192" rtl="0" eaLnBrk="1" latinLnBrk="0" hangingPunct="1">
        <a:spcBef>
          <a:spcPct val="20000"/>
        </a:spcBef>
        <a:buClr>
          <a:schemeClr val="accent1"/>
        </a:buClr>
        <a:buFont typeface="Wingdings" pitchFamily="2" charset="2"/>
        <a:buChar char="§"/>
        <a:defRPr sz="3265" kern="1200">
          <a:solidFill>
            <a:schemeClr val="tx1"/>
          </a:solidFill>
          <a:latin typeface="DIN-Regular" charset="0"/>
          <a:ea typeface="DIN-Regular" charset="0"/>
          <a:cs typeface="DIN-Regular" charset="0"/>
        </a:defRPr>
      </a:lvl2pPr>
      <a:lvl3pPr marL="1436316" indent="-478772" algn="l" defTabSz="1622192" rtl="0" eaLnBrk="1" latinLnBrk="0" hangingPunct="1">
        <a:spcBef>
          <a:spcPct val="20000"/>
        </a:spcBef>
        <a:buClr>
          <a:schemeClr val="accent1"/>
        </a:buClr>
        <a:buFont typeface="Wingdings" pitchFamily="2" charset="2"/>
        <a:buChar char="§"/>
        <a:defRPr sz="3265" kern="1200">
          <a:solidFill>
            <a:schemeClr val="tx1"/>
          </a:solidFill>
          <a:latin typeface="DIN-Regular" charset="0"/>
          <a:ea typeface="DIN-Regular" charset="0"/>
          <a:cs typeface="DIN-Regular" charset="0"/>
        </a:defRPr>
      </a:lvl3pPr>
      <a:lvl4pPr marL="1915088" indent="-478772" algn="l" defTabSz="1622192" rtl="0" eaLnBrk="1" latinLnBrk="0" hangingPunct="1">
        <a:spcBef>
          <a:spcPct val="20000"/>
        </a:spcBef>
        <a:buClr>
          <a:schemeClr val="accent1"/>
        </a:buClr>
        <a:buFont typeface="Wingdings" pitchFamily="2" charset="2"/>
        <a:buChar char="§"/>
        <a:defRPr sz="3265" kern="1200">
          <a:solidFill>
            <a:schemeClr val="tx1"/>
          </a:solidFill>
          <a:latin typeface="DIN-Regular" charset="0"/>
          <a:ea typeface="DIN-Regular" charset="0"/>
          <a:cs typeface="DIN-Regular" charset="0"/>
        </a:defRPr>
      </a:lvl4pPr>
      <a:lvl5pPr marL="2379779" indent="-464691" algn="l" defTabSz="1622192" rtl="0" eaLnBrk="1" latinLnBrk="0" hangingPunct="1">
        <a:spcBef>
          <a:spcPct val="20000"/>
        </a:spcBef>
        <a:buClr>
          <a:schemeClr val="accent1"/>
        </a:buClr>
        <a:buFont typeface="Wingdings" pitchFamily="2" charset="2"/>
        <a:buChar char="§"/>
        <a:defRPr sz="3265" kern="1200">
          <a:solidFill>
            <a:schemeClr val="tx1"/>
          </a:solidFill>
          <a:latin typeface="DIN-Regular" charset="0"/>
          <a:ea typeface="DIN-Regular" charset="0"/>
          <a:cs typeface="DIN-Regular" charset="0"/>
        </a:defRPr>
      </a:lvl5pPr>
      <a:lvl6pPr marL="4461028" indent="-405548" algn="l" defTabSz="1622192" rtl="0" eaLnBrk="1" latinLnBrk="0" hangingPunct="1">
        <a:spcBef>
          <a:spcPct val="20000"/>
        </a:spcBef>
        <a:buFont typeface="Arial" pitchFamily="34" charset="0"/>
        <a:buChar char="•"/>
        <a:defRPr sz="3553" kern="1200">
          <a:solidFill>
            <a:schemeClr val="tx1"/>
          </a:solidFill>
          <a:latin typeface="+mn-lt"/>
          <a:ea typeface="+mn-ea"/>
          <a:cs typeface="+mn-cs"/>
        </a:defRPr>
      </a:lvl6pPr>
      <a:lvl7pPr marL="5272124" indent="-405548" algn="l" defTabSz="1622192" rtl="0" eaLnBrk="1" latinLnBrk="0" hangingPunct="1">
        <a:spcBef>
          <a:spcPct val="20000"/>
        </a:spcBef>
        <a:buFont typeface="Arial" pitchFamily="34" charset="0"/>
        <a:buChar char="•"/>
        <a:defRPr sz="3553" kern="1200">
          <a:solidFill>
            <a:schemeClr val="tx1"/>
          </a:solidFill>
          <a:latin typeface="+mn-lt"/>
          <a:ea typeface="+mn-ea"/>
          <a:cs typeface="+mn-cs"/>
        </a:defRPr>
      </a:lvl7pPr>
      <a:lvl8pPr marL="6083221" indent="-405548" algn="l" defTabSz="1622192" rtl="0" eaLnBrk="1" latinLnBrk="0" hangingPunct="1">
        <a:spcBef>
          <a:spcPct val="20000"/>
        </a:spcBef>
        <a:buFont typeface="Arial" pitchFamily="34" charset="0"/>
        <a:buChar char="•"/>
        <a:defRPr sz="3553" kern="1200">
          <a:solidFill>
            <a:schemeClr val="tx1"/>
          </a:solidFill>
          <a:latin typeface="+mn-lt"/>
          <a:ea typeface="+mn-ea"/>
          <a:cs typeface="+mn-cs"/>
        </a:defRPr>
      </a:lvl8pPr>
      <a:lvl9pPr marL="6894317" indent="-405548" algn="l" defTabSz="1622192" rtl="0" eaLnBrk="1" latinLnBrk="0" hangingPunct="1">
        <a:spcBef>
          <a:spcPct val="20000"/>
        </a:spcBef>
        <a:buFont typeface="Arial" pitchFamily="34" charset="0"/>
        <a:buChar char="•"/>
        <a:defRPr sz="3553" kern="1200">
          <a:solidFill>
            <a:schemeClr val="tx1"/>
          </a:solidFill>
          <a:latin typeface="+mn-lt"/>
          <a:ea typeface="+mn-ea"/>
          <a:cs typeface="+mn-cs"/>
        </a:defRPr>
      </a:lvl9pPr>
    </p:bodyStyle>
    <p:otherStyle>
      <a:defPPr>
        <a:defRPr lang="nb-NO"/>
      </a:defPPr>
      <a:lvl1pPr marL="0" algn="l" defTabSz="1622192" rtl="0" eaLnBrk="1" latinLnBrk="0" hangingPunct="1">
        <a:defRPr sz="3169" kern="1200">
          <a:solidFill>
            <a:schemeClr val="tx1"/>
          </a:solidFill>
          <a:latin typeface="+mn-lt"/>
          <a:ea typeface="+mn-ea"/>
          <a:cs typeface="+mn-cs"/>
        </a:defRPr>
      </a:lvl1pPr>
      <a:lvl2pPr marL="811096" algn="l" defTabSz="1622192" rtl="0" eaLnBrk="1" latinLnBrk="0" hangingPunct="1">
        <a:defRPr sz="3169" kern="1200">
          <a:solidFill>
            <a:schemeClr val="tx1"/>
          </a:solidFill>
          <a:latin typeface="+mn-lt"/>
          <a:ea typeface="+mn-ea"/>
          <a:cs typeface="+mn-cs"/>
        </a:defRPr>
      </a:lvl2pPr>
      <a:lvl3pPr marL="1622192" algn="l" defTabSz="1622192" rtl="0" eaLnBrk="1" latinLnBrk="0" hangingPunct="1">
        <a:defRPr sz="3169" kern="1200">
          <a:solidFill>
            <a:schemeClr val="tx1"/>
          </a:solidFill>
          <a:latin typeface="+mn-lt"/>
          <a:ea typeface="+mn-ea"/>
          <a:cs typeface="+mn-cs"/>
        </a:defRPr>
      </a:lvl3pPr>
      <a:lvl4pPr marL="2433289" algn="l" defTabSz="1622192" rtl="0" eaLnBrk="1" latinLnBrk="0" hangingPunct="1">
        <a:defRPr sz="3169" kern="1200">
          <a:solidFill>
            <a:schemeClr val="tx1"/>
          </a:solidFill>
          <a:latin typeface="+mn-lt"/>
          <a:ea typeface="+mn-ea"/>
          <a:cs typeface="+mn-cs"/>
        </a:defRPr>
      </a:lvl4pPr>
      <a:lvl5pPr marL="3244384" algn="l" defTabSz="1622192" rtl="0" eaLnBrk="1" latinLnBrk="0" hangingPunct="1">
        <a:defRPr sz="3169" kern="1200">
          <a:solidFill>
            <a:schemeClr val="tx1"/>
          </a:solidFill>
          <a:latin typeface="+mn-lt"/>
          <a:ea typeface="+mn-ea"/>
          <a:cs typeface="+mn-cs"/>
        </a:defRPr>
      </a:lvl5pPr>
      <a:lvl6pPr marL="4055480" algn="l" defTabSz="1622192" rtl="0" eaLnBrk="1" latinLnBrk="0" hangingPunct="1">
        <a:defRPr sz="3169" kern="1200">
          <a:solidFill>
            <a:schemeClr val="tx1"/>
          </a:solidFill>
          <a:latin typeface="+mn-lt"/>
          <a:ea typeface="+mn-ea"/>
          <a:cs typeface="+mn-cs"/>
        </a:defRPr>
      </a:lvl6pPr>
      <a:lvl7pPr marL="4866576" algn="l" defTabSz="1622192" rtl="0" eaLnBrk="1" latinLnBrk="0" hangingPunct="1">
        <a:defRPr sz="3169" kern="1200">
          <a:solidFill>
            <a:schemeClr val="tx1"/>
          </a:solidFill>
          <a:latin typeface="+mn-lt"/>
          <a:ea typeface="+mn-ea"/>
          <a:cs typeface="+mn-cs"/>
        </a:defRPr>
      </a:lvl7pPr>
      <a:lvl8pPr marL="5677673" algn="l" defTabSz="1622192" rtl="0" eaLnBrk="1" latinLnBrk="0" hangingPunct="1">
        <a:defRPr sz="3169" kern="1200">
          <a:solidFill>
            <a:schemeClr val="tx1"/>
          </a:solidFill>
          <a:latin typeface="+mn-lt"/>
          <a:ea typeface="+mn-ea"/>
          <a:cs typeface="+mn-cs"/>
        </a:defRPr>
      </a:lvl8pPr>
      <a:lvl9pPr marL="6488769" algn="l" defTabSz="1622192" rtl="0" eaLnBrk="1" latinLnBrk="0" hangingPunct="1">
        <a:defRPr sz="31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5.png"/><Relationship Id="rId4" Type="http://schemas.openxmlformats.org/officeDocument/2006/relationships/image" Target="../media/image2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7" Type="http://schemas.microsoft.com/office/2007/relationships/hdphoto" Target="../media/hdphoto1.wdp"/><Relationship Id="rId2" Type="http://schemas.openxmlformats.org/officeDocument/2006/relationships/notesSlide" Target="../notesSlides/notesSlide27.xml"/><Relationship Id="rId1" Type="http://schemas.openxmlformats.org/officeDocument/2006/relationships/slideLayout" Target="../slideLayouts/slideLayout4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6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30.xml"/><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6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9.xml"/><Relationship Id="rId1" Type="http://schemas.openxmlformats.org/officeDocument/2006/relationships/video" Target="https://www.youtube.com/embed/tlOIHko8ySg?feature=oembed" TargetMode="External"/><Relationship Id="rId4" Type="http://schemas.openxmlformats.org/officeDocument/2006/relationships/image" Target="../media/image54.jpeg"/></Relationships>
</file>

<file path=ppt/slides/_rels/slide37.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37.xml"/><Relationship Id="rId1" Type="http://schemas.openxmlformats.org/officeDocument/2006/relationships/slideLayout" Target="../slideLayouts/slideLayout9.xml"/><Relationship Id="rId5" Type="http://schemas.openxmlformats.org/officeDocument/2006/relationships/image" Target="../media/image57.gif"/><Relationship Id="rId4" Type="http://schemas.openxmlformats.org/officeDocument/2006/relationships/image" Target="../media/image56.gif"/></Relationships>
</file>

<file path=ppt/slides/_rels/slide38.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notesSlide" Target="../notesSlides/notesSlide38.xml"/><Relationship Id="rId1" Type="http://schemas.openxmlformats.org/officeDocument/2006/relationships/slideLayout" Target="../slideLayouts/slideLayout9.xml"/><Relationship Id="rId5" Type="http://schemas.openxmlformats.org/officeDocument/2006/relationships/image" Target="../media/image60.gif"/><Relationship Id="rId4" Type="http://schemas.openxmlformats.org/officeDocument/2006/relationships/image" Target="../media/image59.gif"/></Relationships>
</file>

<file path=ppt/slides/_rels/slide39.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9.xml"/><Relationship Id="rId5" Type="http://schemas.openxmlformats.org/officeDocument/2006/relationships/image" Target="../media/image66.png"/><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09E4D74-1AFA-4CD6-BD48-AAC63B4CC065}"/>
              </a:ext>
            </a:extLst>
          </p:cNvPr>
          <p:cNvSpPr>
            <a:spLocks noGrp="1"/>
          </p:cNvSpPr>
          <p:nvPr>
            <p:ph type="ctrTitle"/>
          </p:nvPr>
        </p:nvSpPr>
        <p:spPr>
          <a:xfrm>
            <a:off x="972122" y="2963894"/>
            <a:ext cx="10226146" cy="2160591"/>
          </a:xfrm>
        </p:spPr>
        <p:txBody>
          <a:bodyPr>
            <a:normAutofit/>
          </a:bodyPr>
          <a:lstStyle/>
          <a:p>
            <a:r>
              <a:rPr lang="nb-NO" dirty="0">
                <a:cs typeface="Arial"/>
              </a:rPr>
              <a:t>Machine Learning</a:t>
            </a:r>
            <a:endParaRPr lang="nb-NO" sz="6000" dirty="0"/>
          </a:p>
        </p:txBody>
      </p:sp>
      <p:sp>
        <p:nvSpPr>
          <p:cNvPr id="3" name="Undertittel 2">
            <a:extLst>
              <a:ext uri="{FF2B5EF4-FFF2-40B4-BE49-F238E27FC236}">
                <a16:creationId xmlns:a16="http://schemas.microsoft.com/office/drawing/2014/main" id="{5C953150-4B89-4E34-A21B-BFA12A42F477}"/>
              </a:ext>
            </a:extLst>
          </p:cNvPr>
          <p:cNvSpPr>
            <a:spLocks noGrp="1"/>
          </p:cNvSpPr>
          <p:nvPr>
            <p:ph type="subTitle" idx="1"/>
          </p:nvPr>
        </p:nvSpPr>
        <p:spPr/>
        <p:txBody>
          <a:bodyPr/>
          <a:lstStyle/>
          <a:p>
            <a:r>
              <a:rPr lang="nb-NO" dirty="0"/>
              <a:t>DAVE3625</a:t>
            </a:r>
          </a:p>
        </p:txBody>
      </p:sp>
      <p:sp>
        <p:nvSpPr>
          <p:cNvPr id="4" name="Plassholder for tekst 3">
            <a:extLst>
              <a:ext uri="{FF2B5EF4-FFF2-40B4-BE49-F238E27FC236}">
                <a16:creationId xmlns:a16="http://schemas.microsoft.com/office/drawing/2014/main" id="{399A13B8-1B5C-4DBD-AB3C-0BF51F898BC5}"/>
              </a:ext>
            </a:extLst>
          </p:cNvPr>
          <p:cNvSpPr>
            <a:spLocks noGrp="1"/>
          </p:cNvSpPr>
          <p:nvPr>
            <p:ph type="body" sz="quarter" idx="13"/>
          </p:nvPr>
        </p:nvSpPr>
        <p:spPr/>
        <p:txBody>
          <a:bodyPr/>
          <a:lstStyle/>
          <a:p>
            <a:r>
              <a:rPr lang="nb-NO" dirty="0"/>
              <a:t>Umair </a:t>
            </a:r>
            <a:r>
              <a:rPr lang="nb-NO" dirty="0" err="1"/>
              <a:t>Mehmood</a:t>
            </a:r>
            <a:r>
              <a:rPr lang="nb-NO" dirty="0"/>
              <a:t> Imam</a:t>
            </a:r>
          </a:p>
        </p:txBody>
      </p:sp>
      <p:sp>
        <p:nvSpPr>
          <p:cNvPr id="5" name="Plassholder for tekst 4">
            <a:extLst>
              <a:ext uri="{FF2B5EF4-FFF2-40B4-BE49-F238E27FC236}">
                <a16:creationId xmlns:a16="http://schemas.microsoft.com/office/drawing/2014/main" id="{4DB632CC-AA88-49B5-94A8-A9AB855A8EDA}"/>
              </a:ext>
            </a:extLst>
          </p:cNvPr>
          <p:cNvSpPr>
            <a:spLocks noGrp="1"/>
          </p:cNvSpPr>
          <p:nvPr>
            <p:ph type="body" sz="quarter" idx="14"/>
          </p:nvPr>
        </p:nvSpPr>
        <p:spPr/>
        <p:txBody>
          <a:bodyPr/>
          <a:lstStyle/>
          <a:p>
            <a:endParaRPr lang="nb-NO"/>
          </a:p>
        </p:txBody>
      </p:sp>
      <p:sp>
        <p:nvSpPr>
          <p:cNvPr id="7" name="Plassholder for bunntekst 6">
            <a:extLst>
              <a:ext uri="{FF2B5EF4-FFF2-40B4-BE49-F238E27FC236}">
                <a16:creationId xmlns:a16="http://schemas.microsoft.com/office/drawing/2014/main" id="{7036724C-FF80-4743-B52C-D9C23B49A945}"/>
              </a:ext>
            </a:extLst>
          </p:cNvPr>
          <p:cNvSpPr>
            <a:spLocks noGrp="1"/>
          </p:cNvSpPr>
          <p:nvPr>
            <p:ph type="ftr" sz="quarter" idx="18"/>
          </p:nvPr>
        </p:nvSpPr>
        <p:spPr/>
        <p:txBody>
          <a:bodyPr/>
          <a:lstStyle/>
          <a:p>
            <a:r>
              <a:rPr lang="nb-NO"/>
              <a:t>DAVE3625- Intro to A.I. by Umair M.I</a:t>
            </a:r>
          </a:p>
        </p:txBody>
      </p:sp>
      <p:pic>
        <p:nvPicPr>
          <p:cNvPr id="12" name="Bilde 12" descr="Et bilde som inneholder bygning, utendørs, klokke&#10;&#10;Beskrivelse som er generert med høy visshet">
            <a:extLst>
              <a:ext uri="{FF2B5EF4-FFF2-40B4-BE49-F238E27FC236}">
                <a16:creationId xmlns:a16="http://schemas.microsoft.com/office/drawing/2014/main" id="{1142DCAA-C025-4317-BD68-C492DF7AFB7B}"/>
              </a:ext>
            </a:extLst>
          </p:cNvPr>
          <p:cNvPicPr>
            <a:picLocks noGrp="1" noChangeAspect="1"/>
          </p:cNvPicPr>
          <p:nvPr>
            <p:ph type="pic" sz="quarter" idx="16"/>
          </p:nvPr>
        </p:nvPicPr>
        <p:blipFill rotWithShape="1">
          <a:blip r:embed="rId3"/>
          <a:srcRect l="12794" r="12794"/>
          <a:stretch/>
        </p:blipFill>
        <p:spPr>
          <a:prstGeom prst="rect">
            <a:avLst/>
          </a:prstGeom>
        </p:spPr>
      </p:pic>
    </p:spTree>
    <p:extLst>
      <p:ext uri="{BB962C8B-B14F-4D97-AF65-F5344CB8AC3E}">
        <p14:creationId xmlns:p14="http://schemas.microsoft.com/office/powerpoint/2010/main" val="2798264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B3599-7420-D64E-A8F2-9663B37DD70C}"/>
              </a:ext>
            </a:extLst>
          </p:cNvPr>
          <p:cNvSpPr>
            <a:spLocks noGrp="1"/>
          </p:cNvSpPr>
          <p:nvPr>
            <p:ph type="title"/>
          </p:nvPr>
        </p:nvSpPr>
        <p:spPr>
          <a:xfrm>
            <a:off x="2482870" y="783703"/>
            <a:ext cx="15373922" cy="664797"/>
          </a:xfrm>
        </p:spPr>
        <p:txBody>
          <a:bodyPr/>
          <a:lstStyle/>
          <a:p>
            <a:r>
              <a:rPr lang="en-NO" dirty="0"/>
              <a:t>Resources for Machine learning</a:t>
            </a:r>
          </a:p>
        </p:txBody>
      </p:sp>
      <p:pic>
        <p:nvPicPr>
          <p:cNvPr id="6" name="Content Placeholder 5">
            <a:extLst>
              <a:ext uri="{FF2B5EF4-FFF2-40B4-BE49-F238E27FC236}">
                <a16:creationId xmlns:a16="http://schemas.microsoft.com/office/drawing/2014/main" id="{A2A81651-F2DC-A14C-AE33-574DC7710BE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81875" y="3174448"/>
            <a:ext cx="3811505" cy="4679950"/>
          </a:xfrm>
        </p:spPr>
      </p:pic>
      <p:sp>
        <p:nvSpPr>
          <p:cNvPr id="4" name="Footer Placeholder 3">
            <a:extLst>
              <a:ext uri="{FF2B5EF4-FFF2-40B4-BE49-F238E27FC236}">
                <a16:creationId xmlns:a16="http://schemas.microsoft.com/office/drawing/2014/main" id="{1173BF62-C1B5-8A4A-92F0-1D08C9743D12}"/>
              </a:ext>
            </a:extLst>
          </p:cNvPr>
          <p:cNvSpPr>
            <a:spLocks noGrp="1"/>
          </p:cNvSpPr>
          <p:nvPr>
            <p:ph type="ftr" sz="quarter" idx="11"/>
          </p:nvPr>
        </p:nvSpPr>
        <p:spPr/>
        <p:txBody>
          <a:bodyPr/>
          <a:lstStyle/>
          <a:p>
            <a:r>
              <a:rPr lang="nb-NO"/>
              <a:t>DAVE3625- Intro to A.I. by Umair M.I</a:t>
            </a:r>
          </a:p>
        </p:txBody>
      </p:sp>
      <p:sp>
        <p:nvSpPr>
          <p:cNvPr id="7" name="Rectangle 6">
            <a:extLst>
              <a:ext uri="{FF2B5EF4-FFF2-40B4-BE49-F238E27FC236}">
                <a16:creationId xmlns:a16="http://schemas.microsoft.com/office/drawing/2014/main" id="{6524744F-4E7A-D347-9244-90875C70FFA4}"/>
              </a:ext>
            </a:extLst>
          </p:cNvPr>
          <p:cNvSpPr/>
          <p:nvPr/>
        </p:nvSpPr>
        <p:spPr>
          <a:xfrm>
            <a:off x="9194220" y="4634182"/>
            <a:ext cx="7175362" cy="880241"/>
          </a:xfrm>
          <a:prstGeom prst="rect">
            <a:avLst/>
          </a:prstGeom>
        </p:spPr>
        <p:txBody>
          <a:bodyPr wrap="none">
            <a:spAutoFit/>
          </a:bodyPr>
          <a:lstStyle/>
          <a:p>
            <a:r>
              <a:rPr lang="en-GB" b="1" dirty="0"/>
              <a:t>Course slide from</a:t>
            </a:r>
          </a:p>
          <a:p>
            <a:r>
              <a:rPr lang="en-GB" b="1" dirty="0"/>
              <a:t>DIKU 004 - Supervised Machine </a:t>
            </a:r>
            <a:r>
              <a:rPr lang="en-GB" b="1" dirty="0" err="1"/>
              <a:t>Learning.pdf</a:t>
            </a:r>
            <a:endParaRPr lang="en-GB" b="1" dirty="0"/>
          </a:p>
        </p:txBody>
      </p:sp>
      <p:sp>
        <p:nvSpPr>
          <p:cNvPr id="8" name="Plus 7">
            <a:extLst>
              <a:ext uri="{FF2B5EF4-FFF2-40B4-BE49-F238E27FC236}">
                <a16:creationId xmlns:a16="http://schemas.microsoft.com/office/drawing/2014/main" id="{DEFAA8D2-BE4E-CE45-88DB-98B43D3EAD64}"/>
              </a:ext>
            </a:extLst>
          </p:cNvPr>
          <p:cNvSpPr/>
          <p:nvPr/>
        </p:nvSpPr>
        <p:spPr>
          <a:xfrm>
            <a:off x="6972300" y="4419600"/>
            <a:ext cx="1143000" cy="1094823"/>
          </a:xfrm>
          <a:prstGeom prst="mathPlus">
            <a:avLst>
              <a:gd name="adj1" fmla="val 1656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Tree>
    <p:extLst>
      <p:ext uri="{BB962C8B-B14F-4D97-AF65-F5344CB8AC3E}">
        <p14:creationId xmlns:p14="http://schemas.microsoft.com/office/powerpoint/2010/main" val="523995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77799-EBC7-814A-8183-E2E9E8244734}"/>
              </a:ext>
            </a:extLst>
          </p:cNvPr>
          <p:cNvSpPr>
            <a:spLocks noGrp="1"/>
          </p:cNvSpPr>
          <p:nvPr>
            <p:ph type="title"/>
          </p:nvPr>
        </p:nvSpPr>
        <p:spPr>
          <a:xfrm>
            <a:off x="4027479" y="4211209"/>
            <a:ext cx="9290065" cy="664797"/>
          </a:xfrm>
        </p:spPr>
        <p:txBody>
          <a:bodyPr>
            <a:normAutofit fontScale="90000"/>
          </a:bodyPr>
          <a:lstStyle/>
          <a:p>
            <a:r>
              <a:rPr lang="en-NO" dirty="0"/>
              <a:t>Some core and important concepts </a:t>
            </a:r>
          </a:p>
        </p:txBody>
      </p:sp>
      <p:sp>
        <p:nvSpPr>
          <p:cNvPr id="4" name="Footer Placeholder 3">
            <a:extLst>
              <a:ext uri="{FF2B5EF4-FFF2-40B4-BE49-F238E27FC236}">
                <a16:creationId xmlns:a16="http://schemas.microsoft.com/office/drawing/2014/main" id="{02149673-D70C-FA49-B64D-4792A18D9946}"/>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3060559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5F3BA-83D3-DC48-A42A-950CD4D90BB6}"/>
              </a:ext>
            </a:extLst>
          </p:cNvPr>
          <p:cNvSpPr>
            <a:spLocks noGrp="1"/>
          </p:cNvSpPr>
          <p:nvPr>
            <p:ph idx="1"/>
          </p:nvPr>
        </p:nvSpPr>
        <p:spPr>
          <a:xfrm>
            <a:off x="5376333" y="4876006"/>
            <a:ext cx="7356332" cy="1005423"/>
          </a:xfrm>
        </p:spPr>
        <p:txBody>
          <a:bodyPr/>
          <a:lstStyle/>
          <a:p>
            <a:pPr marL="0" indent="0">
              <a:buNone/>
            </a:pPr>
            <a:r>
              <a:rPr lang="en-GB" dirty="0"/>
              <a:t>How likely something is to happen</a:t>
            </a:r>
            <a:endParaRPr lang="en-NO" dirty="0"/>
          </a:p>
        </p:txBody>
      </p:sp>
      <p:sp>
        <p:nvSpPr>
          <p:cNvPr id="4" name="Footer Placeholder 3">
            <a:extLst>
              <a:ext uri="{FF2B5EF4-FFF2-40B4-BE49-F238E27FC236}">
                <a16:creationId xmlns:a16="http://schemas.microsoft.com/office/drawing/2014/main" id="{1AFC0258-B2AD-8749-A89F-6FBCFBB60803}"/>
              </a:ext>
            </a:extLst>
          </p:cNvPr>
          <p:cNvSpPr>
            <a:spLocks noGrp="1"/>
          </p:cNvSpPr>
          <p:nvPr>
            <p:ph type="ftr" sz="quarter" idx="11"/>
          </p:nvPr>
        </p:nvSpPr>
        <p:spPr/>
        <p:txBody>
          <a:bodyPr/>
          <a:lstStyle/>
          <a:p>
            <a:r>
              <a:rPr lang="nb-NO"/>
              <a:t>DAVE3625- Intro to A.I. by Umair M.I</a:t>
            </a:r>
          </a:p>
        </p:txBody>
      </p:sp>
      <p:sp>
        <p:nvSpPr>
          <p:cNvPr id="6" name="Rectangle 5">
            <a:extLst>
              <a:ext uri="{FF2B5EF4-FFF2-40B4-BE49-F238E27FC236}">
                <a16:creationId xmlns:a16="http://schemas.microsoft.com/office/drawing/2014/main" id="{A061EF4D-5482-6440-A51A-8DB57879D560}"/>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9" name="Title 1">
            <a:extLst>
              <a:ext uri="{FF2B5EF4-FFF2-40B4-BE49-F238E27FC236}">
                <a16:creationId xmlns:a16="http://schemas.microsoft.com/office/drawing/2014/main" id="{66916736-7E73-8C46-8886-CDD1FAF77617}"/>
              </a:ext>
            </a:extLst>
          </p:cNvPr>
          <p:cNvSpPr>
            <a:spLocks noGrp="1"/>
          </p:cNvSpPr>
          <p:nvPr>
            <p:ph type="title"/>
          </p:nvPr>
        </p:nvSpPr>
        <p:spPr>
          <a:xfrm>
            <a:off x="507492" y="587818"/>
            <a:ext cx="15373922" cy="664797"/>
          </a:xfrm>
        </p:spPr>
        <p:txBody>
          <a:bodyPr/>
          <a:lstStyle/>
          <a:p>
            <a:r>
              <a:rPr lang="en-NO" dirty="0"/>
              <a:t>Probability</a:t>
            </a:r>
          </a:p>
        </p:txBody>
      </p:sp>
    </p:spTree>
    <p:extLst>
      <p:ext uri="{BB962C8B-B14F-4D97-AF65-F5344CB8AC3E}">
        <p14:creationId xmlns:p14="http://schemas.microsoft.com/office/powerpoint/2010/main" val="1196903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1B3E2D-C839-AB48-8DC5-DF0ECCF8B6D4}"/>
              </a:ext>
            </a:extLst>
          </p:cNvPr>
          <p:cNvSpPr>
            <a:spLocks noGrp="1"/>
          </p:cNvSpPr>
          <p:nvPr>
            <p:ph type="ftr" sz="quarter" idx="11"/>
          </p:nvPr>
        </p:nvSpPr>
        <p:spPr/>
        <p:txBody>
          <a:bodyPr/>
          <a:lstStyle/>
          <a:p>
            <a:r>
              <a:rPr lang="nb-NO"/>
              <a:t>DAVE3625- Intro to A.I. by Umair M.I</a:t>
            </a:r>
          </a:p>
        </p:txBody>
      </p:sp>
      <p:pic>
        <p:nvPicPr>
          <p:cNvPr id="1026" name="Picture 2">
            <a:extLst>
              <a:ext uri="{FF2B5EF4-FFF2-40B4-BE49-F238E27FC236}">
                <a16:creationId xmlns:a16="http://schemas.microsoft.com/office/drawing/2014/main" id="{A741607C-0A38-DA40-9169-A28E24690C3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660342" y="2536031"/>
            <a:ext cx="3119966" cy="46799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289DAE2-12EA-5F48-920F-0F1F20FF3266}"/>
              </a:ext>
            </a:extLst>
          </p:cNvPr>
          <p:cNvSpPr/>
          <p:nvPr/>
        </p:nvSpPr>
        <p:spPr>
          <a:xfrm>
            <a:off x="13135086" y="7628499"/>
            <a:ext cx="2170477" cy="1077218"/>
          </a:xfrm>
          <a:prstGeom prst="rect">
            <a:avLst/>
          </a:prstGeom>
        </p:spPr>
        <p:txBody>
          <a:bodyPr wrap="square">
            <a:spAutoFit/>
          </a:bodyPr>
          <a:lstStyle/>
          <a:p>
            <a:r>
              <a:rPr lang="en-GB" sz="1600" dirty="0"/>
              <a:t>R</a:t>
            </a:r>
            <a:r>
              <a:rPr lang="en-NO" sz="1600" dirty="0"/>
              <a:t>ef image : https://www.bellevuerarecoins.com/history-coin-flip/</a:t>
            </a:r>
          </a:p>
        </p:txBody>
      </p:sp>
      <p:sp>
        <p:nvSpPr>
          <p:cNvPr id="7" name="Rectangle 6">
            <a:extLst>
              <a:ext uri="{FF2B5EF4-FFF2-40B4-BE49-F238E27FC236}">
                <a16:creationId xmlns:a16="http://schemas.microsoft.com/office/drawing/2014/main" id="{07331568-B3EA-B84C-AA91-51B9EBD65E21}"/>
              </a:ext>
            </a:extLst>
          </p:cNvPr>
          <p:cNvSpPr/>
          <p:nvPr/>
        </p:nvSpPr>
        <p:spPr>
          <a:xfrm>
            <a:off x="1449471" y="4743095"/>
            <a:ext cx="10293350" cy="486287"/>
          </a:xfrm>
          <a:prstGeom prst="rect">
            <a:avLst/>
          </a:prstGeom>
        </p:spPr>
        <p:txBody>
          <a:bodyPr wrap="square">
            <a:spAutoFit/>
          </a:bodyPr>
          <a:lstStyle/>
          <a:p>
            <a:r>
              <a:rPr lang="en-GB" dirty="0"/>
              <a:t>P(H) = (number of ways it can happen) / (Total number of outcomes)</a:t>
            </a:r>
            <a:endParaRPr lang="en-NO" dirty="0"/>
          </a:p>
        </p:txBody>
      </p:sp>
      <p:sp>
        <p:nvSpPr>
          <p:cNvPr id="8" name="TextBox 7">
            <a:extLst>
              <a:ext uri="{FF2B5EF4-FFF2-40B4-BE49-F238E27FC236}">
                <a16:creationId xmlns:a16="http://schemas.microsoft.com/office/drawing/2014/main" id="{61489435-3DD3-0A46-B935-C251A75841AD}"/>
              </a:ext>
            </a:extLst>
          </p:cNvPr>
          <p:cNvSpPr txBox="1"/>
          <p:nvPr/>
        </p:nvSpPr>
        <p:spPr>
          <a:xfrm>
            <a:off x="1449471" y="5748813"/>
            <a:ext cx="3545305" cy="486287"/>
          </a:xfrm>
          <a:prstGeom prst="rect">
            <a:avLst/>
          </a:prstGeom>
          <a:noFill/>
        </p:spPr>
        <p:txBody>
          <a:bodyPr wrap="square" rtlCol="0">
            <a:spAutoFit/>
          </a:bodyPr>
          <a:lstStyle/>
          <a:p>
            <a:r>
              <a:rPr lang="en-NO" dirty="0"/>
              <a:t>P(H) = ½ = 0.5 or 50%</a:t>
            </a:r>
          </a:p>
        </p:txBody>
      </p:sp>
      <p:sp>
        <p:nvSpPr>
          <p:cNvPr id="10" name="Title 1">
            <a:extLst>
              <a:ext uri="{FF2B5EF4-FFF2-40B4-BE49-F238E27FC236}">
                <a16:creationId xmlns:a16="http://schemas.microsoft.com/office/drawing/2014/main" id="{2BB8EAD1-2395-BF46-8D26-3DE53EFD7A10}"/>
              </a:ext>
            </a:extLst>
          </p:cNvPr>
          <p:cNvSpPr>
            <a:spLocks noGrp="1"/>
          </p:cNvSpPr>
          <p:nvPr>
            <p:ph type="title"/>
          </p:nvPr>
        </p:nvSpPr>
        <p:spPr>
          <a:xfrm>
            <a:off x="972122" y="1844707"/>
            <a:ext cx="15373922" cy="664797"/>
          </a:xfrm>
        </p:spPr>
        <p:txBody>
          <a:bodyPr>
            <a:normAutofit/>
          </a:bodyPr>
          <a:lstStyle/>
          <a:p>
            <a:r>
              <a:rPr lang="en-GB" dirty="0"/>
              <a:t>Example 1: </a:t>
            </a:r>
            <a:r>
              <a:rPr lang="en-NO" dirty="0"/>
              <a:t>Coin Flipping</a:t>
            </a:r>
          </a:p>
        </p:txBody>
      </p:sp>
    </p:spTree>
    <p:extLst>
      <p:ext uri="{BB962C8B-B14F-4D97-AF65-F5344CB8AC3E}">
        <p14:creationId xmlns:p14="http://schemas.microsoft.com/office/powerpoint/2010/main" val="3144073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5D51-BDBE-5C48-AFB7-4CD348305A6F}"/>
              </a:ext>
            </a:extLst>
          </p:cNvPr>
          <p:cNvSpPr>
            <a:spLocks noGrp="1"/>
          </p:cNvSpPr>
          <p:nvPr>
            <p:ph type="title"/>
          </p:nvPr>
        </p:nvSpPr>
        <p:spPr>
          <a:xfrm>
            <a:off x="972122" y="1844707"/>
            <a:ext cx="15373922" cy="664797"/>
          </a:xfrm>
        </p:spPr>
        <p:txBody>
          <a:bodyPr/>
          <a:lstStyle/>
          <a:p>
            <a:r>
              <a:rPr lang="en-GB" dirty="0"/>
              <a:t>A</a:t>
            </a:r>
            <a:r>
              <a:rPr lang="en-NO" dirty="0"/>
              <a:t>nother example</a:t>
            </a:r>
          </a:p>
        </p:txBody>
      </p:sp>
      <p:sp>
        <p:nvSpPr>
          <p:cNvPr id="4" name="Footer Placeholder 3">
            <a:extLst>
              <a:ext uri="{FF2B5EF4-FFF2-40B4-BE49-F238E27FC236}">
                <a16:creationId xmlns:a16="http://schemas.microsoft.com/office/drawing/2014/main" id="{2471F98D-8E8C-7F46-BFCD-E5A6C902EBCF}"/>
              </a:ext>
            </a:extLst>
          </p:cNvPr>
          <p:cNvSpPr>
            <a:spLocks noGrp="1"/>
          </p:cNvSpPr>
          <p:nvPr>
            <p:ph type="ftr" sz="quarter" idx="11"/>
          </p:nvPr>
        </p:nvSpPr>
        <p:spPr/>
        <p:txBody>
          <a:bodyPr/>
          <a:lstStyle/>
          <a:p>
            <a:r>
              <a:rPr lang="nb-NO"/>
              <a:t>DAVE3625- Intro to A.I. by Umair M.I</a:t>
            </a:r>
          </a:p>
        </p:txBody>
      </p:sp>
      <p:pic>
        <p:nvPicPr>
          <p:cNvPr id="2050" name="Picture 2" descr="Different outcomes rolling a die">
            <a:extLst>
              <a:ext uri="{FF2B5EF4-FFF2-40B4-BE49-F238E27FC236}">
                <a16:creationId xmlns:a16="http://schemas.microsoft.com/office/drawing/2014/main" id="{CB892F8C-A792-EC42-AAD4-1E522DCFD29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35710" y="3031456"/>
            <a:ext cx="2079499" cy="22081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D1CFC7-CE24-C647-87AA-9A47D61CECAF}"/>
              </a:ext>
            </a:extLst>
          </p:cNvPr>
          <p:cNvSpPr txBox="1"/>
          <p:nvPr/>
        </p:nvSpPr>
        <p:spPr>
          <a:xfrm>
            <a:off x="12769515" y="8336385"/>
            <a:ext cx="3288632" cy="369332"/>
          </a:xfrm>
          <a:prstGeom prst="rect">
            <a:avLst/>
          </a:prstGeom>
          <a:noFill/>
        </p:spPr>
        <p:txBody>
          <a:bodyPr wrap="square" rtlCol="0">
            <a:spAutoFit/>
          </a:bodyPr>
          <a:lstStyle/>
          <a:p>
            <a:r>
              <a:rPr lang="en-GB" sz="1800" dirty="0"/>
              <a:t>R</a:t>
            </a:r>
            <a:r>
              <a:rPr lang="en-NO" sz="1800" dirty="0"/>
              <a:t>ef: Khan Academy</a:t>
            </a:r>
          </a:p>
        </p:txBody>
      </p:sp>
      <p:sp>
        <p:nvSpPr>
          <p:cNvPr id="6" name="Rectangle 5">
            <a:extLst>
              <a:ext uri="{FF2B5EF4-FFF2-40B4-BE49-F238E27FC236}">
                <a16:creationId xmlns:a16="http://schemas.microsoft.com/office/drawing/2014/main" id="{513B4022-745C-594C-B7F2-2B8B4A664FF0}"/>
              </a:ext>
            </a:extLst>
          </p:cNvPr>
          <p:cNvSpPr/>
          <p:nvPr/>
        </p:nvSpPr>
        <p:spPr>
          <a:xfrm>
            <a:off x="4079835" y="3649233"/>
            <a:ext cx="5752344" cy="486287"/>
          </a:xfrm>
          <a:prstGeom prst="rect">
            <a:avLst/>
          </a:prstGeom>
        </p:spPr>
        <p:txBody>
          <a:bodyPr wrap="none">
            <a:spAutoFit/>
          </a:bodyPr>
          <a:lstStyle/>
          <a:p>
            <a:r>
              <a:rPr lang="en-GB" dirty="0"/>
              <a:t>What’s the probability of rolling a one?</a:t>
            </a:r>
            <a:endParaRPr lang="en-NO" dirty="0"/>
          </a:p>
        </p:txBody>
      </p:sp>
      <p:pic>
        <p:nvPicPr>
          <p:cNvPr id="2052" name="Picture 4" descr="Probability formula for rolling a '1' on a die">
            <a:extLst>
              <a:ext uri="{FF2B5EF4-FFF2-40B4-BE49-F238E27FC236}">
                <a16:creationId xmlns:a16="http://schemas.microsoft.com/office/drawing/2014/main" id="{6323ECA0-5E1A-1341-A237-46D6BBB112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86815" y="3390726"/>
            <a:ext cx="2565400" cy="10033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2FD2C29-3A27-5E4F-B217-4D3974177F63}"/>
              </a:ext>
            </a:extLst>
          </p:cNvPr>
          <p:cNvSpPr/>
          <p:nvPr/>
        </p:nvSpPr>
        <p:spPr>
          <a:xfrm>
            <a:off x="4153779" y="7054021"/>
            <a:ext cx="6901698" cy="486287"/>
          </a:xfrm>
          <a:prstGeom prst="rect">
            <a:avLst/>
          </a:prstGeom>
        </p:spPr>
        <p:txBody>
          <a:bodyPr wrap="none">
            <a:spAutoFit/>
          </a:bodyPr>
          <a:lstStyle/>
          <a:p>
            <a:r>
              <a:rPr lang="en-GB" dirty="0"/>
              <a:t>What’s the probability of rolling a one or a six?</a:t>
            </a:r>
            <a:endParaRPr lang="en-NO" dirty="0"/>
          </a:p>
        </p:txBody>
      </p:sp>
      <p:pic>
        <p:nvPicPr>
          <p:cNvPr id="2054" name="Picture 6" descr="Probability of a 1 or a 6 outcome when rolling a die">
            <a:extLst>
              <a:ext uri="{FF2B5EF4-FFF2-40B4-BE49-F238E27FC236}">
                <a16:creationId xmlns:a16="http://schemas.microsoft.com/office/drawing/2014/main" id="{AFD3F62E-1E51-5245-B014-F13E03C476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710" y="5761536"/>
            <a:ext cx="2079499" cy="218739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obability formula applied">
            <a:extLst>
              <a:ext uri="{FF2B5EF4-FFF2-40B4-BE49-F238E27FC236}">
                <a16:creationId xmlns:a16="http://schemas.microsoft.com/office/drawing/2014/main" id="{58DB37D4-9163-5945-9828-9CD10F803E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86815" y="6833614"/>
            <a:ext cx="3975100" cy="92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72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5E8C-5740-C54C-87A4-73AE9F0E044C}"/>
              </a:ext>
            </a:extLst>
          </p:cNvPr>
          <p:cNvSpPr>
            <a:spLocks noGrp="1"/>
          </p:cNvSpPr>
          <p:nvPr>
            <p:ph type="title"/>
          </p:nvPr>
        </p:nvSpPr>
        <p:spPr/>
        <p:txBody>
          <a:bodyPr/>
          <a:lstStyle/>
          <a:p>
            <a:r>
              <a:rPr lang="en-NO" dirty="0"/>
              <a:t>Uses of Probability</a:t>
            </a:r>
          </a:p>
        </p:txBody>
      </p:sp>
      <p:sp>
        <p:nvSpPr>
          <p:cNvPr id="4" name="Footer Placeholder 3">
            <a:extLst>
              <a:ext uri="{FF2B5EF4-FFF2-40B4-BE49-F238E27FC236}">
                <a16:creationId xmlns:a16="http://schemas.microsoft.com/office/drawing/2014/main" id="{CD76D1FC-D949-8C48-B317-5DDD45A99281}"/>
              </a:ext>
            </a:extLst>
          </p:cNvPr>
          <p:cNvSpPr>
            <a:spLocks noGrp="1"/>
          </p:cNvSpPr>
          <p:nvPr>
            <p:ph type="ftr" sz="quarter" idx="11"/>
          </p:nvPr>
        </p:nvSpPr>
        <p:spPr/>
        <p:txBody>
          <a:bodyPr/>
          <a:lstStyle/>
          <a:p>
            <a:r>
              <a:rPr lang="nb-NO"/>
              <a:t>DAVE3625- Intro to A.I. by Umair M.I</a:t>
            </a:r>
          </a:p>
        </p:txBody>
      </p:sp>
      <p:pic>
        <p:nvPicPr>
          <p:cNvPr id="1026" name="Picture 2" descr="Are We Ready to Have Future Dotted by Self-Driving Cars? - IndustryWired">
            <a:extLst>
              <a:ext uri="{FF2B5EF4-FFF2-40B4-BE49-F238E27FC236}">
                <a16:creationId xmlns:a16="http://schemas.microsoft.com/office/drawing/2014/main" id="{7810617D-0601-1F4A-A9DF-51917CE2A99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2122" y="4224636"/>
            <a:ext cx="5594411" cy="32953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nk frauds rise over 72% to Rs 41,167 crore in 2017-18, says RBI report">
            <a:extLst>
              <a:ext uri="{FF2B5EF4-FFF2-40B4-BE49-F238E27FC236}">
                <a16:creationId xmlns:a16="http://schemas.microsoft.com/office/drawing/2014/main" id="{70B80AF8-05AC-8740-B384-3737603C33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1334" y="958962"/>
            <a:ext cx="5126094" cy="34950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to calculate probability in Excel - Excelchat | Excelchat">
            <a:extLst>
              <a:ext uri="{FF2B5EF4-FFF2-40B4-BE49-F238E27FC236}">
                <a16:creationId xmlns:a16="http://schemas.microsoft.com/office/drawing/2014/main" id="{7B437062-F594-1D4E-BA4D-9E3E3BA27B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1334" y="4854350"/>
            <a:ext cx="6415792" cy="4866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560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CF82F-36C7-7745-B295-1747892DEFC7}"/>
              </a:ext>
            </a:extLst>
          </p:cNvPr>
          <p:cNvSpPr>
            <a:spLocks noGrp="1"/>
          </p:cNvSpPr>
          <p:nvPr>
            <p:ph idx="1"/>
          </p:nvPr>
        </p:nvSpPr>
        <p:spPr>
          <a:xfrm>
            <a:off x="985551" y="3182936"/>
            <a:ext cx="15373922" cy="3052743"/>
          </a:xfrm>
        </p:spPr>
        <p:txBody>
          <a:bodyPr/>
          <a:lstStyle/>
          <a:p>
            <a:pPr marL="0" indent="0">
              <a:buNone/>
            </a:pPr>
            <a:endParaRPr lang="en-GB" b="1" dirty="0"/>
          </a:p>
          <a:p>
            <a:pPr marL="0" indent="0">
              <a:buNone/>
            </a:pPr>
            <a:r>
              <a:rPr lang="en-GB" b="1" dirty="0"/>
              <a:t>Statistics</a:t>
            </a:r>
            <a:r>
              <a:rPr lang="en-GB" dirty="0"/>
              <a:t> is a traditional field, broadly defined as a </a:t>
            </a:r>
            <a:r>
              <a:rPr lang="en-GB" i="1" dirty="0"/>
              <a:t>branch of mathematics dealing with data collection, organization, analysis, interpretation and presentation</a:t>
            </a:r>
          </a:p>
          <a:p>
            <a:pPr marL="0" indent="0" algn="ctr">
              <a:buNone/>
            </a:pPr>
            <a:r>
              <a:rPr lang="en-GB" sz="2000" i="1" dirty="0"/>
              <a:t>(Ref: Wikipedia)</a:t>
            </a:r>
            <a:endParaRPr lang="en-NO" sz="2000" dirty="0"/>
          </a:p>
        </p:txBody>
      </p:sp>
      <p:sp>
        <p:nvSpPr>
          <p:cNvPr id="4" name="Footer Placeholder 3">
            <a:extLst>
              <a:ext uri="{FF2B5EF4-FFF2-40B4-BE49-F238E27FC236}">
                <a16:creationId xmlns:a16="http://schemas.microsoft.com/office/drawing/2014/main" id="{4C7DD791-1A15-E64C-A439-F397A912589E}"/>
              </a:ext>
            </a:extLst>
          </p:cNvPr>
          <p:cNvSpPr>
            <a:spLocks noGrp="1"/>
          </p:cNvSpPr>
          <p:nvPr>
            <p:ph type="ftr" sz="quarter" idx="11"/>
          </p:nvPr>
        </p:nvSpPr>
        <p:spPr/>
        <p:txBody>
          <a:bodyPr/>
          <a:lstStyle/>
          <a:p>
            <a:r>
              <a:rPr lang="nb-NO"/>
              <a:t>DAVE3625- Intro to A.I. by Umair M.I</a:t>
            </a:r>
          </a:p>
        </p:txBody>
      </p:sp>
      <p:sp>
        <p:nvSpPr>
          <p:cNvPr id="5" name="Rectangle 4">
            <a:extLst>
              <a:ext uri="{FF2B5EF4-FFF2-40B4-BE49-F238E27FC236}">
                <a16:creationId xmlns:a16="http://schemas.microsoft.com/office/drawing/2014/main" id="{12AF24EE-552B-1249-91CB-5F08DBA6BD11}"/>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6" name="Title 1">
            <a:extLst>
              <a:ext uri="{FF2B5EF4-FFF2-40B4-BE49-F238E27FC236}">
                <a16:creationId xmlns:a16="http://schemas.microsoft.com/office/drawing/2014/main" id="{B28AAAE2-0E70-984A-AA67-35A6BE582EB8}"/>
              </a:ext>
            </a:extLst>
          </p:cNvPr>
          <p:cNvSpPr txBox="1">
            <a:spLocks/>
          </p:cNvSpPr>
          <p:nvPr/>
        </p:nvSpPr>
        <p:spPr>
          <a:xfrm>
            <a:off x="835764" y="587818"/>
            <a:ext cx="15373922" cy="664797"/>
          </a:xfrm>
          <a:prstGeom prst="rect">
            <a:avLst/>
          </a:prstGeom>
        </p:spPr>
        <p:txBody>
          <a:bodyPr vert="horz" lIns="0" tIns="0" rIns="0" bIns="0" rtlCol="0" anchor="b" anchorCtr="0">
            <a:normAutofit/>
          </a:bodyPr>
          <a:lstStyle>
            <a:lvl1pPr algn="l" defTabSz="1300277" rtl="0" eaLnBrk="1" latinLnBrk="0" hangingPunct="1">
              <a:lnSpc>
                <a:spcPct val="90000"/>
              </a:lnSpc>
              <a:spcBef>
                <a:spcPct val="0"/>
              </a:spcBef>
              <a:buNone/>
              <a:defRPr sz="4800" b="1" kern="1200">
                <a:solidFill>
                  <a:schemeClr val="tx1"/>
                </a:solidFill>
                <a:latin typeface="+mj-lt"/>
                <a:ea typeface="+mj-ea"/>
                <a:cs typeface="+mj-cs"/>
              </a:defRPr>
            </a:lvl1pPr>
          </a:lstStyle>
          <a:p>
            <a:r>
              <a:rPr lang="en-NO"/>
              <a:t>Statistics</a:t>
            </a:r>
            <a:endParaRPr lang="en-NO" dirty="0"/>
          </a:p>
        </p:txBody>
      </p:sp>
    </p:spTree>
    <p:extLst>
      <p:ext uri="{BB962C8B-B14F-4D97-AF65-F5344CB8AC3E}">
        <p14:creationId xmlns:p14="http://schemas.microsoft.com/office/powerpoint/2010/main" val="3289106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F672-949A-2B48-9689-13F269CED491}"/>
              </a:ext>
            </a:extLst>
          </p:cNvPr>
          <p:cNvSpPr>
            <a:spLocks noGrp="1"/>
          </p:cNvSpPr>
          <p:nvPr>
            <p:ph type="title"/>
          </p:nvPr>
        </p:nvSpPr>
        <p:spPr>
          <a:xfrm>
            <a:off x="2303617" y="451304"/>
            <a:ext cx="15373922" cy="664797"/>
          </a:xfrm>
        </p:spPr>
        <p:txBody>
          <a:bodyPr/>
          <a:lstStyle/>
          <a:p>
            <a:r>
              <a:rPr lang="en-NO" dirty="0"/>
              <a:t>Titanic data set</a:t>
            </a:r>
          </a:p>
        </p:txBody>
      </p:sp>
      <p:sp>
        <p:nvSpPr>
          <p:cNvPr id="4" name="Footer Placeholder 3">
            <a:extLst>
              <a:ext uri="{FF2B5EF4-FFF2-40B4-BE49-F238E27FC236}">
                <a16:creationId xmlns:a16="http://schemas.microsoft.com/office/drawing/2014/main" id="{22FB1E2C-8334-6C4C-9536-30082FC09B0E}"/>
              </a:ext>
            </a:extLst>
          </p:cNvPr>
          <p:cNvSpPr>
            <a:spLocks noGrp="1"/>
          </p:cNvSpPr>
          <p:nvPr>
            <p:ph type="ftr" sz="quarter" idx="11"/>
          </p:nvPr>
        </p:nvSpPr>
        <p:spPr/>
        <p:txBody>
          <a:bodyPr/>
          <a:lstStyle/>
          <a:p>
            <a:r>
              <a:rPr lang="nb-NO"/>
              <a:t>DAVE3625- Intro to A.I. by Umair M.I</a:t>
            </a:r>
          </a:p>
        </p:txBody>
      </p:sp>
      <p:pic>
        <p:nvPicPr>
          <p:cNvPr id="3076" name="Picture 4">
            <a:extLst>
              <a:ext uri="{FF2B5EF4-FFF2-40B4-BE49-F238E27FC236}">
                <a16:creationId xmlns:a16="http://schemas.microsoft.com/office/drawing/2014/main" id="{87BED323-3D5C-4E42-AD3F-288478514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771" y="1662661"/>
            <a:ext cx="5743324" cy="346120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4553B97B-23D8-1943-955B-DEB406CB4CAC}"/>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928994" y="1716340"/>
            <a:ext cx="6191155" cy="378610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7E619FAE-B6A8-E440-8B3A-3C706D9DE5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770" y="5316321"/>
            <a:ext cx="5743325" cy="34595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BE1940CF-2DCC-06A9-0B4F-77C512D69ABB}"/>
              </a:ext>
            </a:extLst>
          </p:cNvPr>
          <p:cNvGraphicFramePr>
            <a:graphicFrameLocks noGrp="1"/>
          </p:cNvGraphicFramePr>
          <p:nvPr>
            <p:extLst>
              <p:ext uri="{D42A27DB-BD31-4B8C-83A1-F6EECF244321}">
                <p14:modId xmlns:p14="http://schemas.microsoft.com/office/powerpoint/2010/main" val="3257648564"/>
              </p:ext>
            </p:extLst>
          </p:nvPr>
        </p:nvGraphicFramePr>
        <p:xfrm>
          <a:off x="7928994" y="6435473"/>
          <a:ext cx="9001126" cy="1600200"/>
        </p:xfrm>
        <a:graphic>
          <a:graphicData uri="http://schemas.openxmlformats.org/drawingml/2006/table">
            <a:tbl>
              <a:tblPr firstRow="1" bandRow="1">
                <a:tableStyleId>{5C22544A-7EE6-4342-B048-85BDC9FD1C3A}</a:tableStyleId>
              </a:tblPr>
              <a:tblGrid>
                <a:gridCol w="2769577">
                  <a:extLst>
                    <a:ext uri="{9D8B030D-6E8A-4147-A177-3AD203B41FA5}">
                      <a16:colId xmlns:a16="http://schemas.microsoft.com/office/drawing/2014/main" val="20000"/>
                    </a:ext>
                  </a:extLst>
                </a:gridCol>
                <a:gridCol w="2077183">
                  <a:extLst>
                    <a:ext uri="{9D8B030D-6E8A-4147-A177-3AD203B41FA5}">
                      <a16:colId xmlns:a16="http://schemas.microsoft.com/office/drawing/2014/main" val="20001"/>
                    </a:ext>
                  </a:extLst>
                </a:gridCol>
                <a:gridCol w="2077183">
                  <a:extLst>
                    <a:ext uri="{9D8B030D-6E8A-4147-A177-3AD203B41FA5}">
                      <a16:colId xmlns:a16="http://schemas.microsoft.com/office/drawing/2014/main" val="20002"/>
                    </a:ext>
                  </a:extLst>
                </a:gridCol>
                <a:gridCol w="2077183">
                  <a:extLst>
                    <a:ext uri="{9D8B030D-6E8A-4147-A177-3AD203B41FA5}">
                      <a16:colId xmlns:a16="http://schemas.microsoft.com/office/drawing/2014/main" val="20003"/>
                    </a:ext>
                  </a:extLst>
                </a:gridCol>
              </a:tblGrid>
              <a:tr h="388782">
                <a:tc>
                  <a:txBody>
                    <a:bodyPr/>
                    <a:lstStyle/>
                    <a:p>
                      <a:r>
                        <a:rPr sz="2100" b="1">
                          <a:solidFill>
                            <a:srgbClr val="16181D"/>
                          </a:solidFill>
                          <a:latin typeface="Arial"/>
                        </a:rPr>
                        <a:t>Port</a:t>
                      </a:r>
                    </a:p>
                  </a:txBody>
                  <a:tcPr marL="109728" marR="109728">
                    <a:solidFill>
                      <a:srgbClr val="FFDC00"/>
                    </a:solidFill>
                  </a:tcPr>
                </a:tc>
                <a:tc>
                  <a:txBody>
                    <a:bodyPr/>
                    <a:lstStyle/>
                    <a:p>
                      <a:r>
                        <a:rPr sz="2100" b="1">
                          <a:solidFill>
                            <a:srgbClr val="16181D"/>
                          </a:solidFill>
                          <a:latin typeface="Arial"/>
                        </a:rPr>
                        <a:t>Passengers</a:t>
                      </a:r>
                    </a:p>
                  </a:txBody>
                  <a:tcPr marL="109728" marR="109728">
                    <a:solidFill>
                      <a:srgbClr val="FFDC00"/>
                    </a:solidFill>
                  </a:tcPr>
                </a:tc>
                <a:tc>
                  <a:txBody>
                    <a:bodyPr/>
                    <a:lstStyle/>
                    <a:p>
                      <a:r>
                        <a:rPr sz="2100" b="1">
                          <a:solidFill>
                            <a:srgbClr val="16181D"/>
                          </a:solidFill>
                          <a:latin typeface="Arial"/>
                        </a:rPr>
                        <a:t>Survived</a:t>
                      </a:r>
                    </a:p>
                  </a:txBody>
                  <a:tcPr marL="109728" marR="109728">
                    <a:solidFill>
                      <a:srgbClr val="FFDC00"/>
                    </a:solidFill>
                  </a:tcPr>
                </a:tc>
                <a:tc>
                  <a:txBody>
                    <a:bodyPr/>
                    <a:lstStyle/>
                    <a:p>
                      <a:r>
                        <a:rPr sz="2100" b="1">
                          <a:solidFill>
                            <a:srgbClr val="16181D"/>
                          </a:solidFill>
                          <a:latin typeface="Arial"/>
                        </a:rPr>
                        <a:t>Survival rate</a:t>
                      </a:r>
                    </a:p>
                  </a:txBody>
                  <a:tcPr marL="109728" marR="109728">
                    <a:solidFill>
                      <a:srgbClr val="FFDC00"/>
                    </a:solidFill>
                  </a:tcPr>
                </a:tc>
                <a:extLst>
                  <a:ext uri="{0D108BD9-81ED-4DB2-BD59-A6C34878D82A}">
                    <a16:rowId xmlns:a16="http://schemas.microsoft.com/office/drawing/2014/main" val="10000"/>
                  </a:ext>
                </a:extLst>
              </a:tr>
              <a:tr h="388782">
                <a:tc>
                  <a:txBody>
                    <a:bodyPr/>
                    <a:lstStyle/>
                    <a:p>
                      <a:r>
                        <a:rPr sz="2000" b="1">
                          <a:solidFill>
                            <a:srgbClr val="16181D"/>
                          </a:solidFill>
                          <a:latin typeface="Arial"/>
                        </a:rPr>
                        <a:t>S</a:t>
                      </a:r>
                      <a:r>
                        <a:rPr sz="2000" b="0">
                          <a:solidFill>
                            <a:srgbClr val="16181D"/>
                          </a:solidFill>
                          <a:latin typeface="Arial"/>
                        </a:rPr>
                        <a:t> — Southampton</a:t>
                      </a:r>
                    </a:p>
                  </a:txBody>
                  <a:tcPr marL="109728" marR="109728">
                    <a:solidFill>
                      <a:srgbClr val="FFFFFF"/>
                    </a:solidFill>
                  </a:tcPr>
                </a:tc>
                <a:tc>
                  <a:txBody>
                    <a:bodyPr/>
                    <a:lstStyle/>
                    <a:p>
                      <a:r>
                        <a:rPr sz="2000" b="0">
                          <a:solidFill>
                            <a:srgbClr val="16181D"/>
                          </a:solidFill>
                          <a:latin typeface="Arial"/>
                        </a:rPr>
                        <a:t>644</a:t>
                      </a:r>
                    </a:p>
                  </a:txBody>
                  <a:tcPr marL="109728" marR="109728">
                    <a:solidFill>
                      <a:srgbClr val="FFFFFF"/>
                    </a:solidFill>
                  </a:tcPr>
                </a:tc>
                <a:tc>
                  <a:txBody>
                    <a:bodyPr/>
                    <a:lstStyle/>
                    <a:p>
                      <a:r>
                        <a:rPr sz="2000" b="0">
                          <a:solidFill>
                            <a:srgbClr val="16181D"/>
                          </a:solidFill>
                          <a:latin typeface="Arial"/>
                        </a:rPr>
                        <a:t>217</a:t>
                      </a:r>
                    </a:p>
                  </a:txBody>
                  <a:tcPr marL="109728" marR="109728">
                    <a:solidFill>
                      <a:srgbClr val="FFFFFF"/>
                    </a:solidFill>
                  </a:tcPr>
                </a:tc>
                <a:tc>
                  <a:txBody>
                    <a:bodyPr/>
                    <a:lstStyle/>
                    <a:p>
                      <a:r>
                        <a:rPr sz="2000" b="1">
                          <a:solidFill>
                            <a:srgbClr val="16181D"/>
                          </a:solidFill>
                          <a:latin typeface="Arial"/>
                        </a:rPr>
                        <a:t>34%</a:t>
                      </a:r>
                    </a:p>
                  </a:txBody>
                  <a:tcPr marL="109728" marR="109728">
                    <a:solidFill>
                      <a:srgbClr val="FFFFFF"/>
                    </a:solidFill>
                  </a:tcPr>
                </a:tc>
                <a:extLst>
                  <a:ext uri="{0D108BD9-81ED-4DB2-BD59-A6C34878D82A}">
                    <a16:rowId xmlns:a16="http://schemas.microsoft.com/office/drawing/2014/main" val="10001"/>
                  </a:ext>
                </a:extLst>
              </a:tr>
              <a:tr h="388782">
                <a:tc>
                  <a:txBody>
                    <a:bodyPr/>
                    <a:lstStyle/>
                    <a:p>
                      <a:r>
                        <a:rPr sz="2000" b="1">
                          <a:solidFill>
                            <a:srgbClr val="16181D"/>
                          </a:solidFill>
                          <a:latin typeface="Arial"/>
                        </a:rPr>
                        <a:t>C</a:t>
                      </a:r>
                      <a:r>
                        <a:rPr sz="2000" b="0">
                          <a:solidFill>
                            <a:srgbClr val="16181D"/>
                          </a:solidFill>
                          <a:latin typeface="Arial"/>
                        </a:rPr>
                        <a:t> — Cherbourg</a:t>
                      </a:r>
                    </a:p>
                  </a:txBody>
                  <a:tcPr marL="109728" marR="109728">
                    <a:solidFill>
                      <a:srgbClr val="F7F8FA"/>
                    </a:solidFill>
                  </a:tcPr>
                </a:tc>
                <a:tc>
                  <a:txBody>
                    <a:bodyPr/>
                    <a:lstStyle/>
                    <a:p>
                      <a:r>
                        <a:rPr sz="2000" b="0">
                          <a:solidFill>
                            <a:srgbClr val="16181D"/>
                          </a:solidFill>
                          <a:latin typeface="Arial"/>
                        </a:rPr>
                        <a:t>168</a:t>
                      </a:r>
                    </a:p>
                  </a:txBody>
                  <a:tcPr marL="109728" marR="109728">
                    <a:solidFill>
                      <a:srgbClr val="F7F8FA"/>
                    </a:solidFill>
                  </a:tcPr>
                </a:tc>
                <a:tc>
                  <a:txBody>
                    <a:bodyPr/>
                    <a:lstStyle/>
                    <a:p>
                      <a:r>
                        <a:rPr sz="2000" b="0">
                          <a:solidFill>
                            <a:srgbClr val="16181D"/>
                          </a:solidFill>
                          <a:latin typeface="Arial"/>
                        </a:rPr>
                        <a:t>93</a:t>
                      </a:r>
                    </a:p>
                  </a:txBody>
                  <a:tcPr marL="109728" marR="109728">
                    <a:solidFill>
                      <a:srgbClr val="F7F8FA"/>
                    </a:solidFill>
                  </a:tcPr>
                </a:tc>
                <a:tc>
                  <a:txBody>
                    <a:bodyPr/>
                    <a:lstStyle/>
                    <a:p>
                      <a:r>
                        <a:rPr sz="2000" b="1">
                          <a:solidFill>
                            <a:srgbClr val="16181D"/>
                          </a:solidFill>
                          <a:latin typeface="Arial"/>
                        </a:rPr>
                        <a:t>55%</a:t>
                      </a:r>
                    </a:p>
                  </a:txBody>
                  <a:tcPr marL="109728" marR="109728">
                    <a:solidFill>
                      <a:srgbClr val="F7F8FA"/>
                    </a:solidFill>
                  </a:tcPr>
                </a:tc>
                <a:extLst>
                  <a:ext uri="{0D108BD9-81ED-4DB2-BD59-A6C34878D82A}">
                    <a16:rowId xmlns:a16="http://schemas.microsoft.com/office/drawing/2014/main" val="10002"/>
                  </a:ext>
                </a:extLst>
              </a:tr>
              <a:tr h="388782">
                <a:tc>
                  <a:txBody>
                    <a:bodyPr/>
                    <a:lstStyle/>
                    <a:p>
                      <a:r>
                        <a:rPr sz="2000" b="1">
                          <a:solidFill>
                            <a:srgbClr val="16181D"/>
                          </a:solidFill>
                          <a:latin typeface="Arial"/>
                        </a:rPr>
                        <a:t>Q</a:t>
                      </a:r>
                      <a:r>
                        <a:rPr sz="2000" b="0">
                          <a:solidFill>
                            <a:srgbClr val="16181D"/>
                          </a:solidFill>
                          <a:latin typeface="Arial"/>
                        </a:rPr>
                        <a:t> — Queenstown</a:t>
                      </a:r>
                    </a:p>
                  </a:txBody>
                  <a:tcPr marL="109728" marR="109728">
                    <a:solidFill>
                      <a:srgbClr val="FFFFFF"/>
                    </a:solidFill>
                  </a:tcPr>
                </a:tc>
                <a:tc>
                  <a:txBody>
                    <a:bodyPr/>
                    <a:lstStyle/>
                    <a:p>
                      <a:r>
                        <a:rPr sz="2000" b="0" dirty="0">
                          <a:solidFill>
                            <a:srgbClr val="16181D"/>
                          </a:solidFill>
                          <a:latin typeface="Arial"/>
                        </a:rPr>
                        <a:t>77</a:t>
                      </a:r>
                    </a:p>
                  </a:txBody>
                  <a:tcPr marL="109728" marR="109728">
                    <a:solidFill>
                      <a:srgbClr val="FFFFFF"/>
                    </a:solidFill>
                  </a:tcPr>
                </a:tc>
                <a:tc>
                  <a:txBody>
                    <a:bodyPr/>
                    <a:lstStyle/>
                    <a:p>
                      <a:r>
                        <a:rPr sz="2000" b="0">
                          <a:solidFill>
                            <a:srgbClr val="16181D"/>
                          </a:solidFill>
                          <a:latin typeface="Arial"/>
                        </a:rPr>
                        <a:t>30</a:t>
                      </a:r>
                    </a:p>
                  </a:txBody>
                  <a:tcPr marL="109728" marR="109728">
                    <a:solidFill>
                      <a:srgbClr val="FFFFFF"/>
                    </a:solidFill>
                  </a:tcPr>
                </a:tc>
                <a:tc>
                  <a:txBody>
                    <a:bodyPr/>
                    <a:lstStyle/>
                    <a:p>
                      <a:r>
                        <a:rPr sz="2000" b="1" dirty="0">
                          <a:solidFill>
                            <a:srgbClr val="16181D"/>
                          </a:solidFill>
                          <a:latin typeface="Arial"/>
                        </a:rPr>
                        <a:t>39%</a:t>
                      </a:r>
                    </a:p>
                  </a:txBody>
                  <a:tcPr marL="109728" marR="109728">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330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49CC89-8D4B-7043-8849-742151EF246F}"/>
              </a:ext>
            </a:extLst>
          </p:cNvPr>
          <p:cNvSpPr>
            <a:spLocks noGrp="1"/>
          </p:cNvSpPr>
          <p:nvPr>
            <p:ph idx="1"/>
          </p:nvPr>
        </p:nvSpPr>
        <p:spPr>
          <a:xfrm>
            <a:off x="972122" y="2165684"/>
            <a:ext cx="7931246" cy="6007338"/>
          </a:xfrm>
        </p:spPr>
        <p:txBody>
          <a:bodyPr>
            <a:normAutofit fontScale="92500" lnSpcReduction="10000"/>
          </a:bodyPr>
          <a:lstStyle/>
          <a:p>
            <a:r>
              <a:rPr lang="en-GB" dirty="0"/>
              <a:t>Most passengers seem to be boarded on Southampton(S).</a:t>
            </a:r>
          </a:p>
          <a:p>
            <a:r>
              <a:rPr lang="en-GB" dirty="0"/>
              <a:t>About 66% of the passengers who boarded at Southampton (S) did not survive.</a:t>
            </a:r>
          </a:p>
          <a:p>
            <a:r>
              <a:rPr lang="en-GB" dirty="0"/>
              <a:t>About 55% of the passengers who boarded at Cherbourg (C) survived.</a:t>
            </a:r>
          </a:p>
          <a:p>
            <a:r>
              <a:rPr lang="en-GB" dirty="0"/>
              <a:t>Pretty much every male that boarded on Queenstown(Q) did not survive. </a:t>
            </a:r>
          </a:p>
          <a:p>
            <a:r>
              <a:rPr lang="en-GB" dirty="0"/>
              <a:t>There were very few females boarded on Queenstown, however, most of them survived. </a:t>
            </a:r>
          </a:p>
        </p:txBody>
      </p:sp>
      <p:sp>
        <p:nvSpPr>
          <p:cNvPr id="4" name="Footer Placeholder 3">
            <a:extLst>
              <a:ext uri="{FF2B5EF4-FFF2-40B4-BE49-F238E27FC236}">
                <a16:creationId xmlns:a16="http://schemas.microsoft.com/office/drawing/2014/main" id="{13B1FBAB-C97A-CD47-BEBB-5E5C6E8385F2}"/>
              </a:ext>
            </a:extLst>
          </p:cNvPr>
          <p:cNvSpPr>
            <a:spLocks noGrp="1"/>
          </p:cNvSpPr>
          <p:nvPr>
            <p:ph type="ftr" sz="quarter" idx="11"/>
          </p:nvPr>
        </p:nvSpPr>
        <p:spPr/>
        <p:txBody>
          <a:bodyPr/>
          <a:lstStyle/>
          <a:p>
            <a:r>
              <a:rPr lang="nb-NO"/>
              <a:t>DAVE3625- Intro to A.I. by Umair M.I</a:t>
            </a:r>
          </a:p>
        </p:txBody>
      </p:sp>
      <p:pic>
        <p:nvPicPr>
          <p:cNvPr id="4098" name="Picture 2">
            <a:extLst>
              <a:ext uri="{FF2B5EF4-FFF2-40B4-BE49-F238E27FC236}">
                <a16:creationId xmlns:a16="http://schemas.microsoft.com/office/drawing/2014/main" id="{5157AF91-AA86-3748-960C-B0490955F9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1256" y="0"/>
            <a:ext cx="7053262" cy="9752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16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Why did more Cherbourg passengers survive ?</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Boarding at Cherbourg did not make anybody safer.</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Cherbourg boarded a </a:t>
            </a:r>
            <a:r>
              <a:rPr sz="3000" b="1">
                <a:solidFill>
                  <a:srgbClr val="16181D"/>
                </a:solidFill>
                <a:latin typeface="Arial"/>
              </a:rPr>
              <a:t>much larger share of first-class passengers</a:t>
            </a:r>
            <a:r>
              <a:rPr sz="3000" b="0">
                <a:solidFill>
                  <a:srgbClr val="16181D"/>
                </a:solidFill>
                <a:latin typeface="Arial"/>
              </a:rPr>
              <a:t>,</a:t>
            </a:r>
          </a:p>
          <a:p>
            <a:pPr>
              <a:spcAft>
                <a:spcPts val="1400"/>
              </a:spcAft>
            </a:pPr>
            <a:r>
              <a:rPr sz="3000" b="0">
                <a:solidFill>
                  <a:srgbClr val="16181D"/>
                </a:solidFill>
                <a:latin typeface="Arial"/>
              </a:rPr>
              <a:t>▪   and first class was closer to the lifeboats, with women and children given priority.</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So </a:t>
            </a:r>
            <a:r>
              <a:rPr sz="2800" b="0">
                <a:solidFill>
                  <a:srgbClr val="0B3D6B"/>
                </a:solidFill>
                <a:latin typeface="Consolas"/>
              </a:rPr>
              <a:t>Embarked</a:t>
            </a:r>
            <a:r>
              <a:rPr sz="3000" b="0">
                <a:solidFill>
                  <a:srgbClr val="16181D"/>
                </a:solidFill>
                <a:latin typeface="Arial"/>
              </a:rPr>
              <a:t> looks like it predicts survival. What it actually carries is</a:t>
            </a:r>
          </a:p>
          <a:p>
            <a:pPr>
              <a:spcAft>
                <a:spcPts val="1400"/>
              </a:spcAft>
            </a:pPr>
            <a:r>
              <a:rPr sz="3000" b="0">
                <a:solidFill>
                  <a:srgbClr val="16181D"/>
                </a:solidFill>
                <a:latin typeface="Arial"/>
              </a:rPr>
              <a:t>▪   </a:t>
            </a:r>
            <a:r>
              <a:rPr sz="3000" b="1">
                <a:solidFill>
                  <a:srgbClr val="16181D"/>
                </a:solidFill>
                <a:latin typeface="Arial"/>
              </a:rPr>
              <a:t>passenger class and sex</a:t>
            </a:r>
            <a:r>
              <a:rPr sz="3000" b="0">
                <a:solidFill>
                  <a:srgbClr val="16181D"/>
                </a:solidFill>
                <a:latin typeface="Arial"/>
              </a:rPr>
              <a:t>.</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A third variable that explains an apparent relationship is called a </a:t>
            </a:r>
            <a:r>
              <a:rPr sz="3000" b="1">
                <a:solidFill>
                  <a:srgbClr val="16181D"/>
                </a:solidFill>
                <a:latin typeface="Arial"/>
              </a:rPr>
              <a:t>confounder</a:t>
            </a:r>
            <a:r>
              <a:rPr sz="3000" b="0">
                <a:solidFill>
                  <a:srgbClr val="16181D"/>
                </a:solidFill>
                <a:latin typeface="Arial"/>
              </a:rPr>
              <a:t>.</a:t>
            </a:r>
          </a:p>
          <a:p>
            <a:pPr>
              <a:spcAft>
                <a:spcPts val="1400"/>
              </a:spcAft>
            </a:pPr>
            <a:r>
              <a:rPr sz="3000" b="0">
                <a:solidFill>
                  <a:srgbClr val="16181D"/>
                </a:solidFill>
                <a:latin typeface="Arial"/>
              </a:rPr>
              <a:t>▪   </a:t>
            </a:r>
            <a:r>
              <a:rPr sz="3000" b="1">
                <a:solidFill>
                  <a:srgbClr val="16181D"/>
                </a:solidFill>
                <a:latin typeface="Arial"/>
              </a:rPr>
              <a:t>Correlation is not causation.</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1193C934-B7E9-41D6-A00D-8E15EEBDDF0C}" type="slidenum">
              <a:rPr lang="en-US" sz="1200">
                <a:solidFill>
                  <a:srgbClr val="6B7280"/>
                </a:solidFill>
                <a:latin typeface="Arial"/>
              </a:rPr>
              <a:t>11</a:t>
            </a:fld>
            <a:endParaRPr lang="en-US" sz="1200">
              <a:solidFill>
                <a:srgbClr val="6B728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BFAA4C4-5F05-C446-BBD2-4C0C64859141}"/>
              </a:ext>
            </a:extLst>
          </p:cNvPr>
          <p:cNvSpPr>
            <a:spLocks noGrp="1"/>
          </p:cNvSpPr>
          <p:nvPr>
            <p:ph type="ftr" sz="quarter" idx="11"/>
          </p:nvPr>
        </p:nvSpPr>
        <p:spPr/>
        <p:txBody>
          <a:bodyPr/>
          <a:lstStyle/>
          <a:p>
            <a:r>
              <a:rPr lang="nb-NO"/>
              <a:t>DAVE3625- Intro to A.I. by Umair M.I</a:t>
            </a:r>
          </a:p>
        </p:txBody>
      </p:sp>
      <p:pic>
        <p:nvPicPr>
          <p:cNvPr id="5122" name="Picture 2">
            <a:extLst>
              <a:ext uri="{FF2B5EF4-FFF2-40B4-BE49-F238E27FC236}">
                <a16:creationId xmlns:a16="http://schemas.microsoft.com/office/drawing/2014/main" id="{88AFA1DC-4D40-A248-9705-F714B8027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249" y="284006"/>
            <a:ext cx="9184000" cy="9184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335FB6A-493F-524B-A92E-7EC915CF663B}"/>
              </a:ext>
            </a:extLst>
          </p:cNvPr>
          <p:cNvSpPr txBox="1"/>
          <p:nvPr/>
        </p:nvSpPr>
        <p:spPr>
          <a:xfrm>
            <a:off x="1106905" y="2711116"/>
            <a:ext cx="4219074" cy="486287"/>
          </a:xfrm>
          <a:prstGeom prst="rect">
            <a:avLst/>
          </a:prstGeom>
          <a:noFill/>
        </p:spPr>
        <p:txBody>
          <a:bodyPr wrap="square" rtlCol="0">
            <a:spAutoFit/>
          </a:bodyPr>
          <a:lstStyle/>
          <a:p>
            <a:r>
              <a:rPr lang="en-NO"/>
              <a:t>Scatter plots</a:t>
            </a:r>
          </a:p>
        </p:txBody>
      </p:sp>
    </p:spTree>
    <p:extLst>
      <p:ext uri="{BB962C8B-B14F-4D97-AF65-F5344CB8AC3E}">
        <p14:creationId xmlns:p14="http://schemas.microsoft.com/office/powerpoint/2010/main" val="1907155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149673-D70C-FA49-B64D-4792A18D9946}"/>
              </a:ext>
            </a:extLst>
          </p:cNvPr>
          <p:cNvSpPr>
            <a:spLocks noGrp="1"/>
          </p:cNvSpPr>
          <p:nvPr>
            <p:ph type="ftr" sz="quarter" idx="11"/>
          </p:nvPr>
        </p:nvSpPr>
        <p:spPr/>
        <p:txBody>
          <a:bodyPr/>
          <a:lstStyle/>
          <a:p>
            <a:r>
              <a:rPr lang="nb-NO"/>
              <a:t>DAVE3625- Intro to A.I. by Umair M.I</a:t>
            </a:r>
          </a:p>
        </p:txBody>
      </p:sp>
      <p:pic>
        <p:nvPicPr>
          <p:cNvPr id="11" name="Picture 10">
            <a:extLst>
              <a:ext uri="{FF2B5EF4-FFF2-40B4-BE49-F238E27FC236}">
                <a16:creationId xmlns:a16="http://schemas.microsoft.com/office/drawing/2014/main" id="{BA0E131E-288D-494C-AA84-0CA30A384A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0622" y="0"/>
            <a:ext cx="6380712" cy="9752013"/>
          </a:xfrm>
          <a:prstGeom prst="rect">
            <a:avLst/>
          </a:prstGeom>
        </p:spPr>
      </p:pic>
    </p:spTree>
    <p:extLst>
      <p:ext uri="{BB962C8B-B14F-4D97-AF65-F5344CB8AC3E}">
        <p14:creationId xmlns:p14="http://schemas.microsoft.com/office/powerpoint/2010/main" val="504442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What is Machine Learning</a:t>
            </a:r>
          </a:p>
        </p:txBody>
      </p:sp>
      <p:sp>
        <p:nvSpPr>
          <p:cNvPr id="3" name="Content Placeholder 2">
            <a:extLst>
              <a:ext uri="{FF2B5EF4-FFF2-40B4-BE49-F238E27FC236}">
                <a16:creationId xmlns:a16="http://schemas.microsoft.com/office/drawing/2014/main" id="{E0BAC923-030A-F346-8E52-C87A246D3E66}"/>
              </a:ext>
            </a:extLst>
          </p:cNvPr>
          <p:cNvSpPr>
            <a:spLocks noGrp="1"/>
          </p:cNvSpPr>
          <p:nvPr>
            <p:ph idx="1"/>
          </p:nvPr>
        </p:nvSpPr>
        <p:spPr>
          <a:xfrm>
            <a:off x="972122" y="3806455"/>
            <a:ext cx="15373922" cy="4366565"/>
          </a:xfrm>
        </p:spPr>
        <p:txBody>
          <a:bodyPr/>
          <a:lstStyle/>
          <a:p>
            <a:pPr marL="0" indent="0">
              <a:buNone/>
            </a:pPr>
            <a:r>
              <a:rPr lang="en-GB" b="1" dirty="0"/>
              <a:t>Machine learning</a:t>
            </a:r>
            <a:r>
              <a:rPr lang="en-GB" dirty="0"/>
              <a:t> is an application of artificial intelligence (AI) that provides systems the ability to automatically learn and improve from experience without being explicitly programmed.</a:t>
            </a:r>
          </a:p>
          <a:p>
            <a:endParaRPr lang="en-NO"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2438441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flip that defines machine learning</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2800" b="1">
                <a:solidFill>
                  <a:srgbClr val="16181D"/>
                </a:solidFill>
                <a:latin typeface="Arial"/>
              </a:rPr>
              <a:t>Conventional programming</a:t>
            </a:r>
          </a:p>
        </p:txBody>
      </p:sp>
      <p:sp>
        <p:nvSpPr>
          <p:cNvPr id="7" name="TextBox 6"/>
          <p:cNvSpPr txBox="1"/>
          <p:nvPr/>
        </p:nvSpPr>
        <p:spPr>
          <a:xfrm>
            <a:off x="124358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a:t>
            </a:r>
            <a:r>
              <a:rPr sz="2400" b="1">
                <a:solidFill>
                  <a:srgbClr val="16181D"/>
                </a:solidFill>
                <a:latin typeface="Arial"/>
              </a:rPr>
              <a:t>You</a:t>
            </a:r>
            <a:r>
              <a:rPr sz="2400" b="0">
                <a:solidFill>
                  <a:srgbClr val="16181D"/>
                </a:solidFill>
                <a:latin typeface="Arial"/>
              </a:rPr>
              <a:t> write the rules</a:t>
            </a:r>
          </a:p>
          <a:p>
            <a:pPr>
              <a:spcAft>
                <a:spcPts val="1100"/>
              </a:spcAft>
            </a:pPr>
            <a:r>
              <a:rPr sz="2400" b="0">
                <a:solidFill>
                  <a:srgbClr val="16181D"/>
                </a:solidFill>
                <a:latin typeface="Arial"/>
              </a:rPr>
              <a:t>▪   Input + rules → output</a:t>
            </a:r>
          </a:p>
          <a:p>
            <a:pPr>
              <a:spcAft>
                <a:spcPts val="1100"/>
              </a:spcAft>
            </a:pPr>
            <a:r>
              <a:rPr sz="2400" b="0">
                <a:solidFill>
                  <a:srgbClr val="16181D"/>
                </a:solidFill>
                <a:latin typeface="Arial"/>
              </a:rPr>
              <a:t>▪   You can read the logic line by line</a:t>
            </a:r>
          </a:p>
          <a:p>
            <a:pPr>
              <a:spcAft>
                <a:spcPts val="1100"/>
              </a:spcAft>
            </a:pPr>
            <a:r>
              <a:rPr sz="2400" b="0">
                <a:solidFill>
                  <a:srgbClr val="16181D"/>
                </a:solidFill>
                <a:latin typeface="Arial"/>
              </a:rPr>
              <a:t>▪   Fails on cases you did not foresee</a:t>
            </a:r>
          </a:p>
          <a:p>
            <a:pPr>
              <a:spcAft>
                <a:spcPts val="1100"/>
              </a:spcAft>
            </a:pPr>
            <a:r>
              <a:rPr sz="2400" b="0">
                <a:solidFill>
                  <a:srgbClr val="16181D"/>
                </a:solidFill>
                <a:latin typeface="Arial"/>
              </a:rPr>
              <a:t>▪   The algorithm is the important part</a:t>
            </a: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2800" b="1">
                <a:solidFill>
                  <a:srgbClr val="16181D"/>
                </a:solidFill>
                <a:latin typeface="Arial"/>
              </a:rPr>
              <a:t>Machine learning</a:t>
            </a: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The algorithm </a:t>
            </a:r>
            <a:r>
              <a:rPr sz="2400" b="1">
                <a:solidFill>
                  <a:srgbClr val="16181D"/>
                </a:solidFill>
                <a:latin typeface="Arial"/>
              </a:rPr>
              <a:t>derives</a:t>
            </a:r>
            <a:r>
              <a:rPr sz="2400" b="0">
                <a:solidFill>
                  <a:srgbClr val="16181D"/>
                </a:solidFill>
                <a:latin typeface="Arial"/>
              </a:rPr>
              <a:t> the rules from examples</a:t>
            </a:r>
          </a:p>
          <a:p>
            <a:pPr>
              <a:spcAft>
                <a:spcPts val="1100"/>
              </a:spcAft>
            </a:pPr>
            <a:r>
              <a:rPr sz="2400" b="0">
                <a:solidFill>
                  <a:srgbClr val="16181D"/>
                </a:solidFill>
                <a:latin typeface="Arial"/>
              </a:rPr>
              <a:t>▪   </a:t>
            </a:r>
            <a:r>
              <a:rPr sz="2400" b="1">
                <a:solidFill>
                  <a:srgbClr val="16181D"/>
                </a:solidFill>
                <a:latin typeface="Arial"/>
              </a:rPr>
              <a:t>Input + output → rules</a:t>
            </a:r>
          </a:p>
          <a:p>
            <a:pPr>
              <a:spcAft>
                <a:spcPts val="1100"/>
              </a:spcAft>
            </a:pPr>
            <a:r>
              <a:rPr sz="2400" b="0">
                <a:solidFill>
                  <a:srgbClr val="16181D"/>
                </a:solidFill>
                <a:latin typeface="Arial"/>
              </a:rPr>
              <a:t>▪   You inspect a model; it may not be interpretable</a:t>
            </a:r>
          </a:p>
          <a:p>
            <a:pPr>
              <a:spcAft>
                <a:spcPts val="1100"/>
              </a:spcAft>
            </a:pPr>
            <a:r>
              <a:rPr sz="2400" b="0">
                <a:solidFill>
                  <a:srgbClr val="16181D"/>
                </a:solidFill>
                <a:latin typeface="Arial"/>
              </a:rPr>
              <a:t>▪   Handles unforeseen cases — sometimes badly, silently</a:t>
            </a:r>
          </a:p>
          <a:p>
            <a:pPr>
              <a:spcAft>
                <a:spcPts val="1100"/>
              </a:spcAft>
            </a:pPr>
            <a:r>
              <a:rPr sz="2400" b="0">
                <a:solidFill>
                  <a:srgbClr val="16181D"/>
                </a:solidFill>
                <a:latin typeface="Arial"/>
              </a:rPr>
              <a:t>▪   </a:t>
            </a:r>
            <a:r>
              <a:rPr sz="2400" b="1">
                <a:solidFill>
                  <a:srgbClr val="16181D"/>
                </a:solidFill>
                <a:latin typeface="Arial"/>
              </a:rPr>
              <a:t>Data and algorithm together</a:t>
            </a:r>
            <a:r>
              <a:rPr sz="2400" b="0">
                <a:solidFill>
                  <a:srgbClr val="16181D"/>
                </a:solidFill>
                <a:latin typeface="Arial"/>
              </a:rPr>
              <a:t> are the important part</a:t>
            </a:r>
          </a:p>
        </p:txBody>
      </p:sp>
      <p:sp>
        <p:nvSpPr>
          <p:cNvPr id="12" name="TextBox 11"/>
          <p:cNvSpPr txBox="1"/>
          <p:nvPr/>
        </p:nvSpPr>
        <p:spPr>
          <a:xfrm>
            <a:off x="969264" y="8458200"/>
            <a:ext cx="15371063" cy="457200"/>
          </a:xfrm>
          <a:prstGeom prst="rect">
            <a:avLst/>
          </a:prstGeom>
          <a:noFill/>
        </p:spPr>
        <p:txBody>
          <a:bodyPr wrap="none">
            <a:spAutoFit/>
          </a:bodyPr>
          <a:lstStyle/>
          <a:p>
            <a:r>
              <a:rPr sz="1700" b="0" dirty="0">
                <a:solidFill>
                  <a:srgbClr val="6B7280"/>
                </a:solidFill>
                <a:latin typeface="Arial"/>
              </a:rPr>
              <a:t>Machine learning: systems that learn and improve from experience without being explicitly programmed.</a:t>
            </a:r>
          </a:p>
        </p:txBody>
      </p:sp>
      <p:sp>
        <p:nvSpPr>
          <p:cNvPr id="13" name="TextBox 12"/>
          <p:cNvSpPr txBox="1"/>
          <p:nvPr/>
        </p:nvSpPr>
        <p:spPr>
          <a:xfrm>
            <a:off x="969264" y="9098280"/>
            <a:ext cx="10972800" cy="365760"/>
          </a:xfrm>
          <a:prstGeom prst="rect">
            <a:avLst/>
          </a:prstGeom>
          <a:noFill/>
        </p:spPr>
        <p:txBody>
          <a:bodyPr wrap="none">
            <a:spAutoFit/>
          </a:bodyPr>
          <a:lstStyle/>
          <a:p>
            <a:r>
              <a:rPr sz="1200" b="0">
                <a:solidFill>
                  <a:srgbClr val="6B7280"/>
                </a:solidFill>
                <a:latin typeface="Arial"/>
              </a:rPr>
              <a:t>DAVE3625  ·  Intro to A.I. by Umair M.I</a:t>
            </a:r>
          </a:p>
        </p:txBody>
      </p:sp>
      <p:sp>
        <p:nvSpPr>
          <p:cNvPr id="14" name="TextBox 13"/>
          <p:cNvSpPr txBox="1"/>
          <p:nvPr/>
        </p:nvSpPr>
        <p:spPr>
          <a:xfrm>
            <a:off x="15636240" y="9098280"/>
            <a:ext cx="1097280" cy="365760"/>
          </a:xfrm>
          <a:prstGeom prst="rect">
            <a:avLst/>
          </a:prstGeom>
          <a:noFill/>
        </p:spPr>
        <p:txBody>
          <a:bodyPr wrap="none">
            <a:spAutoFit/>
          </a:bodyPr>
          <a:lstStyle/>
          <a:p>
            <a:pPr algn="r"/>
            <a:r>
              <a:rPr sz="1200" b="0">
                <a:solidFill>
                  <a:srgbClr val="6B7280"/>
                </a:solidFill>
                <a:latin typeface="Arial"/>
              </a:rPr>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words we will use</a:t>
            </a:r>
          </a:p>
        </p:txBody>
      </p:sp>
      <p:graphicFrame>
        <p:nvGraphicFramePr>
          <p:cNvPr id="4" name="Table 3"/>
          <p:cNvGraphicFramePr>
            <a:graphicFrameLocks noGrp="1"/>
          </p:cNvGraphicFramePr>
          <p:nvPr/>
        </p:nvGraphicFramePr>
        <p:xfrm>
          <a:off x="969264" y="2057400"/>
          <a:ext cx="15371062" cy="4535424"/>
        </p:xfrm>
        <a:graphic>
          <a:graphicData uri="http://schemas.openxmlformats.org/drawingml/2006/table">
            <a:tbl>
              <a:tblPr firstRow="1" bandRow="1">
                <a:tableStyleId>{5C22544A-7EE6-4342-B048-85BDC9FD1C3A}</a:tableStyleId>
              </a:tblPr>
              <a:tblGrid>
                <a:gridCol w="4192108">
                  <a:extLst>
                    <a:ext uri="{9D8B030D-6E8A-4147-A177-3AD203B41FA5}">
                      <a16:colId xmlns:a16="http://schemas.microsoft.com/office/drawing/2014/main" val="20000"/>
                    </a:ext>
                  </a:extLst>
                </a:gridCol>
                <a:gridCol w="11178954">
                  <a:extLst>
                    <a:ext uri="{9D8B030D-6E8A-4147-A177-3AD203B41FA5}">
                      <a16:colId xmlns:a16="http://schemas.microsoft.com/office/drawing/2014/main" val="20001"/>
                    </a:ext>
                  </a:extLst>
                </a:gridCol>
              </a:tblGrid>
              <a:tr h="566928">
                <a:tc>
                  <a:txBody>
                    <a:bodyPr/>
                    <a:lstStyle/>
                    <a:p>
                      <a:r>
                        <a:rPr sz="2100" b="1">
                          <a:solidFill>
                            <a:srgbClr val="16181D"/>
                          </a:solidFill>
                          <a:latin typeface="Arial"/>
                        </a:rPr>
                        <a:t>Term</a:t>
                      </a:r>
                    </a:p>
                  </a:txBody>
                  <a:tcPr marL="109728" marR="109728">
                    <a:solidFill>
                      <a:srgbClr val="FFDC00"/>
                    </a:solidFill>
                  </a:tcPr>
                </a:tc>
                <a:tc>
                  <a:txBody>
                    <a:bodyPr/>
                    <a:lstStyle/>
                    <a:p>
                      <a:r>
                        <a:rPr sz="2100" b="1">
                          <a:solidFill>
                            <a:srgbClr val="16181D"/>
                          </a:solidFill>
                          <a:latin typeface="Arial"/>
                        </a:rPr>
                        <a:t>What it means</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1">
                          <a:solidFill>
                            <a:srgbClr val="16181D"/>
                          </a:solidFill>
                          <a:latin typeface="Arial"/>
                        </a:rPr>
                        <a:t>Model</a:t>
                      </a:r>
                    </a:p>
                  </a:txBody>
                  <a:tcPr marL="109728" marR="109728">
                    <a:solidFill>
                      <a:srgbClr val="FFFFFF"/>
                    </a:solidFill>
                  </a:tcPr>
                </a:tc>
                <a:tc>
                  <a:txBody>
                    <a:bodyPr/>
                    <a:lstStyle/>
                    <a:p>
                      <a:r>
                        <a:rPr sz="2000" b="0">
                          <a:solidFill>
                            <a:srgbClr val="16181D"/>
                          </a:solidFill>
                          <a:latin typeface="Arial"/>
                        </a:rPr>
                        <a:t>The thing that has learned. Empty before training; holds numbers after</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1">
                          <a:solidFill>
                            <a:srgbClr val="16181D"/>
                          </a:solidFill>
                          <a:latin typeface="Arial"/>
                        </a:rPr>
                        <a:t>Parameters</a:t>
                      </a:r>
                    </a:p>
                  </a:txBody>
                  <a:tcPr marL="109728" marR="109728">
                    <a:solidFill>
                      <a:srgbClr val="F7F8FA"/>
                    </a:solidFill>
                  </a:tcPr>
                </a:tc>
                <a:tc>
                  <a:txBody>
                    <a:bodyPr/>
                    <a:lstStyle/>
                    <a:p>
                      <a:r>
                        <a:rPr sz="2000" b="0">
                          <a:solidFill>
                            <a:srgbClr val="16181D"/>
                          </a:solidFill>
                          <a:latin typeface="Arial"/>
                        </a:rPr>
                        <a:t>The numbers the model works out </a:t>
                      </a:r>
                      <a:r>
                        <a:rPr sz="2000" b="1">
                          <a:solidFill>
                            <a:srgbClr val="16181D"/>
                          </a:solidFill>
                          <a:latin typeface="Arial"/>
                        </a:rPr>
                        <a:t>from the data</a:t>
                      </a:r>
                      <a:r>
                        <a:rPr sz="2000" b="0">
                          <a:solidFill>
                            <a:srgbClr val="16181D"/>
                          </a:solidFill>
                          <a:latin typeface="Arial"/>
                        </a:rPr>
                        <a:t> — a slope, a weight</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1">
                          <a:solidFill>
                            <a:srgbClr val="16181D"/>
                          </a:solidFill>
                          <a:latin typeface="Arial"/>
                        </a:rPr>
                        <a:t>Hyperparameters</a:t>
                      </a:r>
                    </a:p>
                  </a:txBody>
                  <a:tcPr marL="109728" marR="109728">
                    <a:solidFill>
                      <a:srgbClr val="FFFFFF"/>
                    </a:solidFill>
                  </a:tcPr>
                </a:tc>
                <a:tc>
                  <a:txBody>
                    <a:bodyPr/>
                    <a:lstStyle/>
                    <a:p>
                      <a:r>
                        <a:rPr sz="2000" b="0">
                          <a:solidFill>
                            <a:srgbClr val="16181D"/>
                          </a:solidFill>
                          <a:latin typeface="Arial"/>
                        </a:rPr>
                        <a:t>The numbers </a:t>
                      </a:r>
                      <a:r>
                        <a:rPr sz="2000" b="1">
                          <a:solidFill>
                            <a:srgbClr val="16181D"/>
                          </a:solidFill>
                          <a:latin typeface="Arial"/>
                        </a:rPr>
                        <a:t>you</a:t>
                      </a:r>
                      <a:r>
                        <a:rPr sz="2000" b="0">
                          <a:solidFill>
                            <a:srgbClr val="16181D"/>
                          </a:solidFill>
                          <a:latin typeface="Arial"/>
                        </a:rPr>
                        <a:t> choose before training starts</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1">
                          <a:solidFill>
                            <a:srgbClr val="16181D"/>
                          </a:solidFill>
                          <a:latin typeface="Arial"/>
                        </a:rPr>
                        <a:t>Training</a:t>
                      </a:r>
                      <a:r>
                        <a:rPr sz="2000" b="0">
                          <a:solidFill>
                            <a:srgbClr val="16181D"/>
                          </a:solidFill>
                          <a:latin typeface="Arial"/>
                        </a:rPr>
                        <a:t> (fitting)</a:t>
                      </a:r>
                    </a:p>
                  </a:txBody>
                  <a:tcPr marL="109728" marR="109728">
                    <a:solidFill>
                      <a:srgbClr val="F7F8FA"/>
                    </a:solidFill>
                  </a:tcPr>
                </a:tc>
                <a:tc>
                  <a:txBody>
                    <a:bodyPr/>
                    <a:lstStyle/>
                    <a:p>
                      <a:r>
                        <a:rPr sz="2000" b="0">
                          <a:solidFill>
                            <a:srgbClr val="16181D"/>
                          </a:solidFill>
                          <a:latin typeface="Arial"/>
                        </a:rPr>
                        <a:t>Adjusting the parameters until the predictions match the known answers</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1">
                          <a:solidFill>
                            <a:srgbClr val="16181D"/>
                          </a:solidFill>
                          <a:latin typeface="Arial"/>
                        </a:rPr>
                        <a:t>Inference</a:t>
                      </a:r>
                      <a:r>
                        <a:rPr sz="2000" b="0">
                          <a:solidFill>
                            <a:srgbClr val="16181D"/>
                          </a:solidFill>
                          <a:latin typeface="Arial"/>
                        </a:rPr>
                        <a:t> (predicting)</a:t>
                      </a:r>
                    </a:p>
                  </a:txBody>
                  <a:tcPr marL="109728" marR="109728">
                    <a:solidFill>
                      <a:srgbClr val="FFFFFF"/>
                    </a:solidFill>
                  </a:tcPr>
                </a:tc>
                <a:tc>
                  <a:txBody>
                    <a:bodyPr/>
                    <a:lstStyle/>
                    <a:p>
                      <a:r>
                        <a:rPr sz="2000" b="0">
                          <a:solidFill>
                            <a:srgbClr val="16181D"/>
                          </a:solidFill>
                          <a:latin typeface="Arial"/>
                        </a:rPr>
                        <a:t>Using the trained model on new data</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1">
                          <a:solidFill>
                            <a:srgbClr val="16181D"/>
                          </a:solidFill>
                          <a:latin typeface="Arial"/>
                        </a:rPr>
                        <a:t>Loss</a:t>
                      </a:r>
                      <a:r>
                        <a:rPr sz="2000" b="0">
                          <a:solidFill>
                            <a:srgbClr val="16181D"/>
                          </a:solidFill>
                          <a:latin typeface="Arial"/>
                        </a:rPr>
                        <a:t> (cost) function</a:t>
                      </a:r>
                    </a:p>
                  </a:txBody>
                  <a:tcPr marL="109728" marR="109728">
                    <a:solidFill>
                      <a:srgbClr val="F7F8FA"/>
                    </a:solidFill>
                  </a:tcPr>
                </a:tc>
                <a:tc>
                  <a:txBody>
                    <a:bodyPr/>
                    <a:lstStyle/>
                    <a:p>
                      <a:r>
                        <a:rPr sz="2000" b="0">
                          <a:solidFill>
                            <a:srgbClr val="16181D"/>
                          </a:solidFill>
                          <a:latin typeface="Arial"/>
                        </a:rPr>
                        <a:t>A measure of how wrong the model is — what training tries to make small</a:t>
                      </a:r>
                    </a:p>
                  </a:txBody>
                  <a:tcPr marL="109728" marR="109728">
                    <a:solidFill>
                      <a:srgbClr val="F7F8FA"/>
                    </a:solidFill>
                  </a:tcPr>
                </a:tc>
                <a:extLst>
                  <a:ext uri="{0D108BD9-81ED-4DB2-BD59-A6C34878D82A}">
                    <a16:rowId xmlns:a16="http://schemas.microsoft.com/office/drawing/2014/main" val="10006"/>
                  </a:ext>
                </a:extLst>
              </a:tr>
              <a:tr h="566928">
                <a:tc>
                  <a:txBody>
                    <a:bodyPr/>
                    <a:lstStyle/>
                    <a:p>
                      <a:r>
                        <a:rPr sz="2000" b="1">
                          <a:solidFill>
                            <a:srgbClr val="16181D"/>
                          </a:solidFill>
                          <a:latin typeface="Arial"/>
                        </a:rPr>
                        <a:t>Generalisation</a:t>
                      </a:r>
                    </a:p>
                  </a:txBody>
                  <a:tcPr marL="109728" marR="109728">
                    <a:solidFill>
                      <a:srgbClr val="FFFFFF"/>
                    </a:solidFill>
                  </a:tcPr>
                </a:tc>
                <a:tc>
                  <a:txBody>
                    <a:bodyPr/>
                    <a:lstStyle/>
                    <a:p>
                      <a:r>
                        <a:rPr sz="2000" b="0">
                          <a:solidFill>
                            <a:srgbClr val="16181D"/>
                          </a:solidFill>
                          <a:latin typeface="Arial"/>
                        </a:rPr>
                        <a:t>Working well on data never seen during training. The only goal that counts</a:t>
                      </a:r>
                    </a:p>
                  </a:txBody>
                  <a:tcPr marL="109728" marR="109728">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761C6E18-1718-49A8-AC91-4F7B8DB9CF4E}" type="slidenum">
              <a:rPr lang="en-US" sz="1200">
                <a:solidFill>
                  <a:srgbClr val="6B7280"/>
                </a:solidFill>
                <a:latin typeface="Arial"/>
              </a:rPr>
              <a:t>16</a:t>
            </a:fld>
            <a:endParaRPr lang="en-US" sz="1200">
              <a:solidFill>
                <a:srgbClr val="6B728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836D-D30C-D440-B06F-60B703F7A764}"/>
              </a:ext>
            </a:extLst>
          </p:cNvPr>
          <p:cNvSpPr>
            <a:spLocks noGrp="1"/>
          </p:cNvSpPr>
          <p:nvPr>
            <p:ph type="title"/>
          </p:nvPr>
        </p:nvSpPr>
        <p:spPr>
          <a:xfrm>
            <a:off x="6210772" y="3780865"/>
            <a:ext cx="4004324" cy="664797"/>
          </a:xfrm>
        </p:spPr>
        <p:txBody>
          <a:bodyPr/>
          <a:lstStyle/>
          <a:p>
            <a:r>
              <a:rPr lang="en-NO" dirty="0"/>
              <a:t>Uses of M.L</a:t>
            </a:r>
          </a:p>
        </p:txBody>
      </p:sp>
      <p:sp>
        <p:nvSpPr>
          <p:cNvPr id="4" name="Footer Placeholder 3">
            <a:extLst>
              <a:ext uri="{FF2B5EF4-FFF2-40B4-BE49-F238E27FC236}">
                <a16:creationId xmlns:a16="http://schemas.microsoft.com/office/drawing/2014/main" id="{413A4A83-F217-1A4D-910C-C46C8B5E44BA}"/>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348772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Uses of machine learning</a:t>
            </a:r>
          </a:p>
        </p:txBody>
      </p:sp>
      <p:graphicFrame>
        <p:nvGraphicFramePr>
          <p:cNvPr id="4" name="Table 3"/>
          <p:cNvGraphicFramePr>
            <a:graphicFrameLocks noGrp="1"/>
          </p:cNvGraphicFramePr>
          <p:nvPr/>
        </p:nvGraphicFramePr>
        <p:xfrm>
          <a:off x="969264" y="2057400"/>
          <a:ext cx="15371062" cy="5102352"/>
        </p:xfrm>
        <a:graphic>
          <a:graphicData uri="http://schemas.openxmlformats.org/drawingml/2006/table">
            <a:tbl>
              <a:tblPr firstRow="1" bandRow="1">
                <a:tableStyleId>{5C22544A-7EE6-4342-B048-85BDC9FD1C3A}</a:tableStyleId>
              </a:tblPr>
              <a:tblGrid>
                <a:gridCol w="4192108">
                  <a:extLst>
                    <a:ext uri="{9D8B030D-6E8A-4147-A177-3AD203B41FA5}">
                      <a16:colId xmlns:a16="http://schemas.microsoft.com/office/drawing/2014/main" val="20000"/>
                    </a:ext>
                  </a:extLst>
                </a:gridCol>
                <a:gridCol w="11178954">
                  <a:extLst>
                    <a:ext uri="{9D8B030D-6E8A-4147-A177-3AD203B41FA5}">
                      <a16:colId xmlns:a16="http://schemas.microsoft.com/office/drawing/2014/main" val="20001"/>
                    </a:ext>
                  </a:extLst>
                </a:gridCol>
              </a:tblGrid>
              <a:tr h="566928">
                <a:tc>
                  <a:txBody>
                    <a:bodyPr/>
                    <a:lstStyle/>
                    <a:p>
                      <a:r>
                        <a:rPr sz="2100" b="1">
                          <a:solidFill>
                            <a:srgbClr val="16181D"/>
                          </a:solidFill>
                          <a:latin typeface="Arial"/>
                        </a:rPr>
                        <a:t>Area</a:t>
                      </a:r>
                    </a:p>
                  </a:txBody>
                  <a:tcPr marL="109728" marR="109728">
                    <a:solidFill>
                      <a:srgbClr val="FFDC00"/>
                    </a:solidFill>
                  </a:tcPr>
                </a:tc>
                <a:tc>
                  <a:txBody>
                    <a:bodyPr/>
                    <a:lstStyle/>
                    <a:p>
                      <a:r>
                        <a:rPr sz="2100" b="1">
                          <a:solidFill>
                            <a:srgbClr val="16181D"/>
                          </a:solidFill>
                          <a:latin typeface="Arial"/>
                        </a:rPr>
                        <a:t>What it does</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0">
                          <a:solidFill>
                            <a:srgbClr val="16181D"/>
                          </a:solidFill>
                          <a:latin typeface="Arial"/>
                        </a:rPr>
                        <a:t>Recommendations</a:t>
                      </a:r>
                    </a:p>
                  </a:txBody>
                  <a:tcPr marL="109728" marR="109728">
                    <a:solidFill>
                      <a:srgbClr val="FFFFFF"/>
                    </a:solidFill>
                  </a:tcPr>
                </a:tc>
                <a:tc>
                  <a:txBody>
                    <a:bodyPr/>
                    <a:lstStyle/>
                    <a:p>
                      <a:r>
                        <a:rPr sz="2000" b="0">
                          <a:solidFill>
                            <a:srgbClr val="16181D"/>
                          </a:solidFill>
                          <a:latin typeface="Arial"/>
                        </a:rPr>
                        <a:t>Netflix, Spotify, Amazon — what you are likely to want next</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0">
                          <a:solidFill>
                            <a:srgbClr val="16181D"/>
                          </a:solidFill>
                          <a:latin typeface="Arial"/>
                        </a:rPr>
                        <a:t>Fraud and money laundering</a:t>
                      </a:r>
                    </a:p>
                  </a:txBody>
                  <a:tcPr marL="109728" marR="109728">
                    <a:solidFill>
                      <a:srgbClr val="F7F8FA"/>
                    </a:solidFill>
                  </a:tcPr>
                </a:tc>
                <a:tc>
                  <a:txBody>
                    <a:bodyPr/>
                    <a:lstStyle/>
                    <a:p>
                      <a:r>
                        <a:rPr sz="2000" b="0">
                          <a:solidFill>
                            <a:srgbClr val="16181D"/>
                          </a:solidFill>
                          <a:latin typeface="Arial"/>
                        </a:rPr>
                        <a:t>Flagging transactions that do not fit a pattern</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0">
                          <a:solidFill>
                            <a:srgbClr val="16181D"/>
                          </a:solidFill>
                          <a:latin typeface="Arial"/>
                        </a:rPr>
                        <a:t>Medical imaging</a:t>
                      </a:r>
                    </a:p>
                  </a:txBody>
                  <a:tcPr marL="109728" marR="109728">
                    <a:solidFill>
                      <a:srgbClr val="FFFFFF"/>
                    </a:solidFill>
                  </a:tcPr>
                </a:tc>
                <a:tc>
                  <a:txBody>
                    <a:bodyPr/>
                    <a:lstStyle/>
                    <a:p>
                      <a:r>
                        <a:rPr sz="2000" b="0">
                          <a:solidFill>
                            <a:srgbClr val="16181D"/>
                          </a:solidFill>
                          <a:latin typeface="Arial"/>
                        </a:rPr>
                        <a:t>Finding tumours, eye disease, fractures in a scan</a:t>
                      </a:r>
                    </a:p>
                  </a:txBody>
                  <a:tcPr marL="109728" marR="109728">
                    <a:solidFill>
                      <a:srgbClr val="FFFFFF"/>
                    </a:solidFill>
                  </a:tcPr>
                </a:tc>
                <a:extLst>
                  <a:ext uri="{0D108BD9-81ED-4DB2-BD59-A6C34878D82A}">
                    <a16:rowId xmlns:a16="http://schemas.microsoft.com/office/drawing/2014/main" val="10003"/>
                  </a:ext>
                </a:extLst>
              </a:tr>
              <a:tr h="566928">
                <a:tc>
                  <a:txBody>
                    <a:bodyPr/>
                    <a:lstStyle/>
                    <a:p>
                      <a:r>
                        <a:rPr sz="2000" b="0">
                          <a:solidFill>
                            <a:srgbClr val="16181D"/>
                          </a:solidFill>
                          <a:latin typeface="Arial"/>
                        </a:rPr>
                        <a:t>Speech and audio</a:t>
                      </a:r>
                    </a:p>
                  </a:txBody>
                  <a:tcPr marL="109728" marR="109728">
                    <a:solidFill>
                      <a:srgbClr val="F7F8FA"/>
                    </a:solidFill>
                  </a:tcPr>
                </a:tc>
                <a:tc>
                  <a:txBody>
                    <a:bodyPr/>
                    <a:lstStyle/>
                    <a:p>
                      <a:r>
                        <a:rPr sz="2000" b="0">
                          <a:solidFill>
                            <a:srgbClr val="16181D"/>
                          </a:solidFill>
                          <a:latin typeface="Arial"/>
                        </a:rPr>
                        <a:t>Transcribing calls, understanding dialects</a:t>
                      </a:r>
                    </a:p>
                  </a:txBody>
                  <a:tcPr marL="109728" marR="109728">
                    <a:solidFill>
                      <a:srgbClr val="F7F8FA"/>
                    </a:solidFill>
                  </a:tcPr>
                </a:tc>
                <a:extLst>
                  <a:ext uri="{0D108BD9-81ED-4DB2-BD59-A6C34878D82A}">
                    <a16:rowId xmlns:a16="http://schemas.microsoft.com/office/drawing/2014/main" val="10004"/>
                  </a:ext>
                </a:extLst>
              </a:tr>
              <a:tr h="566928">
                <a:tc>
                  <a:txBody>
                    <a:bodyPr/>
                    <a:lstStyle/>
                    <a:p>
                      <a:r>
                        <a:rPr sz="2000" b="0">
                          <a:solidFill>
                            <a:srgbClr val="16181D"/>
                          </a:solidFill>
                          <a:latin typeface="Arial"/>
                        </a:rPr>
                        <a:t>Language</a:t>
                      </a:r>
                    </a:p>
                  </a:txBody>
                  <a:tcPr marL="109728" marR="109728">
                    <a:solidFill>
                      <a:srgbClr val="FFFFFF"/>
                    </a:solidFill>
                  </a:tcPr>
                </a:tc>
                <a:tc>
                  <a:txBody>
                    <a:bodyPr/>
                    <a:lstStyle/>
                    <a:p>
                      <a:r>
                        <a:rPr sz="2000" b="0">
                          <a:solidFill>
                            <a:srgbClr val="16181D"/>
                          </a:solidFill>
                          <a:latin typeface="Arial"/>
                        </a:rPr>
                        <a:t>Translation, sentiment analysis, chat assistants</a:t>
                      </a:r>
                    </a:p>
                  </a:txBody>
                  <a:tcPr marL="109728" marR="109728">
                    <a:solidFill>
                      <a:srgbClr val="FFFFFF"/>
                    </a:solidFill>
                  </a:tcPr>
                </a:tc>
                <a:extLst>
                  <a:ext uri="{0D108BD9-81ED-4DB2-BD59-A6C34878D82A}">
                    <a16:rowId xmlns:a16="http://schemas.microsoft.com/office/drawing/2014/main" val="10005"/>
                  </a:ext>
                </a:extLst>
              </a:tr>
              <a:tr h="566928">
                <a:tc>
                  <a:txBody>
                    <a:bodyPr/>
                    <a:lstStyle/>
                    <a:p>
                      <a:r>
                        <a:rPr sz="2000" b="0">
                          <a:solidFill>
                            <a:srgbClr val="16181D"/>
                          </a:solidFill>
                          <a:latin typeface="Arial"/>
                        </a:rPr>
                        <a:t>Credit and insurance</a:t>
                      </a:r>
                    </a:p>
                  </a:txBody>
                  <a:tcPr marL="109728" marR="109728">
                    <a:solidFill>
                      <a:srgbClr val="F7F8FA"/>
                    </a:solidFill>
                  </a:tcPr>
                </a:tc>
                <a:tc>
                  <a:txBody>
                    <a:bodyPr/>
                    <a:lstStyle/>
                    <a:p>
                      <a:r>
                        <a:rPr sz="2000" b="0">
                          <a:solidFill>
                            <a:srgbClr val="16181D"/>
                          </a:solidFill>
                          <a:latin typeface="Arial"/>
                        </a:rPr>
                        <a:t>Scoring risk from an applicant's history</a:t>
                      </a:r>
                    </a:p>
                  </a:txBody>
                  <a:tcPr marL="109728" marR="109728">
                    <a:solidFill>
                      <a:srgbClr val="F7F8FA"/>
                    </a:solidFill>
                  </a:tcPr>
                </a:tc>
                <a:extLst>
                  <a:ext uri="{0D108BD9-81ED-4DB2-BD59-A6C34878D82A}">
                    <a16:rowId xmlns:a16="http://schemas.microsoft.com/office/drawing/2014/main" val="10006"/>
                  </a:ext>
                </a:extLst>
              </a:tr>
              <a:tr h="566928">
                <a:tc>
                  <a:txBody>
                    <a:bodyPr/>
                    <a:lstStyle/>
                    <a:p>
                      <a:r>
                        <a:rPr sz="2000" b="0">
                          <a:solidFill>
                            <a:srgbClr val="16181D"/>
                          </a:solidFill>
                          <a:latin typeface="Arial"/>
                        </a:rPr>
                        <a:t>Predictive maintenance</a:t>
                      </a:r>
                    </a:p>
                  </a:txBody>
                  <a:tcPr marL="109728" marR="109728">
                    <a:solidFill>
                      <a:srgbClr val="FFFFFF"/>
                    </a:solidFill>
                  </a:tcPr>
                </a:tc>
                <a:tc>
                  <a:txBody>
                    <a:bodyPr/>
                    <a:lstStyle/>
                    <a:p>
                      <a:r>
                        <a:rPr sz="2000" b="0">
                          <a:solidFill>
                            <a:srgbClr val="16181D"/>
                          </a:solidFill>
                          <a:latin typeface="Arial"/>
                        </a:rPr>
                        <a:t>Predicting a failure from sensor readings before it happens</a:t>
                      </a:r>
                    </a:p>
                  </a:txBody>
                  <a:tcPr marL="109728" marR="109728">
                    <a:solidFill>
                      <a:srgbClr val="FFFFFF"/>
                    </a:solidFill>
                  </a:tcPr>
                </a:tc>
                <a:extLst>
                  <a:ext uri="{0D108BD9-81ED-4DB2-BD59-A6C34878D82A}">
                    <a16:rowId xmlns:a16="http://schemas.microsoft.com/office/drawing/2014/main" val="10007"/>
                  </a:ext>
                </a:extLst>
              </a:tr>
              <a:tr h="566928">
                <a:tc>
                  <a:txBody>
                    <a:bodyPr/>
                    <a:lstStyle/>
                    <a:p>
                      <a:r>
                        <a:rPr sz="2000" b="0">
                          <a:solidFill>
                            <a:srgbClr val="16181D"/>
                          </a:solidFill>
                          <a:latin typeface="Arial"/>
                        </a:rPr>
                        <a:t>Transport</a:t>
                      </a:r>
                    </a:p>
                  </a:txBody>
                  <a:tcPr marL="109728" marR="109728">
                    <a:solidFill>
                      <a:srgbClr val="F7F8FA"/>
                    </a:solidFill>
                  </a:tcPr>
                </a:tc>
                <a:tc>
                  <a:txBody>
                    <a:bodyPr/>
                    <a:lstStyle/>
                    <a:p>
                      <a:r>
                        <a:rPr sz="2000" b="0">
                          <a:solidFill>
                            <a:srgbClr val="16181D"/>
                          </a:solidFill>
                          <a:latin typeface="Arial"/>
                        </a:rPr>
                        <a:t>Predicting delays, demand and travel times</a:t>
                      </a:r>
                    </a:p>
                  </a:txBody>
                  <a:tcPr marL="109728" marR="109728">
                    <a:solidFill>
                      <a:srgbClr val="F7F8FA"/>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969264" y="8247888"/>
            <a:ext cx="15371063" cy="457200"/>
          </a:xfrm>
          <a:prstGeom prst="rect">
            <a:avLst/>
          </a:prstGeom>
          <a:noFill/>
        </p:spPr>
        <p:txBody>
          <a:bodyPr wrap="none">
            <a:spAutoFit/>
          </a:bodyPr>
          <a:lstStyle/>
          <a:p>
            <a:r>
              <a:rPr sz="1700" b="0" dirty="0">
                <a:solidFill>
                  <a:srgbClr val="6B7280"/>
                </a:solidFill>
                <a:latin typeface="Arial"/>
              </a:rPr>
              <a:t>What these have in common: a rule too complicated to write by hand, and enough past examples to learn from.</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F245356B-68A0-42E0-AD39-C0CFB43915CA}" type="slidenum">
              <a:rPr lang="en-US" sz="1200">
                <a:solidFill>
                  <a:srgbClr val="6B7280"/>
                </a:solidFill>
                <a:latin typeface="Arial"/>
              </a:rPr>
              <a:t>18</a:t>
            </a:fld>
            <a:endParaRPr lang="en-US" sz="1200">
              <a:solidFill>
                <a:srgbClr val="6B728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2E1B1-9F2A-F64A-B231-5CB379B0CFCC}"/>
              </a:ext>
            </a:extLst>
          </p:cNvPr>
          <p:cNvSpPr>
            <a:spLocks noGrp="1"/>
          </p:cNvSpPr>
          <p:nvPr>
            <p:ph type="title"/>
          </p:nvPr>
        </p:nvSpPr>
        <p:spPr/>
        <p:txBody>
          <a:bodyPr>
            <a:normAutofit fontScale="90000"/>
          </a:bodyPr>
          <a:lstStyle/>
          <a:p>
            <a:r>
              <a:rPr lang="en-NO" dirty="0"/>
              <a:t>Example: Search for cats on google. How does this search work ?</a:t>
            </a:r>
          </a:p>
        </p:txBody>
      </p:sp>
      <p:sp>
        <p:nvSpPr>
          <p:cNvPr id="4" name="Footer Placeholder 3">
            <a:extLst>
              <a:ext uri="{FF2B5EF4-FFF2-40B4-BE49-F238E27FC236}">
                <a16:creationId xmlns:a16="http://schemas.microsoft.com/office/drawing/2014/main" id="{1272A066-3947-0343-A8A3-38A479840604}"/>
              </a:ext>
            </a:extLst>
          </p:cNvPr>
          <p:cNvSpPr>
            <a:spLocks noGrp="1"/>
          </p:cNvSpPr>
          <p:nvPr>
            <p:ph type="ftr" sz="quarter" idx="11"/>
          </p:nvPr>
        </p:nvSpPr>
        <p:spPr/>
        <p:txBody>
          <a:bodyPr/>
          <a:lstStyle/>
          <a:p>
            <a:r>
              <a:rPr lang="nb-NO"/>
              <a:t>DAVE3625- Intro to A.I. by Umair M.I</a:t>
            </a:r>
          </a:p>
        </p:txBody>
      </p:sp>
      <p:sp>
        <p:nvSpPr>
          <p:cNvPr id="5" name="Title 1">
            <a:extLst>
              <a:ext uri="{FF2B5EF4-FFF2-40B4-BE49-F238E27FC236}">
                <a16:creationId xmlns:a16="http://schemas.microsoft.com/office/drawing/2014/main" id="{4936F9A0-4C99-E141-98EB-62E9E7AE1F64}"/>
              </a:ext>
            </a:extLst>
          </p:cNvPr>
          <p:cNvSpPr>
            <a:spLocks noGrp="1"/>
          </p:cNvSpPr>
          <p:nvPr>
            <p:ph idx="1"/>
          </p:nvPr>
        </p:nvSpPr>
        <p:spPr>
          <a:xfrm>
            <a:off x="972122" y="3492436"/>
            <a:ext cx="15373922" cy="5213281"/>
          </a:xfrm>
        </p:spPr>
        <p:txBody>
          <a:bodyPr/>
          <a:lstStyle/>
          <a:p>
            <a:r>
              <a:rPr lang="en-GB" dirty="0"/>
              <a:t>Google first gets a large quantity of examples of photos </a:t>
            </a:r>
            <a:r>
              <a:rPr lang="en-GB" dirty="0" err="1"/>
              <a:t>labeled</a:t>
            </a:r>
            <a:r>
              <a:rPr lang="en-GB" dirty="0"/>
              <a:t> “cat”</a:t>
            </a:r>
          </a:p>
          <a:p>
            <a:r>
              <a:rPr lang="en-GB" dirty="0"/>
              <a:t>Then the Machine learning algorithm looks for patterns of pixels and patterns of </a:t>
            </a:r>
            <a:r>
              <a:rPr lang="en-GB" dirty="0" err="1"/>
              <a:t>colors</a:t>
            </a:r>
            <a:r>
              <a:rPr lang="en-GB" dirty="0"/>
              <a:t> that will help it predict if the image is of “cat”.</a:t>
            </a:r>
          </a:p>
          <a:p>
            <a:r>
              <a:rPr lang="en-GB" dirty="0"/>
              <a:t>At first, Google’s computers make a random guess of what patterns are good in order to identify an image of a cat.</a:t>
            </a:r>
          </a:p>
          <a:p>
            <a:r>
              <a:rPr lang="en-GB" dirty="0"/>
              <a:t>If it makes a mistake, the algorithm adjusts its own internal values so that next time it is closer to being right. No human edits the model by hand.</a:t>
            </a:r>
          </a:p>
          <a:p>
            <a:r>
              <a:rPr lang="en-GB" dirty="0"/>
              <a:t>In the end the algorithm will learn such patterns and improve its output</a:t>
            </a:r>
            <a:endParaRPr lang="en-NO" dirty="0"/>
          </a:p>
        </p:txBody>
      </p:sp>
    </p:spTree>
    <p:extLst>
      <p:ext uri="{BB962C8B-B14F-4D97-AF65-F5344CB8AC3E}">
        <p14:creationId xmlns:p14="http://schemas.microsoft.com/office/powerpoint/2010/main" val="2969515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9CCA7-CFBF-D948-849E-33541A41176A}"/>
              </a:ext>
            </a:extLst>
          </p:cNvPr>
          <p:cNvSpPr>
            <a:spLocks noGrp="1"/>
          </p:cNvSpPr>
          <p:nvPr>
            <p:ph type="title"/>
          </p:nvPr>
        </p:nvSpPr>
        <p:spPr>
          <a:xfrm>
            <a:off x="2512446" y="4543607"/>
            <a:ext cx="12320132" cy="664797"/>
          </a:xfrm>
        </p:spPr>
        <p:txBody>
          <a:bodyPr>
            <a:normAutofit fontScale="90000"/>
          </a:bodyPr>
          <a:lstStyle/>
          <a:p>
            <a:r>
              <a:rPr lang="en-NO" dirty="0"/>
              <a:t>Q. How would you build such a M.L algorithm ?</a:t>
            </a:r>
          </a:p>
        </p:txBody>
      </p:sp>
      <p:sp>
        <p:nvSpPr>
          <p:cNvPr id="4" name="Footer Placeholder 3">
            <a:extLst>
              <a:ext uri="{FF2B5EF4-FFF2-40B4-BE49-F238E27FC236}">
                <a16:creationId xmlns:a16="http://schemas.microsoft.com/office/drawing/2014/main" id="{44BF9A4F-437B-0B4E-9C22-81631558DDD6}"/>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2356731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710B2-76FE-3B4E-B52F-4CD5A59D4CBA}"/>
              </a:ext>
            </a:extLst>
          </p:cNvPr>
          <p:cNvSpPr>
            <a:spLocks noGrp="1"/>
          </p:cNvSpPr>
          <p:nvPr>
            <p:ph idx="1"/>
          </p:nvPr>
        </p:nvSpPr>
        <p:spPr>
          <a:xfrm>
            <a:off x="972121" y="1829593"/>
            <a:ext cx="15373922" cy="6344221"/>
          </a:xfrm>
        </p:spPr>
        <p:txBody>
          <a:bodyPr/>
          <a:lstStyle/>
          <a:p>
            <a:pPr marL="742950" indent="-742950">
              <a:buAutoNum type="arabicPeriod"/>
            </a:pPr>
            <a:r>
              <a:rPr lang="en-NO" dirty="0"/>
              <a:t>Collect data</a:t>
            </a:r>
          </a:p>
          <a:p>
            <a:pPr marL="742950" indent="-742950">
              <a:buAutoNum type="arabicPeriod"/>
            </a:pPr>
            <a:r>
              <a:rPr lang="en-NO" dirty="0"/>
              <a:t>Label the data</a:t>
            </a:r>
          </a:p>
        </p:txBody>
      </p:sp>
      <p:sp>
        <p:nvSpPr>
          <p:cNvPr id="4" name="Footer Placeholder 3">
            <a:extLst>
              <a:ext uri="{FF2B5EF4-FFF2-40B4-BE49-F238E27FC236}">
                <a16:creationId xmlns:a16="http://schemas.microsoft.com/office/drawing/2014/main" id="{CC3CF793-1B39-BF48-8D41-E73C189D0B50}"/>
              </a:ext>
            </a:extLst>
          </p:cNvPr>
          <p:cNvSpPr>
            <a:spLocks noGrp="1"/>
          </p:cNvSpPr>
          <p:nvPr>
            <p:ph type="ftr" sz="quarter" idx="11"/>
          </p:nvPr>
        </p:nvSpPr>
        <p:spPr/>
        <p:txBody>
          <a:bodyPr/>
          <a:lstStyle/>
          <a:p>
            <a:r>
              <a:rPr lang="nb-NO"/>
              <a:t>DAVE3625- Intro to A.I. by Umair M.I</a:t>
            </a:r>
          </a:p>
        </p:txBody>
      </p:sp>
      <p:pic>
        <p:nvPicPr>
          <p:cNvPr id="2050" name="Picture 2" descr="Cats, Animals and more – remove.bg Blog">
            <a:extLst>
              <a:ext uri="{FF2B5EF4-FFF2-40B4-BE49-F238E27FC236}">
                <a16:creationId xmlns:a16="http://schemas.microsoft.com/office/drawing/2014/main" id="{0BA33DAC-069C-B345-9165-28F0FD639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8201" y="1469030"/>
            <a:ext cx="3276600" cy="22733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igns your dog or cat is stressed, and what you can do - Insider">
            <a:extLst>
              <a:ext uri="{FF2B5EF4-FFF2-40B4-BE49-F238E27FC236}">
                <a16:creationId xmlns:a16="http://schemas.microsoft.com/office/drawing/2014/main" id="{679214EA-9110-0044-B1DD-39BAAFD40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2121" y="4864275"/>
            <a:ext cx="27686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rumpy Cat's Death Marks the End of the Joyful Internet | WIRED">
            <a:extLst>
              <a:ext uri="{FF2B5EF4-FFF2-40B4-BE49-F238E27FC236}">
                <a16:creationId xmlns:a16="http://schemas.microsoft.com/office/drawing/2014/main" id="{D762A861-6725-5449-B750-6D5D43E369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7962" y="4737275"/>
            <a:ext cx="3492500" cy="23368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elidae - Wikipedia">
            <a:extLst>
              <a:ext uri="{FF2B5EF4-FFF2-40B4-BE49-F238E27FC236}">
                <a16:creationId xmlns:a16="http://schemas.microsoft.com/office/drawing/2014/main" id="{138BE511-0661-D64D-AC0D-E69EB9FC65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52381" y="1920353"/>
            <a:ext cx="5887843" cy="5887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0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056"/>
                                        </p:tgtEl>
                                        <p:attrNameLst>
                                          <p:attrName>style.visibility</p:attrName>
                                        </p:attrNameLst>
                                      </p:cBhvr>
                                      <p:to>
                                        <p:strVal val="visible"/>
                                      </p:to>
                                    </p:set>
                                    <p:animEffect transition="in" filter="blinds(horizontal)">
                                      <p:cBhvr>
                                        <p:cTn id="15" dur="500"/>
                                        <p:tgtEl>
                                          <p:spTgt spid="205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770368-D691-6B4C-90DE-83EB77CF2068}"/>
              </a:ext>
            </a:extLst>
          </p:cNvPr>
          <p:cNvSpPr>
            <a:spLocks noGrp="1"/>
          </p:cNvSpPr>
          <p:nvPr>
            <p:ph idx="1"/>
          </p:nvPr>
        </p:nvSpPr>
        <p:spPr>
          <a:xfrm>
            <a:off x="972122" y="1828800"/>
            <a:ext cx="15373922" cy="6344221"/>
          </a:xfrm>
        </p:spPr>
        <p:txBody>
          <a:bodyPr/>
          <a:lstStyle/>
          <a:p>
            <a:endParaRPr lang="en-NO" dirty="0"/>
          </a:p>
          <a:p>
            <a:pPr marL="0" indent="0">
              <a:buNone/>
            </a:pPr>
            <a:r>
              <a:rPr lang="en-NO" dirty="0"/>
              <a:t>3. Train the machine learning model with data</a:t>
            </a:r>
          </a:p>
          <a:p>
            <a:pPr marL="0" indent="0">
              <a:buNone/>
            </a:pPr>
            <a:r>
              <a:rPr lang="en-GB" dirty="0">
                <a:solidFill>
                  <a:srgbClr val="0070C0"/>
                </a:solidFill>
              </a:rPr>
              <a:t>The model will look for patterns in the images in order to identify cats and lions</a:t>
            </a:r>
          </a:p>
          <a:p>
            <a:pPr marL="0" indent="0">
              <a:buNone/>
            </a:pPr>
            <a:endParaRPr lang="en-GB" dirty="0"/>
          </a:p>
          <a:p>
            <a:pPr marL="0" indent="0">
              <a:buNone/>
            </a:pPr>
            <a:r>
              <a:rPr lang="en-GB" dirty="0"/>
              <a:t>4. Once the model is trained, we give it different input images to test and see if the model gives us the right answer.</a:t>
            </a:r>
          </a:p>
        </p:txBody>
      </p:sp>
      <p:sp>
        <p:nvSpPr>
          <p:cNvPr id="4" name="Footer Placeholder 3">
            <a:extLst>
              <a:ext uri="{FF2B5EF4-FFF2-40B4-BE49-F238E27FC236}">
                <a16:creationId xmlns:a16="http://schemas.microsoft.com/office/drawing/2014/main" id="{CE8D4674-D850-0E40-9908-F0B770A33EB1}"/>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3619121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ultado de imagem para machine learning em nossas vidas | 기술">
            <a:extLst>
              <a:ext uri="{FF2B5EF4-FFF2-40B4-BE49-F238E27FC236}">
                <a16:creationId xmlns:a16="http://schemas.microsoft.com/office/drawing/2014/main" id="{364BB54C-40F6-7741-844A-9EFC78571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3648" y="0"/>
            <a:ext cx="11582400" cy="975201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1D8F8F3-DF32-0B4B-A6F3-CD3719AC0612}"/>
              </a:ext>
            </a:extLst>
          </p:cNvPr>
          <p:cNvSpPr>
            <a:spLocks noGrp="1"/>
          </p:cNvSpPr>
          <p:nvPr>
            <p:ph type="title"/>
          </p:nvPr>
        </p:nvSpPr>
        <p:spPr>
          <a:xfrm>
            <a:off x="2196333" y="680827"/>
            <a:ext cx="5118867" cy="664797"/>
          </a:xfrm>
        </p:spPr>
        <p:txBody>
          <a:bodyPr>
            <a:normAutofit/>
          </a:bodyPr>
          <a:lstStyle/>
          <a:p>
            <a:r>
              <a:rPr lang="en-NO" dirty="0"/>
              <a:t>Typical M.L Flow</a:t>
            </a:r>
          </a:p>
        </p:txBody>
      </p:sp>
    </p:spTree>
    <p:extLst>
      <p:ext uri="{BB962C8B-B14F-4D97-AF65-F5344CB8AC3E}">
        <p14:creationId xmlns:p14="http://schemas.microsoft.com/office/powerpoint/2010/main" val="1667440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26938"/>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nb-NO" dirty="0"/>
              <a:t>4 </a:t>
            </a:r>
            <a:r>
              <a:rPr lang="en-NO"/>
              <a:t>Types </a:t>
            </a:r>
            <a:r>
              <a:rPr lang="en-NO" dirty="0"/>
              <a:t>of Machine Learning algorithms</a:t>
            </a:r>
          </a:p>
        </p:txBody>
      </p:sp>
      <p:sp>
        <p:nvSpPr>
          <p:cNvPr id="3" name="Content Placeholder 2">
            <a:extLst>
              <a:ext uri="{FF2B5EF4-FFF2-40B4-BE49-F238E27FC236}">
                <a16:creationId xmlns:a16="http://schemas.microsoft.com/office/drawing/2014/main" id="{E0BAC923-030A-F346-8E52-C87A246D3E66}"/>
              </a:ext>
            </a:extLst>
          </p:cNvPr>
          <p:cNvSpPr>
            <a:spLocks noGrp="1"/>
          </p:cNvSpPr>
          <p:nvPr>
            <p:ph idx="1"/>
          </p:nvPr>
        </p:nvSpPr>
        <p:spPr>
          <a:xfrm>
            <a:off x="972122" y="2039873"/>
            <a:ext cx="15373922" cy="6133147"/>
          </a:xfrm>
        </p:spPr>
        <p:txBody>
          <a:bodyPr/>
          <a:lstStyle/>
          <a:p>
            <a:r>
              <a:rPr lang="en-NO" dirty="0"/>
              <a:t>Supervised learning</a:t>
            </a:r>
          </a:p>
          <a:p>
            <a:r>
              <a:rPr lang="en-NO" dirty="0"/>
              <a:t>Unsupervised learning</a:t>
            </a:r>
          </a:p>
          <a:p>
            <a:r>
              <a:rPr lang="en-NO" dirty="0"/>
              <a:t>Reinforcement learning</a:t>
            </a:r>
          </a:p>
          <a:p>
            <a:r>
              <a:rPr lang="en-NO" dirty="0"/>
              <a:t>Recommender systems</a:t>
            </a:r>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1186948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a:t>Supervised learning</a:t>
            </a:r>
            <a:endParaRPr lang="en-NO"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pic>
        <p:nvPicPr>
          <p:cNvPr id="3074" name="Picture 2" descr="supervised machine learning model: what is machine learning and why is it important?  - Verzeo">
            <a:extLst>
              <a:ext uri="{FF2B5EF4-FFF2-40B4-BE49-F238E27FC236}">
                <a16:creationId xmlns:a16="http://schemas.microsoft.com/office/drawing/2014/main" id="{3D6AD11F-0450-5541-B1C5-A7FED8D6B62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44022" y="1858430"/>
            <a:ext cx="12385655" cy="6453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471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2" name="Rectangle 1">
            <a:extLst>
              <a:ext uri="{FF2B5EF4-FFF2-40B4-BE49-F238E27FC236}">
                <a16:creationId xmlns:a16="http://schemas.microsoft.com/office/drawing/2014/main" id="{6DB231ED-FAC1-F8FA-566C-A9D603FA4C08}"/>
              </a:ext>
            </a:extLst>
          </p:cNvPr>
          <p:cNvSpPr/>
          <p:nvPr/>
        </p:nvSpPr>
        <p:spPr>
          <a:xfrm>
            <a:off x="4057" y="-1"/>
            <a:ext cx="17336911" cy="975201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00277">
              <a:buClr>
                <a:srgbClr val="000000"/>
              </a:buClr>
            </a:pPr>
            <a:endParaRPr lang="en-PK" sz="1991" kern="0">
              <a:solidFill>
                <a:srgbClr val="FFFFFF"/>
              </a:solidFill>
              <a:latin typeface="Arial"/>
              <a:sym typeface="Arial"/>
            </a:endParaRPr>
          </a:p>
        </p:txBody>
      </p:sp>
      <p:sp>
        <p:nvSpPr>
          <p:cNvPr id="368" name="Google Shape;368;p4"/>
          <p:cNvSpPr/>
          <p:nvPr/>
        </p:nvSpPr>
        <p:spPr>
          <a:xfrm rot="-5400000">
            <a:off x="14847004" y="1482574"/>
            <a:ext cx="3976542" cy="1011394"/>
          </a:xfrm>
          <a:prstGeom prst="rect">
            <a:avLst/>
          </a:prstGeom>
          <a:gradFill>
            <a:gsLst>
              <a:gs pos="0">
                <a:srgbClr val="ACB8CA">
                  <a:alpha val="0"/>
                </a:srgbClr>
              </a:gs>
              <a:gs pos="100000">
                <a:srgbClr val="323F4F">
                  <a:alpha val="9411"/>
                </a:srgbClr>
              </a:gs>
            </a:gsLst>
            <a:lin ang="8400000" scaled="0"/>
          </a:gradFill>
          <a:ln>
            <a:noFill/>
          </a:ln>
        </p:spPr>
        <p:txBody>
          <a:bodyPr spcFirstLastPara="1" wrap="square" lIns="130006" tIns="64985" rIns="130006" bIns="64985" anchor="ctr" anchorCtr="0">
            <a:noAutofit/>
          </a:bodyPr>
          <a:lstStyle/>
          <a:p>
            <a:pPr algn="ctr" defTabSz="1300277">
              <a:buClr>
                <a:srgbClr val="FFFFFF"/>
              </a:buClr>
              <a:buSzPts val="1800"/>
            </a:pPr>
            <a:endParaRPr kern="0">
              <a:solidFill>
                <a:srgbClr val="FFFFFF"/>
              </a:solidFill>
              <a:latin typeface="Calibri"/>
              <a:ea typeface="Calibri"/>
              <a:cs typeface="Calibri"/>
              <a:sym typeface="Calibri"/>
            </a:endParaRPr>
          </a:p>
        </p:txBody>
      </p:sp>
      <p:pic>
        <p:nvPicPr>
          <p:cNvPr id="3" name="Google Shape;418;p61">
            <a:extLst>
              <a:ext uri="{FF2B5EF4-FFF2-40B4-BE49-F238E27FC236}">
                <a16:creationId xmlns:a16="http://schemas.microsoft.com/office/drawing/2014/main" id="{CCDC78F7-115E-014D-EF58-F2134F804E77}"/>
              </a:ext>
            </a:extLst>
          </p:cNvPr>
          <p:cNvPicPr preferRelativeResize="0">
            <a:picLocks noGrp="1"/>
          </p:cNvPicPr>
          <p:nvPr>
            <p:ph type="body" idx="1"/>
          </p:nvPr>
        </p:nvPicPr>
        <p:blipFill rotWithShape="1">
          <a:blip r:embed="rId3">
            <a:alphaModFix/>
          </a:blip>
          <a:srcRect/>
          <a:stretch/>
        </p:blipFill>
        <p:spPr>
          <a:xfrm>
            <a:off x="129082" y="150032"/>
            <a:ext cx="17078524" cy="9443615"/>
          </a:xfrm>
          <a:prstGeom prst="rect">
            <a:avLst/>
          </a:prstGeom>
          <a:noFill/>
          <a:ln>
            <a:noFill/>
          </a:ln>
        </p:spPr>
      </p:pic>
    </p:spTree>
    <p:extLst>
      <p:ext uri="{BB962C8B-B14F-4D97-AF65-F5344CB8AC3E}">
        <p14:creationId xmlns:p14="http://schemas.microsoft.com/office/powerpoint/2010/main" val="3137657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2" name="Rectangle 1">
            <a:extLst>
              <a:ext uri="{FF2B5EF4-FFF2-40B4-BE49-F238E27FC236}">
                <a16:creationId xmlns:a16="http://schemas.microsoft.com/office/drawing/2014/main" id="{6DB231ED-FAC1-F8FA-566C-A9D603FA4C08}"/>
              </a:ext>
            </a:extLst>
          </p:cNvPr>
          <p:cNvSpPr/>
          <p:nvPr/>
        </p:nvSpPr>
        <p:spPr>
          <a:xfrm>
            <a:off x="4057" y="-1"/>
            <a:ext cx="17336911" cy="975201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00277">
              <a:buClr>
                <a:srgbClr val="000000"/>
              </a:buClr>
            </a:pPr>
            <a:endParaRPr lang="en-PK" sz="1991" kern="0">
              <a:solidFill>
                <a:srgbClr val="FFFFFF"/>
              </a:solidFill>
              <a:latin typeface="Arial"/>
              <a:sym typeface="Arial"/>
            </a:endParaRPr>
          </a:p>
        </p:txBody>
      </p:sp>
      <p:sp>
        <p:nvSpPr>
          <p:cNvPr id="368" name="Google Shape;368;p4"/>
          <p:cNvSpPr/>
          <p:nvPr/>
        </p:nvSpPr>
        <p:spPr>
          <a:xfrm rot="-5400000">
            <a:off x="14847004" y="1482574"/>
            <a:ext cx="3976542" cy="1011394"/>
          </a:xfrm>
          <a:prstGeom prst="rect">
            <a:avLst/>
          </a:prstGeom>
          <a:gradFill>
            <a:gsLst>
              <a:gs pos="0">
                <a:srgbClr val="ACB8CA">
                  <a:alpha val="0"/>
                </a:srgbClr>
              </a:gs>
              <a:gs pos="100000">
                <a:srgbClr val="323F4F">
                  <a:alpha val="9411"/>
                </a:srgbClr>
              </a:gs>
            </a:gsLst>
            <a:lin ang="8400000" scaled="0"/>
          </a:gradFill>
          <a:ln>
            <a:noFill/>
          </a:ln>
        </p:spPr>
        <p:txBody>
          <a:bodyPr spcFirstLastPara="1" wrap="square" lIns="130006" tIns="64985" rIns="130006" bIns="64985" anchor="ctr" anchorCtr="0">
            <a:noAutofit/>
          </a:bodyPr>
          <a:lstStyle/>
          <a:p>
            <a:pPr algn="ctr" defTabSz="1300277">
              <a:buClr>
                <a:srgbClr val="FFFFFF"/>
              </a:buClr>
              <a:buSzPts val="1800"/>
            </a:pPr>
            <a:endParaRPr kern="0">
              <a:solidFill>
                <a:srgbClr val="FFFFFF"/>
              </a:solidFill>
              <a:latin typeface="Calibri"/>
              <a:ea typeface="Calibri"/>
              <a:cs typeface="Calibri"/>
              <a:sym typeface="Calibri"/>
            </a:endParaRPr>
          </a:p>
        </p:txBody>
      </p:sp>
      <p:sp>
        <p:nvSpPr>
          <p:cNvPr id="421" name="Google Shape;421;p61"/>
          <p:cNvSpPr txBox="1"/>
          <p:nvPr/>
        </p:nvSpPr>
        <p:spPr>
          <a:xfrm>
            <a:off x="9887421" y="4851619"/>
            <a:ext cx="6674401" cy="2231814"/>
          </a:xfrm>
          <a:prstGeom prst="rect">
            <a:avLst/>
          </a:prstGeom>
          <a:noFill/>
          <a:ln>
            <a:noFill/>
          </a:ln>
        </p:spPr>
        <p:txBody>
          <a:bodyPr spcFirstLastPara="1" wrap="square" lIns="130006" tIns="64985" rIns="130006" bIns="64985" anchor="t" anchorCtr="0">
            <a:spAutoFit/>
          </a:bodyPr>
          <a:lstStyle/>
          <a:p>
            <a:pPr defTabSz="1300277">
              <a:buClr>
                <a:srgbClr val="000000"/>
              </a:buClr>
            </a:pPr>
            <a:r>
              <a:rPr lang="en-NO" sz="4550" kern="0" dirty="0">
                <a:solidFill>
                  <a:srgbClr val="FFFFFF"/>
                </a:solidFill>
                <a:latin typeface="Calibri"/>
                <a:ea typeface="Calibri"/>
                <a:cs typeface="Calibri"/>
                <a:sym typeface="Calibri"/>
              </a:rPr>
              <a:t>Health AI  (labeling sections to identify dry eye disease)</a:t>
            </a:r>
            <a:endParaRPr sz="3982" kern="0" dirty="0">
              <a:solidFill>
                <a:srgbClr val="FFFFFF"/>
              </a:solidFill>
              <a:latin typeface="Arial"/>
              <a:cs typeface="Arial"/>
              <a:sym typeface="Arial"/>
            </a:endParaRPr>
          </a:p>
        </p:txBody>
      </p:sp>
      <p:pic>
        <p:nvPicPr>
          <p:cNvPr id="6" name="Google Shape;419;p61">
            <a:extLst>
              <a:ext uri="{FF2B5EF4-FFF2-40B4-BE49-F238E27FC236}">
                <a16:creationId xmlns:a16="http://schemas.microsoft.com/office/drawing/2014/main" id="{FA680427-9A6F-6041-9037-4B4B7EF203D1}"/>
              </a:ext>
            </a:extLst>
          </p:cNvPr>
          <p:cNvPicPr preferRelativeResize="0"/>
          <p:nvPr/>
        </p:nvPicPr>
        <p:blipFill rotWithShape="1">
          <a:blip r:embed="rId3">
            <a:alphaModFix/>
          </a:blip>
          <a:srcRect/>
          <a:stretch/>
        </p:blipFill>
        <p:spPr>
          <a:xfrm>
            <a:off x="1093941" y="674417"/>
            <a:ext cx="6674401" cy="4045848"/>
          </a:xfrm>
          <a:prstGeom prst="rect">
            <a:avLst/>
          </a:prstGeom>
          <a:noFill/>
          <a:ln>
            <a:noFill/>
          </a:ln>
        </p:spPr>
      </p:pic>
      <p:pic>
        <p:nvPicPr>
          <p:cNvPr id="420" name="Google Shape;420;p61"/>
          <p:cNvPicPr preferRelativeResize="0"/>
          <p:nvPr/>
        </p:nvPicPr>
        <p:blipFill rotWithShape="1">
          <a:blip r:embed="rId4">
            <a:alphaModFix/>
          </a:blip>
          <a:srcRect/>
          <a:stretch/>
        </p:blipFill>
        <p:spPr>
          <a:xfrm>
            <a:off x="9945767" y="674417"/>
            <a:ext cx="6674401" cy="3976543"/>
          </a:xfrm>
          <a:prstGeom prst="rect">
            <a:avLst/>
          </a:prstGeom>
          <a:noFill/>
          <a:ln>
            <a:noFill/>
          </a:ln>
        </p:spPr>
      </p:pic>
      <p:pic>
        <p:nvPicPr>
          <p:cNvPr id="8" name="Google Shape;420;p61">
            <a:extLst>
              <a:ext uri="{FF2B5EF4-FFF2-40B4-BE49-F238E27FC236}">
                <a16:creationId xmlns:a16="http://schemas.microsoft.com/office/drawing/2014/main" id="{1FB6AD4E-CD40-B931-DC95-FB0A06B62945}"/>
              </a:ext>
            </a:extLst>
          </p:cNvPr>
          <p:cNvPicPr preferRelativeResize="0"/>
          <p:nvPr/>
        </p:nvPicPr>
        <p:blipFill rotWithShape="1">
          <a:blip r:embed="rId4">
            <a:alphaModFix/>
          </a:blip>
          <a:srcRect/>
          <a:stretch/>
        </p:blipFill>
        <p:spPr>
          <a:xfrm>
            <a:off x="1093941" y="5031748"/>
            <a:ext cx="6674401" cy="3976543"/>
          </a:xfrm>
          <a:prstGeom prst="rect">
            <a:avLst/>
          </a:prstGeom>
          <a:noFill/>
          <a:ln>
            <a:noFill/>
          </a:ln>
        </p:spPr>
      </p:pic>
      <p:pic>
        <p:nvPicPr>
          <p:cNvPr id="3" name="Picture 2" descr="Learn about opportunities at Simula | UiT">
            <a:extLst>
              <a:ext uri="{FF2B5EF4-FFF2-40B4-BE49-F238E27FC236}">
                <a16:creationId xmlns:a16="http://schemas.microsoft.com/office/drawing/2014/main" id="{87334817-5680-656E-4E45-FEC2D087C9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45809" y="8206744"/>
            <a:ext cx="2038604" cy="562655"/>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0A567580-FC54-0BAD-302B-A735B43100E7}"/>
              </a:ext>
            </a:extLst>
          </p:cNvPr>
          <p:cNvGrpSpPr/>
          <p:nvPr/>
        </p:nvGrpSpPr>
        <p:grpSpPr>
          <a:xfrm>
            <a:off x="12807497" y="7914894"/>
            <a:ext cx="4856654" cy="1291633"/>
            <a:chOff x="6607207" y="2850215"/>
            <a:chExt cx="3415391" cy="908327"/>
          </a:xfrm>
        </p:grpSpPr>
        <p:sp>
          <p:nvSpPr>
            <p:cNvPr id="12" name="Google Shape;104;p1">
              <a:extLst>
                <a:ext uri="{FF2B5EF4-FFF2-40B4-BE49-F238E27FC236}">
                  <a16:creationId xmlns:a16="http://schemas.microsoft.com/office/drawing/2014/main" id="{A64FB909-B7AB-FAEA-EAC7-2EED4956BD8D}"/>
                </a:ext>
              </a:extLst>
            </p:cNvPr>
            <p:cNvSpPr txBox="1"/>
            <p:nvPr/>
          </p:nvSpPr>
          <p:spPr>
            <a:xfrm>
              <a:off x="7456163" y="2906561"/>
              <a:ext cx="2566435" cy="584695"/>
            </a:xfrm>
            <a:prstGeom prst="rect">
              <a:avLst/>
            </a:prstGeom>
            <a:noFill/>
            <a:ln>
              <a:noFill/>
            </a:ln>
          </p:spPr>
          <p:txBody>
            <a:bodyPr spcFirstLastPara="1" wrap="square" lIns="130006" tIns="64985" rIns="130006" bIns="64985" anchor="t" anchorCtr="0">
              <a:spAutoFit/>
            </a:bodyPr>
            <a:lstStyle/>
            <a:p>
              <a:pPr defTabSz="1300277">
                <a:buClr>
                  <a:srgbClr val="000000"/>
                </a:buClr>
              </a:pPr>
              <a:r>
                <a:rPr lang="nb-NO" sz="4550" kern="0" dirty="0">
                  <a:solidFill>
                    <a:srgbClr val="FFFFFF"/>
                  </a:solidFill>
                  <a:latin typeface=""/>
                  <a:ea typeface="Bodoni Ornaments" pitchFamily="2" charset="0"/>
                  <a:cs typeface="Calibri" panose="020F0502020204030204" pitchFamily="34" charset="0"/>
                  <a:sym typeface="Calibri"/>
                </a:rPr>
                <a:t>bineric data</a:t>
              </a:r>
              <a:endParaRPr sz="1991" kern="0" dirty="0">
                <a:solidFill>
                  <a:srgbClr val="FFFFFF"/>
                </a:solidFill>
                <a:latin typeface=""/>
                <a:ea typeface="Bodoni Ornaments" pitchFamily="2" charset="0"/>
                <a:cs typeface="Calibri" panose="020F0502020204030204" pitchFamily="34" charset="0"/>
                <a:sym typeface="Arial"/>
              </a:endParaRPr>
            </a:p>
          </p:txBody>
        </p:sp>
        <p:pic>
          <p:nvPicPr>
            <p:cNvPr id="13" name="Google Shape;103;p1">
              <a:extLst>
                <a:ext uri="{FF2B5EF4-FFF2-40B4-BE49-F238E27FC236}">
                  <a16:creationId xmlns:a16="http://schemas.microsoft.com/office/drawing/2014/main" id="{202F7CCC-10F7-3475-2F22-4DB48CAEBDC7}"/>
                </a:ext>
              </a:extLst>
            </p:cNvPr>
            <p:cNvPicPr preferRelativeResize="0"/>
            <p:nvPr/>
          </p:nvPicPr>
          <p:blipFill rotWithShape="1">
            <a:blip r:embed="rId6">
              <a:alphaModFix/>
              <a:extLst>
                <a:ext uri="{BEBA8EAE-BF5A-486C-A8C5-ECC9F3942E4B}">
                  <a14:imgProps xmlns:a14="http://schemas.microsoft.com/office/drawing/2010/main">
                    <a14:imgLayer r:embed="rId7">
                      <a14:imgEffect>
                        <a14:backgroundRemoval t="9439" b="94133" l="9934" r="89404">
                          <a14:foregroundMark x1="83444" y1="62500" x2="83444" y2="62500"/>
                          <a14:foregroundMark x1="69205" y1="76531" x2="69205" y2="76531"/>
                          <a14:foregroundMark x1="54636" y1="76531" x2="54636" y2="76531"/>
                          <a14:foregroundMark x1="54967" y1="94133" x2="54967" y2="94133"/>
                          <a14:foregroundMark x1="54967" y1="9439" x2="54967" y2="9439"/>
                          <a14:foregroundMark x1="81788" y1="65816" x2="81788" y2="65816"/>
                          <a14:foregroundMark x1="73179" y1="74235" x2="73179" y2="74235"/>
                          <a14:foregroundMark x1="49007" y1="80867" x2="49007" y2="80867"/>
                          <a14:foregroundMark x1="70861" y1="67092" x2="70861" y2="67092"/>
                        </a14:backgroundRemoval>
                      </a14:imgEffect>
                    </a14:imgLayer>
                  </a14:imgProps>
                </a:ext>
              </a:extLst>
            </a:blip>
            <a:srcRect/>
            <a:stretch/>
          </p:blipFill>
          <p:spPr>
            <a:xfrm rot="10800000">
              <a:off x="6607207" y="2850215"/>
              <a:ext cx="749556" cy="908327"/>
            </a:xfrm>
            <a:prstGeom prst="rect">
              <a:avLst/>
            </a:prstGeom>
            <a:noFill/>
            <a:ln>
              <a:noFill/>
            </a:ln>
          </p:spPr>
        </p:pic>
      </p:grpSp>
    </p:spTree>
    <p:extLst>
      <p:ext uri="{BB962C8B-B14F-4D97-AF65-F5344CB8AC3E}">
        <p14:creationId xmlns:p14="http://schemas.microsoft.com/office/powerpoint/2010/main" val="2901687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Unsupervised learning</a:t>
            </a:r>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pic>
        <p:nvPicPr>
          <p:cNvPr id="4098" name="Picture 2" descr="unsupervised learning model - What is Machine learning and why is it important?  - Verzeo">
            <a:extLst>
              <a:ext uri="{FF2B5EF4-FFF2-40B4-BE49-F238E27FC236}">
                <a16:creationId xmlns:a16="http://schemas.microsoft.com/office/drawing/2014/main" id="{FFA8EC0A-0043-5A4C-8ED8-8EB55928D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1171" y="2530030"/>
            <a:ext cx="13849898" cy="5152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753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7D493F-8A22-C84A-81EA-DC0DE5B74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409" y="-93455"/>
            <a:ext cx="6729763" cy="3438479"/>
          </a:xfrm>
          <a:prstGeom prst="rect">
            <a:avLst/>
          </a:prstGeom>
        </p:spPr>
      </p:pic>
      <p:pic>
        <p:nvPicPr>
          <p:cNvPr id="9" name="Picture 8">
            <a:extLst>
              <a:ext uri="{FF2B5EF4-FFF2-40B4-BE49-F238E27FC236}">
                <a16:creationId xmlns:a16="http://schemas.microsoft.com/office/drawing/2014/main" id="{2FF662A0-39B4-1D4C-8CFF-0819EFC3DF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1726" y="1226043"/>
            <a:ext cx="4300787" cy="5180947"/>
          </a:xfrm>
          <a:prstGeom prst="rect">
            <a:avLst/>
          </a:prstGeom>
        </p:spPr>
      </p:pic>
      <p:pic>
        <p:nvPicPr>
          <p:cNvPr id="11" name="Picture 10">
            <a:extLst>
              <a:ext uri="{FF2B5EF4-FFF2-40B4-BE49-F238E27FC236}">
                <a16:creationId xmlns:a16="http://schemas.microsoft.com/office/drawing/2014/main" id="{85F89533-DE03-0D41-8213-544DCEE6F5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6349" y="3045373"/>
            <a:ext cx="4519482" cy="3954547"/>
          </a:xfrm>
          <a:prstGeom prst="rect">
            <a:avLst/>
          </a:prstGeom>
        </p:spPr>
      </p:pic>
      <p:pic>
        <p:nvPicPr>
          <p:cNvPr id="13" name="Picture 12">
            <a:extLst>
              <a:ext uri="{FF2B5EF4-FFF2-40B4-BE49-F238E27FC236}">
                <a16:creationId xmlns:a16="http://schemas.microsoft.com/office/drawing/2014/main" id="{A7123619-1DB0-194B-B5D0-97DA2866FA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05979" y="7592850"/>
            <a:ext cx="10660737" cy="1866239"/>
          </a:xfrm>
          <a:prstGeom prst="rect">
            <a:avLst/>
          </a:prstGeom>
        </p:spPr>
      </p:pic>
      <p:pic>
        <p:nvPicPr>
          <p:cNvPr id="15" name="Picture 14">
            <a:extLst>
              <a:ext uri="{FF2B5EF4-FFF2-40B4-BE49-F238E27FC236}">
                <a16:creationId xmlns:a16="http://schemas.microsoft.com/office/drawing/2014/main" id="{3F0D05A3-CA61-F14E-B2BC-35E0C59151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41938" y="5913971"/>
            <a:ext cx="6449559" cy="1678880"/>
          </a:xfrm>
          <a:prstGeom prst="rect">
            <a:avLst/>
          </a:prstGeom>
        </p:spPr>
      </p:pic>
      <p:pic>
        <p:nvPicPr>
          <p:cNvPr id="17" name="Picture 16">
            <a:extLst>
              <a:ext uri="{FF2B5EF4-FFF2-40B4-BE49-F238E27FC236}">
                <a16:creationId xmlns:a16="http://schemas.microsoft.com/office/drawing/2014/main" id="{8BC5F3B4-B0F9-944D-9A32-5369404D6F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25782" y="292923"/>
            <a:ext cx="7251916" cy="2050280"/>
          </a:xfrm>
          <a:prstGeom prst="rect">
            <a:avLst/>
          </a:prstGeom>
        </p:spPr>
      </p:pic>
    </p:spTree>
    <p:extLst>
      <p:ext uri="{BB962C8B-B14F-4D97-AF65-F5344CB8AC3E}">
        <p14:creationId xmlns:p14="http://schemas.microsoft.com/office/powerpoint/2010/main" val="1070318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038ECA-D6B7-0141-ADED-1B2CF4DCB221}"/>
              </a:ext>
            </a:extLst>
          </p:cNvPr>
          <p:cNvSpPr/>
          <p:nvPr/>
        </p:nvSpPr>
        <p:spPr>
          <a:xfrm>
            <a:off x="874409" y="-167897"/>
            <a:ext cx="15596207" cy="991990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69661">
              <a:defRPr/>
            </a:pPr>
            <a:endParaRPr lang="en-NO" sz="2302">
              <a:solidFill>
                <a:prstClr val="white"/>
              </a:solidFill>
              <a:latin typeface="Calibri" panose="020F0502020204030204"/>
            </a:endParaRPr>
          </a:p>
        </p:txBody>
      </p:sp>
      <p:sp>
        <p:nvSpPr>
          <p:cNvPr id="5" name="TextBox 4">
            <a:extLst>
              <a:ext uri="{FF2B5EF4-FFF2-40B4-BE49-F238E27FC236}">
                <a16:creationId xmlns:a16="http://schemas.microsoft.com/office/drawing/2014/main" id="{36180613-D174-4D4B-ADF4-379B658AC0A7}"/>
              </a:ext>
            </a:extLst>
          </p:cNvPr>
          <p:cNvSpPr txBox="1"/>
          <p:nvPr/>
        </p:nvSpPr>
        <p:spPr>
          <a:xfrm>
            <a:off x="1182026" y="4338876"/>
            <a:ext cx="14490795" cy="1820910"/>
          </a:xfrm>
          <a:prstGeom prst="rect">
            <a:avLst/>
          </a:prstGeom>
          <a:noFill/>
        </p:spPr>
        <p:txBody>
          <a:bodyPr wrap="square" rtlCol="0">
            <a:spAutoFit/>
          </a:bodyPr>
          <a:lstStyle/>
          <a:p>
            <a:pPr algn="ctr" defTabSz="1169661">
              <a:defRPr/>
            </a:pPr>
            <a:r>
              <a:rPr lang="en-NO" sz="5628" b="1">
                <a:solidFill>
                  <a:prstClr val="white"/>
                </a:solidFill>
                <a:latin typeface="Calibri" panose="020F0502020204030204"/>
              </a:rPr>
              <a:t>Step 1: Analyzing how angry the users are (sentiment analysis)</a:t>
            </a:r>
          </a:p>
        </p:txBody>
      </p:sp>
      <p:pic>
        <p:nvPicPr>
          <p:cNvPr id="7" name="Graphic 6" descr="Brain">
            <a:extLst>
              <a:ext uri="{FF2B5EF4-FFF2-40B4-BE49-F238E27FC236}">
                <a16:creationId xmlns:a16="http://schemas.microsoft.com/office/drawing/2014/main" id="{3F87F652-D289-3542-9F01-2E60F96B55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26641" y="8448211"/>
            <a:ext cx="1092359" cy="1092359"/>
          </a:xfrm>
          <a:prstGeom prst="rect">
            <a:avLst/>
          </a:prstGeom>
        </p:spPr>
      </p:pic>
      <p:sp>
        <p:nvSpPr>
          <p:cNvPr id="8" name="Title 1">
            <a:extLst>
              <a:ext uri="{FF2B5EF4-FFF2-40B4-BE49-F238E27FC236}">
                <a16:creationId xmlns:a16="http://schemas.microsoft.com/office/drawing/2014/main" id="{594FBB2E-95EF-A646-B7B6-86248E3B8094}"/>
              </a:ext>
            </a:extLst>
          </p:cNvPr>
          <p:cNvSpPr txBox="1">
            <a:spLocks/>
          </p:cNvSpPr>
          <p:nvPr/>
        </p:nvSpPr>
        <p:spPr>
          <a:xfrm>
            <a:off x="9256411" y="8730810"/>
            <a:ext cx="7091602" cy="991712"/>
          </a:xfrm>
          <a:prstGeom prst="rect">
            <a:avLst/>
          </a:prstGeom>
        </p:spPr>
        <p:txBody>
          <a:bodyPr/>
          <a:lstStyle>
            <a:lvl1pPr algn="l" defTabSz="1689080" rtl="0" eaLnBrk="1" latinLnBrk="0" hangingPunct="1">
              <a:spcBef>
                <a:spcPct val="0"/>
              </a:spcBef>
              <a:buNone/>
              <a:defRPr sz="4800" b="0" kern="1200">
                <a:solidFill>
                  <a:schemeClr val="tx1"/>
                </a:solidFill>
                <a:latin typeface="DIN-Bold" charset="0"/>
                <a:ea typeface="DIN-Bold" charset="0"/>
                <a:cs typeface="DIN-Bold" charset="0"/>
              </a:defRPr>
            </a:lvl1pPr>
          </a:lstStyle>
          <a:p>
            <a:pPr defTabSz="1622192">
              <a:defRPr/>
            </a:pPr>
            <a:r>
              <a:rPr lang="en-GB" sz="3073">
                <a:solidFill>
                  <a:srgbClr val="FFFFFF"/>
                </a:solidFill>
              </a:rPr>
              <a:t>P</a:t>
            </a:r>
            <a:r>
              <a:rPr lang="en-NO" sz="3073">
                <a:solidFill>
                  <a:srgbClr val="FFFFFF"/>
                </a:solidFill>
              </a:rPr>
              <a:t>roject: Customer Insights using A.I</a:t>
            </a:r>
          </a:p>
        </p:txBody>
      </p:sp>
    </p:spTree>
    <p:extLst>
      <p:ext uri="{BB962C8B-B14F-4D97-AF65-F5344CB8AC3E}">
        <p14:creationId xmlns:p14="http://schemas.microsoft.com/office/powerpoint/2010/main" val="3063396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a:extLst>
              <a:ext uri="{FF2B5EF4-FFF2-40B4-BE49-F238E27FC236}">
                <a16:creationId xmlns:a16="http://schemas.microsoft.com/office/drawing/2014/main" id="{445BA5E3-66A6-EF4C-A098-2C635E58AFD3}"/>
              </a:ext>
            </a:extLst>
          </p:cNvPr>
          <p:cNvSpPr>
            <a:spLocks noChangeAspect="1" noChangeArrowheads="1"/>
          </p:cNvSpPr>
          <p:nvPr/>
        </p:nvSpPr>
        <p:spPr bwMode="auto">
          <a:xfrm>
            <a:off x="8477560" y="4681054"/>
            <a:ext cx="389905" cy="3899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16972" tIns="58486" rIns="116972" bIns="58486" numCol="1" anchor="t" anchorCtr="0" compatLnSpc="1">
            <a:prstTxWarp prst="textNoShape">
              <a:avLst/>
            </a:prstTxWarp>
          </a:bodyPr>
          <a:lstStyle/>
          <a:p>
            <a:pPr defTabSz="1622192">
              <a:defRPr/>
            </a:pPr>
            <a:endParaRPr lang="en-NO" sz="4221">
              <a:solidFill>
                <a:prstClr val="black"/>
              </a:solidFill>
              <a:latin typeface="Arial"/>
            </a:endParaRPr>
          </a:p>
        </p:txBody>
      </p:sp>
      <p:pic>
        <p:nvPicPr>
          <p:cNvPr id="6" name="Picture 5">
            <a:extLst>
              <a:ext uri="{FF2B5EF4-FFF2-40B4-BE49-F238E27FC236}">
                <a16:creationId xmlns:a16="http://schemas.microsoft.com/office/drawing/2014/main" id="{82491586-C84B-3145-B3EB-51EE0B089A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695" y="248965"/>
            <a:ext cx="8087731" cy="9254083"/>
          </a:xfrm>
          <a:prstGeom prst="rect">
            <a:avLst/>
          </a:prstGeom>
        </p:spPr>
      </p:pic>
    </p:spTree>
    <p:extLst>
      <p:ext uri="{BB962C8B-B14F-4D97-AF65-F5344CB8AC3E}">
        <p14:creationId xmlns:p14="http://schemas.microsoft.com/office/powerpoint/2010/main" val="3803848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a:extLst>
              <a:ext uri="{FF2B5EF4-FFF2-40B4-BE49-F238E27FC236}">
                <a16:creationId xmlns:a16="http://schemas.microsoft.com/office/drawing/2014/main" id="{445BA5E3-66A6-EF4C-A098-2C635E58AFD3}"/>
              </a:ext>
            </a:extLst>
          </p:cNvPr>
          <p:cNvSpPr>
            <a:spLocks noChangeAspect="1" noChangeArrowheads="1"/>
          </p:cNvSpPr>
          <p:nvPr/>
        </p:nvSpPr>
        <p:spPr bwMode="auto">
          <a:xfrm>
            <a:off x="8497123" y="4700617"/>
            <a:ext cx="350779" cy="3507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5234" tIns="52618" rIns="105234" bIns="52618" numCol="1" anchor="t" anchorCtr="0" compatLnSpc="1">
            <a:prstTxWarp prst="textNoShape">
              <a:avLst/>
            </a:prstTxWarp>
          </a:bodyPr>
          <a:lstStyle/>
          <a:p>
            <a:pPr defTabSz="1459378"/>
            <a:endParaRPr lang="en-NO" sz="3797">
              <a:solidFill>
                <a:prstClr val="black"/>
              </a:solidFill>
              <a:latin typeface="Arial"/>
            </a:endParaRPr>
          </a:p>
        </p:txBody>
      </p:sp>
      <p:sp>
        <p:nvSpPr>
          <p:cNvPr id="2" name="TextBox 1">
            <a:extLst>
              <a:ext uri="{FF2B5EF4-FFF2-40B4-BE49-F238E27FC236}">
                <a16:creationId xmlns:a16="http://schemas.microsoft.com/office/drawing/2014/main" id="{1E38BADE-AAD9-E642-9CFF-4C2A7C23D767}"/>
              </a:ext>
            </a:extLst>
          </p:cNvPr>
          <p:cNvSpPr txBox="1"/>
          <p:nvPr/>
        </p:nvSpPr>
        <p:spPr>
          <a:xfrm>
            <a:off x="6030440" y="8929381"/>
            <a:ext cx="5284144" cy="679885"/>
          </a:xfrm>
          <a:prstGeom prst="rect">
            <a:avLst/>
          </a:prstGeom>
          <a:noFill/>
        </p:spPr>
        <p:txBody>
          <a:bodyPr wrap="square" rtlCol="0">
            <a:spAutoFit/>
          </a:bodyPr>
          <a:lstStyle/>
          <a:p>
            <a:pPr algn="ctr" defTabSz="1052265">
              <a:defRPr/>
            </a:pPr>
            <a:r>
              <a:rPr lang="en-US" sz="1921">
                <a:solidFill>
                  <a:srgbClr val="4472C4">
                    <a:lumMod val="75000"/>
                  </a:srgbClr>
                </a:solidFill>
                <a:latin typeface="Calibri" panose="020F0502020204030204"/>
              </a:rPr>
              <a:t>Sentiment Analysis</a:t>
            </a:r>
          </a:p>
          <a:p>
            <a:pPr algn="ctr" defTabSz="1052265">
              <a:defRPr/>
            </a:pPr>
            <a:r>
              <a:rPr lang="en-US" sz="1921">
                <a:solidFill>
                  <a:srgbClr val="4472C4">
                    <a:lumMod val="75000"/>
                  </a:srgbClr>
                </a:solidFill>
                <a:latin typeface="Calibri" panose="020F0502020204030204"/>
              </a:rPr>
              <a:t>(Nor-BERT)</a:t>
            </a:r>
          </a:p>
        </p:txBody>
      </p:sp>
      <p:pic>
        <p:nvPicPr>
          <p:cNvPr id="4" name="Picture 2">
            <a:extLst>
              <a:ext uri="{FF2B5EF4-FFF2-40B4-BE49-F238E27FC236}">
                <a16:creationId xmlns:a16="http://schemas.microsoft.com/office/drawing/2014/main" id="{CB7DF0F8-2EEE-BA56-E727-2D63A8280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265" y="1139792"/>
            <a:ext cx="9692465" cy="7678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311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ap&#10;&#10;Description automatically generated">
            <a:extLst>
              <a:ext uri="{FF2B5EF4-FFF2-40B4-BE49-F238E27FC236}">
                <a16:creationId xmlns:a16="http://schemas.microsoft.com/office/drawing/2014/main" id="{E5DF9E86-52ED-2840-967D-CC31F496F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002" y="2178011"/>
            <a:ext cx="11174312" cy="5035065"/>
          </a:xfrm>
          <a:prstGeom prst="rect">
            <a:avLst/>
          </a:prstGeom>
        </p:spPr>
      </p:pic>
      <p:sp>
        <p:nvSpPr>
          <p:cNvPr id="2" name="TextBox 1">
            <a:extLst>
              <a:ext uri="{FF2B5EF4-FFF2-40B4-BE49-F238E27FC236}">
                <a16:creationId xmlns:a16="http://schemas.microsoft.com/office/drawing/2014/main" id="{A39DB707-318C-7D4E-95BC-96C722141B43}"/>
              </a:ext>
            </a:extLst>
          </p:cNvPr>
          <p:cNvSpPr txBox="1"/>
          <p:nvPr/>
        </p:nvSpPr>
        <p:spPr>
          <a:xfrm>
            <a:off x="15795781" y="8047735"/>
            <a:ext cx="184731" cy="741870"/>
          </a:xfrm>
          <a:prstGeom prst="rect">
            <a:avLst/>
          </a:prstGeom>
          <a:noFill/>
        </p:spPr>
        <p:txBody>
          <a:bodyPr wrap="none" rtlCol="0">
            <a:spAutoFit/>
          </a:bodyPr>
          <a:lstStyle/>
          <a:p>
            <a:pPr defTabSz="1622192">
              <a:defRPr/>
            </a:pPr>
            <a:endParaRPr lang="en-NO" sz="4221">
              <a:solidFill>
                <a:prstClr val="black"/>
              </a:solidFill>
              <a:latin typeface="Arial"/>
            </a:endParaRPr>
          </a:p>
        </p:txBody>
      </p:sp>
    </p:spTree>
    <p:extLst>
      <p:ext uri="{BB962C8B-B14F-4D97-AF65-F5344CB8AC3E}">
        <p14:creationId xmlns:p14="http://schemas.microsoft.com/office/powerpoint/2010/main" val="3409737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Reinforcement learning</a:t>
            </a:r>
          </a:p>
        </p:txBody>
      </p:sp>
      <p:sp>
        <p:nvSpPr>
          <p:cNvPr id="3" name="Content Placeholder 2">
            <a:extLst>
              <a:ext uri="{FF2B5EF4-FFF2-40B4-BE49-F238E27FC236}">
                <a16:creationId xmlns:a16="http://schemas.microsoft.com/office/drawing/2014/main" id="{E0BAC923-030A-F346-8E52-C87A246D3E66}"/>
              </a:ext>
            </a:extLst>
          </p:cNvPr>
          <p:cNvSpPr>
            <a:spLocks noGrp="1"/>
          </p:cNvSpPr>
          <p:nvPr>
            <p:ph idx="1"/>
          </p:nvPr>
        </p:nvSpPr>
        <p:spPr>
          <a:xfrm>
            <a:off x="972122" y="2039873"/>
            <a:ext cx="15373922" cy="6133147"/>
          </a:xfrm>
        </p:spPr>
        <p:txBody>
          <a:bodyPr/>
          <a:lstStyle/>
          <a:p>
            <a:endParaRPr lang="en-GB" dirty="0"/>
          </a:p>
          <a:p>
            <a:r>
              <a:rPr lang="en-GB" dirty="0"/>
              <a:t>Reinforcement Learning is a type of machine learning technique that enables an agent to learn in an interactive environment by trial and error using feedback from its own actions and experiences.</a:t>
            </a:r>
          </a:p>
          <a:p>
            <a:endParaRPr lang="en-GB" dirty="0"/>
          </a:p>
          <a:p>
            <a:r>
              <a:rPr lang="en-GB" dirty="0"/>
              <a:t>Whenever the model predicts or produces a result, it is penalized if the prediction is wrong or rewarded if the prediction is correct. </a:t>
            </a:r>
            <a:endParaRPr lang="en-NO" dirty="0"/>
          </a:p>
          <a:p>
            <a:endParaRPr lang="en-NO"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3406842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BA0DB-7C94-5342-A4EA-5502B6CD0471}"/>
              </a:ext>
            </a:extLst>
          </p:cNvPr>
          <p:cNvSpPr>
            <a:spLocks noGrp="1"/>
          </p:cNvSpPr>
          <p:nvPr>
            <p:ph type="title"/>
          </p:nvPr>
        </p:nvSpPr>
        <p:spPr/>
        <p:txBody>
          <a:bodyPr/>
          <a:lstStyle/>
          <a:p>
            <a:r>
              <a:rPr lang="en-NO" dirty="0"/>
              <a:t>Challenges with Reinforcement learning</a:t>
            </a:r>
          </a:p>
        </p:txBody>
      </p:sp>
      <p:sp>
        <p:nvSpPr>
          <p:cNvPr id="3" name="Content Placeholder 2">
            <a:extLst>
              <a:ext uri="{FF2B5EF4-FFF2-40B4-BE49-F238E27FC236}">
                <a16:creationId xmlns:a16="http://schemas.microsoft.com/office/drawing/2014/main" id="{49214B19-8A1E-D441-9CCB-8A0027F35DEB}"/>
              </a:ext>
            </a:extLst>
          </p:cNvPr>
          <p:cNvSpPr>
            <a:spLocks noGrp="1"/>
          </p:cNvSpPr>
          <p:nvPr>
            <p:ph idx="1"/>
          </p:nvPr>
        </p:nvSpPr>
        <p:spPr/>
        <p:txBody>
          <a:bodyPr>
            <a:normAutofit/>
          </a:bodyPr>
          <a:lstStyle/>
          <a:p>
            <a:r>
              <a:rPr lang="en-GB" dirty="0"/>
              <a:t>The main challenge in reinforcement learning lays in preparing the simulation environment, which is highly dependant on the task to be performed. </a:t>
            </a:r>
          </a:p>
          <a:p>
            <a:r>
              <a:rPr lang="en-GB" dirty="0"/>
              <a:t>Scaling and tweaking the neural network controlling the agent is another challenge. There is no way to communicate with the network other than through the system of rewards and penalties.</a:t>
            </a:r>
          </a:p>
        </p:txBody>
      </p:sp>
      <p:sp>
        <p:nvSpPr>
          <p:cNvPr id="4" name="Footer Placeholder 3">
            <a:extLst>
              <a:ext uri="{FF2B5EF4-FFF2-40B4-BE49-F238E27FC236}">
                <a16:creationId xmlns:a16="http://schemas.microsoft.com/office/drawing/2014/main" id="{AF10692A-AA7E-0B42-8AC1-9B3F994B4ECD}"/>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121241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descr="CoastRunners 7">
            <a:hlinkClick r:id="" action="ppaction://media"/>
            <a:extLst>
              <a:ext uri="{FF2B5EF4-FFF2-40B4-BE49-F238E27FC236}">
                <a16:creationId xmlns:a16="http://schemas.microsoft.com/office/drawing/2014/main" id="{30968B73-5C8D-AA4A-B7D2-430D5AAC2DAA}"/>
              </a:ext>
            </a:extLst>
          </p:cNvPr>
          <p:cNvPicPr>
            <a:picLocks noGrp="1" noRot="1" noChangeAspect="1"/>
          </p:cNvPicPr>
          <p:nvPr>
            <p:ph idx="1"/>
            <a:videoFile r:link="rId1"/>
          </p:nvPr>
        </p:nvPicPr>
        <p:blipFill>
          <a:blip r:embed="rId4"/>
          <a:stretch>
            <a:fillRect/>
          </a:stretch>
        </p:blipFill>
        <p:spPr>
          <a:xfrm>
            <a:off x="3859019" y="2054296"/>
            <a:ext cx="9626986" cy="7214122"/>
          </a:xfrm>
          <a:prstGeom prst="rect">
            <a:avLst/>
          </a:prstGeom>
        </p:spPr>
      </p:pic>
      <p:sp>
        <p:nvSpPr>
          <p:cNvPr id="4" name="Footer Placeholder 3">
            <a:extLst>
              <a:ext uri="{FF2B5EF4-FFF2-40B4-BE49-F238E27FC236}">
                <a16:creationId xmlns:a16="http://schemas.microsoft.com/office/drawing/2014/main" id="{0584EEED-810E-9F43-B278-15B321706144}"/>
              </a:ext>
            </a:extLst>
          </p:cNvPr>
          <p:cNvSpPr>
            <a:spLocks noGrp="1"/>
          </p:cNvSpPr>
          <p:nvPr>
            <p:ph type="ftr" sz="quarter" idx="11"/>
          </p:nvPr>
        </p:nvSpPr>
        <p:spPr/>
        <p:txBody>
          <a:bodyPr/>
          <a:lstStyle/>
          <a:p>
            <a:r>
              <a:rPr lang="nb-NO"/>
              <a:t>DAVE3625- Intro to A.I. by Umair M.I</a:t>
            </a:r>
          </a:p>
        </p:txBody>
      </p:sp>
      <p:sp>
        <p:nvSpPr>
          <p:cNvPr id="6" name="Rectangle 5">
            <a:extLst>
              <a:ext uri="{FF2B5EF4-FFF2-40B4-BE49-F238E27FC236}">
                <a16:creationId xmlns:a16="http://schemas.microsoft.com/office/drawing/2014/main" id="{40F92C02-5504-504F-9E05-4CF5DB869F02}"/>
              </a:ext>
            </a:extLst>
          </p:cNvPr>
          <p:cNvSpPr/>
          <p:nvPr/>
        </p:nvSpPr>
        <p:spPr>
          <a:xfrm>
            <a:off x="3026626" y="483595"/>
            <a:ext cx="12455603" cy="1274195"/>
          </a:xfrm>
          <a:prstGeom prst="rect">
            <a:avLst/>
          </a:prstGeom>
        </p:spPr>
        <p:txBody>
          <a:bodyPr wrap="square">
            <a:spAutoFit/>
          </a:bodyPr>
          <a:lstStyle/>
          <a:p>
            <a:r>
              <a:rPr lang="en-GB" dirty="0"/>
              <a:t>There are agents that will optimize the prize without performing the task it was designed for. An interesting example can be found in the </a:t>
            </a:r>
            <a:r>
              <a:rPr lang="en-GB" dirty="0" err="1"/>
              <a:t>OpenAI</a:t>
            </a:r>
            <a:r>
              <a:rPr lang="en-GB" dirty="0"/>
              <a:t> video (below), where the agent learned to gain rewards, but not to complete the race.</a:t>
            </a:r>
            <a:endParaRPr lang="en-NO" dirty="0"/>
          </a:p>
        </p:txBody>
      </p:sp>
    </p:spTree>
    <p:extLst>
      <p:ext uri="{BB962C8B-B14F-4D97-AF65-F5344CB8AC3E}">
        <p14:creationId xmlns:p14="http://schemas.microsoft.com/office/powerpoint/2010/main" val="422220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6AE23F7-76A6-7043-9B58-FBD501081989}"/>
              </a:ext>
            </a:extLst>
          </p:cNvPr>
          <p:cNvSpPr>
            <a:spLocks noGrp="1"/>
          </p:cNvSpPr>
          <p:nvPr>
            <p:ph type="ftr" sz="quarter" idx="11"/>
          </p:nvPr>
        </p:nvSpPr>
        <p:spPr/>
        <p:txBody>
          <a:bodyPr/>
          <a:lstStyle/>
          <a:p>
            <a:r>
              <a:rPr lang="nb-NO"/>
              <a:t>DAVE3625- Intro to A.I. by Umair M.I</a:t>
            </a:r>
          </a:p>
        </p:txBody>
      </p:sp>
      <p:pic>
        <p:nvPicPr>
          <p:cNvPr id="5122" name="Picture 2" descr="Playing atari with deep reinforcement learning - 0">
            <a:extLst>
              <a:ext uri="{FF2B5EF4-FFF2-40B4-BE49-F238E27FC236}">
                <a16:creationId xmlns:a16="http://schemas.microsoft.com/office/drawing/2014/main" id="{D483660A-33DC-AE43-9E82-9A5D111EC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372" y="2961849"/>
            <a:ext cx="3172560" cy="416398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laying atari with deep reinforcement learning - 1">
            <a:extLst>
              <a:ext uri="{FF2B5EF4-FFF2-40B4-BE49-F238E27FC236}">
                <a16:creationId xmlns:a16="http://schemas.microsoft.com/office/drawing/2014/main" id="{BE854998-3782-3442-AD25-46B61DCCC6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3050" y="2961849"/>
            <a:ext cx="3172560" cy="416398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laying atari with deep reinforcement learning - 2">
            <a:extLst>
              <a:ext uri="{FF2B5EF4-FFF2-40B4-BE49-F238E27FC236}">
                <a16:creationId xmlns:a16="http://schemas.microsoft.com/office/drawing/2014/main" id="{4F1BD158-8F6A-3047-BDFF-C3089935D7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81649" y="2934300"/>
            <a:ext cx="3172560" cy="41639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95FE60-C876-1E4D-9D5B-F25CE57C269A}"/>
              </a:ext>
            </a:extLst>
          </p:cNvPr>
          <p:cNvSpPr txBox="1"/>
          <p:nvPr/>
        </p:nvSpPr>
        <p:spPr>
          <a:xfrm>
            <a:off x="2705372" y="1962615"/>
            <a:ext cx="3172560" cy="486287"/>
          </a:xfrm>
          <a:prstGeom prst="rect">
            <a:avLst/>
          </a:prstGeom>
          <a:noFill/>
        </p:spPr>
        <p:txBody>
          <a:bodyPr wrap="square" rtlCol="0">
            <a:spAutoFit/>
          </a:bodyPr>
          <a:lstStyle/>
          <a:p>
            <a:r>
              <a:rPr lang="en-NO" dirty="0"/>
              <a:t>Initial performance</a:t>
            </a:r>
          </a:p>
        </p:txBody>
      </p:sp>
      <p:sp>
        <p:nvSpPr>
          <p:cNvPr id="10" name="TextBox 9">
            <a:extLst>
              <a:ext uri="{FF2B5EF4-FFF2-40B4-BE49-F238E27FC236}">
                <a16:creationId xmlns:a16="http://schemas.microsoft.com/office/drawing/2014/main" id="{D53C486E-72A1-4B4B-9C76-010216AC272C}"/>
              </a:ext>
            </a:extLst>
          </p:cNvPr>
          <p:cNvSpPr txBox="1"/>
          <p:nvPr/>
        </p:nvSpPr>
        <p:spPr>
          <a:xfrm>
            <a:off x="7483049" y="1962615"/>
            <a:ext cx="3645867" cy="486287"/>
          </a:xfrm>
          <a:prstGeom prst="rect">
            <a:avLst/>
          </a:prstGeom>
          <a:noFill/>
        </p:spPr>
        <p:txBody>
          <a:bodyPr wrap="square" rtlCol="0">
            <a:spAutoFit/>
          </a:bodyPr>
          <a:lstStyle/>
          <a:p>
            <a:r>
              <a:rPr lang="en-NO" dirty="0"/>
              <a:t>After 15 min of training</a:t>
            </a:r>
          </a:p>
        </p:txBody>
      </p:sp>
      <p:sp>
        <p:nvSpPr>
          <p:cNvPr id="11" name="TextBox 10">
            <a:extLst>
              <a:ext uri="{FF2B5EF4-FFF2-40B4-BE49-F238E27FC236}">
                <a16:creationId xmlns:a16="http://schemas.microsoft.com/office/drawing/2014/main" id="{94993F88-4482-AC40-908F-F6DD3545DB9A}"/>
              </a:ext>
            </a:extLst>
          </p:cNvPr>
          <p:cNvSpPr txBox="1"/>
          <p:nvPr/>
        </p:nvSpPr>
        <p:spPr>
          <a:xfrm>
            <a:off x="11841935" y="1962615"/>
            <a:ext cx="3645867" cy="486287"/>
          </a:xfrm>
          <a:prstGeom prst="rect">
            <a:avLst/>
          </a:prstGeom>
          <a:noFill/>
        </p:spPr>
        <p:txBody>
          <a:bodyPr wrap="square" rtlCol="0">
            <a:spAutoFit/>
          </a:bodyPr>
          <a:lstStyle/>
          <a:p>
            <a:r>
              <a:rPr lang="en-NO" dirty="0"/>
              <a:t>After 30 min of training</a:t>
            </a:r>
          </a:p>
        </p:txBody>
      </p:sp>
      <p:sp>
        <p:nvSpPr>
          <p:cNvPr id="12" name="TextBox 11">
            <a:extLst>
              <a:ext uri="{FF2B5EF4-FFF2-40B4-BE49-F238E27FC236}">
                <a16:creationId xmlns:a16="http://schemas.microsoft.com/office/drawing/2014/main" id="{01A1F722-FA45-5E4B-8BF1-1D88F3C3E046}"/>
              </a:ext>
            </a:extLst>
          </p:cNvPr>
          <p:cNvSpPr txBox="1"/>
          <p:nvPr/>
        </p:nvSpPr>
        <p:spPr>
          <a:xfrm>
            <a:off x="7483049" y="748526"/>
            <a:ext cx="3645867" cy="486287"/>
          </a:xfrm>
          <a:prstGeom prst="rect">
            <a:avLst/>
          </a:prstGeom>
          <a:noFill/>
        </p:spPr>
        <p:txBody>
          <a:bodyPr wrap="square" rtlCol="0">
            <a:spAutoFit/>
          </a:bodyPr>
          <a:lstStyle/>
          <a:p>
            <a:r>
              <a:rPr lang="en-NO" dirty="0"/>
              <a:t>Breakout game - Atari</a:t>
            </a:r>
          </a:p>
        </p:txBody>
      </p:sp>
    </p:spTree>
    <p:extLst>
      <p:ext uri="{BB962C8B-B14F-4D97-AF65-F5344CB8AC3E}">
        <p14:creationId xmlns:p14="http://schemas.microsoft.com/office/powerpoint/2010/main" val="1042837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6AE23F7-76A6-7043-9B58-FBD501081989}"/>
              </a:ext>
            </a:extLst>
          </p:cNvPr>
          <p:cNvSpPr>
            <a:spLocks noGrp="1"/>
          </p:cNvSpPr>
          <p:nvPr>
            <p:ph type="ftr" sz="quarter" idx="11"/>
          </p:nvPr>
        </p:nvSpPr>
        <p:spPr/>
        <p:txBody>
          <a:bodyPr/>
          <a:lstStyle/>
          <a:p>
            <a:r>
              <a:rPr lang="nb-NO"/>
              <a:t>DAVE3625- Intro to A.I. by Umair M.I</a:t>
            </a:r>
          </a:p>
        </p:txBody>
      </p:sp>
      <p:sp>
        <p:nvSpPr>
          <p:cNvPr id="5" name="TextBox 4">
            <a:extLst>
              <a:ext uri="{FF2B5EF4-FFF2-40B4-BE49-F238E27FC236}">
                <a16:creationId xmlns:a16="http://schemas.microsoft.com/office/drawing/2014/main" id="{3F95FE60-C876-1E4D-9D5B-F25CE57C269A}"/>
              </a:ext>
            </a:extLst>
          </p:cNvPr>
          <p:cNvSpPr txBox="1"/>
          <p:nvPr/>
        </p:nvSpPr>
        <p:spPr>
          <a:xfrm>
            <a:off x="2705372" y="1962615"/>
            <a:ext cx="3172560" cy="486287"/>
          </a:xfrm>
          <a:prstGeom prst="rect">
            <a:avLst/>
          </a:prstGeom>
          <a:noFill/>
        </p:spPr>
        <p:txBody>
          <a:bodyPr wrap="square" rtlCol="0">
            <a:spAutoFit/>
          </a:bodyPr>
          <a:lstStyle/>
          <a:p>
            <a:r>
              <a:rPr lang="en-NO" dirty="0"/>
              <a:t>Initial performance</a:t>
            </a:r>
          </a:p>
        </p:txBody>
      </p:sp>
      <p:sp>
        <p:nvSpPr>
          <p:cNvPr id="10" name="TextBox 9">
            <a:extLst>
              <a:ext uri="{FF2B5EF4-FFF2-40B4-BE49-F238E27FC236}">
                <a16:creationId xmlns:a16="http://schemas.microsoft.com/office/drawing/2014/main" id="{D53C486E-72A1-4B4B-9C76-010216AC272C}"/>
              </a:ext>
            </a:extLst>
          </p:cNvPr>
          <p:cNvSpPr txBox="1"/>
          <p:nvPr/>
        </p:nvSpPr>
        <p:spPr>
          <a:xfrm>
            <a:off x="7483049" y="1962615"/>
            <a:ext cx="3645867" cy="486287"/>
          </a:xfrm>
          <a:prstGeom prst="rect">
            <a:avLst/>
          </a:prstGeom>
          <a:noFill/>
        </p:spPr>
        <p:txBody>
          <a:bodyPr wrap="square" rtlCol="0">
            <a:spAutoFit/>
          </a:bodyPr>
          <a:lstStyle/>
          <a:p>
            <a:r>
              <a:rPr lang="en-NO" dirty="0"/>
              <a:t>After 15 min of training</a:t>
            </a:r>
          </a:p>
        </p:txBody>
      </p:sp>
      <p:sp>
        <p:nvSpPr>
          <p:cNvPr id="11" name="TextBox 10">
            <a:extLst>
              <a:ext uri="{FF2B5EF4-FFF2-40B4-BE49-F238E27FC236}">
                <a16:creationId xmlns:a16="http://schemas.microsoft.com/office/drawing/2014/main" id="{94993F88-4482-AC40-908F-F6DD3545DB9A}"/>
              </a:ext>
            </a:extLst>
          </p:cNvPr>
          <p:cNvSpPr txBox="1"/>
          <p:nvPr/>
        </p:nvSpPr>
        <p:spPr>
          <a:xfrm>
            <a:off x="11841935" y="1962615"/>
            <a:ext cx="3645867" cy="486287"/>
          </a:xfrm>
          <a:prstGeom prst="rect">
            <a:avLst/>
          </a:prstGeom>
          <a:noFill/>
        </p:spPr>
        <p:txBody>
          <a:bodyPr wrap="square" rtlCol="0">
            <a:spAutoFit/>
          </a:bodyPr>
          <a:lstStyle/>
          <a:p>
            <a:r>
              <a:rPr lang="en-NO" dirty="0"/>
              <a:t>After 30 min of training</a:t>
            </a:r>
          </a:p>
        </p:txBody>
      </p:sp>
      <p:sp>
        <p:nvSpPr>
          <p:cNvPr id="12" name="TextBox 11">
            <a:extLst>
              <a:ext uri="{FF2B5EF4-FFF2-40B4-BE49-F238E27FC236}">
                <a16:creationId xmlns:a16="http://schemas.microsoft.com/office/drawing/2014/main" id="{01A1F722-FA45-5E4B-8BF1-1D88F3C3E046}"/>
              </a:ext>
            </a:extLst>
          </p:cNvPr>
          <p:cNvSpPr txBox="1"/>
          <p:nvPr/>
        </p:nvSpPr>
        <p:spPr>
          <a:xfrm>
            <a:off x="7483049" y="748526"/>
            <a:ext cx="3645867" cy="486287"/>
          </a:xfrm>
          <a:prstGeom prst="rect">
            <a:avLst/>
          </a:prstGeom>
          <a:noFill/>
        </p:spPr>
        <p:txBody>
          <a:bodyPr wrap="square" rtlCol="0">
            <a:spAutoFit/>
          </a:bodyPr>
          <a:lstStyle/>
          <a:p>
            <a:r>
              <a:rPr lang="en-NO" dirty="0"/>
              <a:t>Assault game - Atari</a:t>
            </a:r>
          </a:p>
        </p:txBody>
      </p:sp>
      <p:pic>
        <p:nvPicPr>
          <p:cNvPr id="6146" name="Picture 2" descr="Playing atari with deep reinforcement learning - 3">
            <a:extLst>
              <a:ext uri="{FF2B5EF4-FFF2-40B4-BE49-F238E27FC236}">
                <a16:creationId xmlns:a16="http://schemas.microsoft.com/office/drawing/2014/main" id="{830E0ECE-DD2B-FC45-98F0-0974D0F7E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372" y="3025118"/>
            <a:ext cx="3161805" cy="494032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laying atari with deep reinforcement learning - 4">
            <a:extLst>
              <a:ext uri="{FF2B5EF4-FFF2-40B4-BE49-F238E27FC236}">
                <a16:creationId xmlns:a16="http://schemas.microsoft.com/office/drawing/2014/main" id="{D8A88E08-04AE-ED4F-85B4-09A8F2977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9530" y="3025119"/>
            <a:ext cx="3161804" cy="494031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laying atari with deep reinforcement learning - 5">
            <a:extLst>
              <a:ext uri="{FF2B5EF4-FFF2-40B4-BE49-F238E27FC236}">
                <a16:creationId xmlns:a16="http://schemas.microsoft.com/office/drawing/2014/main" id="{583521DE-E3FA-D247-B372-B4C602299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50093" y="3087772"/>
            <a:ext cx="3161804" cy="4940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034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D6F2E27-C2A3-2746-A0BD-38C5F51F37E6}"/>
              </a:ext>
            </a:extLst>
          </p:cNvPr>
          <p:cNvSpPr>
            <a:spLocks noGrp="1"/>
          </p:cNvSpPr>
          <p:nvPr>
            <p:ph type="ftr" sz="quarter" idx="11"/>
          </p:nvPr>
        </p:nvSpPr>
        <p:spPr/>
        <p:txBody>
          <a:bodyPr/>
          <a:lstStyle/>
          <a:p>
            <a:r>
              <a:rPr lang="nb-NO"/>
              <a:t>DAVE3625- Intro to A.I. by Umair M.I</a:t>
            </a:r>
          </a:p>
        </p:txBody>
      </p:sp>
      <p:pic>
        <p:nvPicPr>
          <p:cNvPr id="7170" name="Picture 2" descr="Reinforcement Learning Fig3 Pacman">
            <a:extLst>
              <a:ext uri="{FF2B5EF4-FFF2-40B4-BE49-F238E27FC236}">
                <a16:creationId xmlns:a16="http://schemas.microsoft.com/office/drawing/2014/main" id="{CA61E13D-6EDA-5D4A-A151-CD7180FFA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731" y="2569816"/>
            <a:ext cx="11777561" cy="5213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9014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8379-3864-134B-98BA-902AC26942EE}"/>
              </a:ext>
            </a:extLst>
          </p:cNvPr>
          <p:cNvSpPr>
            <a:spLocks noGrp="1"/>
          </p:cNvSpPr>
          <p:nvPr>
            <p:ph type="title"/>
          </p:nvPr>
        </p:nvSpPr>
        <p:spPr>
          <a:xfrm>
            <a:off x="985551" y="2704085"/>
            <a:ext cx="15373922" cy="664797"/>
          </a:xfrm>
        </p:spPr>
        <p:txBody>
          <a:bodyPr>
            <a:normAutofit fontScale="90000"/>
          </a:bodyPr>
          <a:lstStyle/>
          <a:p>
            <a:r>
              <a:rPr lang="en-NO" dirty="0"/>
              <a:t>Wanna try some A.I reinforcement learning in games ?</a:t>
            </a:r>
          </a:p>
        </p:txBody>
      </p:sp>
      <p:sp>
        <p:nvSpPr>
          <p:cNvPr id="3" name="Content Placeholder 2">
            <a:extLst>
              <a:ext uri="{FF2B5EF4-FFF2-40B4-BE49-F238E27FC236}">
                <a16:creationId xmlns:a16="http://schemas.microsoft.com/office/drawing/2014/main" id="{C01C535A-3EFB-3442-B263-2DE0267DD228}"/>
              </a:ext>
            </a:extLst>
          </p:cNvPr>
          <p:cNvSpPr>
            <a:spLocks noGrp="1"/>
          </p:cNvSpPr>
          <p:nvPr>
            <p:ph idx="1"/>
          </p:nvPr>
        </p:nvSpPr>
        <p:spPr>
          <a:xfrm>
            <a:off x="5148841" y="5254329"/>
            <a:ext cx="7827857" cy="901144"/>
          </a:xfrm>
        </p:spPr>
        <p:txBody>
          <a:bodyPr/>
          <a:lstStyle/>
          <a:p>
            <a:pPr marL="0" indent="0">
              <a:buNone/>
            </a:pPr>
            <a:r>
              <a:rPr lang="en-GB" dirty="0"/>
              <a:t>https://gymnasium.farama.org/</a:t>
            </a:r>
            <a:endParaRPr lang="en-NO" dirty="0"/>
          </a:p>
        </p:txBody>
      </p:sp>
      <p:sp>
        <p:nvSpPr>
          <p:cNvPr id="4" name="Footer Placeholder 3">
            <a:extLst>
              <a:ext uri="{FF2B5EF4-FFF2-40B4-BE49-F238E27FC236}">
                <a16:creationId xmlns:a16="http://schemas.microsoft.com/office/drawing/2014/main" id="{68186322-E83A-2042-8911-31D1BB9334C4}"/>
              </a:ext>
            </a:extLst>
          </p:cNvPr>
          <p:cNvSpPr>
            <a:spLocks noGrp="1"/>
          </p:cNvSpPr>
          <p:nvPr>
            <p:ph type="ftr" sz="quarter" idx="11"/>
          </p:nvPr>
        </p:nvSpPr>
        <p:spPr/>
        <p:txBody>
          <a:bodyPr/>
          <a:lstStyle/>
          <a:p>
            <a:r>
              <a:rPr lang="nb-NO"/>
              <a:t>DAVE3625- Intro to A.I. by Umair M.I</a:t>
            </a:r>
          </a:p>
        </p:txBody>
      </p:sp>
    </p:spTree>
    <p:extLst>
      <p:ext uri="{BB962C8B-B14F-4D97-AF65-F5344CB8AC3E}">
        <p14:creationId xmlns:p14="http://schemas.microsoft.com/office/powerpoint/2010/main" val="285974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Reccomender systems</a:t>
            </a:r>
          </a:p>
        </p:txBody>
      </p:sp>
      <p:sp>
        <p:nvSpPr>
          <p:cNvPr id="3" name="Content Placeholder 2">
            <a:extLst>
              <a:ext uri="{FF2B5EF4-FFF2-40B4-BE49-F238E27FC236}">
                <a16:creationId xmlns:a16="http://schemas.microsoft.com/office/drawing/2014/main" id="{E0BAC923-030A-F346-8E52-C87A246D3E66}"/>
              </a:ext>
            </a:extLst>
          </p:cNvPr>
          <p:cNvSpPr>
            <a:spLocks noGrp="1"/>
          </p:cNvSpPr>
          <p:nvPr>
            <p:ph idx="1"/>
          </p:nvPr>
        </p:nvSpPr>
        <p:spPr>
          <a:xfrm>
            <a:off x="972122" y="2039873"/>
            <a:ext cx="15373922" cy="6133147"/>
          </a:xfrm>
        </p:spPr>
        <p:txBody>
          <a:bodyPr/>
          <a:lstStyle/>
          <a:p>
            <a:r>
              <a:rPr lang="en-GB" i="1" dirty="0"/>
              <a:t>Recommender systems</a:t>
            </a:r>
            <a:r>
              <a:rPr lang="en-GB" dirty="0"/>
              <a:t> are an important class of machine learning algorithms that offer "relevant" suggestions to users.</a:t>
            </a:r>
          </a:p>
          <a:p>
            <a:endParaRPr lang="en-GB" dirty="0"/>
          </a:p>
          <a:p>
            <a:r>
              <a:rPr lang="en-GB" dirty="0"/>
              <a:t>These systems predict the most likely product that the users are most likely to purchase and are of interest to them</a:t>
            </a:r>
            <a:endParaRPr lang="en-NO" dirty="0"/>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spTree>
    <p:extLst>
      <p:ext uri="{BB962C8B-B14F-4D97-AF65-F5344CB8AC3E}">
        <p14:creationId xmlns:p14="http://schemas.microsoft.com/office/powerpoint/2010/main" val="2718622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4CDDD6F-CC47-694B-B89D-F7685DF0AABA}"/>
              </a:ext>
            </a:extLst>
          </p:cNvPr>
          <p:cNvSpPr>
            <a:spLocks noGrp="1"/>
          </p:cNvSpPr>
          <p:nvPr>
            <p:ph type="ftr" sz="quarter" idx="11"/>
          </p:nvPr>
        </p:nvSpPr>
        <p:spPr/>
        <p:txBody>
          <a:bodyPr/>
          <a:lstStyle/>
          <a:p>
            <a:r>
              <a:rPr lang="nb-NO"/>
              <a:t>DAVE3625- Intro to A.I. by Umair M.I</a:t>
            </a:r>
          </a:p>
        </p:txBody>
      </p:sp>
      <p:pic>
        <p:nvPicPr>
          <p:cNvPr id="6" name="Picture 2" descr="Full-Fledged Recommender System. The rapid rise in AI applications… | by  Murat Yalcin | Towards Data Science">
            <a:extLst>
              <a:ext uri="{FF2B5EF4-FFF2-40B4-BE49-F238E27FC236}">
                <a16:creationId xmlns:a16="http://schemas.microsoft.com/office/drawing/2014/main" id="{FD8E80A7-C6E2-6D4A-95DF-DC6348430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614" y="2289698"/>
            <a:ext cx="14585795" cy="5616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6865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1A27E1B-E012-614C-821C-8051E91284C3}"/>
              </a:ext>
            </a:extLst>
          </p:cNvPr>
          <p:cNvSpPr>
            <a:spLocks noGrp="1"/>
          </p:cNvSpPr>
          <p:nvPr>
            <p:ph type="ftr" sz="quarter" idx="11"/>
          </p:nvPr>
        </p:nvSpPr>
        <p:spPr/>
        <p:txBody>
          <a:bodyPr/>
          <a:lstStyle/>
          <a:p>
            <a:r>
              <a:rPr lang="nb-NO"/>
              <a:t>DAVE3625- Intro to A.I. by Umair M.I</a:t>
            </a:r>
          </a:p>
        </p:txBody>
      </p:sp>
      <p:pic>
        <p:nvPicPr>
          <p:cNvPr id="1026" name="Picture 2" descr="10 Companies Using Machine Learning in Cool Ways | WordStream">
            <a:extLst>
              <a:ext uri="{FF2B5EF4-FFF2-40B4-BE49-F238E27FC236}">
                <a16:creationId xmlns:a16="http://schemas.microsoft.com/office/drawing/2014/main" id="{C1B64272-F069-5645-A860-232B9BF99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788" y="0"/>
            <a:ext cx="13633450" cy="9752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3697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0351" y="91440"/>
            <a:ext cx="16659517"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21465" y="384048"/>
            <a:ext cx="15371063" cy="960120"/>
          </a:xfrm>
          <a:prstGeom prst="rect">
            <a:avLst/>
          </a:prstGeom>
          <a:noFill/>
        </p:spPr>
        <p:txBody>
          <a:bodyPr wrap="square">
            <a:spAutoFit/>
          </a:bodyPr>
          <a:lstStyle/>
          <a:p>
            <a:r>
              <a:rPr sz="4400" b="1">
                <a:solidFill>
                  <a:srgbClr val="16181D"/>
                </a:solidFill>
                <a:latin typeface="Arial"/>
              </a:rPr>
              <a:t>Which type is your problem ?</a:t>
            </a:r>
          </a:p>
        </p:txBody>
      </p:sp>
      <p:graphicFrame>
        <p:nvGraphicFramePr>
          <p:cNvPr id="4" name="Table 3"/>
          <p:cNvGraphicFramePr>
            <a:graphicFrameLocks noGrp="1"/>
          </p:cNvGraphicFramePr>
          <p:nvPr>
            <p:extLst>
              <p:ext uri="{D42A27DB-BD31-4B8C-83A1-F6EECF244321}">
                <p14:modId xmlns:p14="http://schemas.microsoft.com/office/powerpoint/2010/main" val="641177492"/>
              </p:ext>
            </p:extLst>
          </p:nvPr>
        </p:nvGraphicFramePr>
        <p:xfrm>
          <a:off x="530351" y="2190051"/>
          <a:ext cx="16659517" cy="5344608"/>
        </p:xfrm>
        <a:graphic>
          <a:graphicData uri="http://schemas.openxmlformats.org/drawingml/2006/table">
            <a:tbl>
              <a:tblPr firstRow="1" bandRow="1">
                <a:tableStyleId>{5C22544A-7EE6-4342-B048-85BDC9FD1C3A}</a:tableStyleId>
              </a:tblPr>
              <a:tblGrid>
                <a:gridCol w="12116012">
                  <a:extLst>
                    <a:ext uri="{9D8B030D-6E8A-4147-A177-3AD203B41FA5}">
                      <a16:colId xmlns:a16="http://schemas.microsoft.com/office/drawing/2014/main" val="20000"/>
                    </a:ext>
                  </a:extLst>
                </a:gridCol>
                <a:gridCol w="4543505">
                  <a:extLst>
                    <a:ext uri="{9D8B030D-6E8A-4147-A177-3AD203B41FA5}">
                      <a16:colId xmlns:a16="http://schemas.microsoft.com/office/drawing/2014/main" val="20001"/>
                    </a:ext>
                  </a:extLst>
                </a:gridCol>
              </a:tblGrid>
              <a:tr h="668076">
                <a:tc>
                  <a:txBody>
                    <a:bodyPr/>
                    <a:lstStyle/>
                    <a:p>
                      <a:r>
                        <a:rPr sz="2100" b="1">
                          <a:solidFill>
                            <a:srgbClr val="16181D"/>
                          </a:solidFill>
                          <a:latin typeface="Arial"/>
                        </a:rPr>
                        <a:t>The problem</a:t>
                      </a:r>
                    </a:p>
                  </a:txBody>
                  <a:tcPr marL="109728" marR="109728">
                    <a:solidFill>
                      <a:srgbClr val="FFDC00"/>
                    </a:solidFill>
                  </a:tcPr>
                </a:tc>
                <a:tc>
                  <a:txBody>
                    <a:bodyPr/>
                    <a:lstStyle/>
                    <a:p>
                      <a:r>
                        <a:rPr sz="2100" b="1">
                          <a:solidFill>
                            <a:srgbClr val="16181D"/>
                          </a:solidFill>
                          <a:latin typeface="Arial"/>
                        </a:rPr>
                        <a:t>The type</a:t>
                      </a:r>
                    </a:p>
                  </a:txBody>
                  <a:tcPr marL="109728" marR="109728">
                    <a:solidFill>
                      <a:srgbClr val="FFDC00"/>
                    </a:solidFill>
                  </a:tcPr>
                </a:tc>
                <a:extLst>
                  <a:ext uri="{0D108BD9-81ED-4DB2-BD59-A6C34878D82A}">
                    <a16:rowId xmlns:a16="http://schemas.microsoft.com/office/drawing/2014/main" val="10000"/>
                  </a:ext>
                </a:extLst>
              </a:tr>
              <a:tr h="668076">
                <a:tc>
                  <a:txBody>
                    <a:bodyPr/>
                    <a:lstStyle/>
                    <a:p>
                      <a:r>
                        <a:rPr sz="2000" b="0" dirty="0">
                          <a:solidFill>
                            <a:srgbClr val="16181D"/>
                          </a:solidFill>
                          <a:latin typeface="Arial"/>
                        </a:rPr>
                        <a:t>Predict tomorrow's electricity price from past prices</a:t>
                      </a:r>
                    </a:p>
                  </a:txBody>
                  <a:tcPr marL="109728" marR="109728">
                    <a:solidFill>
                      <a:srgbClr val="FFFFFF"/>
                    </a:solidFill>
                  </a:tcPr>
                </a:tc>
                <a:tc>
                  <a:txBody>
                    <a:bodyPr/>
                    <a:lstStyle/>
                    <a:p>
                      <a:r>
                        <a:rPr sz="2000" b="0" dirty="0">
                          <a:solidFill>
                            <a:srgbClr val="16181D"/>
                          </a:solidFill>
                          <a:latin typeface="Arial"/>
                        </a:rPr>
                        <a:t>Supervised</a:t>
                      </a:r>
                    </a:p>
                  </a:txBody>
                  <a:tcPr marL="109728" marR="109728">
                    <a:solidFill>
                      <a:srgbClr val="FFFFFF"/>
                    </a:solidFill>
                  </a:tcPr>
                </a:tc>
                <a:extLst>
                  <a:ext uri="{0D108BD9-81ED-4DB2-BD59-A6C34878D82A}">
                    <a16:rowId xmlns:a16="http://schemas.microsoft.com/office/drawing/2014/main" val="10001"/>
                  </a:ext>
                </a:extLst>
              </a:tr>
              <a:tr h="668076">
                <a:tc>
                  <a:txBody>
                    <a:bodyPr/>
                    <a:lstStyle/>
                    <a:p>
                      <a:r>
                        <a:rPr sz="2000" b="0" dirty="0">
                          <a:solidFill>
                            <a:srgbClr val="16181D"/>
                          </a:solidFill>
                          <a:latin typeface="Arial"/>
                        </a:rPr>
                        <a:t>Decide if a transaction is fraud, using 10 000 labelled examples</a:t>
                      </a:r>
                    </a:p>
                  </a:txBody>
                  <a:tcPr marL="109728" marR="109728">
                    <a:solidFill>
                      <a:srgbClr val="F7F8FA"/>
                    </a:solidFill>
                  </a:tcPr>
                </a:tc>
                <a:tc>
                  <a:txBody>
                    <a:bodyPr/>
                    <a:lstStyle/>
                    <a:p>
                      <a:r>
                        <a:rPr sz="2000" b="0" dirty="0">
                          <a:solidFill>
                            <a:srgbClr val="16181D"/>
                          </a:solidFill>
                          <a:latin typeface="Arial"/>
                        </a:rPr>
                        <a:t>Supervised</a:t>
                      </a:r>
                    </a:p>
                  </a:txBody>
                  <a:tcPr marL="109728" marR="109728">
                    <a:solidFill>
                      <a:srgbClr val="F7F8FA"/>
                    </a:solidFill>
                  </a:tcPr>
                </a:tc>
                <a:extLst>
                  <a:ext uri="{0D108BD9-81ED-4DB2-BD59-A6C34878D82A}">
                    <a16:rowId xmlns:a16="http://schemas.microsoft.com/office/drawing/2014/main" val="10002"/>
                  </a:ext>
                </a:extLst>
              </a:tr>
              <a:tr h="668076">
                <a:tc>
                  <a:txBody>
                    <a:bodyPr/>
                    <a:lstStyle/>
                    <a:p>
                      <a:r>
                        <a:rPr sz="2000" b="0" dirty="0">
                          <a:solidFill>
                            <a:srgbClr val="16181D"/>
                          </a:solidFill>
                          <a:latin typeface="Arial"/>
                        </a:rPr>
                        <a:t>Group 50 000 customers into segments nobody has defined yet</a:t>
                      </a:r>
                    </a:p>
                  </a:txBody>
                  <a:tcPr marL="109728" marR="109728">
                    <a:solidFill>
                      <a:srgbClr val="FFFFFF"/>
                    </a:solidFill>
                  </a:tcPr>
                </a:tc>
                <a:tc>
                  <a:txBody>
                    <a:bodyPr/>
                    <a:lstStyle/>
                    <a:p>
                      <a:r>
                        <a:rPr sz="2000" b="0" dirty="0">
                          <a:solidFill>
                            <a:srgbClr val="16181D"/>
                          </a:solidFill>
                          <a:latin typeface="Arial"/>
                        </a:rPr>
                        <a:t>Unsupervised</a:t>
                      </a:r>
                    </a:p>
                  </a:txBody>
                  <a:tcPr marL="109728" marR="109728">
                    <a:solidFill>
                      <a:srgbClr val="FFFFFF"/>
                    </a:solidFill>
                  </a:tcPr>
                </a:tc>
                <a:extLst>
                  <a:ext uri="{0D108BD9-81ED-4DB2-BD59-A6C34878D82A}">
                    <a16:rowId xmlns:a16="http://schemas.microsoft.com/office/drawing/2014/main" val="10003"/>
                  </a:ext>
                </a:extLst>
              </a:tr>
              <a:tr h="668076">
                <a:tc>
                  <a:txBody>
                    <a:bodyPr/>
                    <a:lstStyle/>
                    <a:p>
                      <a:r>
                        <a:rPr sz="2000" b="0">
                          <a:solidFill>
                            <a:srgbClr val="16181D"/>
                          </a:solidFill>
                          <a:latin typeface="Arial"/>
                        </a:rPr>
                        <a:t>Find which products are often bought together</a:t>
                      </a:r>
                    </a:p>
                  </a:txBody>
                  <a:tcPr marL="109728" marR="109728">
                    <a:solidFill>
                      <a:srgbClr val="F7F8FA"/>
                    </a:solidFill>
                  </a:tcPr>
                </a:tc>
                <a:tc>
                  <a:txBody>
                    <a:bodyPr/>
                    <a:lstStyle/>
                    <a:p>
                      <a:r>
                        <a:rPr sz="2000" b="0">
                          <a:solidFill>
                            <a:srgbClr val="16181D"/>
                          </a:solidFill>
                          <a:latin typeface="Arial"/>
                        </a:rPr>
                        <a:t>Unsupervised</a:t>
                      </a:r>
                    </a:p>
                  </a:txBody>
                  <a:tcPr marL="109728" marR="109728">
                    <a:solidFill>
                      <a:srgbClr val="F7F8FA"/>
                    </a:solidFill>
                  </a:tcPr>
                </a:tc>
                <a:extLst>
                  <a:ext uri="{0D108BD9-81ED-4DB2-BD59-A6C34878D82A}">
                    <a16:rowId xmlns:a16="http://schemas.microsoft.com/office/drawing/2014/main" val="10004"/>
                  </a:ext>
                </a:extLst>
              </a:tr>
              <a:tr h="668076">
                <a:tc>
                  <a:txBody>
                    <a:bodyPr/>
                    <a:lstStyle/>
                    <a:p>
                      <a:r>
                        <a:rPr sz="2000" b="0" dirty="0">
                          <a:solidFill>
                            <a:srgbClr val="16181D"/>
                          </a:solidFill>
                          <a:latin typeface="Arial"/>
                        </a:rPr>
                        <a:t>Teach a robot arm to pick up a cup</a:t>
                      </a:r>
                    </a:p>
                  </a:txBody>
                  <a:tcPr marL="109728" marR="109728">
                    <a:solidFill>
                      <a:srgbClr val="FFFFFF"/>
                    </a:solidFill>
                  </a:tcPr>
                </a:tc>
                <a:tc>
                  <a:txBody>
                    <a:bodyPr/>
                    <a:lstStyle/>
                    <a:p>
                      <a:r>
                        <a:rPr sz="2000" b="0">
                          <a:solidFill>
                            <a:srgbClr val="16181D"/>
                          </a:solidFill>
                          <a:latin typeface="Arial"/>
                        </a:rPr>
                        <a:t>Reinforcement</a:t>
                      </a:r>
                    </a:p>
                  </a:txBody>
                  <a:tcPr marL="109728" marR="109728">
                    <a:solidFill>
                      <a:srgbClr val="FFFFFF"/>
                    </a:solidFill>
                  </a:tcPr>
                </a:tc>
                <a:extLst>
                  <a:ext uri="{0D108BD9-81ED-4DB2-BD59-A6C34878D82A}">
                    <a16:rowId xmlns:a16="http://schemas.microsoft.com/office/drawing/2014/main" val="10005"/>
                  </a:ext>
                </a:extLst>
              </a:tr>
              <a:tr h="668076">
                <a:tc>
                  <a:txBody>
                    <a:bodyPr/>
                    <a:lstStyle/>
                    <a:p>
                      <a:r>
                        <a:rPr sz="2000" b="0">
                          <a:solidFill>
                            <a:srgbClr val="16181D"/>
                          </a:solidFill>
                          <a:latin typeface="Arial"/>
                        </a:rPr>
                        <a:t>Suggest the next film to a viewer</a:t>
                      </a:r>
                    </a:p>
                  </a:txBody>
                  <a:tcPr marL="109728" marR="109728">
                    <a:solidFill>
                      <a:srgbClr val="F7F8FA"/>
                    </a:solidFill>
                  </a:tcPr>
                </a:tc>
                <a:tc>
                  <a:txBody>
                    <a:bodyPr/>
                    <a:lstStyle/>
                    <a:p>
                      <a:r>
                        <a:rPr sz="2000" b="0">
                          <a:solidFill>
                            <a:srgbClr val="16181D"/>
                          </a:solidFill>
                          <a:latin typeface="Arial"/>
                        </a:rPr>
                        <a:t>Recommender</a:t>
                      </a:r>
                    </a:p>
                  </a:txBody>
                  <a:tcPr marL="109728" marR="109728">
                    <a:solidFill>
                      <a:srgbClr val="F7F8FA"/>
                    </a:solidFill>
                  </a:tcPr>
                </a:tc>
                <a:extLst>
                  <a:ext uri="{0D108BD9-81ED-4DB2-BD59-A6C34878D82A}">
                    <a16:rowId xmlns:a16="http://schemas.microsoft.com/office/drawing/2014/main" val="10006"/>
                  </a:ext>
                </a:extLst>
              </a:tr>
              <a:tr h="668076">
                <a:tc>
                  <a:txBody>
                    <a:bodyPr/>
                    <a:lstStyle/>
                    <a:p>
                      <a:r>
                        <a:rPr sz="2000" b="0">
                          <a:solidFill>
                            <a:srgbClr val="16181D"/>
                          </a:solidFill>
                          <a:latin typeface="Arial"/>
                        </a:rPr>
                        <a:t>Find unusual sensor readings, with no examples of "unusual"</a:t>
                      </a:r>
                    </a:p>
                  </a:txBody>
                  <a:tcPr marL="109728" marR="109728">
                    <a:solidFill>
                      <a:srgbClr val="FFFFFF"/>
                    </a:solidFill>
                  </a:tcPr>
                </a:tc>
                <a:tc>
                  <a:txBody>
                    <a:bodyPr/>
                    <a:lstStyle/>
                    <a:p>
                      <a:r>
                        <a:rPr sz="2000" b="0" dirty="0">
                          <a:solidFill>
                            <a:srgbClr val="16181D"/>
                          </a:solidFill>
                          <a:latin typeface="Arial"/>
                        </a:rPr>
                        <a:t>Unsupervised</a:t>
                      </a:r>
                    </a:p>
                  </a:txBody>
                  <a:tcPr marL="109728" marR="109728">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708233" y="7967151"/>
            <a:ext cx="15371063" cy="457200"/>
          </a:xfrm>
          <a:prstGeom prst="rect">
            <a:avLst/>
          </a:prstGeom>
          <a:noFill/>
        </p:spPr>
        <p:txBody>
          <a:bodyPr wrap="none">
            <a:spAutoFit/>
          </a:bodyPr>
          <a:lstStyle/>
          <a:p>
            <a:r>
              <a:rPr sz="1700" b="0" dirty="0">
                <a:solidFill>
                  <a:srgbClr val="6B7280"/>
                </a:solidFill>
                <a:latin typeface="Arial"/>
              </a:rPr>
              <a:t>The question to ask: what do I already have, and what do I want out?</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584AED96-3E97-4E9A-AE87-4360DBA83035}" type="slidenum">
              <a:rPr lang="en-US" sz="1200">
                <a:solidFill>
                  <a:srgbClr val="6B7280"/>
                </a:solidFill>
                <a:latin typeface="Arial"/>
              </a:rPr>
              <a:t>44</a:t>
            </a:fld>
            <a:endParaRPr lang="en-US" sz="1200">
              <a:solidFill>
                <a:srgbClr val="6B7280"/>
              </a:solidFill>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42862" y="194190"/>
            <a:ext cx="16303182" cy="14520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972122" y="587818"/>
            <a:ext cx="15373922" cy="664797"/>
          </a:xfrm>
        </p:spPr>
        <p:txBody>
          <a:bodyPr/>
          <a:lstStyle/>
          <a:p>
            <a:r>
              <a:rPr lang="en-NO" dirty="0"/>
              <a:t>When should we use machine learning ?</a:t>
            </a:r>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r>
              <a:rPr lang="nb-NO"/>
              <a:t>Introduction to A.I - Umair M.I</a:t>
            </a:r>
          </a:p>
        </p:txBody>
      </p:sp>
      <p:pic>
        <p:nvPicPr>
          <p:cNvPr id="6" name="Picture 5">
            <a:extLst>
              <a:ext uri="{FF2B5EF4-FFF2-40B4-BE49-F238E27FC236}">
                <a16:creationId xmlns:a16="http://schemas.microsoft.com/office/drawing/2014/main" id="{AC738862-F755-B545-A1B0-3241F5B81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379" y="2646851"/>
            <a:ext cx="4949471" cy="5361927"/>
          </a:xfrm>
          <a:prstGeom prst="rect">
            <a:avLst/>
          </a:prstGeom>
        </p:spPr>
      </p:pic>
      <p:pic>
        <p:nvPicPr>
          <p:cNvPr id="11" name="Picture 10">
            <a:extLst>
              <a:ext uri="{FF2B5EF4-FFF2-40B4-BE49-F238E27FC236}">
                <a16:creationId xmlns:a16="http://schemas.microsoft.com/office/drawing/2014/main" id="{C2C1AFCA-B0FD-BB45-8BC8-0F2CCCF262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0772" y="3380045"/>
            <a:ext cx="4972593" cy="4895618"/>
          </a:xfrm>
          <a:prstGeom prst="rect">
            <a:avLst/>
          </a:prstGeom>
        </p:spPr>
      </p:pic>
      <p:pic>
        <p:nvPicPr>
          <p:cNvPr id="15" name="Picture 14">
            <a:extLst>
              <a:ext uri="{FF2B5EF4-FFF2-40B4-BE49-F238E27FC236}">
                <a16:creationId xmlns:a16="http://schemas.microsoft.com/office/drawing/2014/main" id="{F7A393CA-E249-F148-A756-7DF1F7FD20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86176" y="3078772"/>
            <a:ext cx="4660735" cy="5755726"/>
          </a:xfrm>
          <a:prstGeom prst="rect">
            <a:avLst/>
          </a:prstGeom>
        </p:spPr>
      </p:pic>
    </p:spTree>
    <p:extLst>
      <p:ext uri="{BB962C8B-B14F-4D97-AF65-F5344CB8AC3E}">
        <p14:creationId xmlns:p14="http://schemas.microsoft.com/office/powerpoint/2010/main" val="132384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Supervised learning asks two kinds of question</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What kind of thing you are predicting decides everything that follows</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a:t>
            </a:r>
            <a:r>
              <a:rPr sz="3000" b="1">
                <a:solidFill>
                  <a:srgbClr val="16181D"/>
                </a:solidFill>
                <a:latin typeface="Arial"/>
              </a:rPr>
              <a:t>Regression</a:t>
            </a:r>
            <a:r>
              <a:rPr sz="3000" b="0">
                <a:solidFill>
                  <a:srgbClr val="16181D"/>
                </a:solidFill>
                <a:latin typeface="Arial"/>
              </a:rPr>
              <a:t> — the answer is a </a:t>
            </a:r>
            <a:r>
              <a:rPr sz="3000" b="1">
                <a:solidFill>
                  <a:srgbClr val="16181D"/>
                </a:solidFill>
                <a:latin typeface="Arial"/>
              </a:rPr>
              <a:t>number</a:t>
            </a:r>
            <a:r>
              <a:rPr sz="3000" b="0">
                <a:solidFill>
                  <a:srgbClr val="16181D"/>
                </a:solidFill>
                <a:latin typeface="Arial"/>
              </a:rPr>
              <a:t> on a continuous scale</a:t>
            </a:r>
          </a:p>
          <a:p>
            <a:pPr>
              <a:spcAft>
                <a:spcPts val="800"/>
              </a:spcAft>
            </a:pPr>
            <a:r>
              <a:rPr sz="2500" b="0">
                <a:solidFill>
                  <a:srgbClr val="3A3F47"/>
                </a:solidFill>
                <a:latin typeface="Arial"/>
              </a:rPr>
              <a:t>        –   House price · salary · temperature · minutes of delay · price of oil</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a:t>
            </a:r>
            <a:r>
              <a:rPr sz="3000" b="1">
                <a:solidFill>
                  <a:srgbClr val="16181D"/>
                </a:solidFill>
                <a:latin typeface="Arial"/>
              </a:rPr>
              <a:t>Classification</a:t>
            </a:r>
            <a:r>
              <a:rPr sz="3000" b="0">
                <a:solidFill>
                  <a:srgbClr val="16181D"/>
                </a:solidFill>
                <a:latin typeface="Arial"/>
              </a:rPr>
              <a:t> — the answer is a </a:t>
            </a:r>
            <a:r>
              <a:rPr sz="3000" b="1">
                <a:solidFill>
                  <a:srgbClr val="16181D"/>
                </a:solidFill>
                <a:latin typeface="Arial"/>
              </a:rPr>
              <a:t>category</a:t>
            </a:r>
          </a:p>
          <a:p>
            <a:pPr>
              <a:spcAft>
                <a:spcPts val="800"/>
              </a:spcAft>
            </a:pPr>
            <a:r>
              <a:rPr sz="2500" b="0">
                <a:solidFill>
                  <a:srgbClr val="3A3F47"/>
                </a:solidFill>
                <a:latin typeface="Arial"/>
              </a:rPr>
              <a:t>        –   Survived or died · spam or not spam · which of four fruits · yes or no</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Different algorithms, and completely different ways of measuring success.</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A790BC3C-0831-447D-BCAA-2BAD4BCF058A}" type="slidenum">
              <a:rPr lang="en-US" sz="1200">
                <a:solidFill>
                  <a:srgbClr val="6B7280"/>
                </a:solidFill>
                <a:latin typeface="Arial"/>
              </a:rPr>
              <a:t>46</a:t>
            </a:fld>
            <a:endParaRPr lang="en-US" sz="1200">
              <a:solidFill>
                <a:srgbClr val="6B7280"/>
              </a:solidFill>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Regression or classification ?</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Customer churn — will this customer leave the company ?</a:t>
            </a:r>
          </a:p>
          <a:p>
            <a:pPr>
              <a:spcAft>
                <a:spcPts val="1400"/>
              </a:spcAft>
            </a:pPr>
            <a:r>
              <a:rPr sz="3000" b="0">
                <a:solidFill>
                  <a:srgbClr val="16181D"/>
                </a:solidFill>
                <a:latin typeface="Arial"/>
              </a:rPr>
              <a:t>▪   Spam email</a:t>
            </a:r>
          </a:p>
          <a:p>
            <a:pPr>
              <a:spcAft>
                <a:spcPts val="1400"/>
              </a:spcAft>
            </a:pPr>
            <a:r>
              <a:rPr sz="3000" b="0">
                <a:solidFill>
                  <a:srgbClr val="16181D"/>
                </a:solidFill>
                <a:latin typeface="Arial"/>
              </a:rPr>
              <a:t>▪   Gender prediction</a:t>
            </a:r>
          </a:p>
          <a:p>
            <a:pPr>
              <a:spcAft>
                <a:spcPts val="1400"/>
              </a:spcAft>
            </a:pPr>
            <a:r>
              <a:rPr sz="3000" b="0">
                <a:solidFill>
                  <a:srgbClr val="16181D"/>
                </a:solidFill>
                <a:latin typeface="Arial"/>
              </a:rPr>
              <a:t>▪   Prediction of the price of oil</a:t>
            </a:r>
          </a:p>
          <a:p>
            <a:pPr>
              <a:spcAft>
                <a:spcPts val="1400"/>
              </a:spcAft>
            </a:pPr>
            <a:r>
              <a:rPr sz="3000" b="0">
                <a:solidFill>
                  <a:srgbClr val="16181D"/>
                </a:solidFill>
                <a:latin typeface="Arial"/>
              </a:rPr>
              <a:t>▪   Salary prediction</a:t>
            </a:r>
          </a:p>
          <a:p>
            <a:pPr>
              <a:spcAft>
                <a:spcPts val="1400"/>
              </a:spcAft>
            </a:pPr>
            <a:r>
              <a:rPr sz="3000" b="0">
                <a:solidFill>
                  <a:srgbClr val="16181D"/>
                </a:solidFill>
                <a:latin typeface="Arial"/>
              </a:rPr>
              <a:t>▪   Age prediction</a:t>
            </a:r>
          </a:p>
          <a:p>
            <a:pPr>
              <a:spcAft>
                <a:spcPts val="1400"/>
              </a:spcAft>
            </a:pPr>
            <a:r>
              <a:rPr sz="3000" b="0">
                <a:solidFill>
                  <a:srgbClr val="16181D"/>
                </a:solidFill>
                <a:latin typeface="Arial"/>
              </a:rPr>
              <a:t>▪   Stock market prediction</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For each one, ask: is the answer a number, or a category?</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846E1389-B058-4425-9806-E8DF793BA17B}" type="slidenum">
              <a:rPr lang="en-US" sz="1200">
                <a:solidFill>
                  <a:srgbClr val="6B7280"/>
                </a:solidFill>
                <a:latin typeface="Arial"/>
              </a:rPr>
              <a:t>47</a:t>
            </a:fld>
            <a:endParaRPr lang="en-US" sz="1200">
              <a:solidFill>
                <a:srgbClr val="6B7280"/>
              </a:solidFill>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Answers — and the one that depends on you</a:t>
            </a:r>
          </a:p>
        </p:txBody>
      </p:sp>
      <p:sp>
        <p:nvSpPr>
          <p:cNvPr id="4" name="Rectangle 3"/>
          <p:cNvSpPr/>
          <p:nvPr/>
        </p:nvSpPr>
        <p:spPr>
          <a:xfrm>
            <a:off x="96926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9264" y="2057400"/>
            <a:ext cx="82296" cy="6035040"/>
          </a:xfrm>
          <a:prstGeom prst="rect">
            <a:avLst/>
          </a:prstGeom>
          <a:solidFill>
            <a:srgbClr val="E02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3584" y="2221992"/>
            <a:ext cx="6995160" cy="640080"/>
          </a:xfrm>
          <a:prstGeom prst="rect">
            <a:avLst/>
          </a:prstGeom>
          <a:noFill/>
        </p:spPr>
        <p:txBody>
          <a:bodyPr wrap="none">
            <a:spAutoFit/>
          </a:bodyPr>
          <a:lstStyle/>
          <a:p>
            <a:r>
              <a:rPr sz="2800" b="1">
                <a:solidFill>
                  <a:srgbClr val="16181D"/>
                </a:solidFill>
                <a:latin typeface="Arial"/>
              </a:rPr>
              <a:t>Classification</a:t>
            </a:r>
          </a:p>
        </p:txBody>
      </p:sp>
      <p:sp>
        <p:nvSpPr>
          <p:cNvPr id="7" name="TextBox 6"/>
          <p:cNvSpPr txBox="1"/>
          <p:nvPr/>
        </p:nvSpPr>
        <p:spPr>
          <a:xfrm>
            <a:off x="124358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Customer churn — leaves or stays</a:t>
            </a:r>
          </a:p>
          <a:p>
            <a:pPr>
              <a:spcAft>
                <a:spcPts val="1100"/>
              </a:spcAft>
            </a:pPr>
            <a:r>
              <a:rPr sz="2400" b="0">
                <a:solidFill>
                  <a:srgbClr val="16181D"/>
                </a:solidFill>
                <a:latin typeface="Arial"/>
              </a:rPr>
              <a:t>▪   Spam email — spam or not spam</a:t>
            </a:r>
          </a:p>
          <a:p>
            <a:pPr>
              <a:spcAft>
                <a:spcPts val="1100"/>
              </a:spcAft>
            </a:pPr>
            <a:r>
              <a:rPr sz="2400" b="0">
                <a:solidFill>
                  <a:srgbClr val="16181D"/>
                </a:solidFill>
                <a:latin typeface="Arial"/>
              </a:rPr>
              <a:t>▪   Gender prediction — a category</a:t>
            </a:r>
          </a:p>
        </p:txBody>
      </p:sp>
      <p:sp>
        <p:nvSpPr>
          <p:cNvPr id="8" name="Rectangle 7"/>
          <p:cNvSpPr/>
          <p:nvPr/>
        </p:nvSpPr>
        <p:spPr>
          <a:xfrm>
            <a:off x="8878824" y="2057400"/>
            <a:ext cx="7452360" cy="6035040"/>
          </a:xfrm>
          <a:prstGeom prst="rect">
            <a:avLst/>
          </a:prstGeom>
          <a:solidFill>
            <a:srgbClr val="FAFBFC"/>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878824" y="2057400"/>
            <a:ext cx="82296" cy="60350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3144" y="2221992"/>
            <a:ext cx="6995160" cy="640080"/>
          </a:xfrm>
          <a:prstGeom prst="rect">
            <a:avLst/>
          </a:prstGeom>
          <a:noFill/>
        </p:spPr>
        <p:txBody>
          <a:bodyPr wrap="none">
            <a:spAutoFit/>
          </a:bodyPr>
          <a:lstStyle/>
          <a:p>
            <a:r>
              <a:rPr sz="2800" b="1">
                <a:solidFill>
                  <a:srgbClr val="16181D"/>
                </a:solidFill>
                <a:latin typeface="Arial"/>
              </a:rPr>
              <a:t>Regression</a:t>
            </a:r>
          </a:p>
        </p:txBody>
      </p:sp>
      <p:sp>
        <p:nvSpPr>
          <p:cNvPr id="11" name="TextBox 10"/>
          <p:cNvSpPr txBox="1"/>
          <p:nvPr/>
        </p:nvSpPr>
        <p:spPr>
          <a:xfrm>
            <a:off x="9153144" y="2971800"/>
            <a:ext cx="6949440" cy="4937760"/>
          </a:xfrm>
          <a:prstGeom prst="rect">
            <a:avLst/>
          </a:prstGeom>
          <a:noFill/>
        </p:spPr>
        <p:txBody>
          <a:bodyPr wrap="square">
            <a:spAutoFit/>
          </a:bodyPr>
          <a:lstStyle/>
          <a:p>
            <a:pPr>
              <a:spcAft>
                <a:spcPts val="1100"/>
              </a:spcAft>
            </a:pPr>
            <a:r>
              <a:rPr sz="2400" b="0">
                <a:solidFill>
                  <a:srgbClr val="16181D"/>
                </a:solidFill>
                <a:latin typeface="Arial"/>
              </a:rPr>
              <a:t>▪   Price of oil — a number</a:t>
            </a:r>
          </a:p>
          <a:p>
            <a:pPr>
              <a:spcAft>
                <a:spcPts val="1100"/>
              </a:spcAft>
            </a:pPr>
            <a:r>
              <a:rPr sz="2400" b="0">
                <a:solidFill>
                  <a:srgbClr val="16181D"/>
                </a:solidFill>
                <a:latin typeface="Arial"/>
              </a:rPr>
              <a:t>▪   Salary prediction — a number</a:t>
            </a:r>
          </a:p>
          <a:p>
            <a:pPr>
              <a:spcAft>
                <a:spcPts val="1100"/>
              </a:spcAft>
            </a:pPr>
            <a:r>
              <a:rPr sz="2400" b="0">
                <a:solidFill>
                  <a:srgbClr val="16181D"/>
                </a:solidFill>
                <a:latin typeface="Arial"/>
              </a:rPr>
              <a:t>▪   Age prediction — a number</a:t>
            </a:r>
          </a:p>
        </p:txBody>
      </p:sp>
      <p:sp>
        <p:nvSpPr>
          <p:cNvPr id="12" name="TextBox 11"/>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Stock market prediction is EITHER: "what will the price be?" is regression · "will it go up or down?" is classification</a:t>
            </a:r>
          </a:p>
        </p:txBody>
      </p:sp>
      <p:sp>
        <p:nvSpPr>
          <p:cNvPr id="13" name="TextBox 12"/>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14" name="TextBox 13"/>
          <p:cNvSpPr txBox="1"/>
          <p:nvPr/>
        </p:nvSpPr>
        <p:spPr>
          <a:xfrm>
            <a:off x="15910559" y="8705088"/>
            <a:ext cx="438912" cy="365760"/>
          </a:xfrm>
          <a:prstGeom prst="rect">
            <a:avLst/>
          </a:prstGeom>
          <a:noFill/>
        </p:spPr>
        <p:txBody>
          <a:bodyPr wrap="none">
            <a:spAutoFit/>
          </a:bodyPr>
          <a:lstStyle/>
          <a:p>
            <a:pPr algn="r"/>
            <a:fld id="{CDDEFCC5-9FBB-4BF5-90CC-37DD15BE27EA}" type="slidenum">
              <a:rPr lang="en-US" sz="1200">
                <a:solidFill>
                  <a:srgbClr val="6B7280"/>
                </a:solidFill>
                <a:latin typeface="Arial"/>
              </a:rPr>
              <a:t>48</a:t>
            </a:fld>
            <a:endParaRPr lang="en-US" sz="1200">
              <a:solidFill>
                <a:srgbClr val="6B7280"/>
              </a:solidFill>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Linear Regression</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It is a </a:t>
            </a:r>
            <a:r>
              <a:rPr sz="3000" b="1">
                <a:solidFill>
                  <a:srgbClr val="16181D"/>
                </a:solidFill>
                <a:latin typeface="Arial"/>
              </a:rPr>
              <a:t>linear model</a:t>
            </a:r>
            <a:r>
              <a:rPr sz="3000" b="0">
                <a:solidFill>
                  <a:srgbClr val="16181D"/>
                </a:solidFill>
                <a:latin typeface="Arial"/>
              </a:rPr>
              <a:t> — an equation describing a relationship between two</a:t>
            </a:r>
          </a:p>
          <a:p>
            <a:pPr>
              <a:spcAft>
                <a:spcPts val="1400"/>
              </a:spcAft>
            </a:pPr>
            <a:r>
              <a:rPr sz="3000" b="0">
                <a:solidFill>
                  <a:srgbClr val="16181D"/>
                </a:solidFill>
                <a:latin typeface="Arial"/>
              </a:rPr>
              <a:t>▪   quantities that show a </a:t>
            </a:r>
            <a:r>
              <a:rPr sz="3000" b="1">
                <a:solidFill>
                  <a:srgbClr val="16181D"/>
                </a:solidFill>
                <a:latin typeface="Arial"/>
              </a:rPr>
              <a:t>constant rate of change</a:t>
            </a:r>
          </a:p>
          <a:p>
            <a:pPr>
              <a:spcAft>
                <a:spcPts val="600"/>
              </a:spcAft>
            </a:pPr>
            <a:endParaRPr sz="3000" b="1">
              <a:solidFill>
                <a:srgbClr val="16181D"/>
              </a:solidFill>
              <a:latin typeface="Arial"/>
            </a:endParaRPr>
          </a:p>
          <a:p>
            <a:pPr>
              <a:spcAft>
                <a:spcPts val="1400"/>
              </a:spcAft>
            </a:pPr>
            <a:r>
              <a:rPr sz="3000" b="0">
                <a:solidFill>
                  <a:srgbClr val="16181D"/>
                </a:solidFill>
                <a:latin typeface="Arial"/>
              </a:rPr>
              <a:t>▪   </a:t>
            </a:r>
            <a:r>
              <a:rPr sz="2800" b="0">
                <a:solidFill>
                  <a:srgbClr val="0B3D6B"/>
                </a:solidFill>
                <a:latin typeface="Consolas"/>
              </a:rPr>
              <a:t>Y = a + bX</a:t>
            </a:r>
          </a:p>
          <a:p>
            <a:pPr>
              <a:spcAft>
                <a:spcPts val="600"/>
              </a:spcAft>
            </a:pPr>
            <a:endParaRPr sz="2800" b="0">
              <a:solidFill>
                <a:srgbClr val="0B3D6B"/>
              </a:solidFill>
              <a:latin typeface="Consolas"/>
            </a:endParaRPr>
          </a:p>
          <a:p>
            <a:pPr>
              <a:spcAft>
                <a:spcPts val="1400"/>
              </a:spcAft>
            </a:pPr>
            <a:r>
              <a:rPr sz="3000" b="0">
                <a:solidFill>
                  <a:srgbClr val="16181D"/>
                </a:solidFill>
                <a:latin typeface="Arial"/>
              </a:rPr>
              <a:t>▪   </a:t>
            </a:r>
            <a:r>
              <a:rPr sz="3000" b="1">
                <a:solidFill>
                  <a:srgbClr val="16181D"/>
                </a:solidFill>
                <a:latin typeface="Arial"/>
              </a:rPr>
              <a:t>Y</a:t>
            </a:r>
            <a:r>
              <a:rPr sz="3000" b="0">
                <a:solidFill>
                  <a:srgbClr val="16181D"/>
                </a:solidFill>
                <a:latin typeface="Arial"/>
              </a:rPr>
              <a:t> — what we predict (for example, salary)</a:t>
            </a:r>
          </a:p>
          <a:p>
            <a:pPr>
              <a:spcAft>
                <a:spcPts val="1400"/>
              </a:spcAft>
            </a:pPr>
            <a:r>
              <a:rPr sz="3000" b="0">
                <a:solidFill>
                  <a:srgbClr val="16181D"/>
                </a:solidFill>
                <a:latin typeface="Arial"/>
              </a:rPr>
              <a:t>▪   </a:t>
            </a:r>
            <a:r>
              <a:rPr sz="3000" b="1">
                <a:solidFill>
                  <a:srgbClr val="16181D"/>
                </a:solidFill>
                <a:latin typeface="Arial"/>
              </a:rPr>
              <a:t>X</a:t>
            </a:r>
            <a:r>
              <a:rPr sz="3000" b="0">
                <a:solidFill>
                  <a:srgbClr val="16181D"/>
                </a:solidFill>
                <a:latin typeface="Arial"/>
              </a:rPr>
              <a:t> — the input we predict from (for example, age)</a:t>
            </a:r>
          </a:p>
          <a:p>
            <a:pPr>
              <a:spcAft>
                <a:spcPts val="1400"/>
              </a:spcAft>
            </a:pPr>
            <a:r>
              <a:rPr sz="3000" b="0">
                <a:solidFill>
                  <a:srgbClr val="16181D"/>
                </a:solidFill>
                <a:latin typeface="Arial"/>
              </a:rPr>
              <a:t>▪   </a:t>
            </a:r>
            <a:r>
              <a:rPr sz="3000" b="1">
                <a:solidFill>
                  <a:srgbClr val="16181D"/>
                </a:solidFill>
                <a:latin typeface="Arial"/>
              </a:rPr>
              <a:t>a</a:t>
            </a:r>
            <a:r>
              <a:rPr sz="3000" b="0">
                <a:solidFill>
                  <a:srgbClr val="16181D"/>
                </a:solidFill>
                <a:latin typeface="Arial"/>
              </a:rPr>
              <a:t> — the </a:t>
            </a:r>
            <a:r>
              <a:rPr sz="3000" b="1">
                <a:solidFill>
                  <a:srgbClr val="16181D"/>
                </a:solidFill>
                <a:latin typeface="Arial"/>
              </a:rPr>
              <a:t>intercept</a:t>
            </a:r>
            <a:r>
              <a:rPr sz="3000" b="0">
                <a:solidFill>
                  <a:srgbClr val="16181D"/>
                </a:solidFill>
                <a:latin typeface="Arial"/>
              </a:rPr>
              <a:t>: the value of Y when X is 0</a:t>
            </a:r>
          </a:p>
          <a:p>
            <a:pPr>
              <a:spcAft>
                <a:spcPts val="1400"/>
              </a:spcAft>
            </a:pPr>
            <a:r>
              <a:rPr sz="3000" b="0">
                <a:solidFill>
                  <a:srgbClr val="16181D"/>
                </a:solidFill>
                <a:latin typeface="Arial"/>
              </a:rPr>
              <a:t>▪   </a:t>
            </a:r>
            <a:r>
              <a:rPr sz="3000" b="1">
                <a:solidFill>
                  <a:srgbClr val="16181D"/>
                </a:solidFill>
                <a:latin typeface="Arial"/>
              </a:rPr>
              <a:t>b</a:t>
            </a:r>
            <a:r>
              <a:rPr sz="3000" b="0">
                <a:solidFill>
                  <a:srgbClr val="16181D"/>
                </a:solidFill>
                <a:latin typeface="Arial"/>
              </a:rPr>
              <a:t> — the </a:t>
            </a:r>
            <a:r>
              <a:rPr sz="3000" b="1">
                <a:solidFill>
                  <a:srgbClr val="16181D"/>
                </a:solidFill>
                <a:latin typeface="Arial"/>
              </a:rPr>
              <a:t>coefficient</a:t>
            </a:r>
            <a:r>
              <a:rPr sz="3000" b="0">
                <a:solidFill>
                  <a:srgbClr val="16181D"/>
                </a:solidFill>
                <a:latin typeface="Arial"/>
              </a:rPr>
              <a:t>, or slope: how much Y changes when X goes up by 1</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"Constant rate of change" means every extra year of age adds the same amount to the predicted salary.</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6BFB1E09-9171-4811-81D4-5FF08BC86F9B}" type="slidenum">
              <a:rPr lang="en-US" sz="1200">
                <a:solidFill>
                  <a:srgbClr val="6B7280"/>
                </a:solidFill>
                <a:latin typeface="Arial"/>
              </a:rPr>
              <a:t>49</a:t>
            </a:fld>
            <a:endParaRPr lang="en-US" sz="1200">
              <a:solidFill>
                <a:srgbClr val="6B7280"/>
              </a:solidFill>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What the coefficients tell you</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2800" b="0">
                <a:solidFill>
                  <a:srgbClr val="0B3D6B"/>
                </a:solidFill>
                <a:latin typeface="Consolas"/>
              </a:rPr>
              <a:t>Price = 50 000 + 200 × Size + 1 000 × Bedrooms</a:t>
            </a:r>
          </a:p>
          <a:p>
            <a:pPr>
              <a:spcAft>
                <a:spcPts val="600"/>
              </a:spcAft>
            </a:pPr>
            <a:endParaRPr sz="2800" b="0">
              <a:solidFill>
                <a:srgbClr val="0B3D6B"/>
              </a:solidFill>
              <a:latin typeface="Consolas"/>
            </a:endParaRPr>
          </a:p>
          <a:p>
            <a:pPr>
              <a:spcAft>
                <a:spcPts val="1400"/>
              </a:spcAft>
            </a:pPr>
            <a:r>
              <a:rPr sz="3000" b="0">
                <a:solidFill>
                  <a:srgbClr val="16181D"/>
                </a:solidFill>
                <a:latin typeface="Arial"/>
              </a:rPr>
              <a:t>▪   </a:t>
            </a:r>
            <a:r>
              <a:rPr sz="3000" b="1">
                <a:solidFill>
                  <a:srgbClr val="16181D"/>
                </a:solidFill>
                <a:latin typeface="Arial"/>
              </a:rPr>
              <a:t>Intercept 50 000</a:t>
            </a:r>
            <a:r>
              <a:rPr sz="3000" b="0">
                <a:solidFill>
                  <a:srgbClr val="16181D"/>
                </a:solidFill>
                <a:latin typeface="Arial"/>
              </a:rPr>
              <a:t> — the base value where the line crosses. Often not meaningful on its own</a:t>
            </a:r>
          </a:p>
          <a:p>
            <a:pPr>
              <a:spcAft>
                <a:spcPts val="1400"/>
              </a:spcAft>
            </a:pPr>
            <a:r>
              <a:rPr sz="3000" b="0">
                <a:solidFill>
                  <a:srgbClr val="16181D"/>
                </a:solidFill>
                <a:latin typeface="Arial"/>
              </a:rPr>
              <a:t>▪   </a:t>
            </a:r>
            <a:r>
              <a:rPr sz="3000" b="1">
                <a:solidFill>
                  <a:srgbClr val="16181D"/>
                </a:solidFill>
                <a:latin typeface="Arial"/>
              </a:rPr>
              <a:t>Coefficient 200</a:t>
            </a:r>
            <a:r>
              <a:rPr sz="3000" b="0">
                <a:solidFill>
                  <a:srgbClr val="16181D"/>
                </a:solidFill>
                <a:latin typeface="Arial"/>
              </a:rPr>
              <a:t> — each extra square metre adds 200, *if bedrooms stay the same*</a:t>
            </a:r>
          </a:p>
          <a:p>
            <a:pPr>
              <a:spcAft>
                <a:spcPts val="1400"/>
              </a:spcAft>
            </a:pPr>
            <a:r>
              <a:rPr sz="3000" b="0">
                <a:solidFill>
                  <a:srgbClr val="16181D"/>
                </a:solidFill>
                <a:latin typeface="Arial"/>
              </a:rPr>
              <a:t>▪   </a:t>
            </a:r>
            <a:r>
              <a:rPr sz="3000" b="1">
                <a:solidFill>
                  <a:srgbClr val="16181D"/>
                </a:solidFill>
                <a:latin typeface="Arial"/>
              </a:rPr>
              <a:t>Coefficient 1 000</a:t>
            </a:r>
            <a:r>
              <a:rPr sz="3000" b="0">
                <a:solidFill>
                  <a:srgbClr val="16181D"/>
                </a:solidFill>
                <a:latin typeface="Arial"/>
              </a:rPr>
              <a:t> — each extra bedroom adds 1 000, *if size stays the same*</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Positive coefficient → the output goes </a:t>
            </a:r>
            <a:r>
              <a:rPr sz="3000" b="1">
                <a:solidFill>
                  <a:srgbClr val="16181D"/>
                </a:solidFill>
                <a:latin typeface="Arial"/>
              </a:rPr>
              <a:t>up</a:t>
            </a:r>
            <a:r>
              <a:rPr sz="3000" b="0">
                <a:solidFill>
                  <a:srgbClr val="16181D"/>
                </a:solidFill>
                <a:latin typeface="Arial"/>
              </a:rPr>
              <a:t> when the input increases</a:t>
            </a:r>
          </a:p>
          <a:p>
            <a:pPr>
              <a:spcAft>
                <a:spcPts val="1400"/>
              </a:spcAft>
            </a:pPr>
            <a:r>
              <a:rPr sz="3000" b="0">
                <a:solidFill>
                  <a:srgbClr val="16181D"/>
                </a:solidFill>
                <a:latin typeface="Arial"/>
              </a:rPr>
              <a:t>▪   Negative coefficient → the output goes </a:t>
            </a:r>
            <a:r>
              <a:rPr sz="3000" b="1">
                <a:solidFill>
                  <a:srgbClr val="16181D"/>
                </a:solidFill>
                <a:latin typeface="Arial"/>
              </a:rPr>
              <a:t>down</a:t>
            </a:r>
          </a:p>
          <a:p>
            <a:pPr>
              <a:spcAft>
                <a:spcPts val="1400"/>
              </a:spcAft>
            </a:pPr>
            <a:r>
              <a:rPr sz="3000" b="0">
                <a:solidFill>
                  <a:srgbClr val="16181D"/>
                </a:solidFill>
                <a:latin typeface="Arial"/>
              </a:rPr>
              <a:t>▪   Bigger number → a </a:t>
            </a:r>
            <a:r>
              <a:rPr sz="3000" b="1">
                <a:solidFill>
                  <a:srgbClr val="16181D"/>
                </a:solidFill>
                <a:latin typeface="Arial"/>
              </a:rPr>
              <a:t>stronger</a:t>
            </a:r>
            <a:r>
              <a:rPr sz="3000" b="0">
                <a:solidFill>
                  <a:srgbClr val="16181D"/>
                </a:solidFill>
                <a:latin typeface="Arial"/>
              </a:rPr>
              <a:t> effect per unit</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5920B9BD-13B9-4BFB-9895-18BFDC790098}" type="slidenum">
              <a:rPr lang="en-US" sz="1200">
                <a:solidFill>
                  <a:srgbClr val="6B7280"/>
                </a:solidFill>
                <a:latin typeface="Arial"/>
              </a:rPr>
              <a:t>50</a:t>
            </a:fld>
            <a:endParaRPr lang="en-US" sz="1200">
              <a:solidFill>
                <a:srgbClr val="6B7280"/>
              </a:solidFill>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Three kinds of linear regression</a:t>
            </a:r>
          </a:p>
        </p:txBody>
      </p:sp>
      <p:graphicFrame>
        <p:nvGraphicFramePr>
          <p:cNvPr id="4" name="Table 3"/>
          <p:cNvGraphicFramePr>
            <a:graphicFrameLocks noGrp="1"/>
          </p:cNvGraphicFramePr>
          <p:nvPr/>
        </p:nvGraphicFramePr>
        <p:xfrm>
          <a:off x="969264" y="2057400"/>
          <a:ext cx="15371061" cy="2267712"/>
        </p:xfrm>
        <a:graphic>
          <a:graphicData uri="http://schemas.openxmlformats.org/drawingml/2006/table">
            <a:tbl>
              <a:tblPr firstRow="1" bandRow="1">
                <a:tableStyleId>{5C22544A-7EE6-4342-B048-85BDC9FD1C3A}</a:tableStyleId>
              </a:tblPr>
              <a:tblGrid>
                <a:gridCol w="5123687">
                  <a:extLst>
                    <a:ext uri="{9D8B030D-6E8A-4147-A177-3AD203B41FA5}">
                      <a16:colId xmlns:a16="http://schemas.microsoft.com/office/drawing/2014/main" val="20000"/>
                    </a:ext>
                  </a:extLst>
                </a:gridCol>
                <a:gridCol w="5123687">
                  <a:extLst>
                    <a:ext uri="{9D8B030D-6E8A-4147-A177-3AD203B41FA5}">
                      <a16:colId xmlns:a16="http://schemas.microsoft.com/office/drawing/2014/main" val="20001"/>
                    </a:ext>
                  </a:extLst>
                </a:gridCol>
                <a:gridCol w="5123687">
                  <a:extLst>
                    <a:ext uri="{9D8B030D-6E8A-4147-A177-3AD203B41FA5}">
                      <a16:colId xmlns:a16="http://schemas.microsoft.com/office/drawing/2014/main" val="20002"/>
                    </a:ext>
                  </a:extLst>
                </a:gridCol>
              </a:tblGrid>
              <a:tr h="566928">
                <a:tc>
                  <a:txBody>
                    <a:bodyPr/>
                    <a:lstStyle/>
                    <a:p>
                      <a:r>
                        <a:rPr sz="2100" b="1">
                          <a:solidFill>
                            <a:srgbClr val="16181D"/>
                          </a:solidFill>
                          <a:latin typeface="Arial"/>
                        </a:rPr>
                        <a:t>Name</a:t>
                      </a:r>
                    </a:p>
                  </a:txBody>
                  <a:tcPr marL="109728" marR="109728">
                    <a:solidFill>
                      <a:srgbClr val="FFDC00"/>
                    </a:solidFill>
                  </a:tcPr>
                </a:tc>
                <a:tc>
                  <a:txBody>
                    <a:bodyPr/>
                    <a:lstStyle/>
                    <a:p>
                      <a:r>
                        <a:rPr sz="2100" b="1">
                          <a:solidFill>
                            <a:srgbClr val="16181D"/>
                          </a:solidFill>
                          <a:latin typeface="Arial"/>
                        </a:rPr>
                        <a:t>Inputs</a:t>
                      </a:r>
                    </a:p>
                  </a:txBody>
                  <a:tcPr marL="109728" marR="109728">
                    <a:solidFill>
                      <a:srgbClr val="FFDC00"/>
                    </a:solidFill>
                  </a:tcPr>
                </a:tc>
                <a:tc>
                  <a:txBody>
                    <a:bodyPr/>
                    <a:lstStyle/>
                    <a:p>
                      <a:r>
                        <a:rPr sz="2100" b="1">
                          <a:solidFill>
                            <a:srgbClr val="16181D"/>
                          </a:solidFill>
                          <a:latin typeface="Arial"/>
                        </a:rPr>
                        <a:t>Shape it draws</a:t>
                      </a:r>
                    </a:p>
                  </a:txBody>
                  <a:tcPr marL="109728" marR="109728">
                    <a:solidFill>
                      <a:srgbClr val="FFDC00"/>
                    </a:solidFill>
                  </a:tcPr>
                </a:tc>
                <a:extLst>
                  <a:ext uri="{0D108BD9-81ED-4DB2-BD59-A6C34878D82A}">
                    <a16:rowId xmlns:a16="http://schemas.microsoft.com/office/drawing/2014/main" val="10000"/>
                  </a:ext>
                </a:extLst>
              </a:tr>
              <a:tr h="566928">
                <a:tc>
                  <a:txBody>
                    <a:bodyPr/>
                    <a:lstStyle/>
                    <a:p>
                      <a:r>
                        <a:rPr sz="2000" b="1">
                          <a:solidFill>
                            <a:srgbClr val="16181D"/>
                          </a:solidFill>
                          <a:latin typeface="Arial"/>
                        </a:rPr>
                        <a:t>Simple</a:t>
                      </a:r>
                      <a:r>
                        <a:rPr sz="2000" b="0">
                          <a:solidFill>
                            <a:srgbClr val="16181D"/>
                          </a:solidFill>
                          <a:latin typeface="Arial"/>
                        </a:rPr>
                        <a:t> linear regression</a:t>
                      </a:r>
                    </a:p>
                  </a:txBody>
                  <a:tcPr marL="109728" marR="109728">
                    <a:solidFill>
                      <a:srgbClr val="FFFFFF"/>
                    </a:solidFill>
                  </a:tcPr>
                </a:tc>
                <a:tc>
                  <a:txBody>
                    <a:bodyPr/>
                    <a:lstStyle/>
                    <a:p>
                      <a:r>
                        <a:rPr sz="2000" b="0">
                          <a:solidFill>
                            <a:srgbClr val="16181D"/>
                          </a:solidFill>
                          <a:latin typeface="Arial"/>
                        </a:rPr>
                        <a:t>One input variable (X)</a:t>
                      </a:r>
                    </a:p>
                  </a:txBody>
                  <a:tcPr marL="109728" marR="109728">
                    <a:solidFill>
                      <a:srgbClr val="FFFFFF"/>
                    </a:solidFill>
                  </a:tcPr>
                </a:tc>
                <a:tc>
                  <a:txBody>
                    <a:bodyPr/>
                    <a:lstStyle/>
                    <a:p>
                      <a:r>
                        <a:rPr sz="2000" b="0">
                          <a:solidFill>
                            <a:srgbClr val="16181D"/>
                          </a:solidFill>
                          <a:latin typeface="Arial"/>
                        </a:rPr>
                        <a:t>A straight line</a:t>
                      </a:r>
                    </a:p>
                  </a:txBody>
                  <a:tcPr marL="109728" marR="109728">
                    <a:solidFill>
                      <a:srgbClr val="FFFFFF"/>
                    </a:solidFill>
                  </a:tcPr>
                </a:tc>
                <a:extLst>
                  <a:ext uri="{0D108BD9-81ED-4DB2-BD59-A6C34878D82A}">
                    <a16:rowId xmlns:a16="http://schemas.microsoft.com/office/drawing/2014/main" val="10001"/>
                  </a:ext>
                </a:extLst>
              </a:tr>
              <a:tr h="566928">
                <a:tc>
                  <a:txBody>
                    <a:bodyPr/>
                    <a:lstStyle/>
                    <a:p>
                      <a:r>
                        <a:rPr sz="2000" b="1">
                          <a:solidFill>
                            <a:srgbClr val="16181D"/>
                          </a:solidFill>
                          <a:latin typeface="Arial"/>
                        </a:rPr>
                        <a:t>Multiple</a:t>
                      </a:r>
                      <a:r>
                        <a:rPr sz="2000" b="0">
                          <a:solidFill>
                            <a:srgbClr val="16181D"/>
                          </a:solidFill>
                          <a:latin typeface="Arial"/>
                        </a:rPr>
                        <a:t> linear regression</a:t>
                      </a:r>
                    </a:p>
                  </a:txBody>
                  <a:tcPr marL="109728" marR="109728">
                    <a:solidFill>
                      <a:srgbClr val="F7F8FA"/>
                    </a:solidFill>
                  </a:tcPr>
                </a:tc>
                <a:tc>
                  <a:txBody>
                    <a:bodyPr/>
                    <a:lstStyle/>
                    <a:p>
                      <a:r>
                        <a:rPr sz="2000" b="0">
                          <a:solidFill>
                            <a:srgbClr val="16181D"/>
                          </a:solidFill>
                          <a:latin typeface="Arial"/>
                        </a:rPr>
                        <a:t>Several input variables</a:t>
                      </a:r>
                    </a:p>
                  </a:txBody>
                  <a:tcPr marL="109728" marR="109728">
                    <a:solidFill>
                      <a:srgbClr val="F7F8FA"/>
                    </a:solidFill>
                  </a:tcPr>
                </a:tc>
                <a:tc>
                  <a:txBody>
                    <a:bodyPr/>
                    <a:lstStyle/>
                    <a:p>
                      <a:r>
                        <a:rPr sz="2000" b="0">
                          <a:solidFill>
                            <a:srgbClr val="16181D"/>
                          </a:solidFill>
                          <a:latin typeface="Arial"/>
                        </a:rPr>
                        <a:t>A flat plane or hyperplane</a:t>
                      </a:r>
                    </a:p>
                  </a:txBody>
                  <a:tcPr marL="109728" marR="109728">
                    <a:solidFill>
                      <a:srgbClr val="F7F8FA"/>
                    </a:solidFill>
                  </a:tcPr>
                </a:tc>
                <a:extLst>
                  <a:ext uri="{0D108BD9-81ED-4DB2-BD59-A6C34878D82A}">
                    <a16:rowId xmlns:a16="http://schemas.microsoft.com/office/drawing/2014/main" val="10002"/>
                  </a:ext>
                </a:extLst>
              </a:tr>
              <a:tr h="566928">
                <a:tc>
                  <a:txBody>
                    <a:bodyPr/>
                    <a:lstStyle/>
                    <a:p>
                      <a:r>
                        <a:rPr sz="2000" b="1">
                          <a:solidFill>
                            <a:srgbClr val="16181D"/>
                          </a:solidFill>
                          <a:latin typeface="Arial"/>
                        </a:rPr>
                        <a:t>Polynomial</a:t>
                      </a:r>
                      <a:r>
                        <a:rPr sz="2000" b="0">
                          <a:solidFill>
                            <a:srgbClr val="16181D"/>
                          </a:solidFill>
                          <a:latin typeface="Arial"/>
                        </a:rPr>
                        <a:t> regression</a:t>
                      </a:r>
                    </a:p>
                  </a:txBody>
                  <a:tcPr marL="109728" marR="109728">
                    <a:solidFill>
                      <a:srgbClr val="FFFFFF"/>
                    </a:solidFill>
                  </a:tcPr>
                </a:tc>
                <a:tc>
                  <a:txBody>
                    <a:bodyPr/>
                    <a:lstStyle/>
                    <a:p>
                      <a:r>
                        <a:rPr sz="2000" b="0">
                          <a:solidFill>
                            <a:srgbClr val="16181D"/>
                          </a:solidFill>
                          <a:latin typeface="Arial"/>
                        </a:rPr>
                        <a:t>Inputs and their powers (X, X², X³)</a:t>
                      </a:r>
                    </a:p>
                  </a:txBody>
                  <a:tcPr marL="109728" marR="109728">
                    <a:solidFill>
                      <a:srgbClr val="FFFFFF"/>
                    </a:solidFill>
                  </a:tcPr>
                </a:tc>
                <a:tc>
                  <a:txBody>
                    <a:bodyPr/>
                    <a:lstStyle/>
                    <a:p>
                      <a:r>
                        <a:rPr sz="2000" b="0">
                          <a:solidFill>
                            <a:srgbClr val="16181D"/>
                          </a:solidFill>
                          <a:latin typeface="Arial"/>
                        </a:rPr>
                        <a:t>A curve — never a straight line</a:t>
                      </a:r>
                    </a:p>
                  </a:txBody>
                  <a:tcPr marL="109728" marR="109728">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Polynomial regression is still called a linear model, because it is linear in its coefficients — only the shape in X curves.</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90BF6BFC-E815-4788-B09A-4DDF818F62F2}" type="slidenum">
              <a:rPr lang="en-US" sz="1200">
                <a:solidFill>
                  <a:srgbClr val="6B7280"/>
                </a:solidFill>
                <a:latin typeface="Arial"/>
              </a:rPr>
              <a:t>51</a:t>
            </a:fld>
            <a:endParaRPr lang="en-US" sz="1200">
              <a:solidFill>
                <a:srgbClr val="6B7280"/>
              </a:solidFill>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What the model is given, and what is held back</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One </a:t>
            </a:r>
            <a:r>
              <a:rPr sz="3000" b="1">
                <a:solidFill>
                  <a:srgbClr val="16181D"/>
                </a:solidFill>
                <a:latin typeface="Arial"/>
              </a:rPr>
              <a:t>row</a:t>
            </a:r>
            <a:r>
              <a:rPr sz="3000" b="0">
                <a:solidFill>
                  <a:srgbClr val="16181D"/>
                </a:solidFill>
                <a:latin typeface="Arial"/>
              </a:rPr>
              <a:t> is one observation. One </a:t>
            </a:r>
            <a:r>
              <a:rPr sz="3000" b="1">
                <a:solidFill>
                  <a:srgbClr val="16181D"/>
                </a:solidFill>
                <a:latin typeface="Arial"/>
              </a:rPr>
              <a:t>column</a:t>
            </a:r>
            <a:r>
              <a:rPr sz="3000" b="0">
                <a:solidFill>
                  <a:srgbClr val="16181D"/>
                </a:solidFill>
                <a:latin typeface="Arial"/>
              </a:rPr>
              <a:t> is one feature.</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a:t>
            </a:r>
            <a:r>
              <a:rPr sz="3000" b="1">
                <a:solidFill>
                  <a:srgbClr val="16181D"/>
                </a:solidFill>
                <a:latin typeface="Arial"/>
              </a:rPr>
              <a:t>X</a:t>
            </a:r>
            <a:r>
              <a:rPr sz="3000" b="0">
                <a:solidFill>
                  <a:srgbClr val="16181D"/>
                </a:solidFill>
                <a:latin typeface="Arial"/>
              </a:rPr>
              <a:t> — the features the model predicts *from*</a:t>
            </a:r>
          </a:p>
          <a:p>
            <a:pPr>
              <a:spcAft>
                <a:spcPts val="1400"/>
              </a:spcAft>
            </a:pPr>
            <a:r>
              <a:rPr sz="3000" b="0">
                <a:solidFill>
                  <a:srgbClr val="16181D"/>
                </a:solidFill>
                <a:latin typeface="Arial"/>
              </a:rPr>
              <a:t>▪   </a:t>
            </a:r>
            <a:r>
              <a:rPr sz="3000" b="1">
                <a:solidFill>
                  <a:srgbClr val="16181D"/>
                </a:solidFill>
                <a:latin typeface="Arial"/>
              </a:rPr>
              <a:t>y</a:t>
            </a:r>
            <a:r>
              <a:rPr sz="3000" b="0">
                <a:solidFill>
                  <a:srgbClr val="16181D"/>
                </a:solidFill>
                <a:latin typeface="Arial"/>
              </a:rPr>
              <a:t> — the target the model predicts</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The data was split in two last week:</a:t>
            </a:r>
          </a:p>
          <a:p>
            <a:pPr>
              <a:spcAft>
                <a:spcPts val="800"/>
              </a:spcAft>
            </a:pPr>
            <a:r>
              <a:rPr sz="2500" b="0">
                <a:solidFill>
                  <a:srgbClr val="3A3F47"/>
                </a:solidFill>
                <a:latin typeface="Arial"/>
              </a:rPr>
              <a:t>        –   </a:t>
            </a:r>
            <a:r>
              <a:rPr sz="2300" b="0">
                <a:solidFill>
                  <a:srgbClr val="0B3D6B"/>
                </a:solidFill>
                <a:latin typeface="Consolas"/>
              </a:rPr>
              <a:t>X_train</a:t>
            </a:r>
            <a:r>
              <a:rPr sz="2500" b="0">
                <a:solidFill>
                  <a:srgbClr val="3A3F47"/>
                </a:solidFill>
                <a:latin typeface="Arial"/>
              </a:rPr>
              <a:t>, </a:t>
            </a:r>
            <a:r>
              <a:rPr sz="2300" b="0">
                <a:solidFill>
                  <a:srgbClr val="0B3D6B"/>
                </a:solidFill>
                <a:latin typeface="Consolas"/>
              </a:rPr>
              <a:t>y_train</a:t>
            </a:r>
            <a:r>
              <a:rPr sz="2500" b="0">
                <a:solidFill>
                  <a:srgbClr val="3A3F47"/>
                </a:solidFill>
                <a:latin typeface="Arial"/>
              </a:rPr>
              <a:t> — the model learns from these</a:t>
            </a:r>
          </a:p>
          <a:p>
            <a:pPr>
              <a:spcAft>
                <a:spcPts val="800"/>
              </a:spcAft>
            </a:pPr>
            <a:r>
              <a:rPr sz="2500" b="0">
                <a:solidFill>
                  <a:srgbClr val="3A3F47"/>
                </a:solidFill>
                <a:latin typeface="Arial"/>
              </a:rPr>
              <a:t>        –   </a:t>
            </a:r>
            <a:r>
              <a:rPr sz="2300" b="0">
                <a:solidFill>
                  <a:srgbClr val="0B3D6B"/>
                </a:solidFill>
                <a:latin typeface="Consolas"/>
              </a:rPr>
              <a:t>X_test</a:t>
            </a:r>
            <a:r>
              <a:rPr sz="2500" b="0">
                <a:solidFill>
                  <a:srgbClr val="3A3F47"/>
                </a:solidFill>
                <a:latin typeface="Arial"/>
              </a:rPr>
              <a:t>, </a:t>
            </a:r>
            <a:r>
              <a:rPr sz="2300" b="0">
                <a:solidFill>
                  <a:srgbClr val="0B3D6B"/>
                </a:solidFill>
                <a:latin typeface="Consolas"/>
              </a:rPr>
              <a:t>y_test</a:t>
            </a:r>
            <a:r>
              <a:rPr sz="2500" b="0">
                <a:solidFill>
                  <a:srgbClr val="3A3F47"/>
                </a:solidFill>
                <a:latin typeface="Arial"/>
              </a:rPr>
              <a:t> — kept back, and used only to judge the result</a:t>
            </a:r>
          </a:p>
          <a:p>
            <a:pPr>
              <a:spcAft>
                <a:spcPts val="600"/>
              </a:spcAft>
            </a:pPr>
            <a:endParaRPr sz="2500" b="0">
              <a:solidFill>
                <a:srgbClr val="3A3F47"/>
              </a:solidFill>
              <a:latin typeface="Arial"/>
            </a:endParaRPr>
          </a:p>
          <a:p>
            <a:pPr>
              <a:spcAft>
                <a:spcPts val="1400"/>
              </a:spcAft>
            </a:pPr>
            <a:r>
              <a:rPr sz="3000" b="0">
                <a:solidFill>
                  <a:srgbClr val="16181D"/>
                </a:solidFill>
                <a:latin typeface="Arial"/>
              </a:rPr>
              <a:t>▪   </a:t>
            </a:r>
            <a:r>
              <a:rPr sz="3000" b="1">
                <a:solidFill>
                  <a:srgbClr val="16181D"/>
                </a:solidFill>
                <a:latin typeface="Arial"/>
              </a:rPr>
              <a:t>A model scored on the same rows it learned from measures memory, not skill.</a:t>
            </a:r>
          </a:p>
        </p:txBody>
      </p:sp>
      <p:sp>
        <p:nvSpPr>
          <p:cNvPr id="5" name="TextBox 4"/>
          <p:cNvSpPr txBox="1"/>
          <p:nvPr/>
        </p:nvSpPr>
        <p:spPr>
          <a:xfrm>
            <a:off x="969264" y="8549640"/>
            <a:ext cx="15371063" cy="457200"/>
          </a:xfrm>
          <a:prstGeom prst="rect">
            <a:avLst/>
          </a:prstGeom>
          <a:noFill/>
        </p:spPr>
        <p:txBody>
          <a:bodyPr wrap="none">
            <a:spAutoFit/>
          </a:bodyPr>
          <a:lstStyle/>
          <a:p>
            <a:r>
              <a:rPr sz="1700" b="0">
                <a:solidFill>
                  <a:srgbClr val="6B7280"/>
                </a:solidFill>
                <a:latin typeface="Arial"/>
              </a:rPr>
              <a:t>A common split is 80% for training and 20% for testing.</a:t>
            </a:r>
          </a:p>
        </p:txBody>
      </p:sp>
      <p:sp>
        <p:nvSpPr>
          <p:cNvPr id="6" name="TextBox 5"/>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7" name="TextBox 6"/>
          <p:cNvSpPr txBox="1"/>
          <p:nvPr/>
        </p:nvSpPr>
        <p:spPr>
          <a:xfrm>
            <a:off x="15910559" y="8705088"/>
            <a:ext cx="438912" cy="365760"/>
          </a:xfrm>
          <a:prstGeom prst="rect">
            <a:avLst/>
          </a:prstGeom>
          <a:noFill/>
        </p:spPr>
        <p:txBody>
          <a:bodyPr wrap="none">
            <a:spAutoFit/>
          </a:bodyPr>
          <a:lstStyle/>
          <a:p>
            <a:pPr algn="r"/>
            <a:fld id="{31BAF93A-BE6A-40A7-B80E-C706EF78C71A}" type="slidenum">
              <a:rPr lang="en-US" sz="1200">
                <a:solidFill>
                  <a:srgbClr val="6B7280"/>
                </a:solidFill>
                <a:latin typeface="Arial"/>
              </a:rPr>
              <a:t>52</a:t>
            </a:fld>
            <a:endParaRPr lang="en-US" sz="1200">
              <a:solidFill>
                <a:srgbClr val="6B7280"/>
              </a:solidFill>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Building a linear regression model</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Choose a model, fit it, predict. Every algorithm in scikit-learn uses these same three steps.</a:t>
            </a:r>
          </a:p>
        </p:txBody>
      </p:sp>
      <p:sp>
        <p:nvSpPr>
          <p:cNvPr id="5" name="Rectangle 4"/>
          <p:cNvSpPr/>
          <p:nvPr/>
        </p:nvSpPr>
        <p:spPr>
          <a:xfrm>
            <a:off x="969264" y="2606040"/>
            <a:ext cx="15371063" cy="4032504"/>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403250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3758184"/>
          </a:xfrm>
          <a:prstGeom prst="rect">
            <a:avLst/>
          </a:prstGeom>
          <a:noFill/>
        </p:spPr>
        <p:txBody>
          <a:bodyPr wrap="none">
            <a:spAutoFit/>
          </a:bodyPr>
          <a:lstStyle/>
          <a:p>
            <a:pPr>
              <a:spcAft>
                <a:spcPts val="200"/>
              </a:spcAft>
            </a:pPr>
            <a:r>
              <a:rPr sz="2100">
                <a:solidFill>
                  <a:srgbClr val="16181D"/>
                </a:solidFill>
                <a:latin typeface="Consolas"/>
              </a:rPr>
              <a:t>from sklearn.linear_model import LinearRegression</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model = LinearRegression()</a:t>
            </a:r>
          </a:p>
          <a:p>
            <a:pPr>
              <a:spcAft>
                <a:spcPts val="200"/>
              </a:spcAft>
            </a:pPr>
            <a:r>
              <a:rPr sz="2100">
                <a:solidFill>
                  <a:srgbClr val="16181D"/>
                </a:solidFill>
                <a:latin typeface="Consolas"/>
              </a:rPr>
              <a:t>model.fit(X_train, y_train)        </a:t>
            </a:r>
            <a:r>
              <a:rPr sz="2100">
                <a:solidFill>
                  <a:srgbClr val="1B7F4B"/>
                </a:solidFill>
                <a:latin typeface="Consolas"/>
              </a:rPr>
              <a:t># learns a and b from the training data</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print(model.intercept_)                          </a:t>
            </a:r>
            <a:r>
              <a:rPr sz="2100">
                <a:solidFill>
                  <a:srgbClr val="1B7F4B"/>
                </a:solidFill>
                <a:latin typeface="Consolas"/>
              </a:rPr>
              <a:t># a</a:t>
            </a:r>
          </a:p>
          <a:p>
            <a:pPr>
              <a:spcAft>
                <a:spcPts val="200"/>
              </a:spcAft>
            </a:pPr>
            <a:r>
              <a:rPr sz="2100">
                <a:solidFill>
                  <a:srgbClr val="16181D"/>
                </a:solidFill>
                <a:latin typeface="Consolas"/>
              </a:rPr>
              <a:t>print(dict(zip(X_train.columns, model.coef_)))   </a:t>
            </a:r>
            <a:r>
              <a:rPr sz="2100">
                <a:solidFill>
                  <a:srgbClr val="1B7F4B"/>
                </a:solidFill>
                <a:latin typeface="Consolas"/>
              </a:rPr>
              <a:t># b, one per feature</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y_pred = model.predict(X_test)     </a:t>
            </a:r>
            <a:r>
              <a:rPr sz="2100">
                <a:solidFill>
                  <a:srgbClr val="1B7F4B"/>
                </a:solidFill>
                <a:latin typeface="Consolas"/>
              </a:rPr>
              <a:t># predict for data it has not seen</a:t>
            </a:r>
          </a:p>
        </p:txBody>
      </p:sp>
      <p:sp>
        <p:nvSpPr>
          <p:cNvPr id="8" name="TextBox 7"/>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910559" y="8705088"/>
            <a:ext cx="438912" cy="365760"/>
          </a:xfrm>
          <a:prstGeom prst="rect">
            <a:avLst/>
          </a:prstGeom>
          <a:noFill/>
        </p:spPr>
        <p:txBody>
          <a:bodyPr wrap="none">
            <a:spAutoFit/>
          </a:bodyPr>
          <a:lstStyle/>
          <a:p>
            <a:pPr algn="r"/>
            <a:fld id="{F1AA6E16-460F-4513-B6C2-5066C0B3E249}" type="slidenum">
              <a:rPr lang="en-US" sz="1200">
                <a:solidFill>
                  <a:srgbClr val="6B7280"/>
                </a:solidFill>
                <a:latin typeface="Arial"/>
              </a:rPr>
              <a:t>53</a:t>
            </a:fld>
            <a:endParaRPr lang="en-US" sz="1200">
              <a:solidFill>
                <a:srgbClr val="6B7280"/>
              </a:solidFill>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Seeing how well the line fits</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The second plot works no matter how many features the model uses.</a:t>
            </a:r>
          </a:p>
        </p:txBody>
      </p:sp>
      <p:sp>
        <p:nvSpPr>
          <p:cNvPr id="5" name="Rectangle 4"/>
          <p:cNvSpPr/>
          <p:nvPr/>
        </p:nvSpPr>
        <p:spPr>
          <a:xfrm>
            <a:off x="969264" y="2606040"/>
            <a:ext cx="15371063" cy="3648456"/>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364845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3374136"/>
          </a:xfrm>
          <a:prstGeom prst="rect">
            <a:avLst/>
          </a:prstGeom>
          <a:noFill/>
        </p:spPr>
        <p:txBody>
          <a:bodyPr wrap="none">
            <a:spAutoFit/>
          </a:bodyPr>
          <a:lstStyle/>
          <a:p>
            <a:pPr>
              <a:spcAft>
                <a:spcPts val="200"/>
              </a:spcAft>
            </a:pPr>
            <a:r>
              <a:rPr sz="2100">
                <a:solidFill>
                  <a:srgbClr val="1B7F4B"/>
                </a:solidFill>
                <a:latin typeface="Consolas"/>
              </a:rPr>
              <a:t># with one input: the data and the fitted line</a:t>
            </a:r>
          </a:p>
          <a:p>
            <a:pPr>
              <a:spcAft>
                <a:spcPts val="200"/>
              </a:spcAft>
            </a:pPr>
            <a:r>
              <a:rPr sz="2100">
                <a:solidFill>
                  <a:srgbClr val="16181D"/>
                </a:solidFill>
                <a:latin typeface="Consolas"/>
              </a:rPr>
              <a:t>plt.scatter(X_test["Size"], y_test, alpha=0.5)</a:t>
            </a:r>
          </a:p>
          <a:p>
            <a:pPr>
              <a:spcAft>
                <a:spcPts val="200"/>
              </a:spcAft>
            </a:pPr>
            <a:r>
              <a:rPr sz="2100">
                <a:solidFill>
                  <a:srgbClr val="16181D"/>
                </a:solidFill>
                <a:latin typeface="Consolas"/>
              </a:rPr>
              <a:t>plt.plot(X_test["Size"], y_pred, color="red")</a:t>
            </a:r>
          </a:p>
          <a:p>
            <a:pPr>
              <a:spcAft>
                <a:spcPts val="200"/>
              </a:spcAft>
            </a:pPr>
            <a:endParaRPr sz="2100">
              <a:solidFill>
                <a:srgbClr val="16181D"/>
              </a:solidFill>
              <a:latin typeface="Consolas"/>
            </a:endParaRPr>
          </a:p>
          <a:p>
            <a:pPr>
              <a:spcAft>
                <a:spcPts val="200"/>
              </a:spcAft>
            </a:pPr>
            <a:r>
              <a:rPr sz="2100">
                <a:solidFill>
                  <a:srgbClr val="1B7F4B"/>
                </a:solidFill>
                <a:latin typeface="Consolas"/>
              </a:rPr>
              <a:t># with any number of inputs: predicted against actual</a:t>
            </a:r>
          </a:p>
          <a:p>
            <a:pPr>
              <a:spcAft>
                <a:spcPts val="200"/>
              </a:spcAft>
            </a:pPr>
            <a:r>
              <a:rPr sz="2100">
                <a:solidFill>
                  <a:srgbClr val="16181D"/>
                </a:solidFill>
                <a:latin typeface="Consolas"/>
              </a:rPr>
              <a:t>plt.scatter(y_test, y_pred, alpha=0.5)</a:t>
            </a:r>
          </a:p>
          <a:p>
            <a:pPr>
              <a:spcAft>
                <a:spcPts val="200"/>
              </a:spcAft>
            </a:pPr>
            <a:r>
              <a:rPr sz="2100">
                <a:solidFill>
                  <a:srgbClr val="16181D"/>
                </a:solidFill>
                <a:latin typeface="Consolas"/>
              </a:rPr>
              <a:t>plt.plot([y_test.min(), y_test.max()],</a:t>
            </a:r>
          </a:p>
          <a:p>
            <a:pPr>
              <a:spcAft>
                <a:spcPts val="200"/>
              </a:spcAft>
            </a:pPr>
            <a:r>
              <a:rPr sz="2100">
                <a:solidFill>
                  <a:srgbClr val="16181D"/>
                </a:solidFill>
                <a:latin typeface="Consolas"/>
              </a:rPr>
              <a:t>         [y_test.min(), y_test.max()], "k--")   </a:t>
            </a:r>
            <a:r>
              <a:rPr sz="2100">
                <a:solidFill>
                  <a:srgbClr val="1B7F4B"/>
                </a:solidFill>
                <a:latin typeface="Consolas"/>
              </a:rPr>
              <a:t># the perfect line</a:t>
            </a:r>
          </a:p>
        </p:txBody>
      </p:sp>
      <p:sp>
        <p:nvSpPr>
          <p:cNvPr id="8" name="TextBox 7"/>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910559" y="8705088"/>
            <a:ext cx="438912" cy="365760"/>
          </a:xfrm>
          <a:prstGeom prst="rect">
            <a:avLst/>
          </a:prstGeom>
          <a:noFill/>
        </p:spPr>
        <p:txBody>
          <a:bodyPr wrap="none">
            <a:spAutoFit/>
          </a:bodyPr>
          <a:lstStyle/>
          <a:p>
            <a:pPr algn="r"/>
            <a:fld id="{03612EAB-5A3C-40FA-BC72-1D2C6CA6D787}" type="slidenum">
              <a:rPr lang="en-US" sz="1200">
                <a:solidFill>
                  <a:srgbClr val="6B7280"/>
                </a:solidFill>
                <a:latin typeface="Arial"/>
              </a:rPr>
              <a:t>54</a:t>
            </a:fld>
            <a:endParaRPr lang="en-US" sz="1200">
              <a:solidFill>
                <a:srgbClr val="6B7280"/>
              </a:solidFill>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How wrong is the model ? Start with one row</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3000" b="0">
                <a:solidFill>
                  <a:srgbClr val="16181D"/>
                </a:solidFill>
                <a:latin typeface="Arial"/>
              </a:rPr>
              <a:t>▪   </a:t>
            </a:r>
            <a:r>
              <a:rPr sz="2800" b="0">
                <a:solidFill>
                  <a:srgbClr val="0B3D6B"/>
                </a:solidFill>
                <a:latin typeface="Consolas"/>
              </a:rPr>
              <a:t>residual = actual value − predicted value</a:t>
            </a:r>
          </a:p>
          <a:p>
            <a:pPr>
              <a:spcAft>
                <a:spcPts val="600"/>
              </a:spcAft>
            </a:pPr>
            <a:endParaRPr sz="2800" b="0">
              <a:solidFill>
                <a:srgbClr val="0B3D6B"/>
              </a:solidFill>
              <a:latin typeface="Consolas"/>
            </a:endParaRPr>
          </a:p>
          <a:p>
            <a:pPr>
              <a:spcAft>
                <a:spcPts val="1400"/>
              </a:spcAft>
            </a:pPr>
            <a:r>
              <a:rPr sz="3000" b="0">
                <a:solidFill>
                  <a:srgbClr val="16181D"/>
                </a:solidFill>
                <a:latin typeface="Arial"/>
              </a:rPr>
              <a:t>▪   A </a:t>
            </a:r>
            <a:r>
              <a:rPr sz="3000" b="1">
                <a:solidFill>
                  <a:srgbClr val="16181D"/>
                </a:solidFill>
                <a:latin typeface="Arial"/>
              </a:rPr>
              <a:t>positive</a:t>
            </a:r>
            <a:r>
              <a:rPr sz="3000" b="0">
                <a:solidFill>
                  <a:srgbClr val="16181D"/>
                </a:solidFill>
                <a:latin typeface="Arial"/>
              </a:rPr>
              <a:t> residual means the model predicted </a:t>
            </a:r>
            <a:r>
              <a:rPr sz="3000" b="1">
                <a:solidFill>
                  <a:srgbClr val="16181D"/>
                </a:solidFill>
                <a:latin typeface="Arial"/>
              </a:rPr>
              <a:t>too low</a:t>
            </a:r>
          </a:p>
          <a:p>
            <a:pPr>
              <a:spcAft>
                <a:spcPts val="1400"/>
              </a:spcAft>
            </a:pPr>
            <a:r>
              <a:rPr sz="3000" b="0">
                <a:solidFill>
                  <a:srgbClr val="16181D"/>
                </a:solidFill>
                <a:latin typeface="Arial"/>
              </a:rPr>
              <a:t>▪   A </a:t>
            </a:r>
            <a:r>
              <a:rPr sz="3000" b="1">
                <a:solidFill>
                  <a:srgbClr val="16181D"/>
                </a:solidFill>
                <a:latin typeface="Arial"/>
              </a:rPr>
              <a:t>negative</a:t>
            </a:r>
            <a:r>
              <a:rPr sz="3000" b="0">
                <a:solidFill>
                  <a:srgbClr val="16181D"/>
                </a:solidFill>
                <a:latin typeface="Arial"/>
              </a:rPr>
              <a:t> residual means the model predicted </a:t>
            </a:r>
            <a:r>
              <a:rPr sz="3000" b="1">
                <a:solidFill>
                  <a:srgbClr val="16181D"/>
                </a:solidFill>
                <a:latin typeface="Arial"/>
              </a:rPr>
              <a:t>too high</a:t>
            </a:r>
          </a:p>
          <a:p>
            <a:pPr>
              <a:spcAft>
                <a:spcPts val="600"/>
              </a:spcAft>
            </a:pPr>
            <a:endParaRPr sz="3000" b="1">
              <a:solidFill>
                <a:srgbClr val="16181D"/>
              </a:solidFill>
              <a:latin typeface="Arial"/>
            </a:endParaRPr>
          </a:p>
          <a:p>
            <a:pPr>
              <a:spcAft>
                <a:spcPts val="1400"/>
              </a:spcAft>
            </a:pPr>
            <a:r>
              <a:rPr sz="3000" b="0">
                <a:solidFill>
                  <a:srgbClr val="16181D"/>
                </a:solidFill>
                <a:latin typeface="Arial"/>
              </a:rPr>
              <a:t>▪   To judge the whole model, these have to be combined into one number.</a:t>
            </a:r>
          </a:p>
          <a:p>
            <a:pPr>
              <a:spcAft>
                <a:spcPts val="600"/>
              </a:spcAft>
            </a:pPr>
            <a:endParaRPr sz="3000" b="0">
              <a:solidFill>
                <a:srgbClr val="16181D"/>
              </a:solidFill>
              <a:latin typeface="Arial"/>
            </a:endParaRPr>
          </a:p>
          <a:p>
            <a:pPr>
              <a:spcAft>
                <a:spcPts val="1400"/>
              </a:spcAft>
            </a:pPr>
            <a:r>
              <a:rPr sz="3000" b="0">
                <a:solidFill>
                  <a:srgbClr val="16181D"/>
                </a:solidFill>
                <a:latin typeface="Arial"/>
              </a:rPr>
              <a:t>▪   </a:t>
            </a:r>
            <a:r>
              <a:rPr sz="3000" b="1">
                <a:solidFill>
                  <a:srgbClr val="16181D"/>
                </a:solidFill>
                <a:latin typeface="Arial"/>
              </a:rPr>
              <a:t>But you cannot simply average them</a:t>
            </a:r>
            <a:r>
              <a:rPr sz="3000" b="0">
                <a:solidFill>
                  <a:srgbClr val="16181D"/>
                </a:solidFill>
                <a:latin typeface="Arial"/>
              </a:rPr>
              <a:t> — the positives and negatives cancel out,</a:t>
            </a:r>
          </a:p>
          <a:p>
            <a:pPr>
              <a:spcAft>
                <a:spcPts val="1400"/>
              </a:spcAft>
            </a:pPr>
            <a:r>
              <a:rPr sz="3000" b="0">
                <a:solidFill>
                  <a:srgbClr val="16181D"/>
                </a:solidFill>
                <a:latin typeface="Arial"/>
              </a:rPr>
              <a:t>▪   and the average comes to zero for every model.</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63850974-E94E-41E0-9AC9-DA1C44DB2D20}" type="slidenum">
              <a:rPr lang="en-US" sz="1200">
                <a:solidFill>
                  <a:srgbClr val="6B7280"/>
                </a:solidFill>
                <a:latin typeface="Arial"/>
              </a:rPr>
              <a:t>55</a:t>
            </a:fld>
            <a:endParaRPr lang="en-US" sz="1200">
              <a:solidFill>
                <a:srgbClr val="6B7280"/>
              </a:solidFill>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Five houses — prices in thousands of kroner</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The residuals add up to zero, as they always do. The last two columns are the useful ones.</a:t>
            </a:r>
          </a:p>
        </p:txBody>
      </p:sp>
      <p:sp>
        <p:nvSpPr>
          <p:cNvPr id="5" name="Rectangle 4"/>
          <p:cNvSpPr/>
          <p:nvPr/>
        </p:nvSpPr>
        <p:spPr>
          <a:xfrm>
            <a:off x="969264" y="2606040"/>
            <a:ext cx="15371063" cy="4032504"/>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403250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3758184"/>
          </a:xfrm>
          <a:prstGeom prst="rect">
            <a:avLst/>
          </a:prstGeom>
          <a:noFill/>
        </p:spPr>
        <p:txBody>
          <a:bodyPr wrap="none">
            <a:spAutoFit/>
          </a:bodyPr>
          <a:lstStyle/>
          <a:p>
            <a:pPr>
              <a:spcAft>
                <a:spcPts val="200"/>
              </a:spcAft>
            </a:pPr>
            <a:r>
              <a:rPr sz="2200">
                <a:solidFill>
                  <a:srgbClr val="16181D"/>
                </a:solidFill>
                <a:latin typeface="Consolas"/>
              </a:rPr>
              <a:t>  actual   predicted   residual   |residual|   residual²</a:t>
            </a:r>
          </a:p>
          <a:p>
            <a:pPr>
              <a:spcAft>
                <a:spcPts val="200"/>
              </a:spcAft>
            </a:pPr>
            <a:r>
              <a:rPr sz="2200">
                <a:solidFill>
                  <a:srgbClr val="16181D"/>
                </a:solidFill>
                <a:latin typeface="Consolas"/>
              </a:rPr>
              <a:t>  ------   ---------   --------   ----------   ---------</a:t>
            </a:r>
          </a:p>
          <a:p>
            <a:pPr>
              <a:spcAft>
                <a:spcPts val="200"/>
              </a:spcAft>
            </a:pPr>
            <a:r>
              <a:rPr sz="2200">
                <a:solidFill>
                  <a:srgbClr val="16181D"/>
                </a:solidFill>
                <a:latin typeface="Consolas"/>
              </a:rPr>
              <a:t>    200       210        -10          10          100</a:t>
            </a:r>
          </a:p>
          <a:p>
            <a:pPr>
              <a:spcAft>
                <a:spcPts val="200"/>
              </a:spcAft>
            </a:pPr>
            <a:r>
              <a:rPr sz="2200">
                <a:solidFill>
                  <a:srgbClr val="16181D"/>
                </a:solidFill>
                <a:latin typeface="Consolas"/>
              </a:rPr>
              <a:t>    250       240        +10          10          100</a:t>
            </a:r>
          </a:p>
          <a:p>
            <a:pPr>
              <a:spcAft>
                <a:spcPts val="200"/>
              </a:spcAft>
            </a:pPr>
            <a:r>
              <a:rPr sz="2200">
                <a:solidFill>
                  <a:srgbClr val="16181D"/>
                </a:solidFill>
                <a:latin typeface="Consolas"/>
              </a:rPr>
              <a:t>    300       310        -10          10          100</a:t>
            </a:r>
          </a:p>
          <a:p>
            <a:pPr>
              <a:spcAft>
                <a:spcPts val="200"/>
              </a:spcAft>
            </a:pPr>
            <a:r>
              <a:rPr sz="2200">
                <a:solidFill>
                  <a:srgbClr val="16181D"/>
                </a:solidFill>
                <a:latin typeface="Consolas"/>
              </a:rPr>
              <a:t>    350       330        +20          20          400</a:t>
            </a:r>
          </a:p>
          <a:p>
            <a:pPr>
              <a:spcAft>
                <a:spcPts val="200"/>
              </a:spcAft>
            </a:pPr>
            <a:r>
              <a:rPr sz="2200">
                <a:solidFill>
                  <a:srgbClr val="16181D"/>
                </a:solidFill>
                <a:latin typeface="Consolas"/>
              </a:rPr>
              <a:t>    400       420        -20          20          400</a:t>
            </a:r>
          </a:p>
          <a:p>
            <a:pPr>
              <a:spcAft>
                <a:spcPts val="200"/>
              </a:spcAft>
            </a:pPr>
            <a:r>
              <a:rPr sz="2200">
                <a:solidFill>
                  <a:srgbClr val="16181D"/>
                </a:solidFill>
                <a:latin typeface="Consolas"/>
              </a:rPr>
              <a:t>  ------   ---------   --------   ----------   ---------</a:t>
            </a:r>
          </a:p>
          <a:p>
            <a:pPr>
              <a:spcAft>
                <a:spcPts val="200"/>
              </a:spcAft>
            </a:pPr>
            <a:r>
              <a:rPr sz="2200">
                <a:solidFill>
                  <a:srgbClr val="16181D"/>
                </a:solidFill>
                <a:latin typeface="Consolas"/>
              </a:rPr>
              <a:t>                        sum  0      sum 70     sum 1100</a:t>
            </a:r>
          </a:p>
        </p:txBody>
      </p:sp>
      <p:sp>
        <p:nvSpPr>
          <p:cNvPr id="8" name="TextBox 7"/>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910559" y="8705088"/>
            <a:ext cx="438912" cy="365760"/>
          </a:xfrm>
          <a:prstGeom prst="rect">
            <a:avLst/>
          </a:prstGeom>
          <a:noFill/>
        </p:spPr>
        <p:txBody>
          <a:bodyPr wrap="none">
            <a:spAutoFit/>
          </a:bodyPr>
          <a:lstStyle/>
          <a:p>
            <a:pPr algn="r"/>
            <a:fld id="{8B7BD759-42B4-433E-9198-592C9A0240A8}" type="slidenum">
              <a:rPr lang="en-US" sz="1200">
                <a:solidFill>
                  <a:srgbClr val="6B7280"/>
                </a:solidFill>
                <a:latin typeface="Arial"/>
              </a:rPr>
              <a:t>56</a:t>
            </a:fld>
            <a:endParaRPr lang="en-US" sz="1200">
              <a:solidFill>
                <a:srgbClr val="6B7280"/>
              </a:solidFill>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Three ways to summarise the error</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600" b="0">
                <a:solidFill>
                  <a:srgbClr val="16181D"/>
                </a:solidFill>
                <a:latin typeface="Arial"/>
              </a:rPr>
              <a:t>▪   </a:t>
            </a:r>
            <a:r>
              <a:rPr sz="2600" b="1">
                <a:solidFill>
                  <a:srgbClr val="16181D"/>
                </a:solidFill>
                <a:latin typeface="Arial"/>
              </a:rPr>
              <a:t>MAE — Mean Absolute Error</a:t>
            </a:r>
            <a:r>
              <a:rPr sz="2600" b="0">
                <a:solidFill>
                  <a:srgbClr val="16181D"/>
                </a:solidFill>
                <a:latin typeface="Arial"/>
              </a:rPr>
              <a:t>   </a:t>
            </a:r>
            <a:r>
              <a:rPr sz="2400" b="0">
                <a:solidFill>
                  <a:srgbClr val="0B3D6B"/>
                </a:solidFill>
                <a:latin typeface="Consolas"/>
              </a:rPr>
              <a:t>70 / 5 = 14</a:t>
            </a:r>
          </a:p>
          <a:p>
            <a:pPr>
              <a:spcAft>
                <a:spcPts val="800"/>
              </a:spcAft>
            </a:pPr>
            <a:r>
              <a:rPr sz="2100" b="0">
                <a:solidFill>
                  <a:srgbClr val="3A3F47"/>
                </a:solidFill>
                <a:latin typeface="Arial"/>
              </a:rPr>
              <a:t>        –   The average size of the error, in the original unit: about 14 000 kr out</a:t>
            </a:r>
          </a:p>
          <a:p>
            <a:pPr>
              <a:spcAft>
                <a:spcPts val="800"/>
              </a:spcAft>
            </a:pPr>
            <a:r>
              <a:rPr sz="2100" b="0">
                <a:solidFill>
                  <a:srgbClr val="3A3F47"/>
                </a:solidFill>
                <a:latin typeface="Arial"/>
              </a:rPr>
              <a:t>        –   The easiest measure to explain to somebody who is not a specialist</a:t>
            </a:r>
          </a:p>
          <a:p>
            <a:pPr>
              <a:spcAft>
                <a:spcPts val="1400"/>
              </a:spcAft>
            </a:pPr>
            <a:r>
              <a:rPr sz="2600" b="0">
                <a:solidFill>
                  <a:srgbClr val="16181D"/>
                </a:solidFill>
                <a:latin typeface="Arial"/>
              </a:rPr>
              <a:t>▪   </a:t>
            </a:r>
            <a:r>
              <a:rPr sz="2600" b="1">
                <a:solidFill>
                  <a:srgbClr val="16181D"/>
                </a:solidFill>
                <a:latin typeface="Arial"/>
              </a:rPr>
              <a:t>MSE — Mean Squared Error</a:t>
            </a:r>
            <a:r>
              <a:rPr sz="2600" b="0">
                <a:solidFill>
                  <a:srgbClr val="16181D"/>
                </a:solidFill>
                <a:latin typeface="Arial"/>
              </a:rPr>
              <a:t>   </a:t>
            </a:r>
            <a:r>
              <a:rPr sz="2400" b="0">
                <a:solidFill>
                  <a:srgbClr val="0B3D6B"/>
                </a:solidFill>
                <a:latin typeface="Consolas"/>
              </a:rPr>
              <a:t>1100 / 5 = 220</a:t>
            </a:r>
          </a:p>
          <a:p>
            <a:pPr>
              <a:spcAft>
                <a:spcPts val="800"/>
              </a:spcAft>
            </a:pPr>
            <a:r>
              <a:rPr sz="2100" b="0">
                <a:solidFill>
                  <a:srgbClr val="3A3F47"/>
                </a:solidFill>
                <a:latin typeface="Arial"/>
              </a:rPr>
              <a:t>        –   The average of the squared errors. Its unit is thousands of kroner *squared*</a:t>
            </a:r>
          </a:p>
          <a:p>
            <a:pPr>
              <a:spcAft>
                <a:spcPts val="800"/>
              </a:spcAft>
            </a:pPr>
            <a:r>
              <a:rPr sz="2100" b="0">
                <a:solidFill>
                  <a:srgbClr val="3A3F47"/>
                </a:solidFill>
                <a:latin typeface="Arial"/>
              </a:rPr>
              <a:t>        –   Hard to interpret, but it is what most models minimise while training</a:t>
            </a:r>
          </a:p>
          <a:p>
            <a:pPr>
              <a:spcAft>
                <a:spcPts val="1400"/>
              </a:spcAft>
            </a:pPr>
            <a:r>
              <a:rPr sz="2600" b="0">
                <a:solidFill>
                  <a:srgbClr val="16181D"/>
                </a:solidFill>
                <a:latin typeface="Arial"/>
              </a:rPr>
              <a:t>▪   </a:t>
            </a:r>
            <a:r>
              <a:rPr sz="2600" b="1">
                <a:solidFill>
                  <a:srgbClr val="16181D"/>
                </a:solidFill>
                <a:latin typeface="Arial"/>
              </a:rPr>
              <a:t>RMSE — Root Mean Squared Error</a:t>
            </a:r>
            <a:r>
              <a:rPr sz="2600" b="0">
                <a:solidFill>
                  <a:srgbClr val="16181D"/>
                </a:solidFill>
                <a:latin typeface="Arial"/>
              </a:rPr>
              <a:t>   </a:t>
            </a:r>
            <a:r>
              <a:rPr sz="2400" b="0">
                <a:solidFill>
                  <a:srgbClr val="0B3D6B"/>
                </a:solidFill>
                <a:latin typeface="Consolas"/>
              </a:rPr>
              <a:t>√220 ≈ 14.83</a:t>
            </a:r>
          </a:p>
          <a:p>
            <a:pPr>
              <a:spcAft>
                <a:spcPts val="800"/>
              </a:spcAft>
            </a:pPr>
            <a:r>
              <a:rPr sz="2100" b="0">
                <a:solidFill>
                  <a:srgbClr val="3A3F47"/>
                </a:solidFill>
                <a:latin typeface="Arial"/>
              </a:rPr>
              <a:t>        –   Back in kroner, and it punishes large errors more heavily than small ones</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C35BC4BA-9CDB-433F-94DF-E31C7CFBAF06}" type="slidenum">
              <a:rPr lang="en-US" sz="1200">
                <a:solidFill>
                  <a:srgbClr val="6B7280"/>
                </a:solidFill>
                <a:latin typeface="Arial"/>
              </a:rPr>
              <a:t>57</a:t>
            </a:fld>
            <a:endParaRPr lang="en-US" sz="1200">
              <a:solidFill>
                <a:srgbClr val="6B7280"/>
              </a:solidFill>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3800" b="1">
                <a:solidFill>
                  <a:srgbClr val="16181D"/>
                </a:solidFill>
                <a:latin typeface="Arial"/>
              </a:rPr>
              <a:t>R² — how much better than just guessing the average ?</a:t>
            </a:r>
          </a:p>
        </p:txBody>
      </p:sp>
      <p:sp>
        <p:nvSpPr>
          <p:cNvPr id="4" name="TextBox 3"/>
          <p:cNvSpPr txBox="1"/>
          <p:nvPr/>
        </p:nvSpPr>
        <p:spPr>
          <a:xfrm>
            <a:off x="969264" y="2057400"/>
            <a:ext cx="15371063" cy="6446520"/>
          </a:xfrm>
          <a:prstGeom prst="rect">
            <a:avLst/>
          </a:prstGeom>
          <a:noFill/>
        </p:spPr>
        <p:txBody>
          <a:bodyPr wrap="square">
            <a:spAutoFit/>
          </a:bodyPr>
          <a:lstStyle/>
          <a:p>
            <a:pPr>
              <a:spcAft>
                <a:spcPts val="1400"/>
              </a:spcAft>
            </a:pPr>
            <a:r>
              <a:rPr sz="2600" b="0">
                <a:solidFill>
                  <a:srgbClr val="16181D"/>
                </a:solidFill>
                <a:latin typeface="Arial"/>
              </a:rPr>
              <a:t>▪   </a:t>
            </a:r>
            <a:r>
              <a:rPr sz="2400" b="0">
                <a:solidFill>
                  <a:srgbClr val="0B3D6B"/>
                </a:solidFill>
                <a:latin typeface="Consolas"/>
              </a:rPr>
              <a:t>R² = 1 − (sum of squared residuals ÷ sum of squared distances from the mean)</a:t>
            </a:r>
          </a:p>
          <a:p>
            <a:pPr>
              <a:spcAft>
                <a:spcPts val="600"/>
              </a:spcAft>
            </a:pPr>
            <a:endParaRPr sz="2400" b="0">
              <a:solidFill>
                <a:srgbClr val="0B3D6B"/>
              </a:solidFill>
              <a:latin typeface="Consolas"/>
            </a:endParaRPr>
          </a:p>
          <a:p>
            <a:pPr>
              <a:spcAft>
                <a:spcPts val="1400"/>
              </a:spcAft>
            </a:pPr>
            <a:r>
              <a:rPr sz="2600" b="0">
                <a:solidFill>
                  <a:srgbClr val="16181D"/>
                </a:solidFill>
                <a:latin typeface="Arial"/>
              </a:rPr>
              <a:t>▪   The average price is 300, so </a:t>
            </a:r>
            <a:r>
              <a:rPr sz="2400" b="0">
                <a:solidFill>
                  <a:srgbClr val="0B3D6B"/>
                </a:solidFill>
                <a:latin typeface="Consolas"/>
              </a:rPr>
              <a:t>SS_tot = 25 000</a:t>
            </a:r>
            <a:r>
              <a:rPr sz="2600" b="0">
                <a:solidFill>
                  <a:srgbClr val="16181D"/>
                </a:solidFill>
                <a:latin typeface="Arial"/>
              </a:rPr>
              <a:t> and </a:t>
            </a:r>
            <a:r>
              <a:rPr sz="2400" b="0">
                <a:solidFill>
                  <a:srgbClr val="0B3D6B"/>
                </a:solidFill>
                <a:latin typeface="Consolas"/>
              </a:rPr>
              <a:t>SS_res = 1 100</a:t>
            </a:r>
            <a:r>
              <a:rPr sz="2600" b="0">
                <a:solidFill>
                  <a:srgbClr val="16181D"/>
                </a:solidFill>
                <a:latin typeface="Arial"/>
              </a:rPr>
              <a:t>:</a:t>
            </a:r>
          </a:p>
          <a:p>
            <a:pPr>
              <a:spcAft>
                <a:spcPts val="800"/>
              </a:spcAft>
            </a:pPr>
            <a:r>
              <a:rPr sz="2100" b="0">
                <a:solidFill>
                  <a:srgbClr val="3A3F47"/>
                </a:solidFill>
                <a:latin typeface="Arial"/>
              </a:rPr>
              <a:t>        –   </a:t>
            </a:r>
            <a:r>
              <a:rPr sz="1900" b="0">
                <a:solidFill>
                  <a:srgbClr val="0B3D6B"/>
                </a:solidFill>
                <a:latin typeface="Consolas"/>
              </a:rPr>
              <a:t>R² = 1 − 1100 / 25000 = 0.956</a:t>
            </a:r>
            <a:r>
              <a:rPr sz="2100" b="0">
                <a:solidFill>
                  <a:srgbClr val="3A3F47"/>
                </a:solidFill>
                <a:latin typeface="Arial"/>
              </a:rPr>
              <a:t>  — the model explains about 96% of the variation</a:t>
            </a:r>
          </a:p>
          <a:p>
            <a:pPr>
              <a:spcAft>
                <a:spcPts val="600"/>
              </a:spcAft>
            </a:pPr>
            <a:endParaRPr sz="2100" b="0">
              <a:solidFill>
                <a:srgbClr val="3A3F47"/>
              </a:solidFill>
              <a:latin typeface="Arial"/>
            </a:endParaRPr>
          </a:p>
          <a:p>
            <a:pPr>
              <a:spcAft>
                <a:spcPts val="1400"/>
              </a:spcAft>
            </a:pPr>
            <a:r>
              <a:rPr sz="2600" b="0">
                <a:solidFill>
                  <a:srgbClr val="16181D"/>
                </a:solidFill>
                <a:latin typeface="Arial"/>
              </a:rPr>
              <a:t>▪   </a:t>
            </a:r>
            <a:r>
              <a:rPr sz="2600" b="1">
                <a:solidFill>
                  <a:srgbClr val="16181D"/>
                </a:solidFill>
                <a:latin typeface="Arial"/>
              </a:rPr>
              <a:t>1.0</a:t>
            </a:r>
            <a:r>
              <a:rPr sz="2600" b="0">
                <a:solidFill>
                  <a:srgbClr val="16181D"/>
                </a:solidFill>
                <a:latin typeface="Arial"/>
              </a:rPr>
              <a:t> — perfect predictions</a:t>
            </a:r>
          </a:p>
          <a:p>
            <a:pPr>
              <a:spcAft>
                <a:spcPts val="1400"/>
              </a:spcAft>
            </a:pPr>
            <a:r>
              <a:rPr sz="2600" b="0">
                <a:solidFill>
                  <a:srgbClr val="16181D"/>
                </a:solidFill>
                <a:latin typeface="Arial"/>
              </a:rPr>
              <a:t>▪   </a:t>
            </a:r>
            <a:r>
              <a:rPr sz="2600" b="1">
                <a:solidFill>
                  <a:srgbClr val="16181D"/>
                </a:solidFill>
                <a:latin typeface="Arial"/>
              </a:rPr>
              <a:t>0.0</a:t>
            </a:r>
            <a:r>
              <a:rPr sz="2600" b="0">
                <a:solidFill>
                  <a:srgbClr val="16181D"/>
                </a:solidFill>
                <a:latin typeface="Arial"/>
              </a:rPr>
              <a:t> — no better than always predicting the average</a:t>
            </a:r>
          </a:p>
          <a:p>
            <a:pPr>
              <a:spcAft>
                <a:spcPts val="1400"/>
              </a:spcAft>
            </a:pPr>
            <a:r>
              <a:rPr sz="2600" b="0">
                <a:solidFill>
                  <a:srgbClr val="16181D"/>
                </a:solidFill>
                <a:latin typeface="Arial"/>
              </a:rPr>
              <a:t>▪   </a:t>
            </a:r>
            <a:r>
              <a:rPr sz="2600" b="1">
                <a:solidFill>
                  <a:srgbClr val="16181D"/>
                </a:solidFill>
                <a:latin typeface="Arial"/>
              </a:rPr>
              <a:t>Below 0</a:t>
            </a:r>
            <a:r>
              <a:rPr sz="2600" b="0">
                <a:solidFill>
                  <a:srgbClr val="16181D"/>
                </a:solidFill>
                <a:latin typeface="Arial"/>
              </a:rPr>
              <a:t> — worse than always predicting the average. This is possible.</a:t>
            </a:r>
          </a:p>
          <a:p>
            <a:pPr>
              <a:spcAft>
                <a:spcPts val="600"/>
              </a:spcAft>
            </a:pPr>
            <a:endParaRPr sz="2600" b="0">
              <a:solidFill>
                <a:srgbClr val="16181D"/>
              </a:solidFill>
              <a:latin typeface="Arial"/>
            </a:endParaRPr>
          </a:p>
          <a:p>
            <a:pPr>
              <a:spcAft>
                <a:spcPts val="1400"/>
              </a:spcAft>
            </a:pPr>
            <a:r>
              <a:rPr sz="2600" b="0">
                <a:solidFill>
                  <a:srgbClr val="16181D"/>
                </a:solidFill>
                <a:latin typeface="Arial"/>
              </a:rPr>
              <a:t>▪   Always predicting 300 gives MAE 60, RMSE ≈ 70.7 and R² of exactly </a:t>
            </a:r>
            <a:r>
              <a:rPr sz="2600" b="1">
                <a:solidFill>
                  <a:srgbClr val="16181D"/>
                </a:solidFill>
                <a:latin typeface="Arial"/>
              </a:rPr>
              <a:t>0</a:t>
            </a:r>
            <a:r>
              <a:rPr sz="2600" b="0">
                <a:solidFill>
                  <a:srgbClr val="16181D"/>
                </a:solidFill>
                <a:latin typeface="Arial"/>
              </a:rPr>
              <a:t>.</a:t>
            </a:r>
          </a:p>
        </p:txBody>
      </p:sp>
      <p:sp>
        <p:nvSpPr>
          <p:cNvPr id="5" name="TextBox 4"/>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6" name="TextBox 5"/>
          <p:cNvSpPr txBox="1"/>
          <p:nvPr/>
        </p:nvSpPr>
        <p:spPr>
          <a:xfrm>
            <a:off x="15910559" y="8705088"/>
            <a:ext cx="438912" cy="365760"/>
          </a:xfrm>
          <a:prstGeom prst="rect">
            <a:avLst/>
          </a:prstGeom>
          <a:noFill/>
        </p:spPr>
        <p:txBody>
          <a:bodyPr wrap="none">
            <a:spAutoFit/>
          </a:bodyPr>
          <a:lstStyle/>
          <a:p>
            <a:pPr algn="r"/>
            <a:fld id="{7D6537FD-59A9-4671-9803-AC71BD35AAE2}" type="slidenum">
              <a:rPr lang="en-US" sz="1200">
                <a:solidFill>
                  <a:srgbClr val="6B7280"/>
                </a:solidFill>
                <a:latin typeface="Arial"/>
              </a:rPr>
              <a:t>58</a:t>
            </a:fld>
            <a:endParaRPr lang="en-US" sz="1200">
              <a:solidFill>
                <a:srgbClr val="6B7280"/>
              </a:solidFill>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032" y="91440"/>
            <a:ext cx="16303751" cy="1545336"/>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9264" y="384048"/>
            <a:ext cx="15371063" cy="960120"/>
          </a:xfrm>
          <a:prstGeom prst="rect">
            <a:avLst/>
          </a:prstGeom>
          <a:noFill/>
        </p:spPr>
        <p:txBody>
          <a:bodyPr wrap="square">
            <a:spAutoFit/>
          </a:bodyPr>
          <a:lstStyle/>
          <a:p>
            <a:r>
              <a:rPr sz="4400" b="1">
                <a:solidFill>
                  <a:srgbClr val="16181D"/>
                </a:solidFill>
                <a:latin typeface="Arial"/>
              </a:rPr>
              <a:t>The four measures in code</a:t>
            </a:r>
          </a:p>
        </p:txBody>
      </p:sp>
      <p:sp>
        <p:nvSpPr>
          <p:cNvPr id="4" name="TextBox 3"/>
          <p:cNvSpPr txBox="1"/>
          <p:nvPr/>
        </p:nvSpPr>
        <p:spPr>
          <a:xfrm>
            <a:off x="969264" y="1874519"/>
            <a:ext cx="15371063" cy="548640"/>
          </a:xfrm>
          <a:prstGeom prst="rect">
            <a:avLst/>
          </a:prstGeom>
          <a:noFill/>
        </p:spPr>
        <p:txBody>
          <a:bodyPr wrap="none">
            <a:spAutoFit/>
          </a:bodyPr>
          <a:lstStyle/>
          <a:p>
            <a:r>
              <a:rPr sz="2400" b="0">
                <a:solidFill>
                  <a:srgbClr val="3A3F47"/>
                </a:solidFill>
                <a:latin typeface="Arial"/>
              </a:rPr>
              <a:t>Report MAE together with R², and say what the baseline scored.</a:t>
            </a:r>
          </a:p>
        </p:txBody>
      </p:sp>
      <p:sp>
        <p:nvSpPr>
          <p:cNvPr id="5" name="Rectangle 4"/>
          <p:cNvSpPr/>
          <p:nvPr/>
        </p:nvSpPr>
        <p:spPr>
          <a:xfrm>
            <a:off x="969264" y="2606040"/>
            <a:ext cx="15371063" cy="4032504"/>
          </a:xfrm>
          <a:prstGeom prst="rect">
            <a:avLst/>
          </a:prstGeom>
          <a:solidFill>
            <a:srgbClr val="F7F8FA"/>
          </a:solidFill>
          <a:ln w="12700">
            <a:solidFill>
              <a:srgbClr val="D3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9264" y="2606040"/>
            <a:ext cx="82296" cy="403250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9304" y="2770632"/>
            <a:ext cx="14822423" cy="3758184"/>
          </a:xfrm>
          <a:prstGeom prst="rect">
            <a:avLst/>
          </a:prstGeom>
          <a:noFill/>
        </p:spPr>
        <p:txBody>
          <a:bodyPr wrap="none">
            <a:spAutoFit/>
          </a:bodyPr>
          <a:lstStyle/>
          <a:p>
            <a:pPr>
              <a:spcAft>
                <a:spcPts val="200"/>
              </a:spcAft>
            </a:pPr>
            <a:r>
              <a:rPr sz="2100">
                <a:solidFill>
                  <a:srgbClr val="16181D"/>
                </a:solidFill>
                <a:latin typeface="Consolas"/>
              </a:rPr>
              <a:t>from sklearn.metrics import (mean_absolute_error, mean_squared_error,</a:t>
            </a:r>
          </a:p>
          <a:p>
            <a:pPr>
              <a:spcAft>
                <a:spcPts val="200"/>
              </a:spcAft>
            </a:pPr>
            <a:r>
              <a:rPr sz="2100">
                <a:solidFill>
                  <a:srgbClr val="16181D"/>
                </a:solidFill>
                <a:latin typeface="Consolas"/>
              </a:rPr>
              <a:t>                             root_mean_squared_error, r2_score)</a:t>
            </a:r>
          </a:p>
          <a:p>
            <a:pPr>
              <a:spcAft>
                <a:spcPts val="200"/>
              </a:spcAft>
            </a:pPr>
            <a:endParaRPr sz="2100">
              <a:solidFill>
                <a:srgbClr val="16181D"/>
              </a:solidFill>
              <a:latin typeface="Consolas"/>
            </a:endParaRPr>
          </a:p>
          <a:p>
            <a:pPr>
              <a:spcAft>
                <a:spcPts val="200"/>
              </a:spcAft>
            </a:pPr>
            <a:r>
              <a:rPr sz="2100">
                <a:solidFill>
                  <a:srgbClr val="16181D"/>
                </a:solidFill>
                <a:latin typeface="Consolas"/>
              </a:rPr>
              <a:t>mean_absolute_error(y_test, y_pred)        </a:t>
            </a:r>
            <a:r>
              <a:rPr sz="2100">
                <a:solidFill>
                  <a:srgbClr val="1B7F4B"/>
                </a:solidFill>
                <a:latin typeface="Consolas"/>
              </a:rPr>
              <a:t># 14.0</a:t>
            </a:r>
          </a:p>
          <a:p>
            <a:pPr>
              <a:spcAft>
                <a:spcPts val="200"/>
              </a:spcAft>
            </a:pPr>
            <a:r>
              <a:rPr sz="2100">
                <a:solidFill>
                  <a:srgbClr val="16181D"/>
                </a:solidFill>
                <a:latin typeface="Consolas"/>
              </a:rPr>
              <a:t>mean_squared_error(y_test, y_pred)         </a:t>
            </a:r>
            <a:r>
              <a:rPr sz="2100">
                <a:solidFill>
                  <a:srgbClr val="1B7F4B"/>
                </a:solidFill>
                <a:latin typeface="Consolas"/>
              </a:rPr>
              <a:t># 220.0</a:t>
            </a:r>
          </a:p>
          <a:p>
            <a:pPr>
              <a:spcAft>
                <a:spcPts val="200"/>
              </a:spcAft>
            </a:pPr>
            <a:r>
              <a:rPr sz="2100">
                <a:solidFill>
                  <a:srgbClr val="16181D"/>
                </a:solidFill>
                <a:latin typeface="Consolas"/>
              </a:rPr>
              <a:t>root_mean_squared_error(y_test, y_pred)    </a:t>
            </a:r>
            <a:r>
              <a:rPr sz="2100">
                <a:solidFill>
                  <a:srgbClr val="1B7F4B"/>
                </a:solidFill>
                <a:latin typeface="Consolas"/>
              </a:rPr>
              <a:t># 14.83</a:t>
            </a:r>
          </a:p>
          <a:p>
            <a:pPr>
              <a:spcAft>
                <a:spcPts val="200"/>
              </a:spcAft>
            </a:pPr>
            <a:r>
              <a:rPr sz="2100">
                <a:solidFill>
                  <a:srgbClr val="16181D"/>
                </a:solidFill>
                <a:latin typeface="Consolas"/>
              </a:rPr>
              <a:t>r2_score(y_test, y_pred)                   </a:t>
            </a:r>
            <a:r>
              <a:rPr sz="2100">
                <a:solidFill>
                  <a:srgbClr val="1B7F4B"/>
                </a:solidFill>
                <a:latin typeface="Consolas"/>
              </a:rPr>
              <a:t># 0.956</a:t>
            </a:r>
          </a:p>
          <a:p>
            <a:pPr>
              <a:spcAft>
                <a:spcPts val="200"/>
              </a:spcAft>
            </a:pPr>
            <a:endParaRPr sz="2100">
              <a:solidFill>
                <a:srgbClr val="1B7F4B"/>
              </a:solidFill>
              <a:latin typeface="Consolas"/>
            </a:endParaRPr>
          </a:p>
          <a:p>
            <a:pPr>
              <a:spcAft>
                <a:spcPts val="200"/>
              </a:spcAft>
            </a:pPr>
            <a:r>
              <a:rPr sz="2100">
                <a:solidFill>
                  <a:srgbClr val="16181D"/>
                </a:solidFill>
                <a:latin typeface="Consolas"/>
              </a:rPr>
              <a:t>model.score(X_test, y_test)   </a:t>
            </a:r>
            <a:r>
              <a:rPr sz="2100">
                <a:solidFill>
                  <a:srgbClr val="1B7F4B"/>
                </a:solidFill>
                <a:latin typeface="Consolas"/>
              </a:rPr>
              <a:t># R² again — .score() is R² for regression</a:t>
            </a:r>
          </a:p>
        </p:txBody>
      </p:sp>
      <p:sp>
        <p:nvSpPr>
          <p:cNvPr id="8" name="TextBox 7"/>
          <p:cNvSpPr txBox="1"/>
          <p:nvPr/>
        </p:nvSpPr>
        <p:spPr>
          <a:xfrm>
            <a:off x="6208776" y="8705088"/>
            <a:ext cx="8997696" cy="365760"/>
          </a:xfrm>
          <a:prstGeom prst="rect">
            <a:avLst/>
          </a:prstGeom>
          <a:noFill/>
        </p:spPr>
        <p:txBody>
          <a:bodyPr wrap="none">
            <a:spAutoFit/>
          </a:bodyPr>
          <a:lstStyle/>
          <a:p>
            <a:r>
              <a:rPr sz="1200" b="0">
                <a:solidFill>
                  <a:srgbClr val="6B7280"/>
                </a:solidFill>
                <a:latin typeface="Arial"/>
              </a:rPr>
              <a:t>DAVE3625- Intro to A.I. by Umair M.I</a:t>
            </a:r>
          </a:p>
        </p:txBody>
      </p:sp>
      <p:sp>
        <p:nvSpPr>
          <p:cNvPr id="9" name="TextBox 8"/>
          <p:cNvSpPr txBox="1"/>
          <p:nvPr/>
        </p:nvSpPr>
        <p:spPr>
          <a:xfrm>
            <a:off x="15910559" y="8705088"/>
            <a:ext cx="438912" cy="365760"/>
          </a:xfrm>
          <a:prstGeom prst="rect">
            <a:avLst/>
          </a:prstGeom>
          <a:noFill/>
        </p:spPr>
        <p:txBody>
          <a:bodyPr wrap="none">
            <a:spAutoFit/>
          </a:bodyPr>
          <a:lstStyle/>
          <a:p>
            <a:pPr algn="r"/>
            <a:fld id="{055A0998-E657-47BF-8A38-2965BC89E4F2}" type="slidenum">
              <a:rPr lang="en-US" sz="1200">
                <a:solidFill>
                  <a:srgbClr val="6B7280"/>
                </a:solidFill>
                <a:latin typeface="Arial"/>
              </a:rPr>
              <a:t>59</a:t>
            </a:fld>
            <a:endParaRPr lang="en-US" sz="1200">
              <a:solidFill>
                <a:srgbClr val="6B7280"/>
              </a:solidFill>
              <a:latin typeface="Arial"/>
            </a:endParaRPr>
          </a:p>
        </p:txBody>
      </p:sp>
    </p:spTree>
  </p:cSld>
  <p:clrMapOvr>
    <a:masterClrMapping/>
  </p:clrMapOvr>
</p:sld>
</file>

<file path=ppt/theme/theme1.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2.xml><?xml version="1.0" encoding="utf-8"?>
<a:theme xmlns:a="http://schemas.openxmlformats.org/drawingml/2006/main" name="1_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B571884E-641B-4B14-A4C2-E6C27909D956}"/>
    </a:ext>
  </a:extLst>
</a:theme>
</file>

<file path=ppt/theme/theme3.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Ruter_Powerpointmal-WideScreen_45_1_28_2">
  <a:themeElements>
    <a:clrScheme name="Ruter">
      <a:dk1>
        <a:sysClr val="windowText" lastClr="000000"/>
      </a:dk1>
      <a:lt1>
        <a:srgbClr val="FFFFFF"/>
      </a:lt1>
      <a:dk2>
        <a:srgbClr val="32374B"/>
      </a:dk2>
      <a:lt2>
        <a:srgbClr val="AAAAB4"/>
      </a:lt2>
      <a:accent1>
        <a:srgbClr val="E60000"/>
      </a:accent1>
      <a:accent2>
        <a:srgbClr val="F07800"/>
      </a:accent2>
      <a:accent3>
        <a:srgbClr val="FFC800"/>
      </a:accent3>
      <a:accent4>
        <a:srgbClr val="87B914"/>
      </a:accent4>
      <a:accent5>
        <a:srgbClr val="41BECD"/>
      </a:accent5>
      <a:accent6>
        <a:srgbClr val="6E0A14"/>
      </a:accent6>
      <a:hlink>
        <a:srgbClr val="32374B"/>
      </a:hlink>
      <a:folHlink>
        <a:srgbClr val="AAAAB4"/>
      </a:folHlink>
    </a:clrScheme>
    <a:fontScheme name="Office klassis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67BE4B2C-3F34-194F-A345-93CD86517B6B}" vid="{32AF5403-4775-7148-9EAE-10EE3CDA6DF4}"/>
    </a:ext>
  </a:extLst>
</a:theme>
</file>

<file path=ppt/theme/theme5.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818A354CD664446AEC35BBAE2499562" ma:contentTypeVersion="13" ma:contentTypeDescription="Opprett et nytt dokument." ma:contentTypeScope="" ma:versionID="c05c63c057be531b98f917e986ab73c0">
  <xsd:schema xmlns:xsd="http://www.w3.org/2001/XMLSchema" xmlns:xs="http://www.w3.org/2001/XMLSchema" xmlns:p="http://schemas.microsoft.com/office/2006/metadata/properties" xmlns:ns3="38664639-412d-4c21-8e39-7e7d568987ec" xmlns:ns4="3aca559b-e256-4fa3-843e-2d1bb256df5f" targetNamespace="http://schemas.microsoft.com/office/2006/metadata/properties" ma:root="true" ma:fieldsID="d1ab16c94bf7e86b8919e30ac7bb9e89" ns3:_="" ns4:_="">
    <xsd:import namespace="38664639-412d-4c21-8e39-7e7d568987ec"/>
    <xsd:import namespace="3aca559b-e256-4fa3-843e-2d1bb256df5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664639-412d-4c21-8e39-7e7d568987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aca559b-e256-4fa3-843e-2d1bb256df5f" elementFormDefault="qualified">
    <xsd:import namespace="http://schemas.microsoft.com/office/2006/documentManagement/types"/>
    <xsd:import namespace="http://schemas.microsoft.com/office/infopath/2007/PartnerControls"/>
    <xsd:element name="SharedWithUsers" ma:index="16"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lingsdetaljer" ma:internalName="SharedWithDetails" ma:readOnly="true">
      <xsd:simpleType>
        <xsd:restriction base="dms:Note">
          <xsd:maxLength value="255"/>
        </xsd:restriction>
      </xsd:simpleType>
    </xsd:element>
    <xsd:element name="SharingHintHash" ma:index="18" nillable="true" ma:displayName="Hash for deling av tips"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A0E907-83E9-4FEC-BCF8-F9D0EC14FF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664639-412d-4c21-8e39-7e7d568987ec"/>
    <ds:schemaRef ds:uri="3aca559b-e256-4fa3-843e-2d1bb256d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8737683-68CB-4077-9859-434B8A1CE3E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38664639-412d-4c21-8e39-7e7d568987ec"/>
    <ds:schemaRef ds:uri="3aca559b-e256-4fa3-843e-2d1bb256df5f"/>
    <ds:schemaRef ds:uri="http://www.w3.org/XML/1998/namespace"/>
    <ds:schemaRef ds:uri="http://purl.org/dc/dcmitype/"/>
  </ds:schemaRefs>
</ds:datastoreItem>
</file>

<file path=customXml/itemProps3.xml><?xml version="1.0" encoding="utf-8"?>
<ds:datastoreItem xmlns:ds="http://schemas.openxmlformats.org/officeDocument/2006/customXml" ds:itemID="{48E28474-1722-4CE4-848A-F0F44280BE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OsloMet_english</Template>
  <TotalTime>4089</TotalTime>
  <Words>8194</Words>
  <Application>Microsoft Macintosh PowerPoint</Application>
  <PresentationFormat>Custom</PresentationFormat>
  <Paragraphs>637</Paragraphs>
  <Slides>59</Slides>
  <Notes>59</Notes>
  <HiddenSlides>0</HiddenSlides>
  <MMClips>1</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59</vt:i4>
      </vt:variant>
    </vt:vector>
  </HeadingPairs>
  <TitlesOfParts>
    <vt:vector size="70" baseType="lpstr">
      <vt:lpstr>Arial</vt:lpstr>
      <vt:lpstr>Calibri</vt:lpstr>
      <vt:lpstr>Consolas</vt:lpstr>
      <vt:lpstr>DIN-Bold</vt:lpstr>
      <vt:lpstr>DIN-Regular</vt:lpstr>
      <vt:lpstr>TID</vt:lpstr>
      <vt:lpstr>Wingdings</vt:lpstr>
      <vt:lpstr>Office-tema</vt:lpstr>
      <vt:lpstr>1_Office-tema</vt:lpstr>
      <vt:lpstr>2_Office Theme</vt:lpstr>
      <vt:lpstr>Ruter_Powerpointmal-WideScreen_45_1_28_2</vt:lpstr>
      <vt:lpstr>Machine Learning</vt:lpstr>
      <vt:lpstr>Resources for Machine learning</vt:lpstr>
      <vt:lpstr>Some core and important concepts </vt:lpstr>
      <vt:lpstr>Probability</vt:lpstr>
      <vt:lpstr>Example 1: Coin Flipping</vt:lpstr>
      <vt:lpstr>Another example</vt:lpstr>
      <vt:lpstr>Uses of Probability</vt:lpstr>
      <vt:lpstr>PowerPoint Presentation</vt:lpstr>
      <vt:lpstr>Titanic data set</vt:lpstr>
      <vt:lpstr>PowerPoint Presentation</vt:lpstr>
      <vt:lpstr>PowerPoint Presentation</vt:lpstr>
      <vt:lpstr>PowerPoint Presentation</vt:lpstr>
      <vt:lpstr>PowerPoint Presentation</vt:lpstr>
      <vt:lpstr>What is Machine Learning</vt:lpstr>
      <vt:lpstr>PowerPoint Presentation</vt:lpstr>
      <vt:lpstr>PowerPoint Presentation</vt:lpstr>
      <vt:lpstr>Uses of M.L</vt:lpstr>
      <vt:lpstr>PowerPoint Presentation</vt:lpstr>
      <vt:lpstr>Example: Search for cats on google. How does this search work ?</vt:lpstr>
      <vt:lpstr>Q. How would you build such a M.L algorithm ?</vt:lpstr>
      <vt:lpstr>PowerPoint Presentation</vt:lpstr>
      <vt:lpstr>PowerPoint Presentation</vt:lpstr>
      <vt:lpstr>Typical M.L Flow</vt:lpstr>
      <vt:lpstr>4 Types of Machine Learning algorithms</vt:lpstr>
      <vt:lpstr>Supervised learning</vt:lpstr>
      <vt:lpstr>PowerPoint Presentation</vt:lpstr>
      <vt:lpstr>PowerPoint Presentation</vt:lpstr>
      <vt:lpstr>Unsupervised learning</vt:lpstr>
      <vt:lpstr>PowerPoint Presentation</vt:lpstr>
      <vt:lpstr>PowerPoint Presentation</vt:lpstr>
      <vt:lpstr>PowerPoint Presentation</vt:lpstr>
      <vt:lpstr>PowerPoint Presentation</vt:lpstr>
      <vt:lpstr>PowerPoint Presentation</vt:lpstr>
      <vt:lpstr>Reinforcement learning</vt:lpstr>
      <vt:lpstr>Challenges with Reinforcement learning</vt:lpstr>
      <vt:lpstr>PowerPoint Presentation</vt:lpstr>
      <vt:lpstr>PowerPoint Presentation</vt:lpstr>
      <vt:lpstr>PowerPoint Presentation</vt:lpstr>
      <vt:lpstr>PowerPoint Presentation</vt:lpstr>
      <vt:lpstr>Wanna try some A.I reinforcement learning in games ?</vt:lpstr>
      <vt:lpstr>Reccomender systems</vt:lpstr>
      <vt:lpstr>PowerPoint Presentation</vt:lpstr>
      <vt:lpstr>PowerPoint Presentation</vt:lpstr>
      <vt:lpstr>PowerPoint Presentation</vt:lpstr>
      <vt:lpstr>When should we use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Høgskolen i Oslo og Akershus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OsloMet –  Oslo Metropolitan University </dc:title>
  <dc:creator>Gustavo Mello</dc:creator>
  <dc:description>template by officeconsult.no</dc:description>
  <cp:lastModifiedBy>Umair M.Imam</cp:lastModifiedBy>
  <cp:revision>189</cp:revision>
  <dcterms:created xsi:type="dcterms:W3CDTF">2020-07-02T15:35:18Z</dcterms:created>
  <dcterms:modified xsi:type="dcterms:W3CDTF">2026-09-08T11:35:55Z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0x0101001818A354CD664446AEC35BBAE2499562</vt:lpwstr>
  </property>
</Properties>
</file>