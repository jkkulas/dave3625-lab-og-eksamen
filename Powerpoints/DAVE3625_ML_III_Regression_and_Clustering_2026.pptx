
<file path=[Content_Types].xml><?xml version="1.0" encoding="utf-8"?>
<Types xmlns="http://schemas.openxmlformats.org/package/2006/content-types">
  <Default Extension="gif" ContentType="image/gif"/>
  <Default Extension="jpeg" ContentType="image/jpeg"/>
  <Default Extension="jpg" ContentType="image/jpeg"/>
  <Default Extension="org&amp;utm_campaign=index&amp;utm_content=original" ContentType="image/gif"/>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charts/chart3.xml" ContentType="application/vnd.openxmlformats-officedocument.drawingml.chart+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rts/chart4.xml" ContentType="application/vnd.openxmlformats-officedocument.drawingml.chart+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0" r:id="rId2"/>
  </p:sldMasterIdLst>
  <p:notesMasterIdLst>
    <p:notesMasterId r:id="rId69"/>
  </p:notesMasterIdLst>
  <p:sldIdLst>
    <p:sldId id="256" r:id="rId3"/>
    <p:sldId id="427" r:id="rId4"/>
    <p:sldId id="426" r:id="rId5"/>
    <p:sldId id="282" r:id="rId6"/>
    <p:sldId id="283" r:id="rId7"/>
    <p:sldId id="344" r:id="rId8"/>
    <p:sldId id="258" r:id="rId9"/>
    <p:sldId id="374" r:id="rId10"/>
    <p:sldId id="372" r:id="rId11"/>
    <p:sldId id="259" r:id="rId12"/>
    <p:sldId id="375" r:id="rId13"/>
    <p:sldId id="377" r:id="rId14"/>
    <p:sldId id="380" r:id="rId15"/>
    <p:sldId id="376" r:id="rId16"/>
    <p:sldId id="379" r:id="rId17"/>
    <p:sldId id="383" r:id="rId18"/>
    <p:sldId id="382" r:id="rId19"/>
    <p:sldId id="393" r:id="rId20"/>
    <p:sldId id="394" r:id="rId21"/>
    <p:sldId id="392" r:id="rId22"/>
    <p:sldId id="387" r:id="rId23"/>
    <p:sldId id="395" r:id="rId24"/>
    <p:sldId id="397" r:id="rId25"/>
    <p:sldId id="396" r:id="rId26"/>
    <p:sldId id="398" r:id="rId27"/>
    <p:sldId id="399" r:id="rId28"/>
    <p:sldId id="400" r:id="rId29"/>
    <p:sldId id="401" r:id="rId30"/>
    <p:sldId id="402" r:id="rId31"/>
    <p:sldId id="403" r:id="rId32"/>
    <p:sldId id="381" r:id="rId33"/>
    <p:sldId id="404" r:id="rId34"/>
    <p:sldId id="385" r:id="rId35"/>
    <p:sldId id="405" r:id="rId36"/>
    <p:sldId id="388" r:id="rId37"/>
    <p:sldId id="390" r:id="rId38"/>
    <p:sldId id="317" r:id="rId39"/>
    <p:sldId id="271" r:id="rId40"/>
    <p:sldId id="406" r:id="rId41"/>
    <p:sldId id="407" r:id="rId42"/>
    <p:sldId id="273" r:id="rId43"/>
    <p:sldId id="272" r:id="rId44"/>
    <p:sldId id="408" r:id="rId45"/>
    <p:sldId id="409" r:id="rId46"/>
    <p:sldId id="275" r:id="rId47"/>
    <p:sldId id="410" r:id="rId48"/>
    <p:sldId id="430" r:id="rId49"/>
    <p:sldId id="411" r:id="rId50"/>
    <p:sldId id="412" r:id="rId51"/>
    <p:sldId id="274" r:id="rId52"/>
    <p:sldId id="276" r:id="rId53"/>
    <p:sldId id="413" r:id="rId54"/>
    <p:sldId id="414" r:id="rId55"/>
    <p:sldId id="431" r:id="rId56"/>
    <p:sldId id="415" r:id="rId57"/>
    <p:sldId id="428" r:id="rId58"/>
    <p:sldId id="429" r:id="rId59"/>
    <p:sldId id="416" r:id="rId60"/>
    <p:sldId id="418" r:id="rId61"/>
    <p:sldId id="419" r:id="rId62"/>
    <p:sldId id="420" r:id="rId63"/>
    <p:sldId id="421" r:id="rId64"/>
    <p:sldId id="422" r:id="rId65"/>
    <p:sldId id="423" r:id="rId66"/>
    <p:sldId id="424" r:id="rId67"/>
    <p:sldId id="425"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545"/>
    <p:restoredTop sz="87424"/>
  </p:normalViewPr>
  <p:slideViewPr>
    <p:cSldViewPr snapToGrid="0">
      <p:cViewPr varScale="1">
        <p:scale>
          <a:sx n="126" d="100"/>
          <a:sy n="126" d="100"/>
        </p:scale>
        <p:origin x="648" y="1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Illustrative trips</c:v>
          </c:tx>
          <c:marker>
            <c:symbol val="circle"/>
            <c:size val="12"/>
          </c:marker>
          <c:trendline>
            <c:name>Straight line</c:name>
            <c:trendlineType val="linear"/>
            <c:dispRSqr val="1"/>
            <c:dispEq val="1"/>
            <c:trendlineLbl>
              <c:numFmt formatCode="General" sourceLinked="0"/>
            </c:trendlineLbl>
          </c:trendline>
          <c:xVal>
            <c:numRef>
              <c:f>'Chart Data'!$A$2:$A$5</c:f>
              <c:numCache>
                <c:formatCode>General</c:formatCode>
                <c:ptCount val="4"/>
                <c:pt idx="0">
                  <c:v>1</c:v>
                </c:pt>
                <c:pt idx="1">
                  <c:v>2</c:v>
                </c:pt>
                <c:pt idx="2">
                  <c:v>3</c:v>
                </c:pt>
                <c:pt idx="3">
                  <c:v>4</c:v>
                </c:pt>
              </c:numCache>
            </c:numRef>
          </c:xVal>
          <c:yVal>
            <c:numRef>
              <c:f>'Chart Data'!$B$2:$B$5</c:f>
              <c:numCache>
                <c:formatCode>General</c:formatCode>
                <c:ptCount val="4"/>
                <c:pt idx="0">
                  <c:v>5</c:v>
                </c:pt>
                <c:pt idx="1">
                  <c:v>8</c:v>
                </c:pt>
                <c:pt idx="2">
                  <c:v>11</c:v>
                </c:pt>
                <c:pt idx="3">
                  <c:v>14</c:v>
                </c:pt>
              </c:numCache>
            </c:numRef>
          </c:yVal>
          <c:smooth val="1"/>
          <c:extLst>
            <c:ext xmlns:c16="http://schemas.microsoft.com/office/drawing/2014/chart" uri="{C3380CC4-5D6E-409C-BE32-E72D297353CC}">
              <c16:uniqueId val="{00000001-6688-5448-93FD-92200D1E598D}"/>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title>
          <c:tx>
            <c:rich>
              <a:bodyPr/>
              <a:lstStyle/>
              <a:p>
                <a:r>
                  <a:rPr lang="en-US">
                    <a:latin typeface="Arial"/>
                    <a:ea typeface="Arial"/>
                    <a:cs typeface="Arial"/>
                  </a:rPr>
                  <a:t>Time (min)</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50112"/>
        <c:crosses val="autoZero"/>
        <c:crossBetween val="midCat"/>
      </c:valAx>
      <c:valAx>
        <c:axId val="48650112"/>
        <c:scaling>
          <c:orientation val="minMax"/>
        </c:scaling>
        <c:delete val="0"/>
        <c:axPos val="b"/>
        <c:title>
          <c:tx>
            <c:rich>
              <a:bodyPr/>
              <a:lstStyle/>
              <a:p>
                <a:r>
                  <a:rPr lang="en-US">
                    <a:latin typeface="Arial"/>
                    <a:ea typeface="Arial"/>
                    <a:cs typeface="Arial"/>
                  </a:rPr>
                  <a:t>Distance (km)</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Illustrative passenger demand</c:v>
          </c:tx>
          <c:marker>
            <c:symbol val="circle"/>
            <c:size val="12"/>
          </c:marker>
          <c:xVal>
            <c:numRef>
              <c:f>'Chart Data'!$A$2:$A$6</c:f>
              <c:numCache>
                <c:formatCode>General</c:formatCode>
                <c:ptCount val="5"/>
                <c:pt idx="0">
                  <c:v>1</c:v>
                </c:pt>
                <c:pt idx="1">
                  <c:v>2</c:v>
                </c:pt>
                <c:pt idx="2">
                  <c:v>3</c:v>
                </c:pt>
                <c:pt idx="3">
                  <c:v>4</c:v>
                </c:pt>
                <c:pt idx="4">
                  <c:v>5</c:v>
                </c:pt>
              </c:numCache>
            </c:numRef>
          </c:xVal>
          <c:yVal>
            <c:numRef>
              <c:f>'Chart Data'!$B$2:$B$6</c:f>
              <c:numCache>
                <c:formatCode>General</c:formatCode>
                <c:ptCount val="5"/>
                <c:pt idx="0">
                  <c:v>4</c:v>
                </c:pt>
                <c:pt idx="1">
                  <c:v>10</c:v>
                </c:pt>
                <c:pt idx="2">
                  <c:v>12</c:v>
                </c:pt>
                <c:pt idx="3">
                  <c:v>10</c:v>
                </c:pt>
                <c:pt idx="4">
                  <c:v>4</c:v>
                </c:pt>
              </c:numCache>
            </c:numRef>
          </c:yVal>
          <c:smooth val="1"/>
          <c:extLst>
            <c:ext xmlns:c16="http://schemas.microsoft.com/office/drawing/2014/chart" uri="{C3380CC4-5D6E-409C-BE32-E72D297353CC}">
              <c16:uniqueId val="{00000000-835C-494B-9C48-3D88E4FA1E16}"/>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title>
          <c:tx>
            <c:rich>
              <a:bodyPr/>
              <a:lstStyle/>
              <a:p>
                <a:r>
                  <a:rPr lang="en-US">
                    <a:latin typeface="Arial"/>
                    <a:ea typeface="Arial"/>
                    <a:cs typeface="Arial"/>
                  </a:rPr>
                  <a:t>Passenger demand</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50112"/>
        <c:crosses val="autoZero"/>
        <c:crossBetween val="midCat"/>
      </c:valAx>
      <c:valAx>
        <c:axId val="48650112"/>
        <c:scaling>
          <c:orientation val="minMax"/>
        </c:scaling>
        <c:delete val="0"/>
        <c:axPos val="b"/>
        <c:title>
          <c:tx>
            <c:rich>
              <a:bodyPr/>
              <a:lstStyle/>
              <a:p>
                <a:r>
                  <a:rPr lang="en-US">
                    <a:latin typeface="Arial"/>
                    <a:ea typeface="Arial"/>
                    <a:cs typeface="Arial"/>
                  </a:rPr>
                  <a:t>Time period</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Unlabelled observations</c:v>
          </c:tx>
          <c:marker>
            <c:symbol val="circle"/>
            <c:size val="12"/>
          </c:marker>
          <c:xVal>
            <c:numRef>
              <c:f>'Chart Data'!$A$2:$A$7</c:f>
              <c:numCache>
                <c:formatCode>General</c:formatCode>
                <c:ptCount val="6"/>
                <c:pt idx="0">
                  <c:v>1</c:v>
                </c:pt>
                <c:pt idx="1">
                  <c:v>2</c:v>
                </c:pt>
                <c:pt idx="2">
                  <c:v>2.4</c:v>
                </c:pt>
                <c:pt idx="3">
                  <c:v>7</c:v>
                </c:pt>
                <c:pt idx="4">
                  <c:v>8</c:v>
                </c:pt>
                <c:pt idx="5">
                  <c:v>8.5</c:v>
                </c:pt>
              </c:numCache>
            </c:numRef>
          </c:xVal>
          <c:yVal>
            <c:numRef>
              <c:f>'Chart Data'!$B$2:$B$7</c:f>
              <c:numCache>
                <c:formatCode>General</c:formatCode>
                <c:ptCount val="6"/>
                <c:pt idx="0">
                  <c:v>2</c:v>
                </c:pt>
                <c:pt idx="1">
                  <c:v>2.2000000000000002</c:v>
                </c:pt>
                <c:pt idx="2">
                  <c:v>3</c:v>
                </c:pt>
                <c:pt idx="3">
                  <c:v>7</c:v>
                </c:pt>
                <c:pt idx="4">
                  <c:v>7.5</c:v>
                </c:pt>
                <c:pt idx="5">
                  <c:v>8.1999999999999993</c:v>
                </c:pt>
              </c:numCache>
            </c:numRef>
          </c:yVal>
          <c:smooth val="1"/>
          <c:extLst>
            <c:ext xmlns:c16="http://schemas.microsoft.com/office/drawing/2014/chart" uri="{C3380CC4-5D6E-409C-BE32-E72D297353CC}">
              <c16:uniqueId val="{00000000-113A-7748-B69B-79D70614FA6C}"/>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title>
          <c:tx>
            <c:rich>
              <a:bodyPr/>
              <a:lstStyle/>
              <a:p>
                <a:r>
                  <a:rPr lang="en-US">
                    <a:latin typeface="Arial"/>
                    <a:ea typeface="Arial"/>
                    <a:cs typeface="Arial"/>
                  </a:rPr>
                  <a:t>Feature 2</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50112"/>
        <c:crosses val="autoZero"/>
        <c:crossBetween val="midCat"/>
      </c:valAx>
      <c:valAx>
        <c:axId val="48650112"/>
        <c:scaling>
          <c:orientation val="minMax"/>
        </c:scaling>
        <c:delete val="0"/>
        <c:axPos val="b"/>
        <c:title>
          <c:tx>
            <c:rich>
              <a:bodyPr/>
              <a:lstStyle/>
              <a:p>
                <a:r>
                  <a:rPr lang="en-US">
                    <a:latin typeface="Arial"/>
                    <a:ea typeface="Arial"/>
                    <a:cs typeface="Arial"/>
                  </a:rPr>
                  <a:t>Feature 1</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72768"/>
        <c:crosses val="autoZero"/>
        <c:crossBetween val="midCat"/>
      </c:valAx>
      <c:spPr>
        <a:solidFill>
          <a:srgbClr val="FFFFFF"/>
        </a:solidFill>
      </c:spPr>
    </c:plotArea>
    <c:plotVisOnly val="1"/>
    <c:dispBlanksAs val="zero"/>
    <c:showDLblsOverMax val="1"/>
  </c:chart>
  <c:spPr>
    <a:solidFill>
      <a:srgbClr val="FFFFFF"/>
    </a:solidFill>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autoTitleDeleted val="1"/>
    <c:plotArea>
      <c:layout/>
      <c:scatterChart>
        <c:scatterStyle val="lineMarker"/>
        <c:varyColors val="1"/>
        <c:ser>
          <c:idx val="0"/>
          <c:order val="0"/>
          <c:tx>
            <c:v>Group A</c:v>
          </c:tx>
          <c:marker>
            <c:symbol val="circle"/>
            <c:size val="12"/>
          </c:marker>
          <c:xVal>
            <c:numRef>
              <c:f>'Chart Data'!$A$2:$A$4</c:f>
              <c:numCache>
                <c:formatCode>General</c:formatCode>
                <c:ptCount val="3"/>
                <c:pt idx="0">
                  <c:v>1</c:v>
                </c:pt>
                <c:pt idx="1">
                  <c:v>2</c:v>
                </c:pt>
                <c:pt idx="2">
                  <c:v>2.4</c:v>
                </c:pt>
              </c:numCache>
            </c:numRef>
          </c:xVal>
          <c:yVal>
            <c:numRef>
              <c:f>'Chart Data'!$B$2:$B$4</c:f>
              <c:numCache>
                <c:formatCode>General</c:formatCode>
                <c:ptCount val="3"/>
                <c:pt idx="0">
                  <c:v>2</c:v>
                </c:pt>
                <c:pt idx="1">
                  <c:v>2.2000000000000002</c:v>
                </c:pt>
                <c:pt idx="2">
                  <c:v>3</c:v>
                </c:pt>
              </c:numCache>
            </c:numRef>
          </c:yVal>
          <c:smooth val="1"/>
          <c:extLst>
            <c:ext xmlns:c16="http://schemas.microsoft.com/office/drawing/2014/chart" uri="{C3380CC4-5D6E-409C-BE32-E72D297353CC}">
              <c16:uniqueId val="{00000000-4738-2140-ADA4-6F9AC8640AF4}"/>
            </c:ext>
          </c:extLst>
        </c:ser>
        <c:ser>
          <c:idx val="1"/>
          <c:order val="1"/>
          <c:tx>
            <c:v>Group B</c:v>
          </c:tx>
          <c:marker>
            <c:symbol val="circle"/>
            <c:size val="12"/>
          </c:marker>
          <c:xVal>
            <c:numRef>
              <c:f>'Chart Data'!$C$2:$C$4</c:f>
              <c:numCache>
                <c:formatCode>General</c:formatCode>
                <c:ptCount val="3"/>
                <c:pt idx="0">
                  <c:v>7</c:v>
                </c:pt>
                <c:pt idx="1">
                  <c:v>8</c:v>
                </c:pt>
                <c:pt idx="2">
                  <c:v>8.5</c:v>
                </c:pt>
              </c:numCache>
            </c:numRef>
          </c:xVal>
          <c:yVal>
            <c:numRef>
              <c:f>'Chart Data'!$D$2:$D$4</c:f>
              <c:numCache>
                <c:formatCode>General</c:formatCode>
                <c:ptCount val="3"/>
                <c:pt idx="0">
                  <c:v>7</c:v>
                </c:pt>
                <c:pt idx="1">
                  <c:v>7.5</c:v>
                </c:pt>
                <c:pt idx="2">
                  <c:v>8.1999999999999993</c:v>
                </c:pt>
              </c:numCache>
            </c:numRef>
          </c:yVal>
          <c:smooth val="1"/>
          <c:extLst>
            <c:ext xmlns:c16="http://schemas.microsoft.com/office/drawing/2014/chart" uri="{C3380CC4-5D6E-409C-BE32-E72D297353CC}">
              <c16:uniqueId val="{00000001-4738-2140-ADA4-6F9AC8640AF4}"/>
            </c:ext>
          </c:extLst>
        </c:ser>
        <c:ser>
          <c:idx val="2"/>
          <c:order val="2"/>
          <c:tx>
            <c:v>Centres</c:v>
          </c:tx>
          <c:marker>
            <c:symbol val="diamond"/>
            <c:size val="18"/>
          </c:marker>
          <c:xVal>
            <c:numRef>
              <c:f>'Chart Data'!$E$2:$E$3</c:f>
              <c:numCache>
                <c:formatCode>General</c:formatCode>
                <c:ptCount val="2"/>
                <c:pt idx="0">
                  <c:v>1.8</c:v>
                </c:pt>
                <c:pt idx="1">
                  <c:v>7.83</c:v>
                </c:pt>
              </c:numCache>
            </c:numRef>
          </c:xVal>
          <c:yVal>
            <c:numRef>
              <c:f>'Chart Data'!$F$2:$F$3</c:f>
              <c:numCache>
                <c:formatCode>General</c:formatCode>
                <c:ptCount val="2"/>
                <c:pt idx="0">
                  <c:v>2.4</c:v>
                </c:pt>
                <c:pt idx="1">
                  <c:v>7.57</c:v>
                </c:pt>
              </c:numCache>
            </c:numRef>
          </c:yVal>
          <c:smooth val="1"/>
          <c:extLst>
            <c:ext xmlns:c16="http://schemas.microsoft.com/office/drawing/2014/chart" uri="{C3380CC4-5D6E-409C-BE32-E72D297353CC}">
              <c16:uniqueId val="{00000002-4738-2140-ADA4-6F9AC8640AF4}"/>
            </c:ext>
          </c:extLst>
        </c:ser>
        <c:dLbls>
          <c:showLegendKey val="0"/>
          <c:showVal val="0"/>
          <c:showCatName val="0"/>
          <c:showSerName val="0"/>
          <c:showPercent val="0"/>
          <c:showBubbleSize val="0"/>
        </c:dLbls>
        <c:axId val="48650112"/>
        <c:axId val="48672768"/>
      </c:scatterChart>
      <c:valAx>
        <c:axId val="48672768"/>
        <c:scaling>
          <c:orientation val="minMax"/>
        </c:scaling>
        <c:delete val="0"/>
        <c:axPos val="l"/>
        <c:title>
          <c:tx>
            <c:rich>
              <a:bodyPr/>
              <a:lstStyle/>
              <a:p>
                <a:r>
                  <a:rPr lang="en-US">
                    <a:latin typeface="Arial"/>
                    <a:ea typeface="Arial"/>
                    <a:cs typeface="Arial"/>
                  </a:rPr>
                  <a:t>Feature 2</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50112"/>
        <c:crosses val="autoZero"/>
        <c:crossBetween val="midCat"/>
      </c:valAx>
      <c:valAx>
        <c:axId val="48650112"/>
        <c:scaling>
          <c:orientation val="minMax"/>
        </c:scaling>
        <c:delete val="0"/>
        <c:axPos val="b"/>
        <c:title>
          <c:tx>
            <c:rich>
              <a:bodyPr/>
              <a:lstStyle/>
              <a:p>
                <a:r>
                  <a:rPr lang="en-US">
                    <a:latin typeface="Arial"/>
                    <a:ea typeface="Arial"/>
                    <a:cs typeface="Arial"/>
                  </a:rPr>
                  <a:t>Feature 1</a:t>
                </a:r>
              </a:p>
            </c:rich>
          </c:tx>
          <c:overlay val="0"/>
        </c:title>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Arial"/>
                <a:ea typeface="Arial"/>
                <a:cs typeface="Arial"/>
              </a:defRPr>
            </a:pPr>
            <a:endParaRPr lang="en-US"/>
          </a:p>
        </c:txPr>
        <c:crossAx val="48672768"/>
        <c:crosses val="autoZero"/>
        <c:crossBetween val="midCat"/>
      </c:valAx>
      <c:spPr>
        <a:solidFill>
          <a:srgbClr val="FFFFFF"/>
        </a:solidFill>
      </c:spPr>
    </c:plotArea>
    <c:legend>
      <c:legendPos val="b"/>
      <c:overlay val="0"/>
      <c:txPr>
        <a:bodyPr anchorCtr="1"/>
        <a:lstStyle/>
        <a:p>
          <a:pPr>
            <a:defRPr sz="1125">
              <a:latin typeface="Arial"/>
              <a:ea typeface="Arial"/>
              <a:cs typeface="Arial"/>
            </a:defRPr>
          </a:pPr>
          <a:endParaRPr lang="en-US"/>
        </a:p>
      </c:txPr>
    </c:legend>
    <c:plotVisOnly val="1"/>
    <c:dispBlanksAs val="zero"/>
    <c:showDLblsOverMax val="1"/>
  </c:chart>
  <c:spPr>
    <a:solidFill>
      <a:srgbClr val="FFFFFF"/>
    </a:solidFill>
  </c:spPr>
  <c:externalData r:id="rId1">
    <c:autoUpdate val="0"/>
  </c:externalData>
</c:chartSpace>
</file>

<file path=ppt/diagrams/_rels/data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image" Target="../media/image12.svg"/></Relationships>
</file>

<file path=ppt/diagrams/_rels/drawing1.xml.rels><?xml version="1.0" encoding="UTF-8" standalone="yes"?>
<Relationships xmlns="http://schemas.openxmlformats.org/package/2006/relationships"><Relationship Id="rId2" Type="http://schemas.openxmlformats.org/officeDocument/2006/relationships/image" Target="../media/image13.svg"/><Relationship Id="rId1" Type="http://schemas.openxmlformats.org/officeDocument/2006/relationships/image" Target="../media/image12.svg"/></Relationships>
</file>

<file path=ppt/diagrams/colors1.xml><?xml version="1.0" encoding="utf-8"?>
<dgm:colorsDef xmlns:dgm="http://schemas.openxmlformats.org/drawingml/2006/diagram" xmlns:a="http://schemas.openxmlformats.org/drawingml/2006/main" uniqueId="urn:microsoft.com/office/officeart/2005/8/colors/accent2_2#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40D9396-8B5B-5944-B7CF-A827F10FEAE4}" type="doc">
      <dgm:prSet loTypeId="urn:microsoft.com/office/officeart/2018/2/layout/IconLabelDescriptionList" loCatId="icon" qsTypeId="urn:microsoft.com/office/officeart/2005/8/quickstyle/simple1#2" qsCatId="simple" csTypeId="urn:microsoft.com/office/officeart/2005/8/colors/accent2_2#2" csCatId="accent2" phldr="1"/>
      <dgm:spPr/>
      <dgm:t>
        <a:bodyPr/>
        <a:lstStyle/>
        <a:p>
          <a:endParaRPr lang="en-GB"/>
        </a:p>
      </dgm:t>
    </dgm:pt>
    <dgm:pt modelId="{F1659936-B9B1-AB4B-83F3-25CB3CE322CF}">
      <dgm:prSet phldrT="[Text]"/>
      <dgm:spPr/>
      <dgm:t>
        <a:bodyPr/>
        <a:lstStyle/>
        <a:p>
          <a:pPr>
            <a:lnSpc>
              <a:spcPct val="100000"/>
            </a:lnSpc>
            <a:defRPr b="1"/>
          </a:pPr>
          <a:r>
            <a:rPr lang="en-GB"/>
            <a:t>Regression</a:t>
          </a:r>
        </a:p>
      </dgm:t>
    </dgm:pt>
    <dgm:pt modelId="{A8200996-CCFF-8E49-96D8-298A8BF5EF9C}" type="parTrans" cxnId="{04F90322-E2BC-9349-9283-935365BFBED2}">
      <dgm:prSet/>
      <dgm:spPr/>
      <dgm:t>
        <a:bodyPr/>
        <a:lstStyle/>
        <a:p>
          <a:endParaRPr lang="en-GB"/>
        </a:p>
      </dgm:t>
    </dgm:pt>
    <dgm:pt modelId="{FF3CD0D6-2E37-7547-A92F-E14136A691E5}" type="sibTrans" cxnId="{04F90322-E2BC-9349-9283-935365BFBED2}">
      <dgm:prSet/>
      <dgm:spPr/>
      <dgm:t>
        <a:bodyPr/>
        <a:lstStyle/>
        <a:p>
          <a:endParaRPr lang="en-GB"/>
        </a:p>
      </dgm:t>
    </dgm:pt>
    <dgm:pt modelId="{28BCF087-65A5-E141-A604-416CDEB03B74}">
      <dgm:prSet phldrT="[Text]" custT="1"/>
      <dgm:spPr/>
      <dgm:t>
        <a:bodyPr/>
        <a:lstStyle/>
        <a:p>
          <a:pPr>
            <a:lnSpc>
              <a:spcPct val="100000"/>
            </a:lnSpc>
          </a:pPr>
          <a:r>
            <a:rPr lang="en-GB" sz="2000" dirty="0"/>
            <a:t>Support vector machines</a:t>
          </a:r>
        </a:p>
      </dgm:t>
    </dgm:pt>
    <dgm:pt modelId="{D1101D08-3EA2-184E-A9B2-F9272FA7DA52}" type="parTrans" cxnId="{92E66D6B-5107-0140-8DDB-F293EF4F9344}">
      <dgm:prSet/>
      <dgm:spPr/>
      <dgm:t>
        <a:bodyPr/>
        <a:lstStyle/>
        <a:p>
          <a:endParaRPr lang="en-GB"/>
        </a:p>
      </dgm:t>
    </dgm:pt>
    <dgm:pt modelId="{2F07C075-FD34-194F-8BE4-246FB7765A3B}" type="sibTrans" cxnId="{92E66D6B-5107-0140-8DDB-F293EF4F9344}">
      <dgm:prSet/>
      <dgm:spPr/>
      <dgm:t>
        <a:bodyPr/>
        <a:lstStyle/>
        <a:p>
          <a:endParaRPr lang="en-GB"/>
        </a:p>
      </dgm:t>
    </dgm:pt>
    <dgm:pt modelId="{9162A706-0E1F-EF40-9631-799B1D6BDF44}">
      <dgm:prSet phldrT="[Text]" custT="1"/>
      <dgm:spPr/>
      <dgm:t>
        <a:bodyPr/>
        <a:lstStyle/>
        <a:p>
          <a:pPr>
            <a:lnSpc>
              <a:spcPct val="100000"/>
            </a:lnSpc>
          </a:pPr>
          <a:r>
            <a:rPr lang="en-GB" sz="2000" dirty="0"/>
            <a:t>Decision Trees</a:t>
          </a:r>
        </a:p>
      </dgm:t>
    </dgm:pt>
    <dgm:pt modelId="{86B49A31-EAC4-B543-AAA3-90797EEE3017}" type="parTrans" cxnId="{0FE2803D-E97E-9D42-979C-95ECC5768E57}">
      <dgm:prSet/>
      <dgm:spPr/>
      <dgm:t>
        <a:bodyPr/>
        <a:lstStyle/>
        <a:p>
          <a:endParaRPr lang="en-GB"/>
        </a:p>
      </dgm:t>
    </dgm:pt>
    <dgm:pt modelId="{9D2E3113-D472-8741-8462-F08E233CEFA1}" type="sibTrans" cxnId="{0FE2803D-E97E-9D42-979C-95ECC5768E57}">
      <dgm:prSet/>
      <dgm:spPr/>
      <dgm:t>
        <a:bodyPr/>
        <a:lstStyle/>
        <a:p>
          <a:endParaRPr lang="en-GB"/>
        </a:p>
      </dgm:t>
    </dgm:pt>
    <dgm:pt modelId="{B4694A4B-6644-FF4B-8FC6-A53E80208019}">
      <dgm:prSet phldrT="[Text]" custT="1"/>
      <dgm:spPr/>
      <dgm:t>
        <a:bodyPr/>
        <a:lstStyle/>
        <a:p>
          <a:pPr>
            <a:lnSpc>
              <a:spcPct val="100000"/>
            </a:lnSpc>
          </a:pPr>
          <a:r>
            <a:rPr lang="en-GB" sz="2000" dirty="0"/>
            <a:t>K-Nearest Neighbour</a:t>
          </a:r>
        </a:p>
      </dgm:t>
    </dgm:pt>
    <dgm:pt modelId="{8E31CFA4-5460-F94A-BB18-148E95137FDF}" type="parTrans" cxnId="{02FCD346-ADB8-0149-812A-D709D162DD52}">
      <dgm:prSet/>
      <dgm:spPr/>
      <dgm:t>
        <a:bodyPr/>
        <a:lstStyle/>
        <a:p>
          <a:endParaRPr lang="en-GB"/>
        </a:p>
      </dgm:t>
    </dgm:pt>
    <dgm:pt modelId="{52527236-3BC9-E441-8DD8-50228B99BC66}" type="sibTrans" cxnId="{02FCD346-ADB8-0149-812A-D709D162DD52}">
      <dgm:prSet/>
      <dgm:spPr/>
      <dgm:t>
        <a:bodyPr/>
        <a:lstStyle/>
        <a:p>
          <a:endParaRPr lang="en-GB"/>
        </a:p>
      </dgm:t>
    </dgm:pt>
    <dgm:pt modelId="{F83E32B4-49EC-C34F-ACE0-33B6DE9BF8D7}">
      <dgm:prSet phldrT="[Text]" custT="1"/>
      <dgm:spPr/>
      <dgm:t>
        <a:bodyPr/>
        <a:lstStyle/>
        <a:p>
          <a:pPr>
            <a:lnSpc>
              <a:spcPct val="100000"/>
            </a:lnSpc>
          </a:pPr>
          <a:r>
            <a:rPr lang="en-GB" sz="2000"/>
            <a:t>Random Forest</a:t>
          </a:r>
        </a:p>
      </dgm:t>
    </dgm:pt>
    <dgm:pt modelId="{6CE91E56-E584-2F4A-8E8E-65C3EF33502F}" type="parTrans" cxnId="{A0331CC9-5A4A-3542-BA20-ED7DCB79B0A6}">
      <dgm:prSet/>
      <dgm:spPr/>
      <dgm:t>
        <a:bodyPr/>
        <a:lstStyle/>
        <a:p>
          <a:endParaRPr lang="en-GB"/>
        </a:p>
      </dgm:t>
    </dgm:pt>
    <dgm:pt modelId="{A043CADD-0DD1-A148-9061-049008C59FF9}" type="sibTrans" cxnId="{A0331CC9-5A4A-3542-BA20-ED7DCB79B0A6}">
      <dgm:prSet/>
      <dgm:spPr/>
      <dgm:t>
        <a:bodyPr/>
        <a:lstStyle/>
        <a:p>
          <a:endParaRPr lang="en-GB"/>
        </a:p>
      </dgm:t>
    </dgm:pt>
    <dgm:pt modelId="{227F1202-3900-8745-90CB-7A4407DBA723}">
      <dgm:prSet phldrT="[Text]"/>
      <dgm:spPr/>
      <dgm:t>
        <a:bodyPr/>
        <a:lstStyle/>
        <a:p>
          <a:pPr>
            <a:lnSpc>
              <a:spcPct val="100000"/>
            </a:lnSpc>
          </a:pPr>
          <a:r>
            <a:rPr lang="en-GB"/>
            <a:t>Linear Regression</a:t>
          </a:r>
        </a:p>
      </dgm:t>
    </dgm:pt>
    <dgm:pt modelId="{EEF881BE-D46A-7140-A6D7-3757451CE997}" type="parTrans" cxnId="{3A90FE3B-34F5-0848-A225-A6E6BAD35605}">
      <dgm:prSet/>
      <dgm:spPr/>
      <dgm:t>
        <a:bodyPr/>
        <a:lstStyle/>
        <a:p>
          <a:endParaRPr lang="en-GB"/>
        </a:p>
      </dgm:t>
    </dgm:pt>
    <dgm:pt modelId="{DEB5E526-13DB-C849-8DC5-102A8056FF28}" type="sibTrans" cxnId="{3A90FE3B-34F5-0848-A225-A6E6BAD35605}">
      <dgm:prSet/>
      <dgm:spPr/>
      <dgm:t>
        <a:bodyPr/>
        <a:lstStyle/>
        <a:p>
          <a:endParaRPr lang="en-GB"/>
        </a:p>
      </dgm:t>
    </dgm:pt>
    <dgm:pt modelId="{AC076227-F5DA-AE43-A476-2F2DA07F8A3F}">
      <dgm:prSet phldrT="[Text]"/>
      <dgm:spPr/>
      <dgm:t>
        <a:bodyPr/>
        <a:lstStyle/>
        <a:p>
          <a:pPr>
            <a:lnSpc>
              <a:spcPct val="100000"/>
            </a:lnSpc>
          </a:pPr>
          <a:r>
            <a:rPr lang="en-GB" dirty="0"/>
            <a:t>Polynomial Regression</a:t>
          </a:r>
        </a:p>
      </dgm:t>
    </dgm:pt>
    <dgm:pt modelId="{800B3BAC-7046-AD4C-9030-75A4CD5C385B}" type="parTrans" cxnId="{79DF8DFB-15B9-354D-97A8-DA58A1433907}">
      <dgm:prSet/>
      <dgm:spPr/>
      <dgm:t>
        <a:bodyPr/>
        <a:lstStyle/>
        <a:p>
          <a:endParaRPr lang="en-GB"/>
        </a:p>
      </dgm:t>
    </dgm:pt>
    <dgm:pt modelId="{8F2B288F-F2A7-C645-B0B9-7D60CE0716CE}" type="sibTrans" cxnId="{79DF8DFB-15B9-354D-97A8-DA58A1433907}">
      <dgm:prSet/>
      <dgm:spPr/>
      <dgm:t>
        <a:bodyPr/>
        <a:lstStyle/>
        <a:p>
          <a:endParaRPr lang="en-GB"/>
        </a:p>
      </dgm:t>
    </dgm:pt>
    <dgm:pt modelId="{8C494CCA-B850-3A4E-9A2B-E0E5734F2778}">
      <dgm:prSet phldrT="[Text]" custT="1"/>
      <dgm:spPr/>
      <dgm:t>
        <a:bodyPr/>
        <a:lstStyle/>
        <a:p>
          <a:pPr>
            <a:lnSpc>
              <a:spcPct val="100000"/>
            </a:lnSpc>
          </a:pPr>
          <a:r>
            <a:rPr lang="en-GB" sz="2000" dirty="0"/>
            <a:t>…</a:t>
          </a:r>
        </a:p>
      </dgm:t>
    </dgm:pt>
    <dgm:pt modelId="{02BDBC8B-D6DA-0F40-95FB-F2235F090707}" type="parTrans" cxnId="{FCD89EF9-78B9-2A42-92DD-6EA4050CA277}">
      <dgm:prSet/>
      <dgm:spPr/>
      <dgm:t>
        <a:bodyPr/>
        <a:lstStyle/>
        <a:p>
          <a:endParaRPr lang="en-GB"/>
        </a:p>
      </dgm:t>
    </dgm:pt>
    <dgm:pt modelId="{73D42CCA-B794-FE43-8EB2-4F1E841D05E0}" type="sibTrans" cxnId="{FCD89EF9-78B9-2A42-92DD-6EA4050CA277}">
      <dgm:prSet/>
      <dgm:spPr/>
      <dgm:t>
        <a:bodyPr/>
        <a:lstStyle/>
        <a:p>
          <a:endParaRPr lang="en-GB"/>
        </a:p>
      </dgm:t>
    </dgm:pt>
    <dgm:pt modelId="{B3815253-D04C-6941-9AC9-B571E6CDBB66}">
      <dgm:prSet phldrT="[Text]"/>
      <dgm:spPr/>
      <dgm:t>
        <a:bodyPr/>
        <a:lstStyle/>
        <a:p>
          <a:pPr>
            <a:lnSpc>
              <a:spcPct val="100000"/>
            </a:lnSpc>
          </a:pPr>
          <a:r>
            <a:rPr lang="en-GB"/>
            <a:t>…</a:t>
          </a:r>
        </a:p>
      </dgm:t>
    </dgm:pt>
    <dgm:pt modelId="{77AEB376-1A8A-F541-AFEC-22E7C01006F8}" type="parTrans" cxnId="{24A8364E-2406-C54D-BC62-4B07E4DF9639}">
      <dgm:prSet/>
      <dgm:spPr/>
      <dgm:t>
        <a:bodyPr/>
        <a:lstStyle/>
        <a:p>
          <a:endParaRPr lang="en-GB"/>
        </a:p>
      </dgm:t>
    </dgm:pt>
    <dgm:pt modelId="{BCDA004D-EB9F-C945-8FEE-0A36BD4E46D1}" type="sibTrans" cxnId="{24A8364E-2406-C54D-BC62-4B07E4DF9639}">
      <dgm:prSet/>
      <dgm:spPr/>
      <dgm:t>
        <a:bodyPr/>
        <a:lstStyle/>
        <a:p>
          <a:endParaRPr lang="en-GB"/>
        </a:p>
      </dgm:t>
    </dgm:pt>
    <dgm:pt modelId="{A75812FB-0831-CF45-AC2F-F0306B933850}">
      <dgm:prSet phldrT="[Text]"/>
      <dgm:spPr/>
      <dgm:t>
        <a:bodyPr/>
        <a:lstStyle/>
        <a:p>
          <a:pPr>
            <a:lnSpc>
              <a:spcPct val="100000"/>
            </a:lnSpc>
            <a:defRPr b="1"/>
          </a:pPr>
          <a:r>
            <a:rPr lang="en-GB"/>
            <a:t>Classification</a:t>
          </a:r>
        </a:p>
      </dgm:t>
    </dgm:pt>
    <dgm:pt modelId="{22BBD007-ABE5-ED43-BE9C-5BEDDA817D2D}" type="sibTrans" cxnId="{5CC98B0D-6457-3745-8599-C127BDDB696A}">
      <dgm:prSet/>
      <dgm:spPr/>
      <dgm:t>
        <a:bodyPr/>
        <a:lstStyle/>
        <a:p>
          <a:endParaRPr lang="en-GB"/>
        </a:p>
      </dgm:t>
    </dgm:pt>
    <dgm:pt modelId="{A955AD6D-69DC-E64C-A786-7EDC6AAFD7D2}" type="parTrans" cxnId="{5CC98B0D-6457-3745-8599-C127BDDB696A}">
      <dgm:prSet/>
      <dgm:spPr/>
      <dgm:t>
        <a:bodyPr/>
        <a:lstStyle/>
        <a:p>
          <a:endParaRPr lang="en-GB"/>
        </a:p>
      </dgm:t>
    </dgm:pt>
    <dgm:pt modelId="{CC70BB2B-4CB8-2E48-85F9-830AD6B8C4BD}">
      <dgm:prSet phldrT="[Text]" custT="1"/>
      <dgm:spPr/>
      <dgm:t>
        <a:bodyPr/>
        <a:lstStyle/>
        <a:p>
          <a:pPr>
            <a:lnSpc>
              <a:spcPct val="100000"/>
            </a:lnSpc>
          </a:pPr>
          <a:r>
            <a:rPr lang="en-GB" sz="2000" dirty="0"/>
            <a:t>Logistic regression</a:t>
          </a:r>
        </a:p>
      </dgm:t>
    </dgm:pt>
    <dgm:pt modelId="{BECDEE85-3556-8348-8CCD-DEF8513F5CD5}" type="parTrans" cxnId="{A315DD8A-65DA-914A-8E08-8EA521CEC9C1}">
      <dgm:prSet/>
      <dgm:spPr/>
      <dgm:t>
        <a:bodyPr/>
        <a:lstStyle/>
        <a:p>
          <a:endParaRPr lang="en-GB"/>
        </a:p>
      </dgm:t>
    </dgm:pt>
    <dgm:pt modelId="{67F0571C-0426-484B-A14C-1D67736E8D79}" type="sibTrans" cxnId="{A315DD8A-65DA-914A-8E08-8EA521CEC9C1}">
      <dgm:prSet/>
      <dgm:spPr/>
      <dgm:t>
        <a:bodyPr/>
        <a:lstStyle/>
        <a:p>
          <a:endParaRPr lang="en-GB"/>
        </a:p>
      </dgm:t>
    </dgm:pt>
    <dgm:pt modelId="{A9741D20-F470-C34E-9C05-612E3B1AB21C}">
      <dgm:prSet phldrT="[Text]" custT="1"/>
      <dgm:spPr/>
      <dgm:t>
        <a:bodyPr/>
        <a:lstStyle/>
        <a:p>
          <a:pPr>
            <a:lnSpc>
              <a:spcPct val="100000"/>
            </a:lnSpc>
          </a:pPr>
          <a:r>
            <a:rPr lang="en-GB" sz="2000"/>
            <a:t>Naïve Bayes classifier</a:t>
          </a:r>
        </a:p>
      </dgm:t>
    </dgm:pt>
    <dgm:pt modelId="{CB7683A8-70B7-E04D-A5F4-06D3C2A25FE3}" type="parTrans" cxnId="{84AF160D-527D-8545-A500-0203008710B3}">
      <dgm:prSet/>
      <dgm:spPr/>
      <dgm:t>
        <a:bodyPr/>
        <a:lstStyle/>
        <a:p>
          <a:endParaRPr lang="en-GB"/>
        </a:p>
      </dgm:t>
    </dgm:pt>
    <dgm:pt modelId="{C28D0CCE-13FB-514B-81C7-02D4A1669304}" type="sibTrans" cxnId="{84AF160D-527D-8545-A500-0203008710B3}">
      <dgm:prSet/>
      <dgm:spPr/>
      <dgm:t>
        <a:bodyPr/>
        <a:lstStyle/>
        <a:p>
          <a:endParaRPr lang="en-GB"/>
        </a:p>
      </dgm:t>
    </dgm:pt>
    <dgm:pt modelId="{64D42241-E6EA-4803-BBF0-C209D27CC57C}" type="pres">
      <dgm:prSet presAssocID="{A40D9396-8B5B-5944-B7CF-A827F10FEAE4}" presName="root" presStyleCnt="0">
        <dgm:presLayoutVars>
          <dgm:dir/>
          <dgm:resizeHandles val="exact"/>
        </dgm:presLayoutVars>
      </dgm:prSet>
      <dgm:spPr/>
    </dgm:pt>
    <dgm:pt modelId="{7DEF9ACC-3EA7-4E83-BCFD-E98B6818E606}" type="pres">
      <dgm:prSet presAssocID="{A75812FB-0831-CF45-AC2F-F0306B933850}" presName="compNode" presStyleCnt="0"/>
      <dgm:spPr/>
    </dgm:pt>
    <dgm:pt modelId="{1E64CC45-F8F6-47B3-AC33-9E2260F0AF17}" type="pres">
      <dgm:prSet presAssocID="{A75812FB-0831-CF45-AC2F-F0306B933850}"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Document"/>
        </a:ext>
      </dgm:extLst>
    </dgm:pt>
    <dgm:pt modelId="{D429E549-20D2-4FE1-9974-5E0E1ACADB93}" type="pres">
      <dgm:prSet presAssocID="{A75812FB-0831-CF45-AC2F-F0306B933850}" presName="iconSpace" presStyleCnt="0"/>
      <dgm:spPr/>
    </dgm:pt>
    <dgm:pt modelId="{831A5224-12E1-40D1-88E1-854284300F96}" type="pres">
      <dgm:prSet presAssocID="{A75812FB-0831-CF45-AC2F-F0306B933850}" presName="parTx" presStyleLbl="revTx" presStyleIdx="0" presStyleCnt="4">
        <dgm:presLayoutVars>
          <dgm:chMax val="0"/>
          <dgm:chPref val="0"/>
        </dgm:presLayoutVars>
      </dgm:prSet>
      <dgm:spPr/>
    </dgm:pt>
    <dgm:pt modelId="{373754C9-CD57-48BC-8E87-B22632C7E89B}" type="pres">
      <dgm:prSet presAssocID="{A75812FB-0831-CF45-AC2F-F0306B933850}" presName="txSpace" presStyleCnt="0"/>
      <dgm:spPr/>
    </dgm:pt>
    <dgm:pt modelId="{8A41304C-4C8C-43F3-AE98-19BDCCCD59EE}" type="pres">
      <dgm:prSet presAssocID="{A75812FB-0831-CF45-AC2F-F0306B933850}" presName="desTx" presStyleLbl="revTx" presStyleIdx="1" presStyleCnt="4">
        <dgm:presLayoutVars/>
      </dgm:prSet>
      <dgm:spPr/>
    </dgm:pt>
    <dgm:pt modelId="{9EA1F2AD-76FA-4A39-87B4-CEB6430DE7AE}" type="pres">
      <dgm:prSet presAssocID="{22BBD007-ABE5-ED43-BE9C-5BEDDA817D2D}" presName="sibTrans" presStyleCnt="0"/>
      <dgm:spPr/>
    </dgm:pt>
    <dgm:pt modelId="{08FD317B-26EF-40C7-9648-433A6A4EBD80}" type="pres">
      <dgm:prSet presAssocID="{F1659936-B9B1-AB4B-83F3-25CB3CE322CF}" presName="compNode" presStyleCnt="0"/>
      <dgm:spPr/>
    </dgm:pt>
    <dgm:pt modelId="{EBE63C2C-4385-4313-A2F0-07D3BC7F2AE7}" type="pres">
      <dgm:prSet presAssocID="{F1659936-B9B1-AB4B-83F3-25CB3CE322CF}"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eciduous tree"/>
        </a:ext>
      </dgm:extLst>
    </dgm:pt>
    <dgm:pt modelId="{F615340B-F3FC-4C38-9B94-50A521CA6978}" type="pres">
      <dgm:prSet presAssocID="{F1659936-B9B1-AB4B-83F3-25CB3CE322CF}" presName="iconSpace" presStyleCnt="0"/>
      <dgm:spPr/>
    </dgm:pt>
    <dgm:pt modelId="{78DA0EFF-3392-410D-A69D-BD5E50E89AF3}" type="pres">
      <dgm:prSet presAssocID="{F1659936-B9B1-AB4B-83F3-25CB3CE322CF}" presName="parTx" presStyleLbl="revTx" presStyleIdx="2" presStyleCnt="4">
        <dgm:presLayoutVars>
          <dgm:chMax val="0"/>
          <dgm:chPref val="0"/>
        </dgm:presLayoutVars>
      </dgm:prSet>
      <dgm:spPr/>
    </dgm:pt>
    <dgm:pt modelId="{01D114AC-04B3-48B4-A16A-44765E95F353}" type="pres">
      <dgm:prSet presAssocID="{F1659936-B9B1-AB4B-83F3-25CB3CE322CF}" presName="txSpace" presStyleCnt="0"/>
      <dgm:spPr/>
    </dgm:pt>
    <dgm:pt modelId="{A5CE285A-FB03-476F-B72D-EB572208BBD8}" type="pres">
      <dgm:prSet presAssocID="{F1659936-B9B1-AB4B-83F3-25CB3CE322CF}" presName="desTx" presStyleLbl="revTx" presStyleIdx="3" presStyleCnt="4">
        <dgm:presLayoutVars/>
      </dgm:prSet>
      <dgm:spPr/>
    </dgm:pt>
  </dgm:ptLst>
  <dgm:cxnLst>
    <dgm:cxn modelId="{4FE4B90A-80D9-B546-98D9-3C9C173814FC}" type="presOf" srcId="{CC70BB2B-4CB8-2E48-85F9-830AD6B8C4BD}" destId="{8A41304C-4C8C-43F3-AE98-19BDCCCD59EE}" srcOrd="0" destOrd="4" presId="urn:microsoft.com/office/officeart/2018/2/layout/IconLabelDescriptionList"/>
    <dgm:cxn modelId="{84AF160D-527D-8545-A500-0203008710B3}" srcId="{A75812FB-0831-CF45-AC2F-F0306B933850}" destId="{A9741D20-F470-C34E-9C05-612E3B1AB21C}" srcOrd="5" destOrd="0" parTransId="{CB7683A8-70B7-E04D-A5F4-06D3C2A25FE3}" sibTransId="{C28D0CCE-13FB-514B-81C7-02D4A1669304}"/>
    <dgm:cxn modelId="{5CC98B0D-6457-3745-8599-C127BDDB696A}" srcId="{A40D9396-8B5B-5944-B7CF-A827F10FEAE4}" destId="{A75812FB-0831-CF45-AC2F-F0306B933850}" srcOrd="0" destOrd="0" parTransId="{A955AD6D-69DC-E64C-A786-7EDC6AAFD7D2}" sibTransId="{22BBD007-ABE5-ED43-BE9C-5BEDDA817D2D}"/>
    <dgm:cxn modelId="{929BD013-B501-2444-BB8E-2169D71BC3C5}" type="presOf" srcId="{A40D9396-8B5B-5944-B7CF-A827F10FEAE4}" destId="{64D42241-E6EA-4803-BBF0-C209D27CC57C}" srcOrd="0" destOrd="0" presId="urn:microsoft.com/office/officeart/2018/2/layout/IconLabelDescriptionList"/>
    <dgm:cxn modelId="{97F7CA14-0579-0A4A-BC96-CCFF7E7CB913}" type="presOf" srcId="{B4694A4B-6644-FF4B-8FC6-A53E80208019}" destId="{8A41304C-4C8C-43F3-AE98-19BDCCCD59EE}" srcOrd="0" destOrd="2" presId="urn:microsoft.com/office/officeart/2018/2/layout/IconLabelDescriptionList"/>
    <dgm:cxn modelId="{04F90322-E2BC-9349-9283-935365BFBED2}" srcId="{A40D9396-8B5B-5944-B7CF-A827F10FEAE4}" destId="{F1659936-B9B1-AB4B-83F3-25CB3CE322CF}" srcOrd="1" destOrd="0" parTransId="{A8200996-CCFF-8E49-96D8-298A8BF5EF9C}" sibTransId="{FF3CD0D6-2E37-7547-A92F-E14136A691E5}"/>
    <dgm:cxn modelId="{3A90FE3B-34F5-0848-A225-A6E6BAD35605}" srcId="{F1659936-B9B1-AB4B-83F3-25CB3CE322CF}" destId="{227F1202-3900-8745-90CB-7A4407DBA723}" srcOrd="0" destOrd="0" parTransId="{EEF881BE-D46A-7140-A6D7-3757451CE997}" sibTransId="{DEB5E526-13DB-C849-8DC5-102A8056FF28}"/>
    <dgm:cxn modelId="{0FE2803D-E97E-9D42-979C-95ECC5768E57}" srcId="{A75812FB-0831-CF45-AC2F-F0306B933850}" destId="{9162A706-0E1F-EF40-9631-799B1D6BDF44}" srcOrd="1" destOrd="0" parTransId="{86B49A31-EAC4-B543-AAA3-90797EEE3017}" sibTransId="{9D2E3113-D472-8741-8462-F08E233CEFA1}"/>
    <dgm:cxn modelId="{99F0FC42-13B7-7B42-A471-38FFCEAD37F4}" type="presOf" srcId="{B3815253-D04C-6941-9AC9-B571E6CDBB66}" destId="{A5CE285A-FB03-476F-B72D-EB572208BBD8}" srcOrd="0" destOrd="2" presId="urn:microsoft.com/office/officeart/2018/2/layout/IconLabelDescriptionList"/>
    <dgm:cxn modelId="{02FCD346-ADB8-0149-812A-D709D162DD52}" srcId="{A75812FB-0831-CF45-AC2F-F0306B933850}" destId="{B4694A4B-6644-FF4B-8FC6-A53E80208019}" srcOrd="2" destOrd="0" parTransId="{8E31CFA4-5460-F94A-BB18-148E95137FDF}" sibTransId="{52527236-3BC9-E441-8DD8-50228B99BC66}"/>
    <dgm:cxn modelId="{24A8364E-2406-C54D-BC62-4B07E4DF9639}" srcId="{F1659936-B9B1-AB4B-83F3-25CB3CE322CF}" destId="{B3815253-D04C-6941-9AC9-B571E6CDBB66}" srcOrd="2" destOrd="0" parTransId="{77AEB376-1A8A-F541-AFEC-22E7C01006F8}" sibTransId="{BCDA004D-EB9F-C945-8FEE-0A36BD4E46D1}"/>
    <dgm:cxn modelId="{0783F860-8C7C-C44C-8EFB-1EEAA6F49035}" type="presOf" srcId="{F1659936-B9B1-AB4B-83F3-25CB3CE322CF}" destId="{78DA0EFF-3392-410D-A69D-BD5E50E89AF3}" srcOrd="0" destOrd="0" presId="urn:microsoft.com/office/officeart/2018/2/layout/IconLabelDescriptionList"/>
    <dgm:cxn modelId="{AF65B566-99B5-434E-965B-B87DC6452240}" type="presOf" srcId="{F83E32B4-49EC-C34F-ACE0-33B6DE9BF8D7}" destId="{8A41304C-4C8C-43F3-AE98-19BDCCCD59EE}" srcOrd="0" destOrd="3" presId="urn:microsoft.com/office/officeart/2018/2/layout/IconLabelDescriptionList"/>
    <dgm:cxn modelId="{0A8B0D68-85F6-7846-BE4F-1650778409A7}" type="presOf" srcId="{8C494CCA-B850-3A4E-9A2B-E0E5734F2778}" destId="{8A41304C-4C8C-43F3-AE98-19BDCCCD59EE}" srcOrd="0" destOrd="6" presId="urn:microsoft.com/office/officeart/2018/2/layout/IconLabelDescriptionList"/>
    <dgm:cxn modelId="{E04B396A-F339-714D-A7C4-C1AF3F710DBC}" type="presOf" srcId="{A75812FB-0831-CF45-AC2F-F0306B933850}" destId="{831A5224-12E1-40D1-88E1-854284300F96}" srcOrd="0" destOrd="0" presId="urn:microsoft.com/office/officeart/2018/2/layout/IconLabelDescriptionList"/>
    <dgm:cxn modelId="{92E66D6B-5107-0140-8DDB-F293EF4F9344}" srcId="{A75812FB-0831-CF45-AC2F-F0306B933850}" destId="{28BCF087-65A5-E141-A604-416CDEB03B74}" srcOrd="0" destOrd="0" parTransId="{D1101D08-3EA2-184E-A9B2-F9272FA7DA52}" sibTransId="{2F07C075-FD34-194F-8BE4-246FB7765A3B}"/>
    <dgm:cxn modelId="{00BF637D-AAEA-1646-A542-7A30FE779975}" type="presOf" srcId="{A9741D20-F470-C34E-9C05-612E3B1AB21C}" destId="{8A41304C-4C8C-43F3-AE98-19BDCCCD59EE}" srcOrd="0" destOrd="5" presId="urn:microsoft.com/office/officeart/2018/2/layout/IconLabelDescriptionList"/>
    <dgm:cxn modelId="{A315DD8A-65DA-914A-8E08-8EA521CEC9C1}" srcId="{A75812FB-0831-CF45-AC2F-F0306B933850}" destId="{CC70BB2B-4CB8-2E48-85F9-830AD6B8C4BD}" srcOrd="4" destOrd="0" parTransId="{BECDEE85-3556-8348-8CCD-DEF8513F5CD5}" sibTransId="{67F0571C-0426-484B-A14C-1D67736E8D79}"/>
    <dgm:cxn modelId="{11B9DB99-DFF8-A344-B526-0690D1CD3078}" type="presOf" srcId="{9162A706-0E1F-EF40-9631-799B1D6BDF44}" destId="{8A41304C-4C8C-43F3-AE98-19BDCCCD59EE}" srcOrd="0" destOrd="1" presId="urn:microsoft.com/office/officeart/2018/2/layout/IconLabelDescriptionList"/>
    <dgm:cxn modelId="{A0331CC9-5A4A-3542-BA20-ED7DCB79B0A6}" srcId="{A75812FB-0831-CF45-AC2F-F0306B933850}" destId="{F83E32B4-49EC-C34F-ACE0-33B6DE9BF8D7}" srcOrd="3" destOrd="0" parTransId="{6CE91E56-E584-2F4A-8E8E-65C3EF33502F}" sibTransId="{A043CADD-0DD1-A148-9061-049008C59FF9}"/>
    <dgm:cxn modelId="{8D8DA6DA-8CE2-1241-8510-43C267ABFA70}" type="presOf" srcId="{28BCF087-65A5-E141-A604-416CDEB03B74}" destId="{8A41304C-4C8C-43F3-AE98-19BDCCCD59EE}" srcOrd="0" destOrd="0" presId="urn:microsoft.com/office/officeart/2018/2/layout/IconLabelDescriptionList"/>
    <dgm:cxn modelId="{ACF0EEDC-1C9B-B245-8C1D-02970B97FA0C}" type="presOf" srcId="{AC076227-F5DA-AE43-A476-2F2DA07F8A3F}" destId="{A5CE285A-FB03-476F-B72D-EB572208BBD8}" srcOrd="0" destOrd="1" presId="urn:microsoft.com/office/officeart/2018/2/layout/IconLabelDescriptionList"/>
    <dgm:cxn modelId="{8D3F22DE-9B36-CF4F-9B30-0B2A41171FD0}" type="presOf" srcId="{227F1202-3900-8745-90CB-7A4407DBA723}" destId="{A5CE285A-FB03-476F-B72D-EB572208BBD8}" srcOrd="0" destOrd="0" presId="urn:microsoft.com/office/officeart/2018/2/layout/IconLabelDescriptionList"/>
    <dgm:cxn modelId="{FCD89EF9-78B9-2A42-92DD-6EA4050CA277}" srcId="{A75812FB-0831-CF45-AC2F-F0306B933850}" destId="{8C494CCA-B850-3A4E-9A2B-E0E5734F2778}" srcOrd="6" destOrd="0" parTransId="{02BDBC8B-D6DA-0F40-95FB-F2235F090707}" sibTransId="{73D42CCA-B794-FE43-8EB2-4F1E841D05E0}"/>
    <dgm:cxn modelId="{79DF8DFB-15B9-354D-97A8-DA58A1433907}" srcId="{F1659936-B9B1-AB4B-83F3-25CB3CE322CF}" destId="{AC076227-F5DA-AE43-A476-2F2DA07F8A3F}" srcOrd="1" destOrd="0" parTransId="{800B3BAC-7046-AD4C-9030-75A4CD5C385B}" sibTransId="{8F2B288F-F2A7-C645-B0B9-7D60CE0716CE}"/>
    <dgm:cxn modelId="{54E81494-98C1-FC4D-AB00-247D4B3E7AF3}" type="presParOf" srcId="{64D42241-E6EA-4803-BBF0-C209D27CC57C}" destId="{7DEF9ACC-3EA7-4E83-BCFD-E98B6818E606}" srcOrd="0" destOrd="0" presId="urn:microsoft.com/office/officeart/2018/2/layout/IconLabelDescriptionList"/>
    <dgm:cxn modelId="{0F48DBFB-DF0C-4C42-84FE-7C818F44F969}" type="presParOf" srcId="{7DEF9ACC-3EA7-4E83-BCFD-E98B6818E606}" destId="{1E64CC45-F8F6-47B3-AC33-9E2260F0AF17}" srcOrd="0" destOrd="0" presId="urn:microsoft.com/office/officeart/2018/2/layout/IconLabelDescriptionList"/>
    <dgm:cxn modelId="{3D575F29-AC37-0044-B625-20BBADEF5D6B}" type="presParOf" srcId="{7DEF9ACC-3EA7-4E83-BCFD-E98B6818E606}" destId="{D429E549-20D2-4FE1-9974-5E0E1ACADB93}" srcOrd="1" destOrd="0" presId="urn:microsoft.com/office/officeart/2018/2/layout/IconLabelDescriptionList"/>
    <dgm:cxn modelId="{5F77731E-0EF0-8147-B497-EA5FB6CD7B98}" type="presParOf" srcId="{7DEF9ACC-3EA7-4E83-BCFD-E98B6818E606}" destId="{831A5224-12E1-40D1-88E1-854284300F96}" srcOrd="2" destOrd="0" presId="urn:microsoft.com/office/officeart/2018/2/layout/IconLabelDescriptionList"/>
    <dgm:cxn modelId="{BEA758B9-9848-C14A-878A-18B349C78430}" type="presParOf" srcId="{7DEF9ACC-3EA7-4E83-BCFD-E98B6818E606}" destId="{373754C9-CD57-48BC-8E87-B22632C7E89B}" srcOrd="3" destOrd="0" presId="urn:microsoft.com/office/officeart/2018/2/layout/IconLabelDescriptionList"/>
    <dgm:cxn modelId="{65113CE7-AB4A-9946-BF7E-75AC86640E99}" type="presParOf" srcId="{7DEF9ACC-3EA7-4E83-BCFD-E98B6818E606}" destId="{8A41304C-4C8C-43F3-AE98-19BDCCCD59EE}" srcOrd="4" destOrd="0" presId="urn:microsoft.com/office/officeart/2018/2/layout/IconLabelDescriptionList"/>
    <dgm:cxn modelId="{D28E7D85-6915-6D41-A875-EBED4D6F533A}" type="presParOf" srcId="{64D42241-E6EA-4803-BBF0-C209D27CC57C}" destId="{9EA1F2AD-76FA-4A39-87B4-CEB6430DE7AE}" srcOrd="1" destOrd="0" presId="urn:microsoft.com/office/officeart/2018/2/layout/IconLabelDescriptionList"/>
    <dgm:cxn modelId="{50044F04-B460-4748-B578-5713CFD689DD}" type="presParOf" srcId="{64D42241-E6EA-4803-BBF0-C209D27CC57C}" destId="{08FD317B-26EF-40C7-9648-433A6A4EBD80}" srcOrd="2" destOrd="0" presId="urn:microsoft.com/office/officeart/2018/2/layout/IconLabelDescriptionList"/>
    <dgm:cxn modelId="{42E2AF7C-6906-F248-87A1-8EFC35671D7D}" type="presParOf" srcId="{08FD317B-26EF-40C7-9648-433A6A4EBD80}" destId="{EBE63C2C-4385-4313-A2F0-07D3BC7F2AE7}" srcOrd="0" destOrd="0" presId="urn:microsoft.com/office/officeart/2018/2/layout/IconLabelDescriptionList"/>
    <dgm:cxn modelId="{6E74D597-560F-5644-9D85-47E703368E50}" type="presParOf" srcId="{08FD317B-26EF-40C7-9648-433A6A4EBD80}" destId="{F615340B-F3FC-4C38-9B94-50A521CA6978}" srcOrd="1" destOrd="0" presId="urn:microsoft.com/office/officeart/2018/2/layout/IconLabelDescriptionList"/>
    <dgm:cxn modelId="{4D210946-2068-354D-A544-9DF5417171A0}" type="presParOf" srcId="{08FD317B-26EF-40C7-9648-433A6A4EBD80}" destId="{78DA0EFF-3392-410D-A69D-BD5E50E89AF3}" srcOrd="2" destOrd="0" presId="urn:microsoft.com/office/officeart/2018/2/layout/IconLabelDescriptionList"/>
    <dgm:cxn modelId="{B9A743F6-B592-6343-8FE8-455FC78A9150}" type="presParOf" srcId="{08FD317B-26EF-40C7-9648-433A6A4EBD80}" destId="{01D114AC-04B3-48B4-A16A-44765E95F353}" srcOrd="3" destOrd="0" presId="urn:microsoft.com/office/officeart/2018/2/layout/IconLabelDescriptionList"/>
    <dgm:cxn modelId="{9B62F20B-473D-6846-A90D-F3C2856E2346}" type="presParOf" srcId="{08FD317B-26EF-40C7-9648-433A6A4EBD80}" destId="{A5CE285A-FB03-476F-B72D-EB572208BBD8}"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64CC45-F8F6-47B3-AC33-9E2260F0AF17}">
      <dsp:nvSpPr>
        <dsp:cNvPr id="0" name=""/>
        <dsp:cNvSpPr/>
      </dsp:nvSpPr>
      <dsp:spPr>
        <a:xfrm>
          <a:off x="6252" y="0"/>
          <a:ext cx="1138793" cy="10325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31A5224-12E1-40D1-88E1-854284300F96}">
      <dsp:nvSpPr>
        <dsp:cNvPr id="0" name=""/>
        <dsp:cNvSpPr/>
      </dsp:nvSpPr>
      <dsp:spPr>
        <a:xfrm>
          <a:off x="6252" y="1195885"/>
          <a:ext cx="3253694" cy="442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GB" sz="3000" kern="1200"/>
            <a:t>Classification</a:t>
          </a:r>
        </a:p>
      </dsp:txBody>
      <dsp:txXfrm>
        <a:off x="6252" y="1195885"/>
        <a:ext cx="3253694" cy="442535"/>
      </dsp:txXfrm>
    </dsp:sp>
    <dsp:sp modelId="{8A41304C-4C8C-43F3-AE98-19BDCCCD59EE}">
      <dsp:nvSpPr>
        <dsp:cNvPr id="0" name=""/>
        <dsp:cNvSpPr/>
      </dsp:nvSpPr>
      <dsp:spPr>
        <a:xfrm>
          <a:off x="6252" y="1714375"/>
          <a:ext cx="3253694" cy="24739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889000">
            <a:lnSpc>
              <a:spcPct val="100000"/>
            </a:lnSpc>
            <a:spcBef>
              <a:spcPct val="0"/>
            </a:spcBef>
            <a:spcAft>
              <a:spcPct val="35000"/>
            </a:spcAft>
            <a:buNone/>
          </a:pPr>
          <a:r>
            <a:rPr lang="en-GB" sz="2000" kern="1200" dirty="0"/>
            <a:t>Support vector machines</a:t>
          </a:r>
        </a:p>
        <a:p>
          <a:pPr marL="0" lvl="0" indent="0" algn="l" defTabSz="889000">
            <a:lnSpc>
              <a:spcPct val="100000"/>
            </a:lnSpc>
            <a:spcBef>
              <a:spcPct val="0"/>
            </a:spcBef>
            <a:spcAft>
              <a:spcPct val="35000"/>
            </a:spcAft>
            <a:buNone/>
          </a:pPr>
          <a:r>
            <a:rPr lang="en-GB" sz="2000" kern="1200" dirty="0"/>
            <a:t>Decision Trees</a:t>
          </a:r>
        </a:p>
        <a:p>
          <a:pPr marL="0" lvl="0" indent="0" algn="l" defTabSz="889000">
            <a:lnSpc>
              <a:spcPct val="100000"/>
            </a:lnSpc>
            <a:spcBef>
              <a:spcPct val="0"/>
            </a:spcBef>
            <a:spcAft>
              <a:spcPct val="35000"/>
            </a:spcAft>
            <a:buNone/>
          </a:pPr>
          <a:r>
            <a:rPr lang="en-GB" sz="2000" kern="1200" dirty="0"/>
            <a:t>K-Nearest Neighbour</a:t>
          </a:r>
        </a:p>
        <a:p>
          <a:pPr marL="0" lvl="0" indent="0" algn="l" defTabSz="889000">
            <a:lnSpc>
              <a:spcPct val="100000"/>
            </a:lnSpc>
            <a:spcBef>
              <a:spcPct val="0"/>
            </a:spcBef>
            <a:spcAft>
              <a:spcPct val="35000"/>
            </a:spcAft>
            <a:buNone/>
          </a:pPr>
          <a:r>
            <a:rPr lang="en-GB" sz="2000" kern="1200"/>
            <a:t>Random Forest</a:t>
          </a:r>
        </a:p>
        <a:p>
          <a:pPr marL="0" lvl="0" indent="0" algn="l" defTabSz="889000">
            <a:lnSpc>
              <a:spcPct val="100000"/>
            </a:lnSpc>
            <a:spcBef>
              <a:spcPct val="0"/>
            </a:spcBef>
            <a:spcAft>
              <a:spcPct val="35000"/>
            </a:spcAft>
            <a:buNone/>
          </a:pPr>
          <a:r>
            <a:rPr lang="en-GB" sz="2000" kern="1200" dirty="0"/>
            <a:t>Logistic regression</a:t>
          </a:r>
        </a:p>
        <a:p>
          <a:pPr marL="0" lvl="0" indent="0" algn="l" defTabSz="889000">
            <a:lnSpc>
              <a:spcPct val="100000"/>
            </a:lnSpc>
            <a:spcBef>
              <a:spcPct val="0"/>
            </a:spcBef>
            <a:spcAft>
              <a:spcPct val="35000"/>
            </a:spcAft>
            <a:buNone/>
          </a:pPr>
          <a:r>
            <a:rPr lang="en-GB" sz="2000" kern="1200"/>
            <a:t>Naïve Bayes classifier</a:t>
          </a:r>
        </a:p>
        <a:p>
          <a:pPr marL="0" lvl="0" indent="0" algn="l" defTabSz="889000">
            <a:lnSpc>
              <a:spcPct val="100000"/>
            </a:lnSpc>
            <a:spcBef>
              <a:spcPct val="0"/>
            </a:spcBef>
            <a:spcAft>
              <a:spcPct val="35000"/>
            </a:spcAft>
            <a:buNone/>
          </a:pPr>
          <a:r>
            <a:rPr lang="en-GB" sz="2000" kern="1200" dirty="0"/>
            <a:t>…</a:t>
          </a:r>
        </a:p>
      </dsp:txBody>
      <dsp:txXfrm>
        <a:off x="6252" y="1714375"/>
        <a:ext cx="3253694" cy="2473972"/>
      </dsp:txXfrm>
    </dsp:sp>
    <dsp:sp modelId="{EBE63C2C-4385-4313-A2F0-07D3BC7F2AE7}">
      <dsp:nvSpPr>
        <dsp:cNvPr id="0" name=""/>
        <dsp:cNvSpPr/>
      </dsp:nvSpPr>
      <dsp:spPr>
        <a:xfrm>
          <a:off x="3829343" y="0"/>
          <a:ext cx="1138793" cy="1032583"/>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8DA0EFF-3392-410D-A69D-BD5E50E89AF3}">
      <dsp:nvSpPr>
        <dsp:cNvPr id="0" name=""/>
        <dsp:cNvSpPr/>
      </dsp:nvSpPr>
      <dsp:spPr>
        <a:xfrm>
          <a:off x="3829343" y="1195885"/>
          <a:ext cx="3253694" cy="4425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defRPr b="1"/>
          </a:pPr>
          <a:r>
            <a:rPr lang="en-GB" sz="3000" kern="1200"/>
            <a:t>Regression</a:t>
          </a:r>
        </a:p>
      </dsp:txBody>
      <dsp:txXfrm>
        <a:off x="3829343" y="1195885"/>
        <a:ext cx="3253694" cy="442535"/>
      </dsp:txXfrm>
    </dsp:sp>
    <dsp:sp modelId="{A5CE285A-FB03-476F-B72D-EB572208BBD8}">
      <dsp:nvSpPr>
        <dsp:cNvPr id="0" name=""/>
        <dsp:cNvSpPr/>
      </dsp:nvSpPr>
      <dsp:spPr>
        <a:xfrm>
          <a:off x="3829343" y="1714375"/>
          <a:ext cx="3253694" cy="247397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1333500">
            <a:lnSpc>
              <a:spcPct val="100000"/>
            </a:lnSpc>
            <a:spcBef>
              <a:spcPct val="0"/>
            </a:spcBef>
            <a:spcAft>
              <a:spcPct val="35000"/>
            </a:spcAft>
            <a:buNone/>
          </a:pPr>
          <a:r>
            <a:rPr lang="en-GB" sz="3000" kern="1200"/>
            <a:t>Linear Regression</a:t>
          </a:r>
        </a:p>
        <a:p>
          <a:pPr marL="0" lvl="0" indent="0" algn="l" defTabSz="1333500">
            <a:lnSpc>
              <a:spcPct val="100000"/>
            </a:lnSpc>
            <a:spcBef>
              <a:spcPct val="0"/>
            </a:spcBef>
            <a:spcAft>
              <a:spcPct val="35000"/>
            </a:spcAft>
            <a:buNone/>
          </a:pPr>
          <a:r>
            <a:rPr lang="en-GB" sz="3000" kern="1200" dirty="0"/>
            <a:t>Polynomial Regression</a:t>
          </a:r>
        </a:p>
        <a:p>
          <a:pPr marL="0" lvl="0" indent="0" algn="l" defTabSz="1333500">
            <a:lnSpc>
              <a:spcPct val="100000"/>
            </a:lnSpc>
            <a:spcBef>
              <a:spcPct val="0"/>
            </a:spcBef>
            <a:spcAft>
              <a:spcPct val="35000"/>
            </a:spcAft>
            <a:buNone/>
          </a:pPr>
          <a:r>
            <a:rPr lang="en-GB" sz="3000" kern="1200"/>
            <a:t>…</a:t>
          </a:r>
        </a:p>
      </dsp:txBody>
      <dsp:txXfrm>
        <a:off x="3829343" y="1714375"/>
        <a:ext cx="3253694" cy="2473972"/>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2">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90 minutes in total. The worked regression example is intentionally simple. The later clustering lecture covers evaluation and hierarchical methods.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ea typeface="+mn-ea"/>
              <a:cs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Supervised learning splits in two, according to what kind of answer you want.</a:t>
            </a:r>
          </a:p>
          <a:p>
            <a:endParaRPr dirty="0"/>
          </a:p>
          <a:p>
            <a:r>
              <a:rPr dirty="0"/>
              <a:t>Classification predicts a category — spam or not spam, survived or died. Regression predicts a number — a price, a salary, a delay in minutes.</a:t>
            </a:r>
          </a:p>
          <a:p>
            <a:endParaRPr dirty="0"/>
          </a:p>
          <a:p>
            <a:r>
              <a:rPr dirty="0"/>
              <a:t>Regression was Week 37's lecture. Everything in this one is classification.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Start with an explicit definition. Regression is a supervised task with known numeric target values. Logistic regression, which students met in ML II, is usually a classifier; the name does not determine the task.</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main difference between Regression and Classification algorithms that Regression algorithms are used to </a:t>
            </a:r>
            <a:r>
              <a:rPr lang="en-GB" b="1" dirty="0"/>
              <a:t>predict the continuous</a:t>
            </a:r>
            <a:r>
              <a:rPr lang="en-GB" dirty="0"/>
              <a:t> values such as price, salary, age, etc. and Classification algorithms are used to </a:t>
            </a:r>
            <a:r>
              <a:rPr lang="en-GB" b="1" dirty="0"/>
              <a:t>predict/Classify the discrete values</a:t>
            </a:r>
            <a:r>
              <a:rPr lang="en-GB" dirty="0"/>
              <a:t> such as Male or Female, True or False, Spam or Not Spam, etc.</a:t>
            </a:r>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1251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the upcoming travel-time data to explain these steps. Features are input measurements, target is the known value. Fitting reduces a training loss; use separate data to assess </a:t>
            </a:r>
            <a:r>
              <a:rPr dirty="0" err="1"/>
              <a:t>generalisation</a:t>
            </a:r>
            <a:r>
              <a:rPr dirty="0"/>
              <a:t> in the next evaluation lecture.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811475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164733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Linear regression is a predictive statistical approach for modelling </a:t>
            </a:r>
            <a:r>
              <a:rPr lang="en-GB" b="1" dirty="0"/>
              <a:t>relationship between a dependent variable with a given set of independent variables</a:t>
            </a:r>
            <a:r>
              <a:rPr lang="en-GB" dirty="0"/>
              <a:t>.</a:t>
            </a:r>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86840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in order to predict Y (salary) given X (age), we need to know the values of a and b (the model’s coefficients).</a:t>
            </a:r>
          </a:p>
          <a:p>
            <a:endParaRPr lang="en-GB" dirty="0"/>
          </a:p>
          <a:p>
            <a:r>
              <a:rPr lang="en-GB" i="1" dirty="0"/>
              <a:t>While training and building a regression model, it is these coefficients which are learned and fitted to training data. The aim of the training is to find the best fit line such that cost function is minimized. The cost function helps in measuring the error. During the training process, we try to minimize the error between actual and predicted values and thus minimizing the cost function.</a:t>
            </a:r>
            <a:endParaRPr lang="en-GB" dirty="0"/>
          </a:p>
          <a:p>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86516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This is a deliberately simple, illustrative dataset. Ask students to spot the +3 minute step. Distance is the input feature and time is the target. All four rows follow the same rule; a real dataset would have variation.</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Do not introduce b0, b1 or y-hat until students can explain the plain-language rule. The 2-minute intercept is simply the fitted starting value for this toy example, not a realistic zero-distance trip.</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four dots form a straight line. First point at distance 1 and time 5. Each </a:t>
            </a:r>
            <a:r>
              <a:rPr dirty="0" err="1"/>
              <a:t>kilometre</a:t>
            </a:r>
            <a:r>
              <a:rPr dirty="0"/>
              <a:t> adds three minutes. Only after the visual introduce the rule time = 2 + 3×distance. Real observations often sit above or below a fitted line.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If 4 km takes 14 minutes, how many for 5 km according to the rule? Answer 2+3×5=17 minutes. This is just beyond the example distances, so it is an estimate.</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Use another trip at 4 km which takes 15 minutes even though the simple rule predicts 14. The difference is +1 minute. </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rule is illustrative and can be learned from example invoices. A fixed membership costs 200 NOK and each class adds 50 NOK. Ask: with 3 classes, 200 + 3×50 = 350 NOK. This shows regression predicts a number in a different setting.</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ordinary least squares squares errors to </a:t>
            </a:r>
            <a:r>
              <a:rPr dirty="0" err="1"/>
              <a:t>penalise</a:t>
            </a:r>
            <a:r>
              <a:rPr dirty="0"/>
              <a:t> larger mistakes; avoid derivations. </a:t>
            </a:r>
            <a:r>
              <a:rPr dirty="0" err="1"/>
              <a:t>Emphasise</a:t>
            </a:r>
            <a:r>
              <a:rPr dirty="0"/>
              <a:t> the fitted line is chosen from data, not hand-coded in typical machine learning.</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Optional slide for practical work. X contains feature values as 2D rows; y contains target times. The model learns a slope and intercept; </a:t>
            </a:r>
            <a:r>
              <a:rPr dirty="0" err="1"/>
              <a:t>model.predict</a:t>
            </a:r>
            <a:r>
              <a:rPr dirty="0"/>
              <a:t>([[5]]) returns approximately 17.0.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Give pairs about 2 minutes. 1: 2+3×2=8. 2: predicted 11 at 3 km, observed 12, difference +1. 3: 20 km is far beyond observed 1–4 km and the relation may change.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sphweb.bumc.bu.edu</a:t>
            </a:r>
            <a:r>
              <a:rPr lang="en-US" dirty="0"/>
              <a:t>/</a:t>
            </a:r>
            <a:r>
              <a:rPr lang="en-US" dirty="0" err="1"/>
              <a:t>otlt</a:t>
            </a:r>
            <a:r>
              <a:rPr lang="en-US" dirty="0"/>
              <a:t>/MPH-Modules/BS/BS704-EP713_MultivariableMethods/</a:t>
            </a:r>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31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9509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Illustrative numbers: time periods 1–5 with demand 4,10,12,10,4. The quadratic relation y = 12 - 2(x - 3)^2 fits those toy values. Explain that a polynomial model uses x and x² as features and learns coefficients from examples. A higher degree increases flexibility and may overfit.</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earlier chart illustrates a curve. A polynomial model can include time² as an additional feature. This allows the predicted value to bend. For the toy chart, the exact equation 12 - 2(time - 3)^2 gives 10 at time 2 and 12 at time 3; keep the equation in notes unless students request it. This lesson is conceptual, not an exercise in powers.</a:t>
            </a:r>
          </a:p>
        </p:txBody>
      </p:sp>
      <p:sp>
        <p:nvSpPr>
          <p:cNvPr id="4" name="Slide Number Placeholder 3"/>
          <p:cNvSpPr>
            <a:spLocks noGrp="1"/>
          </p:cNvSpPr>
          <p:nvPr>
            <p:ph type="sldNum" idx="5"/>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000000"/>
              </a:solidFill>
              <a:effectLst/>
              <a:uLnTx/>
              <a:uFillTx/>
              <a:latin typeface="Calibri"/>
              <a:cs typeface="Calibri"/>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https://</a:t>
            </a:r>
            <a:r>
              <a:rPr lang="en-GB" dirty="0" err="1"/>
              <a:t>towardsdatascience.com</a:t>
            </a:r>
            <a:r>
              <a:rPr lang="en-GB" dirty="0"/>
              <a:t>/introduction-to-linear-regression-and-polynomial-regression-f8adc96f31cb</a:t>
            </a:r>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00766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300643" rtl="0" eaLnBrk="1" fontAlgn="auto" latinLnBrk="0" hangingPunct="1">
              <a:lnSpc>
                <a:spcPct val="100000"/>
              </a:lnSpc>
              <a:spcBef>
                <a:spcPts val="0"/>
              </a:spcBef>
              <a:spcAft>
                <a:spcPts val="0"/>
              </a:spcAft>
              <a:buClrTx/>
              <a:buSzTx/>
              <a:buFontTx/>
              <a:buNone/>
              <a:tabLst/>
              <a:defRPr/>
            </a:pPr>
            <a:r>
              <a:rPr lang="en-GB" dirty="0"/>
              <a:t>Image ref: </a:t>
            </a:r>
            <a:r>
              <a:rPr lang="en-NO" sz="1800" dirty="0"/>
              <a:t>https://www.verzeo.in/blog-what-is-machine-learning</a:t>
            </a:r>
          </a:p>
          <a:p>
            <a:endParaRPr lang="en-NO" sz="1800" dirty="0"/>
          </a:p>
          <a:p>
            <a:r>
              <a:rPr lang="en-GB" sz="1800" dirty="0"/>
              <a:t>An </a:t>
            </a:r>
            <a:r>
              <a:rPr lang="en-GB" sz="1800" b="1" dirty="0"/>
              <a:t>unsupervised</a:t>
            </a:r>
            <a:r>
              <a:rPr lang="en-GB" sz="1800" dirty="0"/>
              <a:t> model, provides </a:t>
            </a:r>
            <a:r>
              <a:rPr lang="en-GB" sz="1800" dirty="0" err="1"/>
              <a:t>unlabeled</a:t>
            </a:r>
            <a:r>
              <a:rPr lang="en-GB" sz="1800" dirty="0"/>
              <a:t> data that the algorithm tries to make sense of by extracting features and patterns on its own</a:t>
            </a:r>
            <a:endParaRPr lang="en-NO" sz="1800" dirty="0"/>
          </a:p>
          <a:p>
            <a:pPr marL="0" marR="0" lvl="0" indent="0" algn="l" defTabSz="1300643" rtl="0" eaLnBrk="1" fontAlgn="auto" latinLnBrk="0" hangingPunct="1">
              <a:lnSpc>
                <a:spcPct val="100000"/>
              </a:lnSpc>
              <a:spcBef>
                <a:spcPts val="0"/>
              </a:spcBef>
              <a:spcAft>
                <a:spcPts val="0"/>
              </a:spcAft>
              <a:buClrTx/>
              <a:buSzTx/>
              <a:buFontTx/>
              <a:buNone/>
              <a:tabLst/>
              <a:defRPr/>
            </a:pPr>
            <a:endParaRPr lang="en-NO" sz="1800" dirty="0"/>
          </a:p>
          <a:p>
            <a:pPr marL="342900" marR="0" lvl="0" indent="-342900" algn="l" defTabSz="1300643" rtl="0" eaLnBrk="1" fontAlgn="auto" latinLnBrk="0" hangingPunct="1">
              <a:lnSpc>
                <a:spcPct val="100000"/>
              </a:lnSpc>
              <a:spcBef>
                <a:spcPts val="0"/>
              </a:spcBef>
              <a:spcAft>
                <a:spcPts val="0"/>
              </a:spcAft>
              <a:buClrTx/>
              <a:buSzTx/>
              <a:buFontTx/>
              <a:buAutoNum type="arabicPeriod"/>
              <a:tabLst/>
              <a:defRPr/>
            </a:pPr>
            <a:r>
              <a:rPr lang="en-GB" sz="1800" dirty="0"/>
              <a:t>The training data is unknown or unlabelled.</a:t>
            </a:r>
          </a:p>
          <a:p>
            <a:pPr marL="342900" marR="0" lvl="0" indent="-342900" algn="l" defTabSz="1300643" rtl="0" eaLnBrk="1" fontAlgn="auto" latinLnBrk="0" hangingPunct="1">
              <a:lnSpc>
                <a:spcPct val="100000"/>
              </a:lnSpc>
              <a:spcBef>
                <a:spcPts val="0"/>
              </a:spcBef>
              <a:spcAft>
                <a:spcPts val="0"/>
              </a:spcAft>
              <a:buClrTx/>
              <a:buSzTx/>
              <a:buFontTx/>
              <a:buAutoNum type="arabicPeriod"/>
              <a:tabLst/>
              <a:defRPr/>
            </a:pPr>
            <a:r>
              <a:rPr lang="en-GB" sz="1800" dirty="0"/>
              <a:t>The model tries to find patterns and relationships in the dataset by creating clusters in it</a:t>
            </a:r>
          </a:p>
          <a:p>
            <a:pPr marL="342900" marR="0" lvl="0" indent="-342900" algn="l" defTabSz="1300643" rtl="0" eaLnBrk="1" fontAlgn="auto" latinLnBrk="0" hangingPunct="1">
              <a:lnSpc>
                <a:spcPct val="100000"/>
              </a:lnSpc>
              <a:spcBef>
                <a:spcPts val="0"/>
              </a:spcBef>
              <a:spcAft>
                <a:spcPts val="0"/>
              </a:spcAft>
              <a:buClrTx/>
              <a:buSzTx/>
              <a:buFontTx/>
              <a:buAutoNum type="arabicPeriod"/>
              <a:tabLst/>
              <a:defRPr/>
            </a:pPr>
            <a:r>
              <a:rPr lang="en-GB" sz="1800" dirty="0"/>
              <a:t>Model cannot add labels to the data</a:t>
            </a:r>
            <a:endParaRPr lang="en-NO" sz="1800"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355348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Ask: do groups discovered in </a:t>
            </a:r>
            <a:r>
              <a:rPr dirty="0" err="1"/>
              <a:t>unlabelled</a:t>
            </a:r>
            <a:r>
              <a:rPr dirty="0"/>
              <a:t> data necessarily match our intended business categories? No. Clusters need interpretation.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0" dirty="0">
                <a:effectLst/>
              </a:rPr>
              <a:t>Rather than defining groups before looking at the data, clustering allows you to find and </a:t>
            </a:r>
            <a:r>
              <a:rPr lang="en-GB" b="0" dirty="0" err="1">
                <a:effectLst/>
              </a:rPr>
              <a:t>analyze</a:t>
            </a:r>
            <a:r>
              <a:rPr lang="en-GB" b="0" dirty="0">
                <a:effectLst/>
              </a:rPr>
              <a:t> the groups that have formed organically. </a:t>
            </a:r>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39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244573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Show that a person can notice two compact areas before naming either group.</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You’ll define a target number </a:t>
            </a:r>
            <a:r>
              <a:rPr lang="en-GB" i="1" dirty="0"/>
              <a:t>k</a:t>
            </a:r>
            <a:r>
              <a:rPr lang="en-GB" dirty="0"/>
              <a:t>, which refers to the number of centroids you need in the dataset. A centroid is the imaginary or real location representing the </a:t>
            </a:r>
            <a:r>
              <a:rPr lang="en-GB" dirty="0" err="1"/>
              <a:t>center</a:t>
            </a:r>
            <a:r>
              <a:rPr lang="en-GB" dirty="0"/>
              <a:t> of the cluster.</a:t>
            </a:r>
          </a:p>
          <a:p>
            <a:endParaRPr lang="en-GB" dirty="0"/>
          </a:p>
          <a:p>
            <a:r>
              <a:rPr lang="en-GB" dirty="0"/>
              <a:t>In other words, the K-means algorithm identifies </a:t>
            </a:r>
            <a:r>
              <a:rPr lang="en-GB" i="1" dirty="0"/>
              <a:t>k</a:t>
            </a:r>
            <a:r>
              <a:rPr lang="en-GB" dirty="0"/>
              <a:t> number of centroids, and then allocates every data point to the nearest cluster, while keeping the centroids as small as possible.</a:t>
            </a:r>
          </a:p>
          <a:p>
            <a:endParaRPr lang="en-GB" dirty="0"/>
          </a:p>
          <a:p>
            <a:r>
              <a:rPr lang="en-GB" dirty="0"/>
              <a:t>The </a:t>
            </a:r>
            <a:r>
              <a:rPr lang="en-GB" i="1" dirty="0"/>
              <a:t>‘means’</a:t>
            </a:r>
            <a:r>
              <a:rPr lang="en-GB" dirty="0"/>
              <a:t> in the K-means refers to averaging of the data; that is, finding the centroid.</a:t>
            </a:r>
          </a:p>
          <a:p>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89244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These assignments are illustrative and correspond to natural compact groups. Left centroid mean x=(1+2+2.4)/3=1.8, mean y=(2+2.2+3)/3=2.4. Right centroid mean x=(7+8+8.5)/3≈7.83, mean y=(7+7.5+8.2)/3≈7.57.</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Explain the steps verbally, then return to the same six observations. K must be chosen in advance. A centroid is a mean location, not necessarily an actual data point.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Illustrative group descriptions based on distance and departure time, not learned group identities. </a:t>
            </a:r>
            <a:r>
              <a:rPr lang="nb-NO" dirty="0" err="1"/>
              <a:t>You</a:t>
            </a:r>
            <a:r>
              <a:rPr dirty="0"/>
              <a:t> should notice that choosing features decides what similarity means. A practical notebook can demonstrate the actual fit.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Mean shift clustering is a sliding-window-based algorithm that attempts to find dense areas of data points. </a:t>
            </a:r>
          </a:p>
          <a:p>
            <a:r>
              <a:rPr lang="en-GB" dirty="0"/>
              <a:t>It is a centroid-based algorithm meaning that the goal is to locate the </a:t>
            </a:r>
            <a:r>
              <a:rPr lang="en-GB" dirty="0" err="1"/>
              <a:t>center</a:t>
            </a:r>
            <a:r>
              <a:rPr lang="en-GB" dirty="0"/>
              <a:t> points of each group/class, which works by updating candidates for </a:t>
            </a:r>
            <a:r>
              <a:rPr lang="en-GB" dirty="0" err="1"/>
              <a:t>center</a:t>
            </a:r>
            <a:r>
              <a:rPr lang="en-GB" dirty="0"/>
              <a:t> points to be the mean of the points within the sliding-window.</a:t>
            </a:r>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5114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5515E9-1B74-D5E7-2446-52F0024359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72439E-9A40-ED8A-748C-22238F7CF9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8A9536-FD41-723C-442C-41555D5CE731}"/>
              </a:ext>
            </a:extLst>
          </p:cNvPr>
          <p:cNvSpPr>
            <a:spLocks noGrp="1"/>
          </p:cNvSpPr>
          <p:nvPr>
            <p:ph type="body" idx="1"/>
          </p:nvPr>
        </p:nvSpPr>
        <p:spPr/>
        <p:txBody>
          <a:bodyPr/>
          <a:lstStyle/>
          <a:p>
            <a:r>
              <a:rPr lang="en-GB" dirty="0"/>
              <a:t>Mean shift clustering is a sliding-window-based algorithm that attempts to find dense areas of data points. </a:t>
            </a:r>
          </a:p>
          <a:p>
            <a:r>
              <a:rPr lang="en-GB" dirty="0"/>
              <a:t>It is a centroid-based algorithm meaning that the goal is to locate the </a:t>
            </a:r>
            <a:r>
              <a:rPr lang="en-GB" dirty="0" err="1"/>
              <a:t>center</a:t>
            </a:r>
            <a:r>
              <a:rPr lang="en-GB" dirty="0"/>
              <a:t> points of each group/class, which works by updating candidates for </a:t>
            </a:r>
            <a:r>
              <a:rPr lang="en-GB" dirty="0" err="1"/>
              <a:t>center</a:t>
            </a:r>
            <a:r>
              <a:rPr lang="en-GB" dirty="0"/>
              <a:t> points to be the mean of the points within the sliding-window.</a:t>
            </a:r>
            <a:endParaRPr lang="en-NO" dirty="0"/>
          </a:p>
        </p:txBody>
      </p:sp>
      <p:sp>
        <p:nvSpPr>
          <p:cNvPr id="4" name="Slide Number Placeholder 3">
            <a:extLst>
              <a:ext uri="{FF2B5EF4-FFF2-40B4-BE49-F238E27FC236}">
                <a16:creationId xmlns:a16="http://schemas.microsoft.com/office/drawing/2014/main" id="{C1E6BA7C-A9CE-8375-A499-02351B183878}"/>
              </a:ext>
            </a:extLst>
          </p:cNvPr>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3563096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1C1FF-527B-C8CC-037C-09508637B1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447250-2E20-1809-0FD0-FB7280147A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4CF687-7E49-CD5D-4267-D54682C5BFED}"/>
              </a:ext>
            </a:extLst>
          </p:cNvPr>
          <p:cNvSpPr>
            <a:spLocks noGrp="1"/>
          </p:cNvSpPr>
          <p:nvPr>
            <p:ph type="body" idx="1"/>
          </p:nvPr>
        </p:nvSpPr>
        <p:spPr/>
        <p:txBody>
          <a:bodyPr/>
          <a:lstStyle/>
          <a:p>
            <a:r>
              <a:rPr lang="en-GB" b="1" dirty="0"/>
              <a:t>eps</a:t>
            </a:r>
            <a:r>
              <a:rPr lang="en-GB" dirty="0"/>
              <a:t>: specifies how close points should be to each other to be considered a part of a cluster. It means that if the distance between two points is lower or equal to this value (eps), these points are considered </a:t>
            </a:r>
            <a:r>
              <a:rPr lang="en-GB" dirty="0" err="1"/>
              <a:t>neighbors</a:t>
            </a:r>
            <a:r>
              <a:rPr lang="en-GB" dirty="0"/>
              <a:t>.</a:t>
            </a:r>
          </a:p>
          <a:p>
            <a:r>
              <a:rPr lang="en-GB" b="1" dirty="0" err="1"/>
              <a:t>minPoints</a:t>
            </a:r>
            <a:r>
              <a:rPr lang="en-GB" dirty="0"/>
              <a:t>: the minimum number of points to form a dense region. For example, if we set the </a:t>
            </a:r>
            <a:r>
              <a:rPr lang="en-GB" dirty="0" err="1"/>
              <a:t>minPoints</a:t>
            </a:r>
            <a:r>
              <a:rPr lang="en-GB" dirty="0"/>
              <a:t> parameter as 5, then we need at least 5 points to form a dense region.</a:t>
            </a:r>
          </a:p>
          <a:p>
            <a:endParaRPr lang="en-NO" dirty="0"/>
          </a:p>
        </p:txBody>
      </p:sp>
      <p:sp>
        <p:nvSpPr>
          <p:cNvPr id="4" name="Slide Number Placeholder 3">
            <a:extLst>
              <a:ext uri="{FF2B5EF4-FFF2-40B4-BE49-F238E27FC236}">
                <a16:creationId xmlns:a16="http://schemas.microsoft.com/office/drawing/2014/main" id="{0A995965-E62B-B487-D774-F886AD0142A2}"/>
              </a:ext>
            </a:extLst>
          </p:cNvPr>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56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989182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b="1" dirty="0"/>
              <a:t>eps</a:t>
            </a:r>
            <a:r>
              <a:rPr lang="en-GB" dirty="0"/>
              <a:t>: specifies how close points should be to each other to be considered a part of a cluster. It means that if the distance between two points is lower or equal to this value (eps), these points are considered </a:t>
            </a:r>
            <a:r>
              <a:rPr lang="en-GB" dirty="0" err="1"/>
              <a:t>neighbors</a:t>
            </a:r>
            <a:r>
              <a:rPr lang="en-GB" dirty="0"/>
              <a:t>.</a:t>
            </a:r>
          </a:p>
          <a:p>
            <a:r>
              <a:rPr lang="en-GB" b="1" dirty="0" err="1"/>
              <a:t>minPoints</a:t>
            </a:r>
            <a:r>
              <a:rPr lang="en-GB" b="1" dirty="0"/>
              <a:t>/min Samples</a:t>
            </a:r>
            <a:r>
              <a:rPr lang="en-GB" dirty="0"/>
              <a:t>: the minimum number of points to form a dense region. For example, if we set the </a:t>
            </a:r>
            <a:r>
              <a:rPr lang="en-GB" dirty="0" err="1"/>
              <a:t>minPoints</a:t>
            </a:r>
            <a:r>
              <a:rPr lang="en-GB" dirty="0"/>
              <a:t> parameter as 5, then we need at least 5 points to form a dense region.</a:t>
            </a:r>
          </a:p>
          <a:p>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447430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use a dataset on grocery transactions from the </a:t>
            </a:r>
            <a:r>
              <a:rPr lang="en-GB" i="1" dirty="0" err="1"/>
              <a:t>arules</a:t>
            </a:r>
            <a:r>
              <a:rPr lang="en-GB" dirty="0"/>
              <a:t> R library. It contains actual transactions at a grocery outlet over 30 days. The network graph below shows associations between selected items. Larger circles imply higher support, while red circles imply higher lift:</a:t>
            </a:r>
          </a:p>
          <a:p>
            <a:endParaRPr lang="en-GB" dirty="0"/>
          </a:p>
          <a:p>
            <a:r>
              <a:rPr lang="en-GB" dirty="0"/>
              <a:t>The most popular transaction was of pip and tropical fruits</a:t>
            </a:r>
          </a:p>
          <a:p>
            <a:r>
              <a:rPr lang="en-GB" dirty="0"/>
              <a:t>Another popular transaction was of onions and other vegetables</a:t>
            </a:r>
          </a:p>
          <a:p>
            <a:r>
              <a:rPr lang="en-GB" dirty="0"/>
              <a:t>If someone buys meat spreads, he is likely to have bought yogurt as well</a:t>
            </a:r>
          </a:p>
          <a:p>
            <a:r>
              <a:rPr lang="en-GB" dirty="0"/>
              <a:t>Relatively many people buy sausage along with sliced cheese</a:t>
            </a:r>
          </a:p>
          <a:p>
            <a:r>
              <a:rPr lang="en-GB" dirty="0"/>
              <a:t>If someone buys tea, he is likely to have bought fruit as well, possibly inspiring the production of fruit-</a:t>
            </a:r>
            <a:r>
              <a:rPr lang="en-GB" dirty="0" err="1"/>
              <a:t>flavored</a:t>
            </a:r>
            <a:r>
              <a:rPr lang="en-GB" dirty="0"/>
              <a:t> tea</a:t>
            </a:r>
          </a:p>
          <a:p>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62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6581689"/>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O" dirty="0"/>
              <a:t>Store example </a:t>
            </a:r>
            <a:r>
              <a:rPr lang="en-GB" dirty="0"/>
              <a:t>in USA where they increased sales of beer by putting beer and diapers together.</a:t>
            </a:r>
          </a:p>
          <a:p>
            <a:r>
              <a:rPr lang="en-GB" dirty="0"/>
              <a:t>Since they found that men bought beers and diapers on Thursdays </a:t>
            </a:r>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63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3845518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O" dirty="0"/>
              <a:t>Frequent items which commonly appear together are: </a:t>
            </a:r>
            <a:r>
              <a:rPr lang="en-GB" dirty="0"/>
              <a:t>{wine, diapers, soy milk}.</a:t>
            </a:r>
          </a:p>
          <a:p>
            <a:endParaRPr lang="en-NO" dirty="0"/>
          </a:p>
          <a:p>
            <a:r>
              <a:rPr lang="en-GB" dirty="0"/>
              <a:t>association rule such as diapers -&gt; wine. This means that if someone buys diapers, there is a good chance they will buy wine.</a:t>
            </a:r>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64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893020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O" dirty="0"/>
          </a:p>
        </p:txBody>
      </p:sp>
      <p:sp>
        <p:nvSpPr>
          <p:cNvPr id="4" name="Slide Number Placeholder 3"/>
          <p:cNvSpPr>
            <a:spLocks noGrp="1"/>
          </p:cNvSpPr>
          <p:nvPr>
            <p:ph type="sldNum" sz="quarter" idx="5"/>
          </p:nvPr>
        </p:nvSpPr>
        <p:spPr/>
        <p:txBody>
          <a:bodyPr/>
          <a:lstStyle/>
          <a:p>
            <a:pPr marL="0" marR="0" lvl="0" indent="0" algn="r" defTabSz="1300643" rtl="0" eaLnBrk="1" fontAlgn="auto" latinLnBrk="0" hangingPunct="1">
              <a:lnSpc>
                <a:spcPct val="100000"/>
              </a:lnSpc>
              <a:spcBef>
                <a:spcPts val="0"/>
              </a:spcBef>
              <a:spcAft>
                <a:spcPts val="0"/>
              </a:spcAft>
              <a:buClrTx/>
              <a:buSzTx/>
              <a:buFontTx/>
              <a:buNone/>
              <a:tabLst/>
              <a:defRPr/>
            </a:pPr>
            <a:fld id="{61C6333F-E368-4746-A020-FE91A90E005B}"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1300643" rtl="0" eaLnBrk="1" fontAlgn="auto" latinLnBrk="0" hangingPunct="1">
                <a:lnSpc>
                  <a:spcPct val="100000"/>
                </a:lnSpc>
                <a:spcBef>
                  <a:spcPts val="0"/>
                </a:spcBef>
                <a:spcAft>
                  <a:spcPts val="0"/>
                </a:spcAft>
                <a:buClrTx/>
                <a:buSzTx/>
                <a:buFontTx/>
                <a:buNone/>
                <a:tabLst/>
                <a:defRPr/>
              </a:pPr>
              <a:t>65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6191999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Master" Target="../slideMasters/slideMaster2.xml"/><Relationship Id="rId4" Type="http://schemas.openxmlformats.org/officeDocument/2006/relationships/image" Target="../media/image4.jp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jpg"/><Relationship Id="rId1" Type="http://schemas.openxmlformats.org/officeDocument/2006/relationships/slideMaster" Target="../slideMasters/slideMaster2.xml"/><Relationship Id="rId4" Type="http://schemas.openxmlformats.org/officeDocument/2006/relationships/image" Target="../media/image9.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For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683315" y="2084327"/>
            <a:ext cx="9144000" cy="1519413"/>
          </a:xfrm>
        </p:spPr>
        <p:txBody>
          <a:bodyPr anchor="b">
            <a:normAutofit/>
          </a:bodyPr>
          <a:lstStyle>
            <a:lvl1pPr algn="l">
              <a:defRPr sz="5483"/>
            </a:lvl1pPr>
          </a:lstStyle>
          <a:p>
            <a:r>
              <a:rPr lang="en-US"/>
              <a:t>Click to edit Master title style</a:t>
            </a:r>
            <a:endParaRPr lang="nb-NO"/>
          </a:p>
        </p:txBody>
      </p:sp>
      <p:sp>
        <p:nvSpPr>
          <p:cNvPr id="3" name="Undertittel 2"/>
          <p:cNvSpPr>
            <a:spLocks noGrp="1"/>
          </p:cNvSpPr>
          <p:nvPr>
            <p:ph type="subTitle" idx="1"/>
          </p:nvPr>
        </p:nvSpPr>
        <p:spPr>
          <a:xfrm>
            <a:off x="683315" y="3860488"/>
            <a:ext cx="9144000" cy="649322"/>
          </a:xfrm>
        </p:spPr>
        <p:txBody>
          <a:bodyPr>
            <a:normAutofit/>
          </a:bodyPr>
          <a:lstStyle>
            <a:lvl1pPr marL="0" indent="0" algn="l">
              <a:spcAft>
                <a:spcPts val="0"/>
              </a:spcAft>
              <a:buNone/>
              <a:defRPr sz="2109"/>
            </a:lvl1pPr>
            <a:lvl2pPr marL="456982" indent="0" algn="ctr">
              <a:buNone/>
              <a:defRPr sz="1999"/>
            </a:lvl2pPr>
            <a:lvl3pPr marL="913965" indent="0" algn="ctr">
              <a:buNone/>
              <a:defRPr sz="1799"/>
            </a:lvl3pPr>
            <a:lvl4pPr marL="1370947" indent="0" algn="ctr">
              <a:buNone/>
              <a:defRPr sz="1599"/>
            </a:lvl4pPr>
            <a:lvl5pPr marL="1827929" indent="0" algn="ctr">
              <a:buNone/>
              <a:defRPr sz="1599"/>
            </a:lvl5pPr>
            <a:lvl6pPr marL="2284911" indent="0" algn="ctr">
              <a:buNone/>
              <a:defRPr sz="1599"/>
            </a:lvl6pPr>
            <a:lvl7pPr marL="2741893" indent="0" algn="ctr">
              <a:buNone/>
              <a:defRPr sz="1599"/>
            </a:lvl7pPr>
            <a:lvl8pPr marL="3198876" indent="0" algn="ctr">
              <a:buNone/>
              <a:defRPr sz="1599"/>
            </a:lvl8pPr>
            <a:lvl9pPr marL="3655858" indent="0" algn="ctr">
              <a:buNone/>
              <a:defRPr sz="1599"/>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3315" y="6170432"/>
            <a:ext cx="1626139" cy="191842"/>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3315" y="683635"/>
            <a:ext cx="704874" cy="416906"/>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682913" y="5104148"/>
            <a:ext cx="3290032" cy="194797"/>
          </a:xfrm>
        </p:spPr>
        <p:txBody>
          <a:bodyPr>
            <a:normAutofit/>
          </a:bodyPr>
          <a:lstStyle>
            <a:lvl1pPr marL="0" indent="0">
              <a:spcAft>
                <a:spcPts val="0"/>
              </a:spcAft>
              <a:buNone/>
              <a:defRPr sz="1265" b="1"/>
            </a:lvl1pPr>
          </a:lstStyle>
          <a:p>
            <a:pPr lvl="0"/>
            <a:r>
              <a:rPr lang="nb-NO" noProof="0"/>
              <a:t>Navn Navnesen</a:t>
            </a:r>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65620" y="5104148"/>
            <a:ext cx="930302" cy="194797"/>
          </a:xfrm>
        </p:spPr>
        <p:txBody>
          <a:bodyPr>
            <a:normAutofit/>
          </a:bodyPr>
          <a:lstStyle>
            <a:lvl1pPr marL="0" indent="0">
              <a:spcAft>
                <a:spcPts val="0"/>
              </a:spcAft>
              <a:buNone/>
              <a:defRPr sz="1265" b="1"/>
            </a:lvl1pPr>
          </a:lstStyle>
          <a:p>
            <a:pPr lvl="0"/>
            <a:r>
              <a:rPr lang="nb-NO" noProof="0"/>
              <a:t>dd.mm.yy</a:t>
            </a:r>
          </a:p>
        </p:txBody>
      </p:sp>
      <p:sp>
        <p:nvSpPr>
          <p:cNvPr id="18" name="Plassholder for dato 17">
            <a:extLst>
              <a:ext uri="{FF2B5EF4-FFF2-40B4-BE49-F238E27FC236}">
                <a16:creationId xmlns:a16="http://schemas.microsoft.com/office/drawing/2014/main" id="{652BDE14-9BEA-4244-91C2-4A615BE70EB5}"/>
              </a:ext>
            </a:extLst>
          </p:cNvPr>
          <p:cNvSpPr>
            <a:spLocks noGrp="1"/>
          </p:cNvSpPr>
          <p:nvPr>
            <p:ph type="dt" sz="half" idx="16"/>
          </p:nvPr>
        </p:nvSpPr>
        <p:spPr/>
        <p:txBody>
          <a:bodyPr/>
          <a:lstStyle/>
          <a:p>
            <a:fld id="{72623479-E8CA-0D42-8E18-5ABC3E919714}" type="datetime1">
              <a:rPr lang="nb-NO" smtClean="0"/>
              <a:t>22.09.2026</a:t>
            </a:fld>
            <a:endParaRPr lang="nb-NO"/>
          </a:p>
        </p:txBody>
      </p:sp>
      <p:sp>
        <p:nvSpPr>
          <p:cNvPr id="19" name="Plassholder for bunntekst 18">
            <a:extLst>
              <a:ext uri="{FF2B5EF4-FFF2-40B4-BE49-F238E27FC236}">
                <a16:creationId xmlns:a16="http://schemas.microsoft.com/office/drawing/2014/main" id="{F7311688-F88F-4C95-8A41-E0D915FCA86E}"/>
              </a:ext>
            </a:extLst>
          </p:cNvPr>
          <p:cNvSpPr>
            <a:spLocks noGrp="1"/>
          </p:cNvSpPr>
          <p:nvPr>
            <p:ph type="ftr" sz="quarter" idx="17"/>
          </p:nvPr>
        </p:nvSpPr>
        <p:spPr>
          <a:xfrm>
            <a:off x="683315" y="5393114"/>
            <a:ext cx="3290032" cy="389924"/>
          </a:xfrm>
        </p:spPr>
        <p:txBody>
          <a:bodyPr anchor="t">
            <a:normAutofit/>
          </a:bodyPr>
          <a:lstStyle>
            <a:lvl1pPr>
              <a:defRPr sz="1265"/>
            </a:lvl1pPr>
          </a:lstStyle>
          <a:p>
            <a:r>
              <a:rPr lang="nb-NO"/>
              <a:t>DAVE3625- Intro to A.I. by Umair M.I</a:t>
            </a:r>
          </a:p>
        </p:txBody>
      </p:sp>
      <p:sp>
        <p:nvSpPr>
          <p:cNvPr id="20" name="Plassholder for lysbildenummer 19">
            <a:extLst>
              <a:ext uri="{FF2B5EF4-FFF2-40B4-BE49-F238E27FC236}">
                <a16:creationId xmlns:a16="http://schemas.microsoft.com/office/drawing/2014/main" id="{EFA8C348-F7D6-46ED-9365-3BEAB314D94D}"/>
              </a:ext>
            </a:extLst>
          </p:cNvPr>
          <p:cNvSpPr>
            <a:spLocks noGrp="1"/>
          </p:cNvSpPr>
          <p:nvPr>
            <p:ph type="sldNum" sz="quarter" idx="18"/>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18477286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Forside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683315" y="2084327"/>
            <a:ext cx="6941968" cy="1519413"/>
          </a:xfrm>
        </p:spPr>
        <p:txBody>
          <a:bodyPr anchor="b">
            <a:normAutofit/>
          </a:bodyPr>
          <a:lstStyle>
            <a:lvl1pPr algn="l">
              <a:defRPr sz="5483"/>
            </a:lvl1pPr>
          </a:lstStyle>
          <a:p>
            <a:r>
              <a:rPr lang="en-US"/>
              <a:t>Click to edit Master title style</a:t>
            </a:r>
            <a:endParaRPr lang="nb-NO"/>
          </a:p>
        </p:txBody>
      </p:sp>
      <p:sp>
        <p:nvSpPr>
          <p:cNvPr id="3" name="Undertittel 2"/>
          <p:cNvSpPr>
            <a:spLocks noGrp="1"/>
          </p:cNvSpPr>
          <p:nvPr>
            <p:ph type="subTitle" idx="1"/>
          </p:nvPr>
        </p:nvSpPr>
        <p:spPr>
          <a:xfrm>
            <a:off x="683314" y="3860488"/>
            <a:ext cx="6941968" cy="649322"/>
          </a:xfrm>
        </p:spPr>
        <p:txBody>
          <a:bodyPr>
            <a:normAutofit/>
          </a:bodyPr>
          <a:lstStyle>
            <a:lvl1pPr marL="0" indent="0" algn="l">
              <a:spcAft>
                <a:spcPts val="0"/>
              </a:spcAft>
              <a:buNone/>
              <a:defRPr sz="2109"/>
            </a:lvl1pPr>
            <a:lvl2pPr marL="456982" indent="0" algn="ctr">
              <a:buNone/>
              <a:defRPr sz="1999"/>
            </a:lvl2pPr>
            <a:lvl3pPr marL="913965" indent="0" algn="ctr">
              <a:buNone/>
              <a:defRPr sz="1799"/>
            </a:lvl3pPr>
            <a:lvl4pPr marL="1370947" indent="0" algn="ctr">
              <a:buNone/>
              <a:defRPr sz="1599"/>
            </a:lvl4pPr>
            <a:lvl5pPr marL="1827929" indent="0" algn="ctr">
              <a:buNone/>
              <a:defRPr sz="1599"/>
            </a:lvl5pPr>
            <a:lvl6pPr marL="2284911" indent="0" algn="ctr">
              <a:buNone/>
              <a:defRPr sz="1599"/>
            </a:lvl6pPr>
            <a:lvl7pPr marL="2741893" indent="0" algn="ctr">
              <a:buNone/>
              <a:defRPr sz="1599"/>
            </a:lvl7pPr>
            <a:lvl8pPr marL="3198876" indent="0" algn="ctr">
              <a:buNone/>
              <a:defRPr sz="1599"/>
            </a:lvl8pPr>
            <a:lvl9pPr marL="3655858" indent="0" algn="ctr">
              <a:buNone/>
              <a:defRPr sz="1599"/>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3315" y="6170432"/>
            <a:ext cx="1626139" cy="191842"/>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3315" y="683635"/>
            <a:ext cx="704874" cy="416906"/>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682913" y="5104148"/>
            <a:ext cx="3290032" cy="194797"/>
          </a:xfrm>
        </p:spPr>
        <p:txBody>
          <a:bodyPr>
            <a:normAutofit/>
          </a:bodyPr>
          <a:lstStyle>
            <a:lvl1pPr marL="0" indent="0">
              <a:spcAft>
                <a:spcPts val="0"/>
              </a:spcAft>
              <a:buNone/>
              <a:defRPr sz="1265"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65620" y="5104148"/>
            <a:ext cx="930302" cy="194797"/>
          </a:xfrm>
        </p:spPr>
        <p:txBody>
          <a:bodyPr>
            <a:normAutofit/>
          </a:bodyPr>
          <a:lstStyle>
            <a:lvl1pPr marL="0" indent="0">
              <a:spcAft>
                <a:spcPts val="0"/>
              </a:spcAft>
              <a:buNone/>
              <a:defRPr sz="1265"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7940266" y="-1"/>
            <a:ext cx="4251734" cy="6861662"/>
          </a:xfrm>
          <a:prstGeom prst="rect">
            <a:avLst/>
          </a:prstGeom>
          <a:blipFill>
            <a:blip r:embed="rId4"/>
            <a:stretch>
              <a:fillRect/>
            </a:stretch>
          </a:blipFill>
        </p:spPr>
        <p:txBody>
          <a:bodyPr lIns="0" tIns="1800000" rIns="0" bIns="0">
            <a:normAutofit/>
          </a:bodyPr>
          <a:lstStyle>
            <a:lvl1pPr marL="0" indent="0" algn="ctr">
              <a:buNone/>
              <a:defRPr sz="2109"/>
            </a:lvl1pPr>
          </a:lstStyle>
          <a:p>
            <a:r>
              <a:rPr lang="en-US"/>
              <a:t>Click icon to add picture</a:t>
            </a:r>
          </a:p>
        </p:txBody>
      </p:sp>
      <p:sp>
        <p:nvSpPr>
          <p:cNvPr id="12" name="Plassholder for dato 11">
            <a:extLst>
              <a:ext uri="{FF2B5EF4-FFF2-40B4-BE49-F238E27FC236}">
                <a16:creationId xmlns:a16="http://schemas.microsoft.com/office/drawing/2014/main" id="{56B53AF6-B139-48E4-B8B2-15266DC4DC45}"/>
              </a:ext>
            </a:extLst>
          </p:cNvPr>
          <p:cNvSpPr>
            <a:spLocks noGrp="1"/>
          </p:cNvSpPr>
          <p:nvPr>
            <p:ph type="dt" sz="half" idx="17"/>
          </p:nvPr>
        </p:nvSpPr>
        <p:spPr/>
        <p:txBody>
          <a:bodyPr/>
          <a:lstStyle/>
          <a:p>
            <a:fld id="{D7F5E9D1-9800-D24D-BC52-FD0BBB1E0A9C}" type="datetime1">
              <a:rPr lang="nb-NO" smtClean="0"/>
              <a:t>22.09.2026</a:t>
            </a:fld>
            <a:endParaRPr lang="nb-NO"/>
          </a:p>
        </p:txBody>
      </p:sp>
      <p:sp>
        <p:nvSpPr>
          <p:cNvPr id="19" name="Plassholder for bunntekst 18">
            <a:extLst>
              <a:ext uri="{FF2B5EF4-FFF2-40B4-BE49-F238E27FC236}">
                <a16:creationId xmlns:a16="http://schemas.microsoft.com/office/drawing/2014/main" id="{1EEE1C09-86BF-4F2C-8464-4675F6B481B1}"/>
              </a:ext>
            </a:extLst>
          </p:cNvPr>
          <p:cNvSpPr>
            <a:spLocks noGrp="1"/>
          </p:cNvSpPr>
          <p:nvPr>
            <p:ph type="ftr" sz="quarter" idx="18"/>
          </p:nvPr>
        </p:nvSpPr>
        <p:spPr>
          <a:xfrm>
            <a:off x="683315" y="5393114"/>
            <a:ext cx="3290032" cy="389924"/>
          </a:xfrm>
        </p:spPr>
        <p:txBody>
          <a:bodyPr anchor="t">
            <a:normAutofit/>
          </a:bodyPr>
          <a:lstStyle>
            <a:lvl1pPr>
              <a:defRPr sz="1265"/>
            </a:lvl1pPr>
          </a:lstStyle>
          <a:p>
            <a:r>
              <a:rPr lang="nb-NO"/>
              <a:t>DAVE3625- Intro to A.I. by Umair M.I</a:t>
            </a:r>
          </a:p>
        </p:txBody>
      </p:sp>
      <p:sp>
        <p:nvSpPr>
          <p:cNvPr id="20" name="Plassholder for lysbildenummer 19">
            <a:extLst>
              <a:ext uri="{FF2B5EF4-FFF2-40B4-BE49-F238E27FC236}">
                <a16:creationId xmlns:a16="http://schemas.microsoft.com/office/drawing/2014/main" id="{34EC6E11-8AB0-4BC8-93DC-407904FA9CDC}"/>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7309681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Forside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683316" y="2012878"/>
            <a:ext cx="5102081" cy="1519413"/>
          </a:xfrm>
        </p:spPr>
        <p:txBody>
          <a:bodyPr anchor="b">
            <a:normAutofit/>
          </a:bodyPr>
          <a:lstStyle>
            <a:lvl1pPr algn="l">
              <a:defRPr sz="3374"/>
            </a:lvl1pPr>
          </a:lstStyle>
          <a:p>
            <a:r>
              <a:rPr lang="en-US"/>
              <a:t>Click to edit Master title style</a:t>
            </a:r>
            <a:endParaRPr lang="nb-NO"/>
          </a:p>
        </p:txBody>
      </p:sp>
      <p:sp>
        <p:nvSpPr>
          <p:cNvPr id="3" name="Undertittel 2"/>
          <p:cNvSpPr>
            <a:spLocks noGrp="1"/>
          </p:cNvSpPr>
          <p:nvPr>
            <p:ph type="subTitle" idx="1"/>
          </p:nvPr>
        </p:nvSpPr>
        <p:spPr>
          <a:xfrm>
            <a:off x="683315" y="3860488"/>
            <a:ext cx="5102081" cy="649322"/>
          </a:xfrm>
        </p:spPr>
        <p:txBody>
          <a:bodyPr>
            <a:normAutofit/>
          </a:bodyPr>
          <a:lstStyle>
            <a:lvl1pPr marL="0" indent="0" algn="l">
              <a:spcAft>
                <a:spcPts val="0"/>
              </a:spcAft>
              <a:buNone/>
              <a:defRPr sz="2109"/>
            </a:lvl1pPr>
            <a:lvl2pPr marL="456982" indent="0" algn="ctr">
              <a:buNone/>
              <a:defRPr sz="1999"/>
            </a:lvl2pPr>
            <a:lvl3pPr marL="913965" indent="0" algn="ctr">
              <a:buNone/>
              <a:defRPr sz="1799"/>
            </a:lvl3pPr>
            <a:lvl4pPr marL="1370947" indent="0" algn="ctr">
              <a:buNone/>
              <a:defRPr sz="1599"/>
            </a:lvl4pPr>
            <a:lvl5pPr marL="1827929" indent="0" algn="ctr">
              <a:buNone/>
              <a:defRPr sz="1599"/>
            </a:lvl5pPr>
            <a:lvl6pPr marL="2284911" indent="0" algn="ctr">
              <a:buNone/>
              <a:defRPr sz="1599"/>
            </a:lvl6pPr>
            <a:lvl7pPr marL="2741893" indent="0" algn="ctr">
              <a:buNone/>
              <a:defRPr sz="1599"/>
            </a:lvl7pPr>
            <a:lvl8pPr marL="3198876" indent="0" algn="ctr">
              <a:buNone/>
              <a:defRPr sz="1599"/>
            </a:lvl8pPr>
            <a:lvl9pPr marL="3655858" indent="0" algn="ctr">
              <a:buNone/>
              <a:defRPr sz="1599"/>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3315" y="6170432"/>
            <a:ext cx="1626139" cy="191842"/>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3315" y="683635"/>
            <a:ext cx="704874" cy="416906"/>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682913" y="5104148"/>
            <a:ext cx="3290032" cy="194797"/>
          </a:xfrm>
        </p:spPr>
        <p:txBody>
          <a:bodyPr>
            <a:normAutofit/>
          </a:bodyPr>
          <a:lstStyle>
            <a:lvl1pPr marL="0" indent="0">
              <a:spcAft>
                <a:spcPts val="0"/>
              </a:spcAft>
              <a:buNone/>
              <a:defRPr sz="1265"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65620" y="5104148"/>
            <a:ext cx="930302" cy="194797"/>
          </a:xfrm>
        </p:spPr>
        <p:txBody>
          <a:bodyPr>
            <a:normAutofit/>
          </a:bodyPr>
          <a:lstStyle>
            <a:lvl1pPr marL="0" indent="0">
              <a:spcAft>
                <a:spcPts val="0"/>
              </a:spcAft>
              <a:buNone/>
              <a:defRPr sz="1265"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92786" y="0"/>
            <a:ext cx="6099214" cy="6861662"/>
          </a:xfrm>
          <a:prstGeom prst="rect">
            <a:avLst/>
          </a:prstGeom>
          <a:blipFill>
            <a:blip r:embed="rId4"/>
            <a:stretch>
              <a:fillRect/>
            </a:stretch>
          </a:blipFill>
        </p:spPr>
        <p:txBody>
          <a:bodyPr lIns="0" tIns="1800000" rIns="0" bIns="0">
            <a:normAutofit/>
          </a:bodyPr>
          <a:lstStyle>
            <a:lvl1pPr marL="0" indent="0" algn="ctr">
              <a:buNone/>
              <a:defRPr sz="2109">
                <a:solidFill>
                  <a:schemeClr val="lt1"/>
                </a:solidFill>
              </a:defRPr>
            </a:lvl1pPr>
          </a:lstStyle>
          <a:p>
            <a:r>
              <a:rPr lang="en-US"/>
              <a:t>Click icon to add picture</a:t>
            </a:r>
          </a:p>
        </p:txBody>
      </p:sp>
      <p:sp>
        <p:nvSpPr>
          <p:cNvPr id="21" name="Plassholder for dato 20">
            <a:extLst>
              <a:ext uri="{FF2B5EF4-FFF2-40B4-BE49-F238E27FC236}">
                <a16:creationId xmlns:a16="http://schemas.microsoft.com/office/drawing/2014/main" id="{A89FCEFC-C9A7-48DC-A2F7-BE4D4DA94CF7}"/>
              </a:ext>
            </a:extLst>
          </p:cNvPr>
          <p:cNvSpPr>
            <a:spLocks noGrp="1"/>
          </p:cNvSpPr>
          <p:nvPr>
            <p:ph type="dt" sz="half" idx="17"/>
          </p:nvPr>
        </p:nvSpPr>
        <p:spPr/>
        <p:txBody>
          <a:bodyPr/>
          <a:lstStyle/>
          <a:p>
            <a:fld id="{BB236F63-A279-D541-B1F2-EB8F050A160F}" type="datetime1">
              <a:rPr lang="nb-NO" smtClean="0"/>
              <a:t>22.09.2026</a:t>
            </a:fld>
            <a:endParaRPr lang="nb-NO"/>
          </a:p>
        </p:txBody>
      </p:sp>
      <p:sp>
        <p:nvSpPr>
          <p:cNvPr id="22" name="Plassholder for bunntekst 21">
            <a:extLst>
              <a:ext uri="{FF2B5EF4-FFF2-40B4-BE49-F238E27FC236}">
                <a16:creationId xmlns:a16="http://schemas.microsoft.com/office/drawing/2014/main" id="{86F6B1E1-7108-4CA0-9B2D-EC94564CFD5C}"/>
              </a:ext>
            </a:extLst>
          </p:cNvPr>
          <p:cNvSpPr>
            <a:spLocks noGrp="1"/>
          </p:cNvSpPr>
          <p:nvPr>
            <p:ph type="ftr" sz="quarter" idx="18"/>
          </p:nvPr>
        </p:nvSpPr>
        <p:spPr>
          <a:xfrm>
            <a:off x="683315" y="5393114"/>
            <a:ext cx="3290032" cy="389924"/>
          </a:xfrm>
        </p:spPr>
        <p:txBody>
          <a:bodyPr anchor="t">
            <a:normAutofit/>
          </a:bodyPr>
          <a:lstStyle>
            <a:lvl1pPr>
              <a:defRPr sz="1265"/>
            </a:lvl1pPr>
          </a:lstStyle>
          <a:p>
            <a:r>
              <a:rPr lang="nb-NO"/>
              <a:t>DAVE3625- Intro to A.I. by Umair M.I</a:t>
            </a:r>
          </a:p>
        </p:txBody>
      </p:sp>
      <p:sp>
        <p:nvSpPr>
          <p:cNvPr id="23" name="Plassholder for lysbildenummer 22">
            <a:extLst>
              <a:ext uri="{FF2B5EF4-FFF2-40B4-BE49-F238E27FC236}">
                <a16:creationId xmlns:a16="http://schemas.microsoft.com/office/drawing/2014/main" id="{60A9F8C1-89C0-4B7B-9A1C-3CEF3EA77DD4}"/>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659650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Forside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4257961" y="0"/>
            <a:ext cx="7934040" cy="6861662"/>
          </a:xfrm>
          <a:prstGeom prst="rect">
            <a:avLst/>
          </a:prstGeom>
          <a:blipFill>
            <a:blip r:embed="rId2"/>
            <a:stretch>
              <a:fillRect/>
            </a:stretch>
          </a:blipFill>
        </p:spPr>
        <p:txBody>
          <a:bodyPr lIns="0" tIns="1800000" rIns="0" bIns="0">
            <a:normAutofit/>
          </a:bodyPr>
          <a:lstStyle>
            <a:lvl1pPr marL="0" indent="0" algn="ctr">
              <a:buNone/>
              <a:defRPr sz="2109">
                <a:solidFill>
                  <a:schemeClr val="lt1"/>
                </a:solidFill>
              </a:defRPr>
            </a:lvl1pPr>
          </a:lstStyle>
          <a:p>
            <a:r>
              <a:rPr lang="en-US"/>
              <a:t>Click icon to add picture</a:t>
            </a:r>
          </a:p>
        </p:txBody>
      </p:sp>
      <p:sp>
        <p:nvSpPr>
          <p:cNvPr id="2" name="Tittel 1"/>
          <p:cNvSpPr>
            <a:spLocks noGrp="1"/>
          </p:cNvSpPr>
          <p:nvPr>
            <p:ph type="ctrTitle"/>
          </p:nvPr>
        </p:nvSpPr>
        <p:spPr>
          <a:xfrm>
            <a:off x="683315" y="2012878"/>
            <a:ext cx="3259663" cy="1519413"/>
          </a:xfrm>
        </p:spPr>
        <p:txBody>
          <a:bodyPr anchor="b">
            <a:normAutofit/>
          </a:bodyPr>
          <a:lstStyle>
            <a:lvl1pPr algn="l">
              <a:defRPr sz="3374"/>
            </a:lvl1pPr>
          </a:lstStyle>
          <a:p>
            <a:r>
              <a:rPr lang="en-US"/>
              <a:t>Click to edit Master title style</a:t>
            </a:r>
            <a:endParaRPr lang="nb-NO"/>
          </a:p>
        </p:txBody>
      </p:sp>
      <p:sp>
        <p:nvSpPr>
          <p:cNvPr id="3" name="Undertittel 2"/>
          <p:cNvSpPr>
            <a:spLocks noGrp="1"/>
          </p:cNvSpPr>
          <p:nvPr>
            <p:ph type="subTitle" idx="1"/>
          </p:nvPr>
        </p:nvSpPr>
        <p:spPr>
          <a:xfrm>
            <a:off x="683315" y="3860488"/>
            <a:ext cx="3259663" cy="649322"/>
          </a:xfrm>
        </p:spPr>
        <p:txBody>
          <a:bodyPr>
            <a:normAutofit/>
          </a:bodyPr>
          <a:lstStyle>
            <a:lvl1pPr marL="0" indent="0" algn="l">
              <a:spcAft>
                <a:spcPts val="0"/>
              </a:spcAft>
              <a:buNone/>
              <a:defRPr sz="2109"/>
            </a:lvl1pPr>
            <a:lvl2pPr marL="456982" indent="0" algn="ctr">
              <a:buNone/>
              <a:defRPr sz="1999"/>
            </a:lvl2pPr>
            <a:lvl3pPr marL="913965" indent="0" algn="ctr">
              <a:buNone/>
              <a:defRPr sz="1799"/>
            </a:lvl3pPr>
            <a:lvl4pPr marL="1370947" indent="0" algn="ctr">
              <a:buNone/>
              <a:defRPr sz="1599"/>
            </a:lvl4pPr>
            <a:lvl5pPr marL="1827929" indent="0" algn="ctr">
              <a:buNone/>
              <a:defRPr sz="1599"/>
            </a:lvl5pPr>
            <a:lvl6pPr marL="2284911" indent="0" algn="ctr">
              <a:buNone/>
              <a:defRPr sz="1599"/>
            </a:lvl6pPr>
            <a:lvl7pPr marL="2741893" indent="0" algn="ctr">
              <a:buNone/>
              <a:defRPr sz="1599"/>
            </a:lvl7pPr>
            <a:lvl8pPr marL="3198876" indent="0" algn="ctr">
              <a:buNone/>
              <a:defRPr sz="1599"/>
            </a:lvl8pPr>
            <a:lvl9pPr marL="3655858" indent="0" algn="ctr">
              <a:buNone/>
              <a:defRPr sz="1599"/>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3315" y="6170432"/>
            <a:ext cx="1626139" cy="191842"/>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3315" y="683635"/>
            <a:ext cx="704874" cy="416906"/>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682913" y="5104148"/>
            <a:ext cx="2277715" cy="194797"/>
          </a:xfrm>
        </p:spPr>
        <p:txBody>
          <a:bodyPr>
            <a:normAutofit/>
          </a:bodyPr>
          <a:lstStyle>
            <a:lvl1pPr marL="0" indent="0">
              <a:spcAft>
                <a:spcPts val="0"/>
              </a:spcAft>
              <a:buNone/>
              <a:defRPr sz="1265"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3056799" y="5104148"/>
            <a:ext cx="885778" cy="194797"/>
          </a:xfrm>
        </p:spPr>
        <p:txBody>
          <a:bodyPr>
            <a:normAutofit/>
          </a:bodyPr>
          <a:lstStyle>
            <a:lvl1pPr marL="0" indent="0">
              <a:spcAft>
                <a:spcPts val="0"/>
              </a:spcAft>
              <a:buNone/>
              <a:defRPr sz="1265" b="1"/>
            </a:lvl1pPr>
          </a:lstStyle>
          <a:p>
            <a:pPr lvl="0"/>
            <a:r>
              <a:rPr lang="en-US" err="1"/>
              <a:t>dd.mm.yy</a:t>
            </a:r>
            <a:endParaRPr lang="en-US"/>
          </a:p>
        </p:txBody>
      </p:sp>
      <p:sp>
        <p:nvSpPr>
          <p:cNvPr id="7" name="Plassholder for dato 6">
            <a:extLst>
              <a:ext uri="{FF2B5EF4-FFF2-40B4-BE49-F238E27FC236}">
                <a16:creationId xmlns:a16="http://schemas.microsoft.com/office/drawing/2014/main" id="{70DF801A-44A6-423A-BF4C-1FE70682DC7B}"/>
              </a:ext>
            </a:extLst>
          </p:cNvPr>
          <p:cNvSpPr>
            <a:spLocks noGrp="1"/>
          </p:cNvSpPr>
          <p:nvPr>
            <p:ph type="dt" sz="half" idx="17"/>
          </p:nvPr>
        </p:nvSpPr>
        <p:spPr/>
        <p:txBody>
          <a:bodyPr/>
          <a:lstStyle/>
          <a:p>
            <a:fld id="{EA0BA136-A7EE-D749-8CBD-D1EEEBC2FF9C}" type="datetime1">
              <a:rPr lang="nb-NO" smtClean="0"/>
              <a:t>22.09.2026</a:t>
            </a:fld>
            <a:endParaRPr lang="nb-NO"/>
          </a:p>
        </p:txBody>
      </p:sp>
      <p:sp>
        <p:nvSpPr>
          <p:cNvPr id="8" name="Plassholder for bunntekst 7">
            <a:extLst>
              <a:ext uri="{FF2B5EF4-FFF2-40B4-BE49-F238E27FC236}">
                <a16:creationId xmlns:a16="http://schemas.microsoft.com/office/drawing/2014/main" id="{3BAE66B1-31BF-4A40-98BB-F23031F6D52D}"/>
              </a:ext>
            </a:extLst>
          </p:cNvPr>
          <p:cNvSpPr>
            <a:spLocks noGrp="1"/>
          </p:cNvSpPr>
          <p:nvPr>
            <p:ph type="ftr" sz="quarter" idx="18"/>
          </p:nvPr>
        </p:nvSpPr>
        <p:spPr>
          <a:xfrm>
            <a:off x="683315" y="5393114"/>
            <a:ext cx="3290032" cy="389924"/>
          </a:xfrm>
        </p:spPr>
        <p:txBody>
          <a:bodyPr anchor="t">
            <a:normAutofit/>
          </a:bodyPr>
          <a:lstStyle>
            <a:lvl1pPr>
              <a:defRPr sz="1265"/>
            </a:lvl1pPr>
          </a:lstStyle>
          <a:p>
            <a:r>
              <a:rPr lang="nb-NO"/>
              <a:t>DAVE3625- Intro to A.I. by Umair M.I</a:t>
            </a:r>
          </a:p>
        </p:txBody>
      </p:sp>
      <p:sp>
        <p:nvSpPr>
          <p:cNvPr id="21" name="Plassholder for lysbildenummer 20">
            <a:extLst>
              <a:ext uri="{FF2B5EF4-FFF2-40B4-BE49-F238E27FC236}">
                <a16:creationId xmlns:a16="http://schemas.microsoft.com/office/drawing/2014/main" id="{DEC930FD-CA96-49B1-B552-D06E67071637}"/>
              </a:ext>
            </a:extLst>
          </p:cNvPr>
          <p:cNvSpPr>
            <a:spLocks noGrp="1"/>
          </p:cNvSpPr>
          <p:nvPr>
            <p:ph type="sldNum" sz="quarter" idx="19"/>
          </p:nvPr>
        </p:nvSpPr>
        <p:spPr/>
        <p:txBody>
          <a:bodyPr/>
          <a:lstStyle/>
          <a:p>
            <a:fld id="{5751DFAA-887F-4071-8EAD-E8CA316FCF06}" type="slidenum">
              <a:rPr lang="nb-NO" smtClean="0"/>
              <a:pPr/>
              <a:t>‹#›</a:t>
            </a:fld>
            <a:endParaRPr lang="nb-NO"/>
          </a:p>
        </p:txBody>
      </p:sp>
    </p:spTree>
    <p:extLst>
      <p:ext uri="{BB962C8B-B14F-4D97-AF65-F5344CB8AC3E}">
        <p14:creationId xmlns:p14="http://schemas.microsoft.com/office/powerpoint/2010/main" val="39142611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Forside, samarbeid">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683315" y="2084327"/>
            <a:ext cx="9144000" cy="1519413"/>
          </a:xfrm>
        </p:spPr>
        <p:txBody>
          <a:bodyPr anchor="b">
            <a:normAutofit/>
          </a:bodyPr>
          <a:lstStyle>
            <a:lvl1pPr algn="l">
              <a:defRPr sz="5483"/>
            </a:lvl1pPr>
          </a:lstStyle>
          <a:p>
            <a:r>
              <a:rPr lang="en-US"/>
              <a:t>Click to edit Master title style</a:t>
            </a:r>
            <a:endParaRPr lang="nb-NO"/>
          </a:p>
        </p:txBody>
      </p:sp>
      <p:sp>
        <p:nvSpPr>
          <p:cNvPr id="3" name="Undertittel 2"/>
          <p:cNvSpPr>
            <a:spLocks noGrp="1"/>
          </p:cNvSpPr>
          <p:nvPr>
            <p:ph type="subTitle" idx="1"/>
          </p:nvPr>
        </p:nvSpPr>
        <p:spPr>
          <a:xfrm>
            <a:off x="683315" y="3860488"/>
            <a:ext cx="9144000" cy="649322"/>
          </a:xfrm>
        </p:spPr>
        <p:txBody>
          <a:bodyPr>
            <a:normAutofit/>
          </a:bodyPr>
          <a:lstStyle>
            <a:lvl1pPr marL="0" indent="0" algn="l">
              <a:spcAft>
                <a:spcPts val="0"/>
              </a:spcAft>
              <a:buNone/>
              <a:defRPr sz="2109"/>
            </a:lvl1pPr>
            <a:lvl2pPr marL="456982" indent="0" algn="ctr">
              <a:buNone/>
              <a:defRPr sz="1999"/>
            </a:lvl2pPr>
            <a:lvl3pPr marL="913965" indent="0" algn="ctr">
              <a:buNone/>
              <a:defRPr sz="1799"/>
            </a:lvl3pPr>
            <a:lvl4pPr marL="1370947" indent="0" algn="ctr">
              <a:buNone/>
              <a:defRPr sz="1599"/>
            </a:lvl4pPr>
            <a:lvl5pPr marL="1827929" indent="0" algn="ctr">
              <a:buNone/>
              <a:defRPr sz="1599"/>
            </a:lvl5pPr>
            <a:lvl6pPr marL="2284911" indent="0" algn="ctr">
              <a:buNone/>
              <a:defRPr sz="1599"/>
            </a:lvl6pPr>
            <a:lvl7pPr marL="2741893" indent="0" algn="ctr">
              <a:buNone/>
              <a:defRPr sz="1599"/>
            </a:lvl7pPr>
            <a:lvl8pPr marL="3198876" indent="0" algn="ctr">
              <a:buNone/>
              <a:defRPr sz="1599"/>
            </a:lvl8pPr>
            <a:lvl9pPr marL="3655858" indent="0" algn="ctr">
              <a:buNone/>
              <a:defRPr sz="1599"/>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3315" y="6170432"/>
            <a:ext cx="1626139" cy="191842"/>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3315" y="683635"/>
            <a:ext cx="704874" cy="416906"/>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682913" y="5104148"/>
            <a:ext cx="3290032" cy="194797"/>
          </a:xfrm>
        </p:spPr>
        <p:txBody>
          <a:bodyPr>
            <a:normAutofit/>
          </a:bodyPr>
          <a:lstStyle>
            <a:lvl1pPr marL="0" indent="0">
              <a:spcAft>
                <a:spcPts val="0"/>
              </a:spcAft>
              <a:buNone/>
              <a:defRPr sz="1265"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65620" y="5104148"/>
            <a:ext cx="930302" cy="194797"/>
          </a:xfrm>
        </p:spPr>
        <p:txBody>
          <a:bodyPr>
            <a:normAutofit/>
          </a:bodyPr>
          <a:lstStyle>
            <a:lvl1pPr marL="0" indent="0">
              <a:spcAft>
                <a:spcPts val="0"/>
              </a:spcAft>
              <a:buNone/>
              <a:defRPr sz="1265" b="1"/>
            </a:lvl1pPr>
          </a:lstStyle>
          <a:p>
            <a:pPr lvl="0"/>
            <a:r>
              <a:rPr lang="en-US" err="1"/>
              <a:t>dd.mm.yy</a:t>
            </a:r>
            <a:endParaRPr lang="en-US"/>
          </a:p>
        </p:txBody>
      </p:sp>
      <p:sp>
        <p:nvSpPr>
          <p:cNvPr id="19" name="Plassholder for dato 18">
            <a:extLst>
              <a:ext uri="{FF2B5EF4-FFF2-40B4-BE49-F238E27FC236}">
                <a16:creationId xmlns:a16="http://schemas.microsoft.com/office/drawing/2014/main" id="{D92300A2-C93F-436A-A8E9-E76E890344C4}"/>
              </a:ext>
            </a:extLst>
          </p:cNvPr>
          <p:cNvSpPr>
            <a:spLocks noGrp="1"/>
          </p:cNvSpPr>
          <p:nvPr>
            <p:ph type="dt" sz="half" idx="16"/>
          </p:nvPr>
        </p:nvSpPr>
        <p:spPr/>
        <p:txBody>
          <a:bodyPr/>
          <a:lstStyle/>
          <a:p>
            <a:fld id="{A740944C-380E-824F-84B0-A997B25A652A}" type="datetime1">
              <a:rPr lang="nb-NO" smtClean="0"/>
              <a:t>22.09.2026</a:t>
            </a:fld>
            <a:endParaRPr lang="nb-NO"/>
          </a:p>
        </p:txBody>
      </p:sp>
      <p:sp>
        <p:nvSpPr>
          <p:cNvPr id="20" name="Plassholder for bunntekst 19">
            <a:extLst>
              <a:ext uri="{FF2B5EF4-FFF2-40B4-BE49-F238E27FC236}">
                <a16:creationId xmlns:a16="http://schemas.microsoft.com/office/drawing/2014/main" id="{57E1B67A-48D1-4E05-B780-6CFCC1949688}"/>
              </a:ext>
            </a:extLst>
          </p:cNvPr>
          <p:cNvSpPr>
            <a:spLocks noGrp="1"/>
          </p:cNvSpPr>
          <p:nvPr>
            <p:ph type="ftr" sz="quarter" idx="17"/>
          </p:nvPr>
        </p:nvSpPr>
        <p:spPr>
          <a:xfrm>
            <a:off x="683315" y="5393114"/>
            <a:ext cx="3290032" cy="389924"/>
          </a:xfrm>
        </p:spPr>
        <p:txBody>
          <a:bodyPr anchor="t">
            <a:normAutofit/>
          </a:bodyPr>
          <a:lstStyle>
            <a:lvl1pPr>
              <a:defRPr sz="1265"/>
            </a:lvl1pPr>
          </a:lstStyle>
          <a:p>
            <a:r>
              <a:rPr lang="nb-NO"/>
              <a:t>DAVE3625- Intro to A.I. by Umair M.I</a:t>
            </a:r>
          </a:p>
        </p:txBody>
      </p:sp>
      <p:sp>
        <p:nvSpPr>
          <p:cNvPr id="21" name="Plassholder for lysbildenummer 20">
            <a:extLst>
              <a:ext uri="{FF2B5EF4-FFF2-40B4-BE49-F238E27FC236}">
                <a16:creationId xmlns:a16="http://schemas.microsoft.com/office/drawing/2014/main" id="{03FECDC5-AA49-4FC4-BAFD-0FF7FC54F45E}"/>
              </a:ext>
            </a:extLst>
          </p:cNvPr>
          <p:cNvSpPr>
            <a:spLocks noGrp="1"/>
          </p:cNvSpPr>
          <p:nvPr>
            <p:ph type="sldNum" sz="quarter" idx="18"/>
          </p:nvPr>
        </p:nvSpPr>
        <p:spPr/>
        <p:txBody>
          <a:bodyPr/>
          <a:lstStyle/>
          <a:p>
            <a:fld id="{5751DFAA-887F-4071-8EAD-E8CA316FCF06}" type="slidenum">
              <a:rPr lang="nb-NO" smtClean="0"/>
              <a:pPr/>
              <a:t>‹#›</a:t>
            </a:fld>
            <a:endParaRPr lang="nb-NO"/>
          </a:p>
        </p:txBody>
      </p:sp>
      <p:sp>
        <p:nvSpPr>
          <p:cNvPr id="5" name="Plassholder for bilde 4">
            <a:extLst>
              <a:ext uri="{FF2B5EF4-FFF2-40B4-BE49-F238E27FC236}">
                <a16:creationId xmlns:a16="http://schemas.microsoft.com/office/drawing/2014/main" id="{E18F7118-4BBA-4894-9865-C9BC85EE8D99}"/>
              </a:ext>
            </a:extLst>
          </p:cNvPr>
          <p:cNvSpPr>
            <a:spLocks noGrp="1"/>
          </p:cNvSpPr>
          <p:nvPr>
            <p:ph type="pic" sz="quarter" idx="20" hasCustomPrompt="1"/>
          </p:nvPr>
        </p:nvSpPr>
        <p:spPr>
          <a:xfrm>
            <a:off x="11008956" y="683635"/>
            <a:ext cx="501339" cy="457632"/>
          </a:xfrm>
          <a:prstGeom prst="rect">
            <a:avLst/>
          </a:prstGeom>
        </p:spPr>
        <p:txBody>
          <a:bodyPr lIns="91440" tIns="45720" rIns="91440" bIns="45720"/>
          <a:lstStyle>
            <a:lvl1pPr marL="0" indent="0" algn="ctr">
              <a:buNone/>
              <a:defRPr sz="843"/>
            </a:lvl1pPr>
          </a:lstStyle>
          <a:p>
            <a:r>
              <a:rPr lang="en-US"/>
              <a:t>Logo</a:t>
            </a:r>
          </a:p>
        </p:txBody>
      </p:sp>
    </p:spTree>
    <p:extLst>
      <p:ext uri="{BB962C8B-B14F-4D97-AF65-F5344CB8AC3E}">
        <p14:creationId xmlns:p14="http://schemas.microsoft.com/office/powerpoint/2010/main" val="15491627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1">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683316" y="2084327"/>
            <a:ext cx="6942209" cy="1519413"/>
          </a:xfrm>
        </p:spPr>
        <p:txBody>
          <a:bodyPr anchor="b">
            <a:normAutofit/>
          </a:bodyPr>
          <a:lstStyle>
            <a:lvl1pPr algn="l">
              <a:defRPr sz="5483"/>
            </a:lvl1pPr>
          </a:lstStyle>
          <a:p>
            <a:r>
              <a:rPr lang="en-US"/>
              <a:t>Click to edit Master title style</a:t>
            </a:r>
            <a:endParaRPr lang="nb-NO"/>
          </a:p>
        </p:txBody>
      </p:sp>
      <p:sp>
        <p:nvSpPr>
          <p:cNvPr id="3" name="Undertittel 2"/>
          <p:cNvSpPr>
            <a:spLocks noGrp="1"/>
          </p:cNvSpPr>
          <p:nvPr>
            <p:ph type="subTitle" idx="1"/>
          </p:nvPr>
        </p:nvSpPr>
        <p:spPr>
          <a:xfrm>
            <a:off x="683315" y="3860488"/>
            <a:ext cx="6942209" cy="649322"/>
          </a:xfrm>
        </p:spPr>
        <p:txBody>
          <a:bodyPr>
            <a:normAutofit/>
          </a:bodyPr>
          <a:lstStyle>
            <a:lvl1pPr marL="0" indent="0" algn="l">
              <a:spcAft>
                <a:spcPts val="0"/>
              </a:spcAft>
              <a:buNone/>
              <a:defRPr sz="2109"/>
            </a:lvl1pPr>
            <a:lvl2pPr marL="456982" indent="0" algn="ctr">
              <a:buNone/>
              <a:defRPr sz="1999"/>
            </a:lvl2pPr>
            <a:lvl3pPr marL="913965" indent="0" algn="ctr">
              <a:buNone/>
              <a:defRPr sz="1799"/>
            </a:lvl3pPr>
            <a:lvl4pPr marL="1370947" indent="0" algn="ctr">
              <a:buNone/>
              <a:defRPr sz="1599"/>
            </a:lvl4pPr>
            <a:lvl5pPr marL="1827929" indent="0" algn="ctr">
              <a:buNone/>
              <a:defRPr sz="1599"/>
            </a:lvl5pPr>
            <a:lvl6pPr marL="2284911" indent="0" algn="ctr">
              <a:buNone/>
              <a:defRPr sz="1599"/>
            </a:lvl6pPr>
            <a:lvl7pPr marL="2741893" indent="0" algn="ctr">
              <a:buNone/>
              <a:defRPr sz="1599"/>
            </a:lvl7pPr>
            <a:lvl8pPr marL="3198876" indent="0" algn="ctr">
              <a:buNone/>
              <a:defRPr sz="1599"/>
            </a:lvl8pPr>
            <a:lvl9pPr marL="3655858" indent="0" algn="ctr">
              <a:buNone/>
              <a:defRPr sz="1599"/>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3315" y="6170432"/>
            <a:ext cx="1626139" cy="191842"/>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3315" y="683635"/>
            <a:ext cx="704874" cy="416906"/>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682913" y="5104148"/>
            <a:ext cx="3290032" cy="194797"/>
          </a:xfrm>
        </p:spPr>
        <p:txBody>
          <a:bodyPr>
            <a:normAutofit/>
          </a:bodyPr>
          <a:lstStyle>
            <a:lvl1pPr marL="0" indent="0">
              <a:spcAft>
                <a:spcPts val="0"/>
              </a:spcAft>
              <a:buNone/>
              <a:defRPr sz="1265"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65620" y="5104148"/>
            <a:ext cx="930302" cy="194797"/>
          </a:xfrm>
        </p:spPr>
        <p:txBody>
          <a:bodyPr>
            <a:normAutofit/>
          </a:bodyPr>
          <a:lstStyle>
            <a:lvl1pPr marL="0" indent="0">
              <a:spcAft>
                <a:spcPts val="0"/>
              </a:spcAft>
              <a:buNone/>
              <a:defRPr sz="1265" b="1"/>
            </a:lvl1pPr>
          </a:lstStyle>
          <a:p>
            <a:pPr lvl="0"/>
            <a:r>
              <a:rPr lang="en-US" err="1"/>
              <a:t>dd.mm.yy</a:t>
            </a:r>
            <a:endParaRPr lang="en-US"/>
          </a:p>
        </p:txBody>
      </p:sp>
      <p:sp>
        <p:nvSpPr>
          <p:cNvPr id="18" name="Plassholder for bilde 2">
            <a:extLst>
              <a:ext uri="{FF2B5EF4-FFF2-40B4-BE49-F238E27FC236}">
                <a16:creationId xmlns:a16="http://schemas.microsoft.com/office/drawing/2014/main" id="{09618C08-F29C-40C4-8567-0AA16331659B}"/>
              </a:ext>
            </a:extLst>
          </p:cNvPr>
          <p:cNvSpPr>
            <a:spLocks noGrp="1"/>
          </p:cNvSpPr>
          <p:nvPr>
            <p:ph type="pic" sz="quarter" idx="16"/>
          </p:nvPr>
        </p:nvSpPr>
        <p:spPr>
          <a:xfrm>
            <a:off x="7940266" y="-1"/>
            <a:ext cx="4251734" cy="6861662"/>
          </a:xfrm>
          <a:prstGeom prst="rect">
            <a:avLst/>
          </a:prstGeom>
          <a:blipFill>
            <a:blip r:embed="rId4"/>
            <a:stretch>
              <a:fillRect/>
            </a:stretch>
          </a:blipFill>
        </p:spPr>
        <p:txBody>
          <a:bodyPr lIns="0" tIns="1800000" rIns="0" bIns="0">
            <a:normAutofit/>
          </a:bodyPr>
          <a:lstStyle>
            <a:lvl1pPr marL="0" indent="0" algn="ctr">
              <a:buNone/>
              <a:defRPr sz="2109"/>
            </a:lvl1pPr>
          </a:lstStyle>
          <a:p>
            <a:r>
              <a:rPr lang="en-US"/>
              <a:t>Click icon to add picture</a:t>
            </a:r>
          </a:p>
        </p:txBody>
      </p:sp>
      <p:sp>
        <p:nvSpPr>
          <p:cNvPr id="7" name="Plassholder for dato 6">
            <a:extLst>
              <a:ext uri="{FF2B5EF4-FFF2-40B4-BE49-F238E27FC236}">
                <a16:creationId xmlns:a16="http://schemas.microsoft.com/office/drawing/2014/main" id="{9C9975B5-4B5A-4A2F-BFDB-CB07FFF41FA2}"/>
              </a:ext>
            </a:extLst>
          </p:cNvPr>
          <p:cNvSpPr>
            <a:spLocks noGrp="1"/>
          </p:cNvSpPr>
          <p:nvPr>
            <p:ph type="dt" sz="half" idx="17"/>
          </p:nvPr>
        </p:nvSpPr>
        <p:spPr/>
        <p:txBody>
          <a:bodyPr/>
          <a:lstStyle/>
          <a:p>
            <a:fld id="{16BBAB6F-04B8-5C4E-B1C8-0FDA653A0EF8}" type="datetime1">
              <a:rPr lang="nb-NO" smtClean="0"/>
              <a:t>22.09.2026</a:t>
            </a:fld>
            <a:endParaRPr lang="nb-NO"/>
          </a:p>
        </p:txBody>
      </p:sp>
      <p:sp>
        <p:nvSpPr>
          <p:cNvPr id="8" name="Plassholder for bunntekst 7">
            <a:extLst>
              <a:ext uri="{FF2B5EF4-FFF2-40B4-BE49-F238E27FC236}">
                <a16:creationId xmlns:a16="http://schemas.microsoft.com/office/drawing/2014/main" id="{32A4462D-B68E-4569-9BEC-C576B12E203A}"/>
              </a:ext>
            </a:extLst>
          </p:cNvPr>
          <p:cNvSpPr>
            <a:spLocks noGrp="1"/>
          </p:cNvSpPr>
          <p:nvPr>
            <p:ph type="ftr" sz="quarter" idx="18"/>
          </p:nvPr>
        </p:nvSpPr>
        <p:spPr>
          <a:xfrm>
            <a:off x="683315" y="5392806"/>
            <a:ext cx="3290032" cy="389593"/>
          </a:xfrm>
        </p:spPr>
        <p:txBody>
          <a:bodyPr anchor="t">
            <a:normAutofit/>
          </a:bodyPr>
          <a:lstStyle>
            <a:lvl1pPr>
              <a:defRPr sz="1265"/>
            </a:lvl1pPr>
          </a:lstStyle>
          <a:p>
            <a:r>
              <a:rPr lang="nb-NO"/>
              <a:t>DAVE3625- Intro to A.I. by Umair M.I</a:t>
            </a:r>
          </a:p>
        </p:txBody>
      </p:sp>
      <p:sp>
        <p:nvSpPr>
          <p:cNvPr id="9" name="Plassholder for lysbildenummer 8">
            <a:extLst>
              <a:ext uri="{FF2B5EF4-FFF2-40B4-BE49-F238E27FC236}">
                <a16:creationId xmlns:a16="http://schemas.microsoft.com/office/drawing/2014/main" id="{2D0123D4-9C42-4ABB-9A5B-37874E90FD25}"/>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C58DDDE6-A7EF-4EF2-98F8-7C8C432B202F}"/>
              </a:ext>
            </a:extLst>
          </p:cNvPr>
          <p:cNvSpPr>
            <a:spLocks noGrp="1"/>
          </p:cNvSpPr>
          <p:nvPr>
            <p:ph type="pic" sz="quarter" idx="20" hasCustomPrompt="1"/>
          </p:nvPr>
        </p:nvSpPr>
        <p:spPr>
          <a:xfrm>
            <a:off x="7124186" y="683635"/>
            <a:ext cx="501339" cy="457632"/>
          </a:xfrm>
          <a:prstGeom prst="rect">
            <a:avLst/>
          </a:prstGeom>
        </p:spPr>
        <p:txBody>
          <a:bodyPr lIns="91440" tIns="45720" rIns="91440" bIns="45720"/>
          <a:lstStyle>
            <a:lvl1pPr marL="0" indent="0" algn="ctr">
              <a:buNone/>
              <a:defRPr sz="843"/>
            </a:lvl1pPr>
          </a:lstStyle>
          <a:p>
            <a:r>
              <a:rPr lang="en-US"/>
              <a:t>Logo</a:t>
            </a:r>
          </a:p>
        </p:txBody>
      </p:sp>
    </p:spTree>
    <p:extLst>
      <p:ext uri="{BB962C8B-B14F-4D97-AF65-F5344CB8AC3E}">
        <p14:creationId xmlns:p14="http://schemas.microsoft.com/office/powerpoint/2010/main" val="23926812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2">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ctrTitle"/>
          </p:nvPr>
        </p:nvSpPr>
        <p:spPr>
          <a:xfrm>
            <a:off x="683315" y="2012878"/>
            <a:ext cx="5102322" cy="1519413"/>
          </a:xfrm>
        </p:spPr>
        <p:txBody>
          <a:bodyPr anchor="b">
            <a:normAutofit/>
          </a:bodyPr>
          <a:lstStyle>
            <a:lvl1pPr algn="l">
              <a:defRPr sz="3374"/>
            </a:lvl1pPr>
          </a:lstStyle>
          <a:p>
            <a:r>
              <a:rPr lang="en-US"/>
              <a:t>Click to edit Master title style</a:t>
            </a:r>
            <a:endParaRPr lang="nb-NO"/>
          </a:p>
        </p:txBody>
      </p:sp>
      <p:sp>
        <p:nvSpPr>
          <p:cNvPr id="3" name="Undertittel 2"/>
          <p:cNvSpPr>
            <a:spLocks noGrp="1"/>
          </p:cNvSpPr>
          <p:nvPr>
            <p:ph type="subTitle" idx="1"/>
          </p:nvPr>
        </p:nvSpPr>
        <p:spPr>
          <a:xfrm>
            <a:off x="683315" y="3860488"/>
            <a:ext cx="5102322" cy="649322"/>
          </a:xfrm>
        </p:spPr>
        <p:txBody>
          <a:bodyPr>
            <a:normAutofit/>
          </a:bodyPr>
          <a:lstStyle>
            <a:lvl1pPr marL="0" indent="0" algn="l">
              <a:spcAft>
                <a:spcPts val="0"/>
              </a:spcAft>
              <a:buNone/>
              <a:defRPr sz="2109"/>
            </a:lvl1pPr>
            <a:lvl2pPr marL="456982" indent="0" algn="ctr">
              <a:buNone/>
              <a:defRPr sz="1999"/>
            </a:lvl2pPr>
            <a:lvl3pPr marL="913965" indent="0" algn="ctr">
              <a:buNone/>
              <a:defRPr sz="1799"/>
            </a:lvl3pPr>
            <a:lvl4pPr marL="1370947" indent="0" algn="ctr">
              <a:buNone/>
              <a:defRPr sz="1599"/>
            </a:lvl4pPr>
            <a:lvl5pPr marL="1827929" indent="0" algn="ctr">
              <a:buNone/>
              <a:defRPr sz="1599"/>
            </a:lvl5pPr>
            <a:lvl6pPr marL="2284911" indent="0" algn="ctr">
              <a:buNone/>
              <a:defRPr sz="1599"/>
            </a:lvl6pPr>
            <a:lvl7pPr marL="2741893" indent="0" algn="ctr">
              <a:buNone/>
              <a:defRPr sz="1599"/>
            </a:lvl7pPr>
            <a:lvl8pPr marL="3198876" indent="0" algn="ctr">
              <a:buNone/>
              <a:defRPr sz="1599"/>
            </a:lvl8pPr>
            <a:lvl9pPr marL="3655858" indent="0" algn="ctr">
              <a:buNone/>
              <a:defRPr sz="1599"/>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83315" y="6170432"/>
            <a:ext cx="1626139" cy="191842"/>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3315" y="683635"/>
            <a:ext cx="704874" cy="416906"/>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682913" y="5104148"/>
            <a:ext cx="3290032" cy="194797"/>
          </a:xfrm>
        </p:spPr>
        <p:txBody>
          <a:bodyPr>
            <a:normAutofit/>
          </a:bodyPr>
          <a:lstStyle>
            <a:lvl1pPr marL="0" indent="0">
              <a:spcAft>
                <a:spcPts val="0"/>
              </a:spcAft>
              <a:buNone/>
              <a:defRPr sz="1265"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4365620" y="5104148"/>
            <a:ext cx="930302" cy="194797"/>
          </a:xfrm>
        </p:spPr>
        <p:txBody>
          <a:bodyPr>
            <a:normAutofit/>
          </a:bodyPr>
          <a:lstStyle>
            <a:lvl1pPr marL="0" indent="0">
              <a:spcAft>
                <a:spcPts val="0"/>
              </a:spcAft>
              <a:buNone/>
              <a:defRPr sz="1265" b="1"/>
            </a:lvl1pPr>
          </a:lstStyle>
          <a:p>
            <a:pPr lvl="0"/>
            <a:r>
              <a:rPr lang="en-US" err="1"/>
              <a:t>dd.mm.yy</a:t>
            </a:r>
            <a:endParaRPr lang="en-US"/>
          </a:p>
        </p:txBody>
      </p:sp>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6092786" y="0"/>
            <a:ext cx="6099214" cy="6861662"/>
          </a:xfrm>
          <a:prstGeom prst="rect">
            <a:avLst/>
          </a:prstGeom>
          <a:blipFill>
            <a:blip r:embed="rId4"/>
            <a:stretch>
              <a:fillRect/>
            </a:stretch>
          </a:blipFill>
        </p:spPr>
        <p:txBody>
          <a:bodyPr lIns="0" tIns="1800000" rIns="0" bIns="0">
            <a:normAutofit/>
          </a:bodyPr>
          <a:lstStyle>
            <a:lvl1pPr marL="0" indent="0" algn="ctr">
              <a:buNone/>
              <a:defRPr sz="2109">
                <a:solidFill>
                  <a:schemeClr val="lt1"/>
                </a:solidFill>
              </a:defRPr>
            </a:lvl1pPr>
          </a:lstStyle>
          <a:p>
            <a:r>
              <a:rPr lang="en-US"/>
              <a:t>Click icon to add picture</a:t>
            </a:r>
          </a:p>
        </p:txBody>
      </p:sp>
      <p:sp>
        <p:nvSpPr>
          <p:cNvPr id="7" name="Plassholder for dato 6">
            <a:extLst>
              <a:ext uri="{FF2B5EF4-FFF2-40B4-BE49-F238E27FC236}">
                <a16:creationId xmlns:a16="http://schemas.microsoft.com/office/drawing/2014/main" id="{C8943FA9-1FC1-4CA6-9987-51D4A224B782}"/>
              </a:ext>
            </a:extLst>
          </p:cNvPr>
          <p:cNvSpPr>
            <a:spLocks noGrp="1"/>
          </p:cNvSpPr>
          <p:nvPr>
            <p:ph type="dt" sz="half" idx="17"/>
          </p:nvPr>
        </p:nvSpPr>
        <p:spPr/>
        <p:txBody>
          <a:bodyPr/>
          <a:lstStyle/>
          <a:p>
            <a:fld id="{B7321CCC-3273-4642-8929-189E178DA97A}" type="datetime1">
              <a:rPr lang="nb-NO" smtClean="0"/>
              <a:t>22.09.2026</a:t>
            </a:fld>
            <a:endParaRPr lang="nb-NO"/>
          </a:p>
        </p:txBody>
      </p:sp>
      <p:sp>
        <p:nvSpPr>
          <p:cNvPr id="8" name="Plassholder for bunntekst 7">
            <a:extLst>
              <a:ext uri="{FF2B5EF4-FFF2-40B4-BE49-F238E27FC236}">
                <a16:creationId xmlns:a16="http://schemas.microsoft.com/office/drawing/2014/main" id="{26AB9857-A3BC-4168-94D2-E16B4C9D7E0D}"/>
              </a:ext>
            </a:extLst>
          </p:cNvPr>
          <p:cNvSpPr>
            <a:spLocks noGrp="1"/>
          </p:cNvSpPr>
          <p:nvPr>
            <p:ph type="ftr" sz="quarter" idx="18"/>
          </p:nvPr>
        </p:nvSpPr>
        <p:spPr>
          <a:xfrm>
            <a:off x="683315" y="5392806"/>
            <a:ext cx="3290032" cy="389593"/>
          </a:xfrm>
        </p:spPr>
        <p:txBody>
          <a:bodyPr anchor="t">
            <a:normAutofit/>
          </a:bodyPr>
          <a:lstStyle>
            <a:lvl1pPr>
              <a:defRPr sz="1265"/>
            </a:lvl1pPr>
          </a:lstStyle>
          <a:p>
            <a:r>
              <a:rPr lang="nb-NO"/>
              <a:t>DAVE3625- Intro to A.I. by Umair M.I</a:t>
            </a:r>
          </a:p>
        </p:txBody>
      </p:sp>
      <p:sp>
        <p:nvSpPr>
          <p:cNvPr id="9" name="Plassholder for lysbildenummer 8">
            <a:extLst>
              <a:ext uri="{FF2B5EF4-FFF2-40B4-BE49-F238E27FC236}">
                <a16:creationId xmlns:a16="http://schemas.microsoft.com/office/drawing/2014/main" id="{C95D276C-EFB8-4B16-B8EC-3B53CBDB3477}"/>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D8135442-1495-4020-900D-917070638299}"/>
              </a:ext>
            </a:extLst>
          </p:cNvPr>
          <p:cNvSpPr>
            <a:spLocks noGrp="1"/>
          </p:cNvSpPr>
          <p:nvPr>
            <p:ph type="pic" sz="quarter" idx="20" hasCustomPrompt="1"/>
          </p:nvPr>
        </p:nvSpPr>
        <p:spPr>
          <a:xfrm>
            <a:off x="5284299" y="683635"/>
            <a:ext cx="501339" cy="457632"/>
          </a:xfrm>
          <a:prstGeom prst="rect">
            <a:avLst/>
          </a:prstGeom>
        </p:spPr>
        <p:txBody>
          <a:bodyPr lIns="91440" tIns="45720" rIns="91440" bIns="45720"/>
          <a:lstStyle>
            <a:lvl1pPr marL="0" indent="0" algn="ctr">
              <a:buNone/>
              <a:defRPr sz="843"/>
            </a:lvl1pPr>
          </a:lstStyle>
          <a:p>
            <a:r>
              <a:rPr lang="en-US"/>
              <a:t>Logo</a:t>
            </a:r>
          </a:p>
        </p:txBody>
      </p:sp>
    </p:spTree>
    <p:extLst>
      <p:ext uri="{BB962C8B-B14F-4D97-AF65-F5344CB8AC3E}">
        <p14:creationId xmlns:p14="http://schemas.microsoft.com/office/powerpoint/2010/main" val="24335454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Forside, samarbeid - bildestr 3">
    <p:bg>
      <p:bgPr>
        <a:solidFill>
          <a:schemeClr val="accent1"/>
        </a:solidFill>
        <a:effectLst/>
      </p:bgPr>
    </p:bg>
    <p:spTree>
      <p:nvGrpSpPr>
        <p:cNvPr id="1" name=""/>
        <p:cNvGrpSpPr/>
        <p:nvPr/>
      </p:nvGrpSpPr>
      <p:grpSpPr>
        <a:xfrm>
          <a:off x="0" y="0"/>
          <a:ext cx="0" cy="0"/>
          <a:chOff x="0" y="0"/>
          <a:chExt cx="0" cy="0"/>
        </a:xfrm>
      </p:grpSpPr>
      <p:sp>
        <p:nvSpPr>
          <p:cNvPr id="18" name="Plassholder for bilde 2">
            <a:extLst>
              <a:ext uri="{FF2B5EF4-FFF2-40B4-BE49-F238E27FC236}">
                <a16:creationId xmlns:a16="http://schemas.microsoft.com/office/drawing/2014/main" id="{B43FD533-FAAC-4103-AFC1-88E78E1E14F4}"/>
              </a:ext>
            </a:extLst>
          </p:cNvPr>
          <p:cNvSpPr>
            <a:spLocks noGrp="1"/>
          </p:cNvSpPr>
          <p:nvPr>
            <p:ph type="pic" sz="quarter" idx="16"/>
          </p:nvPr>
        </p:nvSpPr>
        <p:spPr>
          <a:xfrm>
            <a:off x="4257961" y="0"/>
            <a:ext cx="7934040" cy="6861662"/>
          </a:xfrm>
          <a:prstGeom prst="rect">
            <a:avLst/>
          </a:prstGeom>
          <a:blipFill>
            <a:blip r:embed="rId2"/>
            <a:stretch>
              <a:fillRect/>
            </a:stretch>
          </a:blipFill>
        </p:spPr>
        <p:txBody>
          <a:bodyPr lIns="0" tIns="1800000" rIns="0" bIns="0">
            <a:normAutofit/>
          </a:bodyPr>
          <a:lstStyle>
            <a:lvl1pPr marL="0" indent="0" algn="ctr">
              <a:buNone/>
              <a:defRPr sz="2109">
                <a:solidFill>
                  <a:schemeClr val="lt1"/>
                </a:solidFill>
              </a:defRPr>
            </a:lvl1pPr>
          </a:lstStyle>
          <a:p>
            <a:r>
              <a:rPr lang="en-US"/>
              <a:t>Click icon to add picture</a:t>
            </a:r>
          </a:p>
        </p:txBody>
      </p:sp>
      <p:sp>
        <p:nvSpPr>
          <p:cNvPr id="2" name="Tittel 1"/>
          <p:cNvSpPr>
            <a:spLocks noGrp="1"/>
          </p:cNvSpPr>
          <p:nvPr>
            <p:ph type="ctrTitle"/>
          </p:nvPr>
        </p:nvSpPr>
        <p:spPr>
          <a:xfrm>
            <a:off x="683316" y="2012878"/>
            <a:ext cx="3259904" cy="1519413"/>
          </a:xfrm>
        </p:spPr>
        <p:txBody>
          <a:bodyPr anchor="b">
            <a:normAutofit/>
          </a:bodyPr>
          <a:lstStyle>
            <a:lvl1pPr algn="l">
              <a:defRPr sz="3374"/>
            </a:lvl1pPr>
          </a:lstStyle>
          <a:p>
            <a:r>
              <a:rPr lang="en-US"/>
              <a:t>Click to edit Master title style</a:t>
            </a:r>
            <a:endParaRPr lang="nb-NO"/>
          </a:p>
        </p:txBody>
      </p:sp>
      <p:sp>
        <p:nvSpPr>
          <p:cNvPr id="3" name="Undertittel 2"/>
          <p:cNvSpPr>
            <a:spLocks noGrp="1"/>
          </p:cNvSpPr>
          <p:nvPr>
            <p:ph type="subTitle" idx="1"/>
          </p:nvPr>
        </p:nvSpPr>
        <p:spPr>
          <a:xfrm>
            <a:off x="683315" y="3860488"/>
            <a:ext cx="3259904" cy="649322"/>
          </a:xfrm>
        </p:spPr>
        <p:txBody>
          <a:bodyPr>
            <a:normAutofit/>
          </a:bodyPr>
          <a:lstStyle>
            <a:lvl1pPr marL="0" indent="0" algn="l">
              <a:spcAft>
                <a:spcPts val="0"/>
              </a:spcAft>
              <a:buNone/>
              <a:defRPr sz="2109"/>
            </a:lvl1pPr>
            <a:lvl2pPr marL="456982" indent="0" algn="ctr">
              <a:buNone/>
              <a:defRPr sz="1999"/>
            </a:lvl2pPr>
            <a:lvl3pPr marL="913965" indent="0" algn="ctr">
              <a:buNone/>
              <a:defRPr sz="1799"/>
            </a:lvl3pPr>
            <a:lvl4pPr marL="1370947" indent="0" algn="ctr">
              <a:buNone/>
              <a:defRPr sz="1599"/>
            </a:lvl4pPr>
            <a:lvl5pPr marL="1827929" indent="0" algn="ctr">
              <a:buNone/>
              <a:defRPr sz="1599"/>
            </a:lvl5pPr>
            <a:lvl6pPr marL="2284911" indent="0" algn="ctr">
              <a:buNone/>
              <a:defRPr sz="1599"/>
            </a:lvl6pPr>
            <a:lvl7pPr marL="2741893" indent="0" algn="ctr">
              <a:buNone/>
              <a:defRPr sz="1599"/>
            </a:lvl7pPr>
            <a:lvl8pPr marL="3198876" indent="0" algn="ctr">
              <a:buNone/>
              <a:defRPr sz="1599"/>
            </a:lvl8pPr>
            <a:lvl9pPr marL="3655858" indent="0" algn="ctr">
              <a:buNone/>
              <a:defRPr sz="1599"/>
            </a:lvl9pPr>
          </a:lstStyle>
          <a:p>
            <a:r>
              <a:rPr lang="en-US"/>
              <a:t>Click to edit Master subtitle style</a:t>
            </a:r>
            <a:endParaRPr lang="nb-NO"/>
          </a:p>
        </p:txBody>
      </p:sp>
      <p:pic>
        <p:nvPicPr>
          <p:cNvPr id="10" name="Bilde 9">
            <a:extLst>
              <a:ext uri="{FF2B5EF4-FFF2-40B4-BE49-F238E27FC236}">
                <a16:creationId xmlns:a16="http://schemas.microsoft.com/office/drawing/2014/main" id="{B2BFC532-BB49-4A9B-828F-DA07981B29AD}"/>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683315" y="6170432"/>
            <a:ext cx="1626139" cy="191842"/>
          </a:xfrm>
          <a:prstGeom prst="rect">
            <a:avLst/>
          </a:prstGeom>
        </p:spPr>
      </p:pic>
      <p:pic>
        <p:nvPicPr>
          <p:cNvPr id="11" name="Bilde 10">
            <a:extLst>
              <a:ext uri="{FF2B5EF4-FFF2-40B4-BE49-F238E27FC236}">
                <a16:creationId xmlns:a16="http://schemas.microsoft.com/office/drawing/2014/main" id="{53C72BA8-5206-40C2-9736-7FFE631FB8C4}"/>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683315" y="683635"/>
            <a:ext cx="704874" cy="416906"/>
          </a:xfrm>
          <a:prstGeom prst="rect">
            <a:avLst/>
          </a:prstGeom>
        </p:spPr>
      </p:pic>
      <p:sp>
        <p:nvSpPr>
          <p:cNvPr id="13" name="Plassholder for tekst 12">
            <a:extLst>
              <a:ext uri="{FF2B5EF4-FFF2-40B4-BE49-F238E27FC236}">
                <a16:creationId xmlns:a16="http://schemas.microsoft.com/office/drawing/2014/main" id="{13C1365D-4C78-47E2-BB00-E802460A267F}"/>
              </a:ext>
            </a:extLst>
          </p:cNvPr>
          <p:cNvSpPr>
            <a:spLocks noGrp="1"/>
          </p:cNvSpPr>
          <p:nvPr>
            <p:ph type="body" sz="quarter" idx="13" hasCustomPrompt="1"/>
          </p:nvPr>
        </p:nvSpPr>
        <p:spPr>
          <a:xfrm>
            <a:off x="682913" y="5104148"/>
            <a:ext cx="2277715" cy="194797"/>
          </a:xfrm>
        </p:spPr>
        <p:txBody>
          <a:bodyPr>
            <a:normAutofit/>
          </a:bodyPr>
          <a:lstStyle>
            <a:lvl1pPr marL="0" indent="0">
              <a:spcAft>
                <a:spcPts val="0"/>
              </a:spcAft>
              <a:buNone/>
              <a:defRPr sz="1265" b="1"/>
            </a:lvl1pPr>
          </a:lstStyle>
          <a:p>
            <a:pPr lvl="0"/>
            <a:r>
              <a:rPr lang="en-US" err="1"/>
              <a:t>Navn</a:t>
            </a:r>
            <a:r>
              <a:rPr lang="en-US"/>
              <a:t> </a:t>
            </a:r>
            <a:r>
              <a:rPr lang="en-US" err="1"/>
              <a:t>Navnesen</a:t>
            </a:r>
            <a:endParaRPr lang="en-US"/>
          </a:p>
        </p:txBody>
      </p:sp>
      <p:sp>
        <p:nvSpPr>
          <p:cNvPr id="14" name="Plassholder for tekst 12">
            <a:extLst>
              <a:ext uri="{FF2B5EF4-FFF2-40B4-BE49-F238E27FC236}">
                <a16:creationId xmlns:a16="http://schemas.microsoft.com/office/drawing/2014/main" id="{7FB3BA08-9F02-4876-8848-E113017893FD}"/>
              </a:ext>
            </a:extLst>
          </p:cNvPr>
          <p:cNvSpPr>
            <a:spLocks noGrp="1"/>
          </p:cNvSpPr>
          <p:nvPr>
            <p:ph type="body" sz="quarter" idx="14" hasCustomPrompt="1"/>
          </p:nvPr>
        </p:nvSpPr>
        <p:spPr>
          <a:xfrm>
            <a:off x="3057441" y="5104148"/>
            <a:ext cx="885778" cy="194797"/>
          </a:xfrm>
        </p:spPr>
        <p:txBody>
          <a:bodyPr>
            <a:normAutofit/>
          </a:bodyPr>
          <a:lstStyle>
            <a:lvl1pPr marL="0" indent="0">
              <a:spcAft>
                <a:spcPts val="0"/>
              </a:spcAft>
              <a:buNone/>
              <a:defRPr sz="1265" b="1"/>
            </a:lvl1pPr>
          </a:lstStyle>
          <a:p>
            <a:pPr lvl="0"/>
            <a:r>
              <a:rPr lang="en-US" err="1"/>
              <a:t>dd.mm.yy</a:t>
            </a:r>
            <a:endParaRPr lang="en-US"/>
          </a:p>
        </p:txBody>
      </p:sp>
      <p:sp>
        <p:nvSpPr>
          <p:cNvPr id="7" name="Plassholder for dato 6">
            <a:extLst>
              <a:ext uri="{FF2B5EF4-FFF2-40B4-BE49-F238E27FC236}">
                <a16:creationId xmlns:a16="http://schemas.microsoft.com/office/drawing/2014/main" id="{322CBC60-2F96-4955-8CB7-A723C0337AF7}"/>
              </a:ext>
            </a:extLst>
          </p:cNvPr>
          <p:cNvSpPr>
            <a:spLocks noGrp="1"/>
          </p:cNvSpPr>
          <p:nvPr>
            <p:ph type="dt" sz="half" idx="17"/>
          </p:nvPr>
        </p:nvSpPr>
        <p:spPr/>
        <p:txBody>
          <a:bodyPr/>
          <a:lstStyle/>
          <a:p>
            <a:fld id="{5AE6739E-6E3E-AC48-A2BB-172B20FCB366}" type="datetime1">
              <a:rPr lang="nb-NO" smtClean="0"/>
              <a:t>22.09.2026</a:t>
            </a:fld>
            <a:endParaRPr lang="nb-NO"/>
          </a:p>
        </p:txBody>
      </p:sp>
      <p:sp>
        <p:nvSpPr>
          <p:cNvPr id="8" name="Plassholder for bunntekst 7">
            <a:extLst>
              <a:ext uri="{FF2B5EF4-FFF2-40B4-BE49-F238E27FC236}">
                <a16:creationId xmlns:a16="http://schemas.microsoft.com/office/drawing/2014/main" id="{734F802C-71FE-47BA-816D-423460A9EB6E}"/>
              </a:ext>
            </a:extLst>
          </p:cNvPr>
          <p:cNvSpPr>
            <a:spLocks noGrp="1"/>
          </p:cNvSpPr>
          <p:nvPr>
            <p:ph type="ftr" sz="quarter" idx="18"/>
          </p:nvPr>
        </p:nvSpPr>
        <p:spPr>
          <a:xfrm>
            <a:off x="682914" y="5388048"/>
            <a:ext cx="3259904" cy="389593"/>
          </a:xfrm>
        </p:spPr>
        <p:txBody>
          <a:bodyPr anchor="t">
            <a:normAutofit/>
          </a:bodyPr>
          <a:lstStyle>
            <a:lvl1pPr>
              <a:defRPr sz="1265"/>
            </a:lvl1pPr>
          </a:lstStyle>
          <a:p>
            <a:r>
              <a:rPr lang="nb-NO"/>
              <a:t>DAVE3625- Intro to A.I. by Umair M.I</a:t>
            </a:r>
          </a:p>
        </p:txBody>
      </p:sp>
      <p:sp>
        <p:nvSpPr>
          <p:cNvPr id="9" name="Plassholder for lysbildenummer 8">
            <a:extLst>
              <a:ext uri="{FF2B5EF4-FFF2-40B4-BE49-F238E27FC236}">
                <a16:creationId xmlns:a16="http://schemas.microsoft.com/office/drawing/2014/main" id="{8D2008E8-13A1-4052-91CA-FD29ACBA8C5A}"/>
              </a:ext>
            </a:extLst>
          </p:cNvPr>
          <p:cNvSpPr>
            <a:spLocks noGrp="1"/>
          </p:cNvSpPr>
          <p:nvPr>
            <p:ph type="sldNum" sz="quarter" idx="19"/>
          </p:nvPr>
        </p:nvSpPr>
        <p:spPr/>
        <p:txBody>
          <a:bodyPr/>
          <a:lstStyle/>
          <a:p>
            <a:fld id="{5751DFAA-887F-4071-8EAD-E8CA316FCF06}" type="slidenum">
              <a:rPr lang="nb-NO" smtClean="0"/>
              <a:pPr/>
              <a:t>‹#›</a:t>
            </a:fld>
            <a:endParaRPr lang="nb-NO"/>
          </a:p>
        </p:txBody>
      </p:sp>
      <p:sp>
        <p:nvSpPr>
          <p:cNvPr id="15" name="Plassholder for bilde 4">
            <a:extLst>
              <a:ext uri="{FF2B5EF4-FFF2-40B4-BE49-F238E27FC236}">
                <a16:creationId xmlns:a16="http://schemas.microsoft.com/office/drawing/2014/main" id="{66EBDB16-4B51-4813-AB2B-6B7738B506C9}"/>
              </a:ext>
            </a:extLst>
          </p:cNvPr>
          <p:cNvSpPr>
            <a:spLocks noGrp="1"/>
          </p:cNvSpPr>
          <p:nvPr>
            <p:ph type="pic" sz="quarter" idx="20" hasCustomPrompt="1"/>
          </p:nvPr>
        </p:nvSpPr>
        <p:spPr>
          <a:xfrm>
            <a:off x="3441880" y="683635"/>
            <a:ext cx="501339" cy="457632"/>
          </a:xfrm>
          <a:prstGeom prst="rect">
            <a:avLst/>
          </a:prstGeom>
        </p:spPr>
        <p:txBody>
          <a:bodyPr lIns="91440" tIns="45720" rIns="91440" bIns="45720"/>
          <a:lstStyle>
            <a:lvl1pPr marL="0" indent="0" algn="ctr">
              <a:buNone/>
              <a:defRPr sz="843"/>
            </a:lvl1pPr>
          </a:lstStyle>
          <a:p>
            <a:r>
              <a:rPr lang="en-US"/>
              <a:t>Logo</a:t>
            </a:r>
          </a:p>
        </p:txBody>
      </p:sp>
    </p:spTree>
    <p:extLst>
      <p:ext uri="{BB962C8B-B14F-4D97-AF65-F5344CB8AC3E}">
        <p14:creationId xmlns:p14="http://schemas.microsoft.com/office/powerpoint/2010/main" val="32577535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tel og innhold">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dato 3"/>
          <p:cNvSpPr>
            <a:spLocks noGrp="1"/>
          </p:cNvSpPr>
          <p:nvPr>
            <p:ph type="dt" sz="half" idx="10"/>
          </p:nvPr>
        </p:nvSpPr>
        <p:spPr/>
        <p:txBody>
          <a:bodyPr/>
          <a:lstStyle/>
          <a:p>
            <a:fld id="{D140523B-80AB-E544-A6BA-C2309CA59130}" type="datetime1">
              <a:rPr lang="nb-NO" smtClean="0"/>
              <a:t>22.09.2026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912445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Deloverskrift stor">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683315" y="3184376"/>
            <a:ext cx="10806491" cy="2337559"/>
          </a:xfrm>
        </p:spPr>
        <p:txBody>
          <a:bodyPr anchor="b">
            <a:normAutofit/>
          </a:bodyPr>
          <a:lstStyle>
            <a:lvl1pPr>
              <a:defRPr sz="8435"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B6221054-38F0-AE47-81A4-66CD8155A783}" type="datetime1">
              <a:rPr lang="nb-NO" smtClean="0"/>
              <a:t>22.09.2026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338634857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Deloverskrift liten">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p:nvPr>
        </p:nvSpPr>
        <p:spPr>
          <a:xfrm>
            <a:off x="683315" y="3910661"/>
            <a:ext cx="10806491" cy="1519413"/>
          </a:xfrm>
        </p:spPr>
        <p:txBody>
          <a:bodyPr anchor="b">
            <a:normAutofit/>
          </a:bodyPr>
          <a:lstStyle>
            <a:lvl1pPr>
              <a:defRPr sz="5483" cap="all" baseline="0"/>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C6EBBC40-60EA-744C-ACBA-7B246C281866}" type="datetime1">
              <a:rPr lang="nb-NO" smtClean="0"/>
              <a:t>22.09.2026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4236621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tel og 3x tekstboks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96A1C65C-1B95-7046-A0F3-75D50F4A61FD}" type="datetime1">
              <a:rPr lang="nb-NO" smtClean="0"/>
              <a:t>22.09.2026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683315" y="2456019"/>
            <a:ext cx="3353302" cy="3291572"/>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lassholder for tekst 6">
            <a:extLst>
              <a:ext uri="{FF2B5EF4-FFF2-40B4-BE49-F238E27FC236}">
                <a16:creationId xmlns:a16="http://schemas.microsoft.com/office/drawing/2014/main" id="{3633B4FE-1A74-4469-A955-AEC7C7511EFD}"/>
              </a:ext>
            </a:extLst>
          </p:cNvPr>
          <p:cNvSpPr>
            <a:spLocks noGrp="1"/>
          </p:cNvSpPr>
          <p:nvPr>
            <p:ph type="body" sz="quarter" idx="14"/>
          </p:nvPr>
        </p:nvSpPr>
        <p:spPr>
          <a:xfrm>
            <a:off x="8136504" y="2456019"/>
            <a:ext cx="3353302" cy="3291572"/>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4378273" y="2456019"/>
            <a:ext cx="3353302" cy="3291572"/>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9041744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2x tekstbokser og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7940266" y="-1"/>
            <a:ext cx="4251734" cy="6861662"/>
          </a:xfrm>
          <a:prstGeom prst="rect">
            <a:avLst/>
          </a:prstGeom>
          <a:blipFill>
            <a:blip r:embed="rId2"/>
            <a:stretch>
              <a:fillRect/>
            </a:stretch>
          </a:blipFill>
        </p:spPr>
        <p:txBody>
          <a:bodyPr lIns="0" tIns="1800000" rIns="0" bIns="0"/>
          <a:lstStyle>
            <a:lvl1pPr marL="0" indent="0" algn="ctr">
              <a:buNone/>
              <a:defRPr sz="2109">
                <a:solidFill>
                  <a:schemeClr val="lt1"/>
                </a:solidFill>
              </a:defRPr>
            </a:lvl1pPr>
          </a:lstStyle>
          <a:p>
            <a:r>
              <a:rPr lang="en-US"/>
              <a:t>Click icon to add picture</a:t>
            </a:r>
          </a:p>
        </p:txBody>
      </p:sp>
      <p:sp>
        <p:nvSpPr>
          <p:cNvPr id="2" name="Tittel 1"/>
          <p:cNvSpPr>
            <a:spLocks noGrp="1"/>
          </p:cNvSpPr>
          <p:nvPr>
            <p:ph type="title"/>
          </p:nvPr>
        </p:nvSpPr>
        <p:spPr>
          <a:xfrm>
            <a:off x="683315" y="1669558"/>
            <a:ext cx="7048261" cy="467511"/>
          </a:xfrm>
        </p:spPr>
        <p:txBody>
          <a:bodyPr>
            <a:normAutofit/>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560B2D32-1CC6-4041-9F1A-CDF2228AD2F3}" type="datetime1">
              <a:rPr lang="nb-NO" smtClean="0"/>
              <a:t>22.09.2026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683315" y="2456019"/>
            <a:ext cx="3353302" cy="3291572"/>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lassholder for tekst 6">
            <a:extLst>
              <a:ext uri="{FF2B5EF4-FFF2-40B4-BE49-F238E27FC236}">
                <a16:creationId xmlns:a16="http://schemas.microsoft.com/office/drawing/2014/main" id="{2B647C84-5C6A-4934-AF8B-33EB10411FEC}"/>
              </a:ext>
            </a:extLst>
          </p:cNvPr>
          <p:cNvSpPr>
            <a:spLocks noGrp="1"/>
          </p:cNvSpPr>
          <p:nvPr>
            <p:ph type="body" sz="quarter" idx="15"/>
          </p:nvPr>
        </p:nvSpPr>
        <p:spPr>
          <a:xfrm>
            <a:off x="4378273" y="2456019"/>
            <a:ext cx="3353302" cy="3291572"/>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0206930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tel, tekst og bilde">
    <p:spTree>
      <p:nvGrpSpPr>
        <p:cNvPr id="1" name=""/>
        <p:cNvGrpSpPr/>
        <p:nvPr/>
      </p:nvGrpSpPr>
      <p:grpSpPr>
        <a:xfrm>
          <a:off x="0" y="0"/>
          <a:ext cx="0" cy="0"/>
          <a:chOff x="0" y="0"/>
          <a:chExt cx="0" cy="0"/>
        </a:xfrm>
      </p:grpSpPr>
      <p:sp>
        <p:nvSpPr>
          <p:cNvPr id="9" name="Plassholder for bilde 2">
            <a:extLst>
              <a:ext uri="{FF2B5EF4-FFF2-40B4-BE49-F238E27FC236}">
                <a16:creationId xmlns:a16="http://schemas.microsoft.com/office/drawing/2014/main" id="{BBBCD936-BFAE-449A-8A24-0073D81BA783}"/>
              </a:ext>
            </a:extLst>
          </p:cNvPr>
          <p:cNvSpPr>
            <a:spLocks noGrp="1"/>
          </p:cNvSpPr>
          <p:nvPr>
            <p:ph type="pic" sz="quarter" idx="16"/>
          </p:nvPr>
        </p:nvSpPr>
        <p:spPr>
          <a:xfrm>
            <a:off x="7940266" y="-1"/>
            <a:ext cx="4251734" cy="6861662"/>
          </a:xfrm>
          <a:prstGeom prst="rect">
            <a:avLst/>
          </a:prstGeom>
          <a:blipFill>
            <a:blip r:embed="rId2"/>
            <a:stretch>
              <a:fillRect/>
            </a:stretch>
          </a:blipFill>
        </p:spPr>
        <p:txBody>
          <a:bodyPr lIns="0" tIns="1800000" rIns="0" bIns="0"/>
          <a:lstStyle>
            <a:lvl1pPr marL="0" indent="0" algn="ctr">
              <a:buNone/>
              <a:defRPr sz="2109">
                <a:solidFill>
                  <a:schemeClr val="lt1"/>
                </a:solidFill>
              </a:defRPr>
            </a:lvl1pPr>
          </a:lstStyle>
          <a:p>
            <a:r>
              <a:rPr lang="en-US"/>
              <a:t>Click icon to add picture</a:t>
            </a:r>
          </a:p>
        </p:txBody>
      </p:sp>
      <p:sp>
        <p:nvSpPr>
          <p:cNvPr id="2" name="Tittel 1"/>
          <p:cNvSpPr>
            <a:spLocks noGrp="1"/>
          </p:cNvSpPr>
          <p:nvPr>
            <p:ph type="title"/>
          </p:nvPr>
        </p:nvSpPr>
        <p:spPr>
          <a:xfrm>
            <a:off x="683315" y="1669558"/>
            <a:ext cx="7048262" cy="467511"/>
          </a:xfrm>
        </p:spPr>
        <p:txBody>
          <a:bodyPr>
            <a:normAutofit/>
          </a:bodyPr>
          <a:lstStyle>
            <a:lvl1pPr>
              <a:defRPr/>
            </a:lvl1pPr>
          </a:lstStyle>
          <a:p>
            <a:r>
              <a:rPr lang="en-US"/>
              <a:t>Click to edit Master title style</a:t>
            </a:r>
            <a:endParaRPr lang="nb-NO"/>
          </a:p>
        </p:txBody>
      </p:sp>
      <p:sp>
        <p:nvSpPr>
          <p:cNvPr id="4" name="Plassholder for dato 3"/>
          <p:cNvSpPr>
            <a:spLocks noGrp="1"/>
          </p:cNvSpPr>
          <p:nvPr>
            <p:ph type="dt" sz="half" idx="10"/>
          </p:nvPr>
        </p:nvSpPr>
        <p:spPr/>
        <p:txBody>
          <a:bodyPr/>
          <a:lstStyle/>
          <a:p>
            <a:fld id="{FF08D645-E4A5-374D-A682-B70E4C4922B2}" type="datetime1">
              <a:rPr lang="nb-NO" smtClean="0"/>
              <a:t>22.09.2026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683314" y="2456019"/>
            <a:ext cx="7048262" cy="3291572"/>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0245619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tel, tekst og stort bilde">
    <p:spTree>
      <p:nvGrpSpPr>
        <p:cNvPr id="1" name=""/>
        <p:cNvGrpSpPr/>
        <p:nvPr/>
      </p:nvGrpSpPr>
      <p:grpSpPr>
        <a:xfrm>
          <a:off x="0" y="0"/>
          <a:ext cx="0" cy="0"/>
          <a:chOff x="0" y="0"/>
          <a:chExt cx="0" cy="0"/>
        </a:xfrm>
      </p:grpSpPr>
      <p:sp>
        <p:nvSpPr>
          <p:cNvPr id="3" name="Plassholder for bilde 2">
            <a:extLst>
              <a:ext uri="{FF2B5EF4-FFF2-40B4-BE49-F238E27FC236}">
                <a16:creationId xmlns:a16="http://schemas.microsoft.com/office/drawing/2014/main" id="{B69D269D-CF15-4DD4-9F8A-A45648ABC15B}"/>
              </a:ext>
            </a:extLst>
          </p:cNvPr>
          <p:cNvSpPr>
            <a:spLocks noGrp="1"/>
          </p:cNvSpPr>
          <p:nvPr>
            <p:ph type="pic" sz="quarter" idx="16"/>
          </p:nvPr>
        </p:nvSpPr>
        <p:spPr>
          <a:xfrm>
            <a:off x="4257961" y="0"/>
            <a:ext cx="7934040" cy="6861662"/>
          </a:xfrm>
          <a:prstGeom prst="rect">
            <a:avLst/>
          </a:prstGeom>
          <a:blipFill>
            <a:blip r:embed="rId2"/>
            <a:stretch>
              <a:fillRect/>
            </a:stretch>
          </a:blipFill>
        </p:spPr>
        <p:txBody>
          <a:bodyPr lIns="0" tIns="1800000" rIns="0" bIns="0" anchor="t" anchorCtr="1">
            <a:normAutofit/>
          </a:bodyPr>
          <a:lstStyle>
            <a:lvl1pPr marL="0" indent="0" algn="ctr">
              <a:buNone/>
              <a:defRPr sz="2109">
                <a:solidFill>
                  <a:schemeClr val="lt1"/>
                </a:solidFill>
              </a:defRPr>
            </a:lvl1pPr>
          </a:lstStyle>
          <a:p>
            <a:r>
              <a:rPr lang="en-US"/>
              <a:t>Click icon to add picture</a:t>
            </a:r>
          </a:p>
        </p:txBody>
      </p:sp>
      <p:sp>
        <p:nvSpPr>
          <p:cNvPr id="2" name="Tittel 1"/>
          <p:cNvSpPr>
            <a:spLocks noGrp="1"/>
          </p:cNvSpPr>
          <p:nvPr>
            <p:ph type="title"/>
          </p:nvPr>
        </p:nvSpPr>
        <p:spPr>
          <a:xfrm>
            <a:off x="683315" y="1202046"/>
            <a:ext cx="3416572" cy="935024"/>
          </a:xfrm>
        </p:spPr>
        <p:txBody>
          <a:bodyPr/>
          <a:lstStyle/>
          <a:p>
            <a:r>
              <a:rPr lang="en-US"/>
              <a:t>Click to edit Master title style</a:t>
            </a:r>
            <a:endParaRPr lang="nb-NO"/>
          </a:p>
        </p:txBody>
      </p:sp>
      <p:sp>
        <p:nvSpPr>
          <p:cNvPr id="4" name="Plassholder for dato 3"/>
          <p:cNvSpPr>
            <a:spLocks noGrp="1"/>
          </p:cNvSpPr>
          <p:nvPr>
            <p:ph type="dt" sz="half" idx="10"/>
          </p:nvPr>
        </p:nvSpPr>
        <p:spPr/>
        <p:txBody>
          <a:bodyPr/>
          <a:lstStyle/>
          <a:p>
            <a:fld id="{E0E1F61F-A745-894B-B094-425AFCC38AFA}" type="datetime1">
              <a:rPr lang="nb-NO" smtClean="0"/>
              <a:t>22.09.2026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6" name="Plassholder for lysbildenummer 5"/>
          <p:cNvSpPr>
            <a:spLocks noGrp="1"/>
          </p:cNvSpPr>
          <p:nvPr>
            <p:ph type="sldNum" sz="quarter" idx="12"/>
          </p:nvPr>
        </p:nvSpPr>
        <p:spPr/>
        <p:txBody>
          <a:bodyPr/>
          <a:lstStyle>
            <a:lvl1pPr algn="r">
              <a:defRPr>
                <a:solidFill>
                  <a:schemeClr val="accent1"/>
                </a:solidFill>
              </a:defRPr>
            </a:lvl1pPr>
          </a:lstStyle>
          <a:p>
            <a:fld id="{5751DFAA-887F-4071-8EAD-E8CA316FCF06}" type="slidenum">
              <a:rPr lang="nb-NO" smtClean="0"/>
              <a:pPr/>
              <a:t>‹#›</a:t>
            </a:fld>
            <a:endParaRPr lang="nb-NO"/>
          </a:p>
        </p:txBody>
      </p:sp>
      <p:sp>
        <p:nvSpPr>
          <p:cNvPr id="7" name="Plassholder for tekst 6">
            <a:extLst>
              <a:ext uri="{FF2B5EF4-FFF2-40B4-BE49-F238E27FC236}">
                <a16:creationId xmlns:a16="http://schemas.microsoft.com/office/drawing/2014/main" id="{193CDAAF-0A1D-4E30-BDF4-5F1522786F95}"/>
              </a:ext>
            </a:extLst>
          </p:cNvPr>
          <p:cNvSpPr>
            <a:spLocks noGrp="1"/>
          </p:cNvSpPr>
          <p:nvPr>
            <p:ph type="body" sz="quarter" idx="13"/>
          </p:nvPr>
        </p:nvSpPr>
        <p:spPr>
          <a:xfrm>
            <a:off x="683314" y="2456019"/>
            <a:ext cx="3416572" cy="3291572"/>
          </a:xfrm>
          <a:prstGeom prst="rect">
            <a:avLst/>
          </a:prstGeom>
        </p:spPr>
        <p:txBody>
          <a:bodyPr lIns="0" tIns="0" rIns="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6400998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Helsides bilde">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7E55B23D-A101-4B76-A4BE-631E88A6A755}"/>
              </a:ext>
            </a:extLst>
          </p:cNvPr>
          <p:cNvSpPr>
            <a:spLocks noGrp="1"/>
          </p:cNvSpPr>
          <p:nvPr>
            <p:ph type="pic" sz="quarter" idx="16"/>
          </p:nvPr>
        </p:nvSpPr>
        <p:spPr>
          <a:xfrm>
            <a:off x="0" y="0"/>
            <a:ext cx="12192000" cy="6861662"/>
          </a:xfrm>
          <a:prstGeom prst="rect">
            <a:avLst/>
          </a:prstGeom>
          <a:blipFill>
            <a:blip r:embed="rId2"/>
            <a:stretch>
              <a:fillRect/>
            </a:stretch>
          </a:blipFill>
        </p:spPr>
        <p:txBody>
          <a:bodyPr lIns="0" tIns="1800000" rIns="0" bIns="0">
            <a:normAutofit/>
          </a:bodyPr>
          <a:lstStyle>
            <a:lvl1pPr marL="0" indent="0" algn="ctr">
              <a:buNone/>
              <a:defRPr sz="2109">
                <a:solidFill>
                  <a:schemeClr val="lt1"/>
                </a:solidFill>
              </a:defRPr>
            </a:lvl1pPr>
          </a:lstStyle>
          <a:p>
            <a:r>
              <a:rPr lang="en-US"/>
              <a:t>Click icon to add picture</a:t>
            </a:r>
          </a:p>
        </p:txBody>
      </p:sp>
      <p:sp>
        <p:nvSpPr>
          <p:cNvPr id="2" name="Plassholder for dato 1"/>
          <p:cNvSpPr>
            <a:spLocks noGrp="1"/>
          </p:cNvSpPr>
          <p:nvPr>
            <p:ph type="dt" sz="half" idx="10"/>
          </p:nvPr>
        </p:nvSpPr>
        <p:spPr/>
        <p:txBody>
          <a:bodyPr/>
          <a:lstStyle>
            <a:lvl1pPr>
              <a:defRPr>
                <a:solidFill>
                  <a:schemeClr val="accent1"/>
                </a:solidFill>
              </a:defRPr>
            </a:lvl1pPr>
          </a:lstStyle>
          <a:p>
            <a:fld id="{5057FFEC-F8CD-5648-B59A-F182A70B4ACC}" type="datetime1">
              <a:rPr lang="nb-NO" smtClean="0"/>
              <a:t>22.09.2026</a:t>
            </a:fld>
            <a:endParaRPr lang="nb-NO"/>
          </a:p>
        </p:txBody>
      </p:sp>
      <p:sp>
        <p:nvSpPr>
          <p:cNvPr id="3" name="Plassholder for bunntekst 2"/>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4" name="Plassholder for lysbildenummer 3"/>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11" name="Plassholder for tekst 10">
            <a:extLst>
              <a:ext uri="{FF2B5EF4-FFF2-40B4-BE49-F238E27FC236}">
                <a16:creationId xmlns:a16="http://schemas.microsoft.com/office/drawing/2014/main" id="{10E39287-A8EF-4C34-A1FC-3948F2552699}"/>
              </a:ext>
            </a:extLst>
          </p:cNvPr>
          <p:cNvSpPr>
            <a:spLocks noGrp="1"/>
          </p:cNvSpPr>
          <p:nvPr>
            <p:ph type="body" idx="13" hasCustomPrompt="1"/>
          </p:nvPr>
        </p:nvSpPr>
        <p:spPr>
          <a:xfrm>
            <a:off x="683315" y="683635"/>
            <a:ext cx="705946" cy="419050"/>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10B431D3-7494-4FBC-B3D0-A66DB1B545B5}"/>
              </a:ext>
            </a:extLst>
          </p:cNvPr>
          <p:cNvSpPr>
            <a:spLocks noGrp="1"/>
          </p:cNvSpPr>
          <p:nvPr>
            <p:ph type="body" sz="quarter" idx="14" hasCustomPrompt="1"/>
          </p:nvPr>
        </p:nvSpPr>
        <p:spPr>
          <a:xfrm>
            <a:off x="683316" y="6170432"/>
            <a:ext cx="1626139" cy="191842"/>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34168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tatside">
    <p:bg>
      <p:bgPr>
        <a:solidFill>
          <a:schemeClr val="accent1"/>
        </a:solidFill>
        <a:effectLst/>
      </p:bgPr>
    </p:bg>
    <p:spTree>
      <p:nvGrpSpPr>
        <p:cNvPr id="1" name=""/>
        <p:cNvGrpSpPr/>
        <p:nvPr/>
      </p:nvGrpSpPr>
      <p:grpSpPr>
        <a:xfrm>
          <a:off x="0" y="0"/>
          <a:ext cx="0" cy="0"/>
          <a:chOff x="0" y="0"/>
          <a:chExt cx="0" cy="0"/>
        </a:xfrm>
      </p:grpSpPr>
      <p:sp>
        <p:nvSpPr>
          <p:cNvPr id="2" name="Tittel 1"/>
          <p:cNvSpPr>
            <a:spLocks noGrp="1"/>
          </p:cNvSpPr>
          <p:nvPr>
            <p:ph type="title" hasCustomPrompt="1"/>
          </p:nvPr>
        </p:nvSpPr>
        <p:spPr>
          <a:xfrm>
            <a:off x="683315" y="3176675"/>
            <a:ext cx="10806491" cy="2279120"/>
          </a:xfrm>
        </p:spPr>
        <p:txBody>
          <a:bodyPr anchor="b">
            <a:normAutofit/>
          </a:bodyPr>
          <a:lstStyle>
            <a:lvl1pPr>
              <a:defRPr sz="5483" cap="all" baseline="0"/>
            </a:lvl1pPr>
          </a:lstStyle>
          <a:p>
            <a:r>
              <a:rPr lang="nb-NO"/>
              <a:t>Klikk for å legge til sitat</a:t>
            </a:r>
          </a:p>
        </p:txBody>
      </p:sp>
      <p:sp>
        <p:nvSpPr>
          <p:cNvPr id="4" name="Plassholder for dato 3"/>
          <p:cNvSpPr>
            <a:spLocks noGrp="1"/>
          </p:cNvSpPr>
          <p:nvPr>
            <p:ph type="dt" sz="half" idx="10"/>
          </p:nvPr>
        </p:nvSpPr>
        <p:spPr/>
        <p:txBody>
          <a:bodyPr/>
          <a:lstStyle/>
          <a:p>
            <a:fld id="{83B7EFA6-D0C6-A546-917F-269E8A647E2B}" type="datetime1">
              <a:rPr lang="nb-NO" smtClean="0"/>
              <a:t>22.09.2026</a:t>
            </a:fld>
            <a:endParaRPr lang="nb-NO"/>
          </a:p>
        </p:txBody>
      </p:sp>
      <p:sp>
        <p:nvSpPr>
          <p:cNvPr id="5" name="Plassholder for bunntekst 4"/>
          <p:cNvSpPr>
            <a:spLocks noGrp="1"/>
          </p:cNvSpPr>
          <p:nvPr>
            <p:ph type="ftr" sz="quarter" idx="11"/>
          </p:nvPr>
        </p:nvSpPr>
        <p:spPr/>
        <p:txBody>
          <a:bodyPr/>
          <a:lstStyle/>
          <a:p>
            <a:r>
              <a:rPr lang="nb-NO"/>
              <a:t>DAVE3625- Intro to A.I. by Umair M.I</a:t>
            </a:r>
          </a:p>
        </p:txBody>
      </p:sp>
      <p:sp>
        <p:nvSpPr>
          <p:cNvPr id="6" name="Plassholder for lysbildenummer 5"/>
          <p:cNvSpPr>
            <a:spLocks noGrp="1"/>
          </p:cNvSpPr>
          <p:nvPr>
            <p:ph type="sldNum" sz="quarter" idx="12"/>
          </p:nvPr>
        </p:nvSpPr>
        <p:spPr/>
        <p:txBody>
          <a:bodyPr/>
          <a:lstStyle/>
          <a:p>
            <a:fld id="{5751DFAA-887F-4071-8EAD-E8CA316FCF06}" type="slidenum">
              <a:rPr lang="nb-NO" smtClean="0"/>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683315" y="5595673"/>
            <a:ext cx="10806491" cy="194797"/>
          </a:xfrm>
        </p:spPr>
        <p:txBody>
          <a:bodyPr>
            <a:normAutofit/>
          </a:bodyPr>
          <a:lstStyle>
            <a:lvl1pPr marL="0" indent="0">
              <a:buNone/>
              <a:defRPr sz="1265" cap="all" baseline="0"/>
            </a:lvl1pPr>
          </a:lstStyle>
          <a:p>
            <a:pPr lvl="0"/>
            <a:r>
              <a:rPr lang="en-US" err="1"/>
              <a:t>Sitert</a:t>
            </a:r>
            <a:r>
              <a:rPr lang="en-US"/>
              <a:t> </a:t>
            </a:r>
            <a:r>
              <a:rPr lang="en-US" err="1"/>
              <a:t>Kilde</a:t>
            </a:r>
            <a:endParaRPr lang="en-US"/>
          </a:p>
        </p:txBody>
      </p:sp>
    </p:spTree>
    <p:extLst>
      <p:ext uri="{BB962C8B-B14F-4D97-AF65-F5344CB8AC3E}">
        <p14:creationId xmlns:p14="http://schemas.microsoft.com/office/powerpoint/2010/main" val="270538380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itatside /m bildebakgrunn">
    <p:bg>
      <p:bgPr>
        <a:solidFill>
          <a:schemeClr val="lt1"/>
        </a:solidFill>
        <a:effectLst/>
      </p:bgPr>
    </p:bg>
    <p:spTree>
      <p:nvGrpSpPr>
        <p:cNvPr id="1" name=""/>
        <p:cNvGrpSpPr/>
        <p:nvPr/>
      </p:nvGrpSpPr>
      <p:grpSpPr>
        <a:xfrm>
          <a:off x="0" y="0"/>
          <a:ext cx="0" cy="0"/>
          <a:chOff x="0" y="0"/>
          <a:chExt cx="0" cy="0"/>
        </a:xfrm>
      </p:grpSpPr>
      <p:sp>
        <p:nvSpPr>
          <p:cNvPr id="13" name="Plassholder for bilde 2">
            <a:extLst>
              <a:ext uri="{FF2B5EF4-FFF2-40B4-BE49-F238E27FC236}">
                <a16:creationId xmlns:a16="http://schemas.microsoft.com/office/drawing/2014/main" id="{CCCE99AD-0406-40AA-BCE7-C39ABF192C27}"/>
              </a:ext>
            </a:extLst>
          </p:cNvPr>
          <p:cNvSpPr>
            <a:spLocks noGrp="1"/>
          </p:cNvSpPr>
          <p:nvPr>
            <p:ph type="pic" sz="quarter" idx="16"/>
          </p:nvPr>
        </p:nvSpPr>
        <p:spPr>
          <a:xfrm>
            <a:off x="0" y="0"/>
            <a:ext cx="12192000" cy="6861662"/>
          </a:xfrm>
          <a:prstGeom prst="rect">
            <a:avLst/>
          </a:prstGeom>
          <a:blipFill>
            <a:blip r:embed="rId2"/>
            <a:stretch>
              <a:fillRect/>
            </a:stretch>
          </a:blipFill>
        </p:spPr>
        <p:txBody>
          <a:bodyPr lIns="0" tIns="1800000" rIns="0" bIns="0">
            <a:normAutofit/>
          </a:bodyPr>
          <a:lstStyle>
            <a:lvl1pPr marL="0" indent="0" algn="ctr">
              <a:buNone/>
              <a:defRPr sz="2109">
                <a:solidFill>
                  <a:schemeClr val="lt1"/>
                </a:solidFill>
              </a:defRPr>
            </a:lvl1pPr>
          </a:lstStyle>
          <a:p>
            <a:r>
              <a:rPr lang="en-US"/>
              <a:t>Click icon to add picture</a:t>
            </a:r>
          </a:p>
        </p:txBody>
      </p:sp>
      <p:sp>
        <p:nvSpPr>
          <p:cNvPr id="2" name="Tittel 1"/>
          <p:cNvSpPr>
            <a:spLocks noGrp="1"/>
          </p:cNvSpPr>
          <p:nvPr>
            <p:ph type="title" hasCustomPrompt="1"/>
          </p:nvPr>
        </p:nvSpPr>
        <p:spPr>
          <a:xfrm>
            <a:off x="683315" y="3936382"/>
            <a:ext cx="10806491" cy="1519413"/>
          </a:xfrm>
        </p:spPr>
        <p:txBody>
          <a:bodyPr anchor="b">
            <a:normAutofit/>
          </a:bodyPr>
          <a:lstStyle>
            <a:lvl1pPr>
              <a:defRPr sz="5483" cap="all" baseline="0">
                <a:solidFill>
                  <a:schemeClr val="accent1"/>
                </a:solidFill>
              </a:defRPr>
            </a:lvl1pPr>
          </a:lstStyle>
          <a:p>
            <a:r>
              <a:rPr lang="nb-NO"/>
              <a:t>Klikk for å legge til sitat</a:t>
            </a:r>
          </a:p>
        </p:txBody>
      </p:sp>
      <p:sp>
        <p:nvSpPr>
          <p:cNvPr id="4" name="Plassholder for dato 3"/>
          <p:cNvSpPr>
            <a:spLocks noGrp="1"/>
          </p:cNvSpPr>
          <p:nvPr>
            <p:ph type="dt" sz="half" idx="10"/>
          </p:nvPr>
        </p:nvSpPr>
        <p:spPr/>
        <p:txBody>
          <a:bodyPr/>
          <a:lstStyle>
            <a:lvl1pPr>
              <a:defRPr>
                <a:solidFill>
                  <a:schemeClr val="accent1"/>
                </a:solidFill>
              </a:defRPr>
            </a:lvl1pPr>
          </a:lstStyle>
          <a:p>
            <a:fld id="{717D5A58-49EE-AE4D-91F8-B0EFC76277DA}" type="datetime1">
              <a:rPr lang="nb-NO" smtClean="0"/>
              <a:t>22.09.2026</a:t>
            </a:fld>
            <a:endParaRPr lang="nb-NO"/>
          </a:p>
        </p:txBody>
      </p:sp>
      <p:sp>
        <p:nvSpPr>
          <p:cNvPr id="5" name="Plassholder for bunntekst 4"/>
          <p:cNvSpPr>
            <a:spLocks noGrp="1"/>
          </p:cNvSpPr>
          <p:nvPr>
            <p:ph type="ftr" sz="quarter" idx="11"/>
          </p:nvPr>
        </p:nvSpPr>
        <p:spPr/>
        <p:txBody>
          <a:bodyPr/>
          <a:lstStyle>
            <a:lvl1pPr>
              <a:defRPr>
                <a:solidFill>
                  <a:schemeClr val="accent1"/>
                </a:solidFill>
              </a:defRPr>
            </a:lvl1pPr>
          </a:lstStyle>
          <a:p>
            <a:r>
              <a:rPr lang="nb-NO"/>
              <a:t>DAVE3625- Intro to A.I. by Umair M.I</a:t>
            </a:r>
          </a:p>
        </p:txBody>
      </p:sp>
      <p:sp>
        <p:nvSpPr>
          <p:cNvPr id="6" name="Plassholder for lysbildenummer 5"/>
          <p:cNvSpPr>
            <a:spLocks noGrp="1"/>
          </p:cNvSpPr>
          <p:nvPr>
            <p:ph type="sldNum" sz="quarter" idx="12"/>
          </p:nvPr>
        </p:nvSpPr>
        <p:spPr/>
        <p:txBody>
          <a:bodyPr/>
          <a:lstStyle>
            <a:lvl1pPr>
              <a:defRPr>
                <a:solidFill>
                  <a:schemeClr val="accent1"/>
                </a:solidFill>
              </a:defRPr>
            </a:lvl1pPr>
          </a:lstStyle>
          <a:p>
            <a:fld id="{5751DFAA-887F-4071-8EAD-E8CA316FCF06}" type="slidenum">
              <a:rPr lang="nb-NO" smtClean="0"/>
              <a:pPr/>
              <a:t>‹#›</a:t>
            </a:fld>
            <a:endParaRPr lang="nb-NO"/>
          </a:p>
        </p:txBody>
      </p:sp>
      <p:sp>
        <p:nvSpPr>
          <p:cNvPr id="7" name="Plassholder for tekst 7">
            <a:extLst>
              <a:ext uri="{FF2B5EF4-FFF2-40B4-BE49-F238E27FC236}">
                <a16:creationId xmlns:a16="http://schemas.microsoft.com/office/drawing/2014/main" id="{A523B242-05F3-4E7B-8EDE-994BA2F083D7}"/>
              </a:ext>
            </a:extLst>
          </p:cNvPr>
          <p:cNvSpPr>
            <a:spLocks noGrp="1"/>
          </p:cNvSpPr>
          <p:nvPr>
            <p:ph type="body" sz="quarter" idx="13" hasCustomPrompt="1"/>
          </p:nvPr>
        </p:nvSpPr>
        <p:spPr>
          <a:xfrm>
            <a:off x="683315" y="5595673"/>
            <a:ext cx="10806491" cy="194797"/>
          </a:xfrm>
        </p:spPr>
        <p:txBody>
          <a:bodyPr>
            <a:normAutofit/>
          </a:bodyPr>
          <a:lstStyle>
            <a:lvl1pPr marL="0" indent="0">
              <a:buNone/>
              <a:defRPr sz="1265" cap="all" baseline="0">
                <a:solidFill>
                  <a:schemeClr val="accent1"/>
                </a:solidFill>
              </a:defRPr>
            </a:lvl1pPr>
          </a:lstStyle>
          <a:p>
            <a:pPr lvl="0"/>
            <a:r>
              <a:rPr lang="en-US" err="1"/>
              <a:t>Sitert</a:t>
            </a:r>
            <a:r>
              <a:rPr lang="en-US"/>
              <a:t> </a:t>
            </a:r>
            <a:r>
              <a:rPr lang="en-US" err="1"/>
              <a:t>Kilde</a:t>
            </a:r>
            <a:endParaRPr lang="en-US"/>
          </a:p>
        </p:txBody>
      </p:sp>
      <p:sp>
        <p:nvSpPr>
          <p:cNvPr id="11" name="Plassholder for tekst 10">
            <a:extLst>
              <a:ext uri="{FF2B5EF4-FFF2-40B4-BE49-F238E27FC236}">
                <a16:creationId xmlns:a16="http://schemas.microsoft.com/office/drawing/2014/main" id="{A4AE70EA-EB2B-4642-8AB7-DC90C3F6A3D9}"/>
              </a:ext>
            </a:extLst>
          </p:cNvPr>
          <p:cNvSpPr>
            <a:spLocks noGrp="1"/>
          </p:cNvSpPr>
          <p:nvPr>
            <p:ph type="body" idx="14" hasCustomPrompt="1"/>
          </p:nvPr>
        </p:nvSpPr>
        <p:spPr>
          <a:xfrm>
            <a:off x="683315" y="683635"/>
            <a:ext cx="705946" cy="419050"/>
          </a:xfrm>
          <a:blipFill>
            <a:blip r:embed="rId3"/>
            <a:stretch>
              <a:fillRect/>
            </a:stretch>
          </a:blipFill>
        </p:spPr>
        <p:txBody>
          <a:bodyPr>
            <a:noAutofit/>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
        <p:nvSpPr>
          <p:cNvPr id="12" name="Plassholder for tekst 11">
            <a:extLst>
              <a:ext uri="{FF2B5EF4-FFF2-40B4-BE49-F238E27FC236}">
                <a16:creationId xmlns:a16="http://schemas.microsoft.com/office/drawing/2014/main" id="{52CA5463-497B-4D4A-821F-C1642E29C5EC}"/>
              </a:ext>
            </a:extLst>
          </p:cNvPr>
          <p:cNvSpPr>
            <a:spLocks noGrp="1"/>
          </p:cNvSpPr>
          <p:nvPr>
            <p:ph type="body" sz="quarter" idx="15" hasCustomPrompt="1"/>
          </p:nvPr>
        </p:nvSpPr>
        <p:spPr>
          <a:xfrm>
            <a:off x="683316" y="6170432"/>
            <a:ext cx="1626139" cy="191842"/>
          </a:xfrm>
          <a:prstGeom prst="rect">
            <a:avLst/>
          </a:prstGeom>
          <a:blipFill>
            <a:blip r:embed="rId4"/>
            <a:stretch>
              <a:fillRect/>
            </a:stretch>
          </a:blipFill>
        </p:spPr>
        <p:txBody>
          <a:bodyPr/>
          <a:lstStyle>
            <a:lvl1pPr>
              <a:defRPr sz="100">
                <a:solidFill>
                  <a:srgbClr val="000000"/>
                </a:solidFill>
              </a:defRPr>
            </a:lvl1pPr>
            <a:lvl2pPr>
              <a:defRPr sz="100">
                <a:solidFill>
                  <a:srgbClr val="000000"/>
                </a:solidFill>
              </a:defRPr>
            </a:lvl2pPr>
            <a:lvl3pPr>
              <a:defRPr sz="100">
                <a:solidFill>
                  <a:srgbClr val="000000"/>
                </a:solidFill>
              </a:defRPr>
            </a:lvl3pPr>
            <a:lvl4pPr>
              <a:defRPr sz="100">
                <a:solidFill>
                  <a:srgbClr val="000000"/>
                </a:solidFill>
              </a:defRPr>
            </a:lvl4pPr>
            <a:lvl5pPr>
              <a:defRPr sz="100">
                <a:solidFill>
                  <a:srgbClr val="000000"/>
                </a:solidFill>
              </a:defRPr>
            </a:lvl5pPr>
          </a:lstStyle>
          <a:p>
            <a:pPr lvl="0"/>
            <a:r>
              <a:rPr lang="nb-NO"/>
              <a:t> </a:t>
            </a:r>
            <a:endParaRPr lang="en-US"/>
          </a:p>
        </p:txBody>
      </p:sp>
    </p:spTree>
    <p:extLst>
      <p:ext uri="{BB962C8B-B14F-4D97-AF65-F5344CB8AC3E}">
        <p14:creationId xmlns:p14="http://schemas.microsoft.com/office/powerpoint/2010/main" val="28174146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 preserve="1">
  <p:cSld name="To innholdsdeler">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innhold 2"/>
          <p:cNvSpPr>
            <a:spLocks noGrp="1"/>
          </p:cNvSpPr>
          <p:nvPr>
            <p:ph sz="half" idx="1"/>
          </p:nvPr>
        </p:nvSpPr>
        <p:spPr>
          <a:xfrm>
            <a:off x="683315" y="2456019"/>
            <a:ext cx="5188127" cy="329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4" name="Plassholder for innhold 3"/>
          <p:cNvSpPr>
            <a:spLocks noGrp="1"/>
          </p:cNvSpPr>
          <p:nvPr>
            <p:ph sz="half" idx="2"/>
          </p:nvPr>
        </p:nvSpPr>
        <p:spPr>
          <a:xfrm>
            <a:off x="6301679" y="2456019"/>
            <a:ext cx="5188127" cy="329157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dato 4"/>
          <p:cNvSpPr>
            <a:spLocks noGrp="1"/>
          </p:cNvSpPr>
          <p:nvPr>
            <p:ph type="dt" sz="half" idx="10"/>
          </p:nvPr>
        </p:nvSpPr>
        <p:spPr/>
        <p:txBody>
          <a:bodyPr/>
          <a:lstStyle/>
          <a:p>
            <a:fld id="{CF51ADE7-B66C-644D-B9FB-CF2371A307CE}" type="datetime1">
              <a:rPr lang="nb-NO" smtClean="0"/>
              <a:t>22.09.2026</a:t>
            </a:fld>
            <a:endParaRPr lang="nb-NO"/>
          </a:p>
        </p:txBody>
      </p:sp>
      <p:sp>
        <p:nvSpPr>
          <p:cNvPr id="6" name="Plassholder for bunntekst 5"/>
          <p:cNvSpPr>
            <a:spLocks noGrp="1"/>
          </p:cNvSpPr>
          <p:nvPr>
            <p:ph type="ftr" sz="quarter" idx="11"/>
          </p:nvPr>
        </p:nvSpPr>
        <p:spPr/>
        <p:txBody>
          <a:bodyPr/>
          <a:lstStyle/>
          <a:p>
            <a:r>
              <a:rPr lang="nb-NO"/>
              <a:t>DAVE3625- Intro to A.I. by Umair M.I</a:t>
            </a:r>
          </a:p>
        </p:txBody>
      </p:sp>
      <p:sp>
        <p:nvSpPr>
          <p:cNvPr id="7" name="Plassholder for lysbildenummer 6"/>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06767063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ammenligning">
    <p:spTree>
      <p:nvGrpSpPr>
        <p:cNvPr id="1" name=""/>
        <p:cNvGrpSpPr/>
        <p:nvPr/>
      </p:nvGrpSpPr>
      <p:grpSpPr>
        <a:xfrm>
          <a:off x="0" y="0"/>
          <a:ext cx="0" cy="0"/>
          <a:chOff x="0" y="0"/>
          <a:chExt cx="0" cy="0"/>
        </a:xfrm>
      </p:grpSpPr>
      <p:sp>
        <p:nvSpPr>
          <p:cNvPr id="3" name="Plassholder for tekst 2"/>
          <p:cNvSpPr>
            <a:spLocks noGrp="1"/>
          </p:cNvSpPr>
          <p:nvPr>
            <p:ph type="body" idx="1"/>
          </p:nvPr>
        </p:nvSpPr>
        <p:spPr>
          <a:xfrm>
            <a:off x="683315" y="2456019"/>
            <a:ext cx="5188127" cy="324661"/>
          </a:xfrm>
        </p:spPr>
        <p:txBody>
          <a:bodyPr anchor="b">
            <a:normAutofit/>
          </a:bodyPr>
          <a:lstStyle>
            <a:lvl1pPr marL="0" indent="0">
              <a:spcAft>
                <a:spcPts val="0"/>
              </a:spcAft>
              <a:buNone/>
              <a:defRPr sz="2109" b="1"/>
            </a:lvl1pPr>
            <a:lvl2pPr marL="456982" indent="0">
              <a:buNone/>
              <a:defRPr sz="1999" b="1"/>
            </a:lvl2pPr>
            <a:lvl3pPr marL="913965" indent="0">
              <a:buNone/>
              <a:defRPr sz="1799" b="1"/>
            </a:lvl3pPr>
            <a:lvl4pPr marL="1370947" indent="0">
              <a:buNone/>
              <a:defRPr sz="1599" b="1"/>
            </a:lvl4pPr>
            <a:lvl5pPr marL="1827929" indent="0">
              <a:buNone/>
              <a:defRPr sz="1599" b="1"/>
            </a:lvl5pPr>
            <a:lvl6pPr marL="2284911" indent="0">
              <a:buNone/>
              <a:defRPr sz="1599" b="1"/>
            </a:lvl6pPr>
            <a:lvl7pPr marL="2741893" indent="0">
              <a:buNone/>
              <a:defRPr sz="1599" b="1"/>
            </a:lvl7pPr>
            <a:lvl8pPr marL="3198876" indent="0">
              <a:buNone/>
              <a:defRPr sz="1599" b="1"/>
            </a:lvl8pPr>
            <a:lvl9pPr marL="3655858" indent="0">
              <a:buNone/>
              <a:defRPr sz="1599" b="1"/>
            </a:lvl9pPr>
          </a:lstStyle>
          <a:p>
            <a:pPr lvl="0"/>
            <a:r>
              <a:rPr lang="en-US"/>
              <a:t>Edit Master text styles</a:t>
            </a:r>
          </a:p>
        </p:txBody>
      </p:sp>
      <p:sp>
        <p:nvSpPr>
          <p:cNvPr id="4" name="Plassholder for innhold 3"/>
          <p:cNvSpPr>
            <a:spLocks noGrp="1"/>
          </p:cNvSpPr>
          <p:nvPr>
            <p:ph sz="half" idx="2"/>
          </p:nvPr>
        </p:nvSpPr>
        <p:spPr>
          <a:xfrm>
            <a:off x="683315" y="2780680"/>
            <a:ext cx="5188127" cy="29669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5" name="Plassholder for tekst 4"/>
          <p:cNvSpPr>
            <a:spLocks noGrp="1"/>
          </p:cNvSpPr>
          <p:nvPr>
            <p:ph type="body" sz="quarter" idx="3"/>
          </p:nvPr>
        </p:nvSpPr>
        <p:spPr>
          <a:xfrm>
            <a:off x="6301679" y="2456019"/>
            <a:ext cx="5188127" cy="324661"/>
          </a:xfrm>
        </p:spPr>
        <p:txBody>
          <a:bodyPr anchor="b">
            <a:normAutofit/>
          </a:bodyPr>
          <a:lstStyle>
            <a:lvl1pPr marL="0" indent="0">
              <a:spcAft>
                <a:spcPts val="0"/>
              </a:spcAft>
              <a:buNone/>
              <a:defRPr sz="2109" b="1"/>
            </a:lvl1pPr>
            <a:lvl2pPr marL="456982" indent="0">
              <a:buNone/>
              <a:defRPr sz="1999" b="1"/>
            </a:lvl2pPr>
            <a:lvl3pPr marL="913965" indent="0">
              <a:buNone/>
              <a:defRPr sz="1799" b="1"/>
            </a:lvl3pPr>
            <a:lvl4pPr marL="1370947" indent="0">
              <a:buNone/>
              <a:defRPr sz="1599" b="1"/>
            </a:lvl4pPr>
            <a:lvl5pPr marL="1827929" indent="0">
              <a:buNone/>
              <a:defRPr sz="1599" b="1"/>
            </a:lvl5pPr>
            <a:lvl6pPr marL="2284911" indent="0">
              <a:buNone/>
              <a:defRPr sz="1599" b="1"/>
            </a:lvl6pPr>
            <a:lvl7pPr marL="2741893" indent="0">
              <a:buNone/>
              <a:defRPr sz="1599" b="1"/>
            </a:lvl7pPr>
            <a:lvl8pPr marL="3198876" indent="0">
              <a:buNone/>
              <a:defRPr sz="1599" b="1"/>
            </a:lvl8pPr>
            <a:lvl9pPr marL="3655858" indent="0">
              <a:buNone/>
              <a:defRPr sz="1599" b="1"/>
            </a:lvl9pPr>
          </a:lstStyle>
          <a:p>
            <a:pPr lvl="0"/>
            <a:r>
              <a:rPr lang="en-US"/>
              <a:t>Edit Master text styles</a:t>
            </a:r>
          </a:p>
        </p:txBody>
      </p:sp>
      <p:sp>
        <p:nvSpPr>
          <p:cNvPr id="6" name="Plassholder for innhold 5"/>
          <p:cNvSpPr>
            <a:spLocks noGrp="1"/>
          </p:cNvSpPr>
          <p:nvPr>
            <p:ph sz="quarter" idx="4"/>
          </p:nvPr>
        </p:nvSpPr>
        <p:spPr>
          <a:xfrm>
            <a:off x="6301679" y="2780680"/>
            <a:ext cx="5188127" cy="296691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nb-NO"/>
          </a:p>
        </p:txBody>
      </p:sp>
      <p:sp>
        <p:nvSpPr>
          <p:cNvPr id="7" name="Plassholder for dato 6"/>
          <p:cNvSpPr>
            <a:spLocks noGrp="1"/>
          </p:cNvSpPr>
          <p:nvPr>
            <p:ph type="dt" sz="half" idx="10"/>
          </p:nvPr>
        </p:nvSpPr>
        <p:spPr/>
        <p:txBody>
          <a:bodyPr/>
          <a:lstStyle/>
          <a:p>
            <a:fld id="{1C7409FD-3FD2-3C4B-8A3C-39D93513BF3C}" type="datetime1">
              <a:rPr lang="nb-NO" smtClean="0"/>
              <a:t>22.09.2026</a:t>
            </a:fld>
            <a:endParaRPr lang="nb-NO"/>
          </a:p>
        </p:txBody>
      </p:sp>
      <p:sp>
        <p:nvSpPr>
          <p:cNvPr id="8" name="Plassholder for bunntekst 7"/>
          <p:cNvSpPr>
            <a:spLocks noGrp="1"/>
          </p:cNvSpPr>
          <p:nvPr>
            <p:ph type="ftr" sz="quarter" idx="11"/>
          </p:nvPr>
        </p:nvSpPr>
        <p:spPr/>
        <p:txBody>
          <a:bodyPr/>
          <a:lstStyle/>
          <a:p>
            <a:r>
              <a:rPr lang="nb-NO"/>
              <a:t>DAVE3625- Intro to A.I. by Umair M.I</a:t>
            </a:r>
          </a:p>
        </p:txBody>
      </p:sp>
      <p:sp>
        <p:nvSpPr>
          <p:cNvPr id="9" name="Plassholder for lysbildenummer 8"/>
          <p:cNvSpPr>
            <a:spLocks noGrp="1"/>
          </p:cNvSpPr>
          <p:nvPr>
            <p:ph type="sldNum" sz="quarter" idx="12"/>
          </p:nvPr>
        </p:nvSpPr>
        <p:spPr/>
        <p:txBody>
          <a:bodyPr/>
          <a:lstStyle/>
          <a:p>
            <a:fld id="{5751DFAA-887F-4071-8EAD-E8CA316FCF06}" type="slidenum">
              <a:rPr lang="nb-NO" smtClean="0"/>
              <a:t>‹#›</a:t>
            </a:fld>
            <a:endParaRPr lang="nb-NO"/>
          </a:p>
        </p:txBody>
      </p:sp>
      <p:sp>
        <p:nvSpPr>
          <p:cNvPr id="10" name="Tittel 9">
            <a:extLst>
              <a:ext uri="{FF2B5EF4-FFF2-40B4-BE49-F238E27FC236}">
                <a16:creationId xmlns:a16="http://schemas.microsoft.com/office/drawing/2014/main" id="{2DA985E1-7DD2-458A-A77D-21904FB8115C}"/>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44221077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Only" preserve="1">
  <p:cSld name="Bare tittel">
    <p:spTree>
      <p:nvGrpSpPr>
        <p:cNvPr id="1" name=""/>
        <p:cNvGrpSpPr/>
        <p:nvPr/>
      </p:nvGrpSpPr>
      <p:grpSpPr>
        <a:xfrm>
          <a:off x="0" y="0"/>
          <a:ext cx="0" cy="0"/>
          <a:chOff x="0" y="0"/>
          <a:chExt cx="0" cy="0"/>
        </a:xfrm>
      </p:grpSpPr>
      <p:sp>
        <p:nvSpPr>
          <p:cNvPr id="2" name="Tittel 1"/>
          <p:cNvSpPr>
            <a:spLocks noGrp="1"/>
          </p:cNvSpPr>
          <p:nvPr>
            <p:ph type="title"/>
          </p:nvPr>
        </p:nvSpPr>
        <p:spPr/>
        <p:txBody>
          <a:bodyPr/>
          <a:lstStyle/>
          <a:p>
            <a:r>
              <a:rPr lang="en-US"/>
              <a:t>Click to edit Master title style</a:t>
            </a:r>
            <a:endParaRPr lang="nb-NO"/>
          </a:p>
        </p:txBody>
      </p:sp>
      <p:sp>
        <p:nvSpPr>
          <p:cNvPr id="3" name="Plassholder for dato 2"/>
          <p:cNvSpPr>
            <a:spLocks noGrp="1"/>
          </p:cNvSpPr>
          <p:nvPr>
            <p:ph type="dt" sz="half" idx="10"/>
          </p:nvPr>
        </p:nvSpPr>
        <p:spPr/>
        <p:txBody>
          <a:bodyPr/>
          <a:lstStyle/>
          <a:p>
            <a:fld id="{AC54932A-435C-2141-AA75-F89DDE44A7A7}" type="datetime1">
              <a:rPr lang="nb-NO" smtClean="0"/>
              <a:t>22.09.2026</a:t>
            </a:fld>
            <a:endParaRPr lang="nb-NO"/>
          </a:p>
        </p:txBody>
      </p:sp>
      <p:sp>
        <p:nvSpPr>
          <p:cNvPr id="4" name="Plassholder for bunntekst 3"/>
          <p:cNvSpPr>
            <a:spLocks noGrp="1"/>
          </p:cNvSpPr>
          <p:nvPr>
            <p:ph type="ftr" sz="quarter" idx="11"/>
          </p:nvPr>
        </p:nvSpPr>
        <p:spPr/>
        <p:txBody>
          <a:bodyPr/>
          <a:lstStyle/>
          <a:p>
            <a:r>
              <a:rPr lang="nb-NO"/>
              <a:t>DAVE3625- Intro to A.I. by Umair M.I</a:t>
            </a:r>
          </a:p>
        </p:txBody>
      </p:sp>
      <p:sp>
        <p:nvSpPr>
          <p:cNvPr id="5" name="Plassholder for lysbildenummer 4"/>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241458206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blank" preserve="1">
  <p:cSld name="Tomt">
    <p:spTree>
      <p:nvGrpSpPr>
        <p:cNvPr id="1" name=""/>
        <p:cNvGrpSpPr/>
        <p:nvPr/>
      </p:nvGrpSpPr>
      <p:grpSpPr>
        <a:xfrm>
          <a:off x="0" y="0"/>
          <a:ext cx="0" cy="0"/>
          <a:chOff x="0" y="0"/>
          <a:chExt cx="0" cy="0"/>
        </a:xfrm>
      </p:grpSpPr>
      <p:sp>
        <p:nvSpPr>
          <p:cNvPr id="2" name="Plassholder for dato 1"/>
          <p:cNvSpPr>
            <a:spLocks noGrp="1"/>
          </p:cNvSpPr>
          <p:nvPr>
            <p:ph type="dt" sz="half" idx="10"/>
          </p:nvPr>
        </p:nvSpPr>
        <p:spPr/>
        <p:txBody>
          <a:bodyPr/>
          <a:lstStyle/>
          <a:p>
            <a:fld id="{7D66F95F-571D-9C4C-BA1E-40FBBA42C7E9}" type="datetime1">
              <a:rPr lang="nb-NO" smtClean="0"/>
              <a:t>22.09.2026</a:t>
            </a:fld>
            <a:endParaRPr lang="nb-NO"/>
          </a:p>
        </p:txBody>
      </p:sp>
      <p:sp>
        <p:nvSpPr>
          <p:cNvPr id="3" name="Plassholder for bunntekst 2"/>
          <p:cNvSpPr>
            <a:spLocks noGrp="1"/>
          </p:cNvSpPr>
          <p:nvPr>
            <p:ph type="ftr" sz="quarter" idx="11"/>
          </p:nvPr>
        </p:nvSpPr>
        <p:spPr/>
        <p:txBody>
          <a:bodyPr/>
          <a:lstStyle/>
          <a:p>
            <a:r>
              <a:rPr lang="nb-NO"/>
              <a:t>DAVE3625- Intro to A.I. by Umair M.I</a:t>
            </a:r>
          </a:p>
        </p:txBody>
      </p:sp>
      <p:sp>
        <p:nvSpPr>
          <p:cNvPr id="4" name="Plassholder for lysbildenummer 3"/>
          <p:cNvSpPr>
            <a:spLocks noGrp="1"/>
          </p:cNvSpPr>
          <p:nvPr>
            <p:ph type="sldNum" sz="quarter" idx="12"/>
          </p:nvPr>
        </p:nvSpPr>
        <p:spPr/>
        <p:txBody>
          <a:bodyPr/>
          <a:lstStyle/>
          <a:p>
            <a:fld id="{5751DFAA-887F-4071-8EAD-E8CA316FCF06}" type="slidenum">
              <a:rPr lang="nb-NO" smtClean="0"/>
              <a:t>‹#›</a:t>
            </a:fld>
            <a:endParaRPr lang="nb-NO"/>
          </a:p>
        </p:txBody>
      </p:sp>
    </p:spTree>
    <p:extLst>
      <p:ext uri="{BB962C8B-B14F-4D97-AF65-F5344CB8AC3E}">
        <p14:creationId xmlns:p14="http://schemas.microsoft.com/office/powerpoint/2010/main" val="122221885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378143321"/>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13" Type="http://schemas.openxmlformats.org/officeDocument/2006/relationships/slideLayout" Target="../slideLayouts/slideLayout14.xml"/><Relationship Id="rId18" Type="http://schemas.openxmlformats.org/officeDocument/2006/relationships/slideLayout" Target="../slideLayouts/slideLayout19.xml"/><Relationship Id="rId26" Type="http://schemas.openxmlformats.org/officeDocument/2006/relationships/image" Target="../media/image2.png"/><Relationship Id="rId3" Type="http://schemas.openxmlformats.org/officeDocument/2006/relationships/slideLayout" Target="../slideLayouts/slideLayout4.xml"/><Relationship Id="rId21" Type="http://schemas.openxmlformats.org/officeDocument/2006/relationships/slideLayout" Target="../slideLayouts/slideLayout22.xml"/><Relationship Id="rId7" Type="http://schemas.openxmlformats.org/officeDocument/2006/relationships/slideLayout" Target="../slideLayouts/slideLayout8.xml"/><Relationship Id="rId12" Type="http://schemas.openxmlformats.org/officeDocument/2006/relationships/slideLayout" Target="../slideLayouts/slideLayout13.xml"/><Relationship Id="rId17" Type="http://schemas.openxmlformats.org/officeDocument/2006/relationships/slideLayout" Target="../slideLayouts/slideLayout18.xml"/><Relationship Id="rId25" Type="http://schemas.openxmlformats.org/officeDocument/2006/relationships/image" Target="../media/image1.png"/><Relationship Id="rId2" Type="http://schemas.openxmlformats.org/officeDocument/2006/relationships/slideLayout" Target="../slideLayouts/slideLayout3.xml"/><Relationship Id="rId16" Type="http://schemas.openxmlformats.org/officeDocument/2006/relationships/slideLayout" Target="../slideLayouts/slideLayout17.xml"/><Relationship Id="rId20" Type="http://schemas.openxmlformats.org/officeDocument/2006/relationships/slideLayout" Target="../slideLayouts/slideLayout21.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slideLayout" Target="../slideLayouts/slideLayout12.xml"/><Relationship Id="rId24" Type="http://schemas.openxmlformats.org/officeDocument/2006/relationships/theme" Target="../theme/theme2.xml"/><Relationship Id="rId5" Type="http://schemas.openxmlformats.org/officeDocument/2006/relationships/slideLayout" Target="../slideLayouts/slideLayout6.xml"/><Relationship Id="rId15" Type="http://schemas.openxmlformats.org/officeDocument/2006/relationships/slideLayout" Target="../slideLayouts/slideLayout16.xml"/><Relationship Id="rId23" Type="http://schemas.openxmlformats.org/officeDocument/2006/relationships/slideLayout" Target="../slideLayouts/slideLayout24.xml"/><Relationship Id="rId10" Type="http://schemas.openxmlformats.org/officeDocument/2006/relationships/slideLayout" Target="../slideLayouts/slideLayout11.xml"/><Relationship Id="rId19" Type="http://schemas.openxmlformats.org/officeDocument/2006/relationships/slideLayout" Target="../slideLayouts/slideLayout20.xml"/><Relationship Id="rId4" Type="http://schemas.openxmlformats.org/officeDocument/2006/relationships/slideLayout" Target="../slideLayouts/slideLayout5.xml"/><Relationship Id="rId9" Type="http://schemas.openxmlformats.org/officeDocument/2006/relationships/slideLayout" Target="../slideLayouts/slideLayout10.xml"/><Relationship Id="rId14" Type="http://schemas.openxmlformats.org/officeDocument/2006/relationships/slideLayout" Target="../slideLayouts/slideLayout15.xml"/><Relationship Id="rId22" Type="http://schemas.openxmlformats.org/officeDocument/2006/relationships/slideLayout" Target="../slideLayouts/slideLayout2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ssholder for tittel 1"/>
          <p:cNvSpPr>
            <a:spLocks noGrp="1"/>
          </p:cNvSpPr>
          <p:nvPr>
            <p:ph type="title"/>
          </p:nvPr>
        </p:nvSpPr>
        <p:spPr>
          <a:xfrm>
            <a:off x="683315" y="1669558"/>
            <a:ext cx="10806491" cy="467511"/>
          </a:xfrm>
          <a:prstGeom prst="rect">
            <a:avLst/>
          </a:prstGeom>
        </p:spPr>
        <p:txBody>
          <a:bodyPr vert="horz" lIns="0" tIns="0" rIns="0" bIns="0" rtlCol="0" anchor="b" anchorCtr="0">
            <a:normAutofit/>
          </a:bodyPr>
          <a:lstStyle/>
          <a:p>
            <a:r>
              <a:rPr lang="nb-NO"/>
              <a:t>Klikk for å redigere tittelstil</a:t>
            </a:r>
          </a:p>
        </p:txBody>
      </p:sp>
      <p:sp>
        <p:nvSpPr>
          <p:cNvPr id="3" name="Plassholder for tekst 2"/>
          <p:cNvSpPr>
            <a:spLocks noGrp="1"/>
          </p:cNvSpPr>
          <p:nvPr>
            <p:ph type="body" idx="1"/>
          </p:nvPr>
        </p:nvSpPr>
        <p:spPr>
          <a:xfrm>
            <a:off x="683315" y="2456019"/>
            <a:ext cx="10806491" cy="3291572"/>
          </a:xfrm>
          <a:prstGeom prst="rect">
            <a:avLst/>
          </a:prstGeom>
        </p:spPr>
        <p:txBody>
          <a:bodyPr vert="horz" lIns="0" tIns="0" rIns="0" bIns="0" rtlCol="0">
            <a:normAutofit/>
          </a:bodyPr>
          <a:lstStyle/>
          <a:p>
            <a:pPr lvl="0"/>
            <a:r>
              <a:rPr lang="nb-NO"/>
              <a:t>Klikk for å redigere tekststiler i malen</a:t>
            </a:r>
          </a:p>
          <a:p>
            <a:pPr lvl="1"/>
            <a:r>
              <a:rPr lang="nb-NO"/>
              <a:t>Andre nivå</a:t>
            </a:r>
          </a:p>
          <a:p>
            <a:pPr lvl="2"/>
            <a:r>
              <a:rPr lang="nb-NO"/>
              <a:t>Tredje nivå</a:t>
            </a:r>
          </a:p>
          <a:p>
            <a:pPr lvl="3"/>
            <a:r>
              <a:rPr lang="nb-NO"/>
              <a:t>Fjerde nivå</a:t>
            </a:r>
          </a:p>
          <a:p>
            <a:pPr lvl="4"/>
            <a:r>
              <a:rPr lang="nb-NO"/>
              <a:t>Femte nivå</a:t>
            </a:r>
          </a:p>
        </p:txBody>
      </p:sp>
      <p:sp>
        <p:nvSpPr>
          <p:cNvPr id="4" name="Plassholder for dato 3"/>
          <p:cNvSpPr>
            <a:spLocks noGrp="1"/>
          </p:cNvSpPr>
          <p:nvPr>
            <p:ph type="dt" sz="half" idx="2"/>
          </p:nvPr>
        </p:nvSpPr>
        <p:spPr>
          <a:xfrm>
            <a:off x="3419879" y="6122204"/>
            <a:ext cx="759238" cy="184666"/>
          </a:xfrm>
          <a:prstGeom prst="rect">
            <a:avLst/>
          </a:prstGeom>
        </p:spPr>
        <p:txBody>
          <a:bodyPr vert="horz" lIns="0" tIns="0" rIns="0" bIns="0" rtlCol="0" anchor="ctr">
            <a:normAutofit/>
          </a:bodyPr>
          <a:lstStyle>
            <a:lvl1pPr algn="l">
              <a:defRPr sz="773">
                <a:solidFill>
                  <a:schemeClr val="dk1"/>
                </a:solidFill>
              </a:defRPr>
            </a:lvl1pPr>
          </a:lstStyle>
          <a:p>
            <a:fld id="{4CB3F13C-F71E-B845-B734-ECB977509381}" type="datetime1">
              <a:rPr lang="nb-NO" smtClean="0"/>
              <a:t>22.09.2026</a:t>
            </a:fld>
            <a:endParaRPr lang="nb-NO"/>
          </a:p>
        </p:txBody>
      </p:sp>
      <p:sp>
        <p:nvSpPr>
          <p:cNvPr id="5" name="Plassholder for bunntekst 4"/>
          <p:cNvSpPr>
            <a:spLocks noGrp="1"/>
          </p:cNvSpPr>
          <p:nvPr>
            <p:ph type="ftr" sz="quarter" idx="3"/>
          </p:nvPr>
        </p:nvSpPr>
        <p:spPr>
          <a:xfrm>
            <a:off x="4365617" y="6122204"/>
            <a:ext cx="6326985" cy="184666"/>
          </a:xfrm>
          <a:prstGeom prst="rect">
            <a:avLst/>
          </a:prstGeom>
        </p:spPr>
        <p:txBody>
          <a:bodyPr vert="horz" lIns="0" tIns="0" rIns="0" bIns="0" rtlCol="0" anchor="ctr">
            <a:normAutofit/>
          </a:bodyPr>
          <a:lstStyle>
            <a:lvl1pPr algn="l">
              <a:defRPr sz="773" cap="all" baseline="0">
                <a:solidFill>
                  <a:schemeClr val="dk1"/>
                </a:solidFill>
              </a:defRPr>
            </a:lvl1pPr>
          </a:lstStyle>
          <a:p>
            <a:r>
              <a:rPr lang="nb-NO"/>
              <a:t>DAVE3625- Intro to A.I. by Umair M.I</a:t>
            </a:r>
          </a:p>
        </p:txBody>
      </p:sp>
      <p:sp>
        <p:nvSpPr>
          <p:cNvPr id="6" name="Plassholder for lysbildenummer 5"/>
          <p:cNvSpPr>
            <a:spLocks noGrp="1"/>
          </p:cNvSpPr>
          <p:nvPr>
            <p:ph type="sldNum" sz="quarter" idx="4"/>
          </p:nvPr>
        </p:nvSpPr>
        <p:spPr>
          <a:xfrm>
            <a:off x="11180995" y="6122204"/>
            <a:ext cx="308811" cy="184666"/>
          </a:xfrm>
          <a:prstGeom prst="rect">
            <a:avLst/>
          </a:prstGeom>
        </p:spPr>
        <p:txBody>
          <a:bodyPr vert="horz" lIns="0" tIns="0" rIns="0" bIns="0" rtlCol="0" anchor="ctr">
            <a:normAutofit/>
          </a:bodyPr>
          <a:lstStyle>
            <a:lvl1pPr algn="r">
              <a:defRPr sz="773">
                <a:solidFill>
                  <a:schemeClr val="dk1"/>
                </a:solidFill>
              </a:defRPr>
            </a:lvl1pPr>
          </a:lstStyle>
          <a:p>
            <a:fld id="{5751DFAA-887F-4071-8EAD-E8CA316FCF06}" type="slidenum">
              <a:rPr lang="nb-NO" smtClean="0"/>
              <a:pPr/>
              <a:t>‹#›</a:t>
            </a:fld>
            <a:endParaRPr lang="nb-NO"/>
          </a:p>
        </p:txBody>
      </p:sp>
      <p:pic>
        <p:nvPicPr>
          <p:cNvPr id="8" name="Bilde 7">
            <a:extLst>
              <a:ext uri="{FF2B5EF4-FFF2-40B4-BE49-F238E27FC236}">
                <a16:creationId xmlns:a16="http://schemas.microsoft.com/office/drawing/2014/main" id="{6D4766B5-60EE-4C05-9784-0F52E6D4C5F8}"/>
              </a:ext>
            </a:extLst>
          </p:cNvPr>
          <p:cNvPicPr>
            <a:picLocks noChangeAspect="1"/>
          </p:cNvPicPr>
          <p:nvPr userDrawn="1"/>
        </p:nvPicPr>
        <p:blipFill>
          <a:blip r:embed="rId25" cstate="print">
            <a:extLst>
              <a:ext uri="{28A0092B-C50C-407E-A947-70E740481C1C}">
                <a14:useLocalDpi xmlns:a14="http://schemas.microsoft.com/office/drawing/2010/main" val="0"/>
              </a:ext>
            </a:extLst>
          </a:blip>
          <a:stretch>
            <a:fillRect/>
          </a:stretch>
        </p:blipFill>
        <p:spPr>
          <a:xfrm>
            <a:off x="683315" y="683635"/>
            <a:ext cx="704874" cy="416906"/>
          </a:xfrm>
          <a:prstGeom prst="rect">
            <a:avLst/>
          </a:prstGeom>
        </p:spPr>
      </p:pic>
      <p:pic>
        <p:nvPicPr>
          <p:cNvPr id="14" name="Bilde 13">
            <a:extLst>
              <a:ext uri="{FF2B5EF4-FFF2-40B4-BE49-F238E27FC236}">
                <a16:creationId xmlns:a16="http://schemas.microsoft.com/office/drawing/2014/main" id="{6A4233ED-D1B9-4B94-9BBA-8344A1EE6A06}"/>
              </a:ext>
            </a:extLst>
          </p:cNvPr>
          <p:cNvPicPr>
            <a:picLocks noChangeAspect="1"/>
          </p:cNvPicPr>
          <p:nvPr userDrawn="1"/>
        </p:nvPicPr>
        <p:blipFill>
          <a:blip r:embed="rId26" cstate="print">
            <a:extLst>
              <a:ext uri="{28A0092B-C50C-407E-A947-70E740481C1C}">
                <a14:useLocalDpi xmlns:a14="http://schemas.microsoft.com/office/drawing/2010/main" val="0"/>
              </a:ext>
            </a:extLst>
          </a:blip>
          <a:stretch>
            <a:fillRect/>
          </a:stretch>
        </p:blipFill>
        <p:spPr>
          <a:xfrm>
            <a:off x="683315" y="6170432"/>
            <a:ext cx="1626139" cy="191842"/>
          </a:xfrm>
          <a:prstGeom prst="rect">
            <a:avLst/>
          </a:prstGeom>
        </p:spPr>
      </p:pic>
    </p:spTree>
    <p:extLst>
      <p:ext uri="{BB962C8B-B14F-4D97-AF65-F5344CB8AC3E}">
        <p14:creationId xmlns:p14="http://schemas.microsoft.com/office/powerpoint/2010/main" val="1659734752"/>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Lst>
  <p:hf sldNum="0" hdr="0" dt="0"/>
  <p:txStyles>
    <p:titleStyle>
      <a:lvl1pPr algn="l" defTabSz="913965" rtl="0" eaLnBrk="1" latinLnBrk="0" hangingPunct="1">
        <a:lnSpc>
          <a:spcPct val="90000"/>
        </a:lnSpc>
        <a:spcBef>
          <a:spcPct val="0"/>
        </a:spcBef>
        <a:buNone/>
        <a:defRPr sz="3374" b="1" kern="1200">
          <a:solidFill>
            <a:schemeClr val="tx1"/>
          </a:solidFill>
          <a:latin typeface="+mj-lt"/>
          <a:ea typeface="+mj-ea"/>
          <a:cs typeface="+mj-cs"/>
        </a:defRPr>
      </a:lvl1pPr>
    </p:titleStyle>
    <p:bodyStyle>
      <a:lvl1pPr marL="228491" indent="-228491" algn="l" defTabSz="913965" rtl="0" eaLnBrk="1" latinLnBrk="0" hangingPunct="1">
        <a:lnSpc>
          <a:spcPct val="100000"/>
        </a:lnSpc>
        <a:spcBef>
          <a:spcPts val="0"/>
        </a:spcBef>
        <a:spcAft>
          <a:spcPts val="703"/>
        </a:spcAft>
        <a:buClrTx/>
        <a:buFont typeface="Arial" panose="020B0604020202020204" pitchFamily="34" charset="0"/>
        <a:buChar char="•"/>
        <a:defRPr sz="2530" kern="1200">
          <a:solidFill>
            <a:schemeClr val="tx1"/>
          </a:solidFill>
          <a:latin typeface="+mn-lt"/>
          <a:ea typeface="+mn-ea"/>
          <a:cs typeface="+mn-cs"/>
        </a:defRPr>
      </a:lvl1pPr>
      <a:lvl2pPr marL="456982" indent="-228491" algn="l" defTabSz="913965" rtl="0" eaLnBrk="1" latinLnBrk="0" hangingPunct="1">
        <a:lnSpc>
          <a:spcPct val="100000"/>
        </a:lnSpc>
        <a:spcBef>
          <a:spcPts val="351"/>
        </a:spcBef>
        <a:buClrTx/>
        <a:buFont typeface="Arial" panose="020B0604020202020204" pitchFamily="34" charset="0"/>
        <a:buChar char="•"/>
        <a:defRPr sz="2249" kern="1200">
          <a:solidFill>
            <a:schemeClr val="tx1"/>
          </a:solidFill>
          <a:latin typeface="+mn-lt"/>
          <a:ea typeface="+mn-ea"/>
          <a:cs typeface="+mn-cs"/>
        </a:defRPr>
      </a:lvl2pPr>
      <a:lvl3pPr marL="685473" indent="-228491" algn="l" defTabSz="913965" rtl="0" eaLnBrk="1" latinLnBrk="0" hangingPunct="1">
        <a:lnSpc>
          <a:spcPct val="100000"/>
        </a:lnSpc>
        <a:spcBef>
          <a:spcPts val="351"/>
        </a:spcBef>
        <a:buClrTx/>
        <a:buFont typeface="Arial" panose="020B0604020202020204" pitchFamily="34" charset="0"/>
        <a:buChar char="•"/>
        <a:defRPr sz="1968" kern="1200">
          <a:solidFill>
            <a:schemeClr val="tx1"/>
          </a:solidFill>
          <a:latin typeface="+mn-lt"/>
          <a:ea typeface="+mn-ea"/>
          <a:cs typeface="+mn-cs"/>
        </a:defRPr>
      </a:lvl3pPr>
      <a:lvl4pPr marL="913964" indent="-228491" algn="l" defTabSz="913965" rtl="0" eaLnBrk="1" latinLnBrk="0" hangingPunct="1">
        <a:lnSpc>
          <a:spcPct val="100000"/>
        </a:lnSpc>
        <a:spcBef>
          <a:spcPts val="351"/>
        </a:spcBef>
        <a:buClrTx/>
        <a:buFont typeface="Arial" panose="020B0604020202020204" pitchFamily="34" charset="0"/>
        <a:buChar char="•"/>
        <a:defRPr sz="1687" kern="1200">
          <a:solidFill>
            <a:schemeClr val="tx1"/>
          </a:solidFill>
          <a:latin typeface="+mn-lt"/>
          <a:ea typeface="+mn-ea"/>
          <a:cs typeface="+mn-cs"/>
        </a:defRPr>
      </a:lvl4pPr>
      <a:lvl5pPr marL="1142455" indent="-228491" algn="l" defTabSz="913965" rtl="0" eaLnBrk="1" latinLnBrk="0" hangingPunct="1">
        <a:lnSpc>
          <a:spcPct val="100000"/>
        </a:lnSpc>
        <a:spcBef>
          <a:spcPts val="351"/>
        </a:spcBef>
        <a:buClrTx/>
        <a:buFont typeface="Arial" panose="020B0604020202020204" pitchFamily="34" charset="0"/>
        <a:buChar char="•"/>
        <a:defRPr sz="1406" kern="1200">
          <a:solidFill>
            <a:schemeClr val="tx1"/>
          </a:solidFill>
          <a:latin typeface="+mn-lt"/>
          <a:ea typeface="+mn-ea"/>
          <a:cs typeface="+mn-cs"/>
        </a:defRPr>
      </a:lvl5pPr>
      <a:lvl6pPr marL="2513402" indent="-228491" algn="l" defTabSz="913965"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6pPr>
      <a:lvl7pPr marL="2970385" indent="-228491" algn="l" defTabSz="913965"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7pPr>
      <a:lvl8pPr marL="3427367" indent="-228491" algn="l" defTabSz="913965"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8pPr>
      <a:lvl9pPr marL="3884349" indent="-228491" algn="l" defTabSz="913965" rtl="0" eaLnBrk="1" latinLnBrk="0" hangingPunct="1">
        <a:lnSpc>
          <a:spcPct val="90000"/>
        </a:lnSpc>
        <a:spcBef>
          <a:spcPts val="500"/>
        </a:spcBef>
        <a:buFont typeface="Arial" panose="020B0604020202020204" pitchFamily="34" charset="0"/>
        <a:buChar char="•"/>
        <a:defRPr sz="1799" kern="1200">
          <a:solidFill>
            <a:schemeClr val="tx1"/>
          </a:solidFill>
          <a:latin typeface="+mn-lt"/>
          <a:ea typeface="+mn-ea"/>
          <a:cs typeface="+mn-cs"/>
        </a:defRPr>
      </a:lvl9pPr>
    </p:bodyStyle>
    <p:otherStyle>
      <a:defPPr>
        <a:defRPr lang="nb-NO"/>
      </a:defPPr>
      <a:lvl1pPr marL="0" algn="l" defTabSz="913965" rtl="0" eaLnBrk="1" latinLnBrk="0" hangingPunct="1">
        <a:defRPr sz="1799" kern="1200">
          <a:solidFill>
            <a:schemeClr val="tx1"/>
          </a:solidFill>
          <a:latin typeface="+mn-lt"/>
          <a:ea typeface="+mn-ea"/>
          <a:cs typeface="+mn-cs"/>
        </a:defRPr>
      </a:lvl1pPr>
      <a:lvl2pPr marL="456982" algn="l" defTabSz="913965" rtl="0" eaLnBrk="1" latinLnBrk="0" hangingPunct="1">
        <a:defRPr sz="1799" kern="1200">
          <a:solidFill>
            <a:schemeClr val="tx1"/>
          </a:solidFill>
          <a:latin typeface="+mn-lt"/>
          <a:ea typeface="+mn-ea"/>
          <a:cs typeface="+mn-cs"/>
        </a:defRPr>
      </a:lvl2pPr>
      <a:lvl3pPr marL="913965" algn="l" defTabSz="913965" rtl="0" eaLnBrk="1" latinLnBrk="0" hangingPunct="1">
        <a:defRPr sz="1799" kern="1200">
          <a:solidFill>
            <a:schemeClr val="tx1"/>
          </a:solidFill>
          <a:latin typeface="+mn-lt"/>
          <a:ea typeface="+mn-ea"/>
          <a:cs typeface="+mn-cs"/>
        </a:defRPr>
      </a:lvl3pPr>
      <a:lvl4pPr marL="1370947" algn="l" defTabSz="913965" rtl="0" eaLnBrk="1" latinLnBrk="0" hangingPunct="1">
        <a:defRPr sz="1799" kern="1200">
          <a:solidFill>
            <a:schemeClr val="tx1"/>
          </a:solidFill>
          <a:latin typeface="+mn-lt"/>
          <a:ea typeface="+mn-ea"/>
          <a:cs typeface="+mn-cs"/>
        </a:defRPr>
      </a:lvl4pPr>
      <a:lvl5pPr marL="1827929" algn="l" defTabSz="913965" rtl="0" eaLnBrk="1" latinLnBrk="0" hangingPunct="1">
        <a:defRPr sz="1799" kern="1200">
          <a:solidFill>
            <a:schemeClr val="tx1"/>
          </a:solidFill>
          <a:latin typeface="+mn-lt"/>
          <a:ea typeface="+mn-ea"/>
          <a:cs typeface="+mn-cs"/>
        </a:defRPr>
      </a:lvl5pPr>
      <a:lvl6pPr marL="2284911" algn="l" defTabSz="913965" rtl="0" eaLnBrk="1" latinLnBrk="0" hangingPunct="1">
        <a:defRPr sz="1799" kern="1200">
          <a:solidFill>
            <a:schemeClr val="tx1"/>
          </a:solidFill>
          <a:latin typeface="+mn-lt"/>
          <a:ea typeface="+mn-ea"/>
          <a:cs typeface="+mn-cs"/>
        </a:defRPr>
      </a:lvl6pPr>
      <a:lvl7pPr marL="2741893" algn="l" defTabSz="913965" rtl="0" eaLnBrk="1" latinLnBrk="0" hangingPunct="1">
        <a:defRPr sz="1799" kern="1200">
          <a:solidFill>
            <a:schemeClr val="tx1"/>
          </a:solidFill>
          <a:latin typeface="+mn-lt"/>
          <a:ea typeface="+mn-ea"/>
          <a:cs typeface="+mn-cs"/>
        </a:defRPr>
      </a:lvl7pPr>
      <a:lvl8pPr marL="3198876" algn="l" defTabSz="913965" rtl="0" eaLnBrk="1" latinLnBrk="0" hangingPunct="1">
        <a:defRPr sz="1799" kern="1200">
          <a:solidFill>
            <a:schemeClr val="tx1"/>
          </a:solidFill>
          <a:latin typeface="+mn-lt"/>
          <a:ea typeface="+mn-ea"/>
          <a:cs typeface="+mn-cs"/>
        </a:defRPr>
      </a:lvl8pPr>
      <a:lvl9pPr marL="3655858" algn="l" defTabSz="913965" rtl="0" eaLnBrk="1" latinLnBrk="0" hangingPunct="1">
        <a:defRPr sz="179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4.xml"/><Relationship Id="rId1" Type="http://schemas.openxmlformats.org/officeDocument/2006/relationships/slideLayout" Target="../slideLayouts/slideLayout10.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0.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1.xml"/><Relationship Id="rId1" Type="http://schemas.openxmlformats.org/officeDocument/2006/relationships/slideLayout" Target="../slideLayouts/slideLayout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9.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2" Type="http://schemas.openxmlformats.org/officeDocument/2006/relationships/image" Target="../media/image19.gif"/><Relationship Id="rId1" Type="http://schemas.openxmlformats.org/officeDocument/2006/relationships/slideLayout" Target="../slideLayouts/slideLayout10.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0.xml"/></Relationships>
</file>

<file path=ppt/slides/_rels/slide3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0.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1.gif"/><Relationship Id="rId2" Type="http://schemas.openxmlformats.org/officeDocument/2006/relationships/notesSlide" Target="../notesSlides/notesSlide24.xml"/><Relationship Id="rId1" Type="http://schemas.openxmlformats.org/officeDocument/2006/relationships/slideLayout" Target="../slideLayouts/slideLayout10.xml"/><Relationship Id="rId4" Type="http://schemas.openxmlformats.org/officeDocument/2006/relationships/image" Target="../media/image22.gif"/></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5.xml"/><Relationship Id="rId1" Type="http://schemas.openxmlformats.org/officeDocument/2006/relationships/slideLayout" Target="../slideLayouts/slideLayout10.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0.xml"/></Relationships>
</file>

<file path=ppt/slides/_rels/slide4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0.xml"/></Relationships>
</file>

<file path=ppt/slides/_rels/slide41.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4.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notesSlide" Target="../notesSlides/notesSlide30.xml"/><Relationship Id="rId1" Type="http://schemas.openxmlformats.org/officeDocument/2006/relationships/slideLayout" Target="../slideLayouts/slideLayout10.xml"/><Relationship Id="rId4" Type="http://schemas.openxmlformats.org/officeDocument/2006/relationships/image" Target="../media/image27.gif"/></Relationships>
</file>

<file path=ppt/slides/_rels/slide4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image" Target="../media/image28.gif"/><Relationship Id="rId1" Type="http://schemas.openxmlformats.org/officeDocument/2006/relationships/slideLayout" Target="../slideLayouts/slideLayout10.xml"/></Relationships>
</file>

<file path=ppt/slides/_rels/slide47.xml.rels><?xml version="1.0" encoding="UTF-8" standalone="yes"?>
<Relationships xmlns="http://schemas.openxmlformats.org/package/2006/relationships"><Relationship Id="rId2" Type="http://schemas.openxmlformats.org/officeDocument/2006/relationships/image" Target="../media/image29.org&amp;utm_campaign=index&amp;utm_content=original"/><Relationship Id="rId1" Type="http://schemas.openxmlformats.org/officeDocument/2006/relationships/slideLayout" Target="../slideLayouts/slideLayout10.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3.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notesSlide" Target="../notesSlides/notesSlide34.xml"/><Relationship Id="rId1" Type="http://schemas.openxmlformats.org/officeDocument/2006/relationships/slideLayout" Target="../slideLayouts/slideLayout10.xml"/></Relationships>
</file>

<file path=ppt/slides/_rels/slide5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5.xml"/><Relationship Id="rId1" Type="http://schemas.openxmlformats.org/officeDocument/2006/relationships/slideLayout" Target="../slideLayouts/slideLayout10.xml"/></Relationships>
</file>

<file path=ppt/slides/_rels/slide55.xml.rels><?xml version="1.0" encoding="UTF-8" standalone="yes"?>
<Relationships xmlns="http://schemas.openxmlformats.org/package/2006/relationships"><Relationship Id="rId3" Type="http://schemas.openxmlformats.org/officeDocument/2006/relationships/image" Target="../media/image33.gif"/><Relationship Id="rId2" Type="http://schemas.openxmlformats.org/officeDocument/2006/relationships/image" Target="../media/image32.gif"/><Relationship Id="rId1" Type="http://schemas.openxmlformats.org/officeDocument/2006/relationships/slideLayout" Target="../slideLayouts/slideLayout10.xml"/></Relationships>
</file>

<file path=ppt/slides/_rels/slide56.xml.rels><?xml version="1.0" encoding="UTF-8" standalone="yes"?>
<Relationships xmlns="http://schemas.openxmlformats.org/package/2006/relationships"><Relationship Id="rId3" Type="http://schemas.openxmlformats.org/officeDocument/2006/relationships/image" Target="../media/image34.gif"/><Relationship Id="rId2" Type="http://schemas.openxmlformats.org/officeDocument/2006/relationships/notesSlide" Target="../notesSlides/notesSlide36.xml"/><Relationship Id="rId1" Type="http://schemas.openxmlformats.org/officeDocument/2006/relationships/slideLayout" Target="../slideLayouts/slideLayout10.xml"/></Relationships>
</file>

<file path=ppt/slides/_rels/slide57.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10.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0.xml"/><Relationship Id="rId4" Type="http://schemas.openxmlformats.org/officeDocument/2006/relationships/image" Target="../media/image3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38.xml"/><Relationship Id="rId1" Type="http://schemas.openxmlformats.org/officeDocument/2006/relationships/slideLayout" Target="../slideLayouts/slideLayout10.xml"/></Relationships>
</file>

<file path=ppt/slides/_rels/slide6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39.xml"/><Relationship Id="rId1" Type="http://schemas.openxmlformats.org/officeDocument/2006/relationships/slideLayout" Target="../slideLayouts/slideLayout10.xml"/></Relationships>
</file>

<file path=ppt/slides/_rels/slide6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40.xml"/><Relationship Id="rId1" Type="http://schemas.openxmlformats.org/officeDocument/2006/relationships/slideLayout" Target="../slideLayouts/slideLayout10.xml"/></Relationships>
</file>

<file path=ppt/slides/_rels/slide65.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1.xml"/><Relationship Id="rId1" Type="http://schemas.openxmlformats.org/officeDocument/2006/relationships/slideLayout" Target="../slideLayouts/slideLayout10.xml"/></Relationships>
</file>

<file path=ppt/slides/_rels/slide66.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D900"/>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AEDBA00-F762-41D6-852D-77922288EE9F}"/>
              </a:ext>
            </a:extLst>
          </p:cNvPr>
          <p:cNvSpPr>
            <a:spLocks noGrp="1"/>
          </p:cNvSpPr>
          <p:nvPr/>
        </p:nvSpPr>
        <p:spPr>
          <a:xfrm>
            <a:off x="590550" y="1695450"/>
            <a:ext cx="10477500" cy="762000"/>
          </a:xfrm>
          <a:prstGeom prst="rect">
            <a:avLst/>
          </a:prstGeom>
          <a:noFill/>
          <a:ln w="0">
            <a:noFill/>
          </a:ln>
        </p:spPr>
        <p:txBody>
          <a:bodyPr>
            <a:noAutofit/>
          </a:bodyPr>
          <a:lstStyle/>
          <a:p>
            <a:pPr>
              <a:defRPr sz="4050" b="1">
                <a:solidFill>
                  <a:srgbClr val="151515"/>
                </a:solidFill>
                <a:latin typeface="Arial"/>
                <a:ea typeface="Arial"/>
                <a:cs typeface="Arial"/>
              </a:defRPr>
            </a:pPr>
            <a:r>
              <a:rPr sz="4050" b="1">
                <a:solidFill>
                  <a:srgbClr val="151515"/>
                </a:solidFill>
                <a:latin typeface="Arial"/>
                <a:ea typeface="Arial"/>
                <a:cs typeface="Arial"/>
              </a:rPr>
              <a:t>Machine Learning III</a:t>
            </a:r>
          </a:p>
        </p:txBody>
      </p:sp>
      <p:sp>
        <p:nvSpPr>
          <p:cNvPr id="2" name="Rectangle 1">
            <a:extLst>
              <a:ext uri="{FF2B5EF4-FFF2-40B4-BE49-F238E27FC236}">
                <a16:creationId xmlns:a16="http://schemas.microsoft.com/office/drawing/2014/main" id="{2363F2CA-77B2-4AA9-A303-3700051FCC90}"/>
              </a:ext>
            </a:extLst>
          </p:cNvPr>
          <p:cNvSpPr>
            <a:spLocks noGrp="1"/>
          </p:cNvSpPr>
          <p:nvPr/>
        </p:nvSpPr>
        <p:spPr>
          <a:xfrm>
            <a:off x="590550" y="2619375"/>
            <a:ext cx="10668000" cy="838200"/>
          </a:xfrm>
          <a:prstGeom prst="rect">
            <a:avLst/>
          </a:prstGeom>
          <a:noFill/>
          <a:ln w="0">
            <a:noFill/>
          </a:ln>
        </p:spPr>
        <p:txBody>
          <a:bodyPr>
            <a:noAutofit/>
          </a:bodyPr>
          <a:lstStyle/>
          <a:p>
            <a:pPr>
              <a:defRPr sz="2325" b="0">
                <a:solidFill>
                  <a:srgbClr val="151515"/>
                </a:solidFill>
                <a:latin typeface="Arial"/>
                <a:ea typeface="Arial"/>
                <a:cs typeface="Arial"/>
              </a:defRPr>
            </a:pPr>
            <a:r>
              <a:rPr sz="2325" b="0">
                <a:solidFill>
                  <a:srgbClr val="151515"/>
                </a:solidFill>
                <a:latin typeface="Arial"/>
                <a:ea typeface="Arial"/>
                <a:cs typeface="Arial"/>
              </a:rPr>
              <a:t>Linear regression and introduction to clustering</a:t>
            </a:r>
          </a:p>
        </p:txBody>
      </p:sp>
      <p:sp>
        <p:nvSpPr>
          <p:cNvPr id="3" name="Rectangle 2">
            <a:extLst>
              <a:ext uri="{FF2B5EF4-FFF2-40B4-BE49-F238E27FC236}">
                <a16:creationId xmlns:a16="http://schemas.microsoft.com/office/drawing/2014/main" id="{322760EE-265F-4E0D-98D8-772C3E95F4E1}"/>
              </a:ext>
            </a:extLst>
          </p:cNvPr>
          <p:cNvSpPr>
            <a:spLocks noGrp="1"/>
          </p:cNvSpPr>
          <p:nvPr/>
        </p:nvSpPr>
        <p:spPr>
          <a:xfrm>
            <a:off x="628650" y="4543425"/>
            <a:ext cx="9429750" cy="381000"/>
          </a:xfrm>
          <a:prstGeom prst="rect">
            <a:avLst/>
          </a:prstGeom>
          <a:noFill/>
          <a:ln w="0">
            <a:noFill/>
          </a:ln>
        </p:spPr>
        <p:txBody>
          <a:bodyPr>
            <a:noAutofit/>
          </a:bodyPr>
          <a:lstStyle/>
          <a:p>
            <a:pPr>
              <a:defRPr sz="1500" b="0">
                <a:solidFill>
                  <a:srgbClr val="151515"/>
                </a:solidFill>
                <a:latin typeface="Arial"/>
                <a:ea typeface="Arial"/>
                <a:cs typeface="Arial"/>
              </a:defRPr>
            </a:pPr>
            <a:r>
              <a:rPr sz="1500" b="0">
                <a:solidFill>
                  <a:srgbClr val="151515"/>
                </a:solidFill>
                <a:latin typeface="Arial"/>
                <a:ea typeface="Arial"/>
                <a:cs typeface="Arial"/>
              </a:rPr>
              <a:t>DAVE3625  ·  Umair Mehmood Imam</a:t>
            </a:r>
          </a:p>
        </p:txBody>
      </p:sp>
    </p:spTree>
    <p:extLst>
      <p:ext uri="{BB962C8B-B14F-4D97-AF65-F5344CB8AC3E}">
        <p14:creationId xmlns:p14="http://schemas.microsoft.com/office/powerpoint/2010/main" val="1306491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86725F-5F35-32B2-B9D8-FCF55C77CF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40000" y="844550"/>
            <a:ext cx="7112000" cy="5168900"/>
          </a:xfrm>
          <a:prstGeom prst="rect">
            <a:avLst/>
          </a:prstGeom>
        </p:spPr>
      </p:pic>
    </p:spTree>
    <p:extLst>
      <p:ext uri="{BB962C8B-B14F-4D97-AF65-F5344CB8AC3E}">
        <p14:creationId xmlns:p14="http://schemas.microsoft.com/office/powerpoint/2010/main" val="212647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FD13933-A768-AA6C-4E87-AD9B1FFDF9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903219" y="1457864"/>
            <a:ext cx="7772400" cy="5023297"/>
          </a:xfrm>
          <a:prstGeom prst="rect">
            <a:avLst/>
          </a:prstGeom>
        </p:spPr>
      </p:pic>
      <p:sp>
        <p:nvSpPr>
          <p:cNvPr id="4" name="Rectangle 3">
            <a:extLst>
              <a:ext uri="{FF2B5EF4-FFF2-40B4-BE49-F238E27FC236}">
                <a16:creationId xmlns:a16="http://schemas.microsoft.com/office/drawing/2014/main" id="{FF310E36-A3E8-F655-404A-C309B2694042}"/>
              </a:ext>
            </a:extLst>
          </p:cNvPr>
          <p:cNvSpPr>
            <a:spLocks noGrp="1"/>
          </p:cNvSpPr>
          <p:nvPr/>
        </p:nvSpPr>
        <p:spPr>
          <a:xfrm>
            <a:off x="5179804" y="255738"/>
            <a:ext cx="1390994" cy="838200"/>
          </a:xfrm>
          <a:prstGeom prst="rect">
            <a:avLst/>
          </a:prstGeom>
          <a:noFill/>
          <a:ln w="0">
            <a:noFill/>
          </a:ln>
        </p:spPr>
        <p:txBody>
          <a:bodyPr>
            <a:noAutofit/>
          </a:bodyPr>
          <a:lstStyle/>
          <a:p>
            <a:pPr>
              <a:defRPr sz="2325" b="0">
                <a:solidFill>
                  <a:srgbClr val="151515"/>
                </a:solidFill>
                <a:latin typeface="Arial"/>
                <a:ea typeface="Arial"/>
                <a:cs typeface="Arial"/>
              </a:defRPr>
            </a:pPr>
            <a:r>
              <a:rPr lang="nb-NO" sz="2325" dirty="0">
                <a:solidFill>
                  <a:srgbClr val="151515"/>
                </a:solidFill>
                <a:latin typeface="Arial"/>
                <a:ea typeface="Arial"/>
                <a:cs typeface="Arial"/>
              </a:rPr>
              <a:t>Labs</a:t>
            </a:r>
            <a:endParaRPr sz="2325" b="0" dirty="0">
              <a:solidFill>
                <a:srgbClr val="151515"/>
              </a:solidFill>
              <a:latin typeface="Arial"/>
              <a:ea typeface="Arial"/>
              <a:cs typeface="Arial"/>
            </a:endParaRPr>
          </a:p>
        </p:txBody>
      </p:sp>
    </p:spTree>
    <p:extLst>
      <p:ext uri="{BB962C8B-B14F-4D97-AF65-F5344CB8AC3E}">
        <p14:creationId xmlns:p14="http://schemas.microsoft.com/office/powerpoint/2010/main" val="12895792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 name="Rectangle 21">
            <a:extLst>
              <a:ext uri="{FF2B5EF4-FFF2-40B4-BE49-F238E27FC236}">
                <a16:creationId xmlns:a16="http://schemas.microsoft.com/office/drawing/2014/main" id="{7F477A5F-7473-47A3-B421-CED65E0F352F}"/>
              </a:ext>
            </a:extLst>
          </p:cNvPr>
          <p:cNvSpPr>
            <a:spLocks noGrp="1"/>
          </p:cNvSpPr>
          <p:nvPr/>
        </p:nvSpPr>
        <p:spPr>
          <a:xfrm>
            <a:off x="2852" y="1604"/>
            <a:ext cx="12186297" cy="780685"/>
          </a:xfrm>
          <a:prstGeom prst="rect">
            <a:avLst/>
          </a:prstGeom>
          <a:solidFill>
            <a:srgbClr val="FFD900"/>
          </a:solidFill>
          <a:ln w="0">
            <a:noFill/>
          </a:ln>
        </p:spPr>
        <p:txBody>
          <a:bodyPr/>
          <a:lstStyle/>
          <a:p>
            <a:pPr marL="0" marR="0" lvl="0" indent="0" algn="l" defTabSz="913965"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17ACBAE1-47C6-47B6-8CA6-C5078573ABFE}"/>
              </a:ext>
            </a:extLst>
          </p:cNvPr>
          <p:cNvSpPr>
            <a:spLocks noGrp="1"/>
          </p:cNvSpPr>
          <p:nvPr/>
        </p:nvSpPr>
        <p:spPr>
          <a:xfrm>
            <a:off x="536002" y="115851"/>
            <a:ext cx="11043832" cy="552192"/>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2250" b="1">
                <a:solidFill>
                  <a:srgbClr val="111111"/>
                </a:solidFill>
                <a:latin typeface="Arial"/>
                <a:ea typeface="Arial"/>
                <a:cs typeface="Arial"/>
              </a:defRPr>
            </a:pPr>
            <a:r>
              <a:rPr kumimoji="0" sz="2249" b="1" i="0" u="none" strike="noStrike" kern="1200" cap="none" spc="0" normalizeH="0" baseline="0" noProof="0">
                <a:ln>
                  <a:noFill/>
                </a:ln>
                <a:solidFill>
                  <a:srgbClr val="111111"/>
                </a:solidFill>
                <a:effectLst/>
                <a:uLnTx/>
                <a:uFillTx/>
                <a:latin typeface="Arial"/>
                <a:ea typeface="Arial"/>
                <a:cs typeface="Arial"/>
              </a:rPr>
              <a:t>Three main learning settings</a:t>
            </a:r>
          </a:p>
        </p:txBody>
      </p:sp>
      <p:sp>
        <p:nvSpPr>
          <p:cNvPr id="3" name="Rectangle 2">
            <a:extLst>
              <a:ext uri="{FF2B5EF4-FFF2-40B4-BE49-F238E27FC236}">
                <a16:creationId xmlns:a16="http://schemas.microsoft.com/office/drawing/2014/main" id="{1A3DFB94-8673-4329-BFCB-66032C395FC8}"/>
              </a:ext>
            </a:extLst>
          </p:cNvPr>
          <p:cNvSpPr>
            <a:spLocks noGrp="1"/>
          </p:cNvSpPr>
          <p:nvPr/>
        </p:nvSpPr>
        <p:spPr>
          <a:xfrm>
            <a:off x="402715" y="6494615"/>
            <a:ext cx="2951369" cy="171370"/>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750" b="0">
                <a:solidFill>
                  <a:srgbClr val="666666"/>
                </a:solidFill>
                <a:latin typeface="Arial"/>
                <a:ea typeface="Arial"/>
                <a:cs typeface="Arial"/>
              </a:defRPr>
            </a:pPr>
            <a:r>
              <a:rPr kumimoji="0" sz="750" b="0" i="0" u="none" strike="noStrike" kern="1200" cap="none" spc="0" normalizeH="0" baseline="0" noProof="0">
                <a:ln>
                  <a:noFill/>
                </a:ln>
                <a:solidFill>
                  <a:srgbClr val="666666"/>
                </a:solidFill>
                <a:effectLst/>
                <a:uLnTx/>
                <a:uFillTx/>
                <a:latin typeface="Arial"/>
                <a:ea typeface="Arial"/>
                <a:cs typeface="Arial"/>
              </a:rPr>
              <a:t>OSLO METROPOLITAN UNIVERSITY</a:t>
            </a:r>
          </a:p>
        </p:txBody>
      </p:sp>
      <p:sp>
        <p:nvSpPr>
          <p:cNvPr id="4" name="Rectangle 3">
            <a:extLst>
              <a:ext uri="{FF2B5EF4-FFF2-40B4-BE49-F238E27FC236}">
                <a16:creationId xmlns:a16="http://schemas.microsoft.com/office/drawing/2014/main" id="{063DE6F9-82B6-492F-9919-C3382B1FAA46}"/>
              </a:ext>
            </a:extLst>
          </p:cNvPr>
          <p:cNvSpPr>
            <a:spLocks noGrp="1"/>
          </p:cNvSpPr>
          <p:nvPr/>
        </p:nvSpPr>
        <p:spPr>
          <a:xfrm>
            <a:off x="4096686" y="6494615"/>
            <a:ext cx="3998629" cy="171370"/>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750" b="0">
                <a:solidFill>
                  <a:srgbClr val="666666"/>
                </a:solidFill>
                <a:latin typeface="Arial"/>
                <a:ea typeface="Arial"/>
                <a:cs typeface="Arial"/>
              </a:defRPr>
            </a:pPr>
            <a:r>
              <a:rPr kumimoji="0" sz="750" b="0" i="0" u="none" strike="noStrike" kern="1200" cap="none" spc="0" normalizeH="0" baseline="0" noProof="0">
                <a:ln>
                  <a:noFill/>
                </a:ln>
                <a:solidFill>
                  <a:srgbClr val="666666"/>
                </a:solidFill>
                <a:effectLst/>
                <a:uLnTx/>
                <a:uFillTx/>
                <a:latin typeface="Arial"/>
                <a:ea typeface="Arial"/>
                <a:cs typeface="Arial"/>
              </a:rPr>
              <a:t>DAVE3625 · UMAIR MEHMOOD IMAM</a:t>
            </a:r>
          </a:p>
        </p:txBody>
      </p:sp>
      <p:sp>
        <p:nvSpPr>
          <p:cNvPr id="6" name="Rectangle 5">
            <a:extLst>
              <a:ext uri="{FF2B5EF4-FFF2-40B4-BE49-F238E27FC236}">
                <a16:creationId xmlns:a16="http://schemas.microsoft.com/office/drawing/2014/main" id="{5A06B168-A0AD-4F7F-88DE-A4705D5642FD}"/>
              </a:ext>
            </a:extLst>
          </p:cNvPr>
          <p:cNvSpPr>
            <a:spLocks noGrp="1"/>
          </p:cNvSpPr>
          <p:nvPr/>
        </p:nvSpPr>
        <p:spPr>
          <a:xfrm>
            <a:off x="621688" y="1477289"/>
            <a:ext cx="3141779" cy="3141779"/>
          </a:xfrm>
          <a:prstGeom prst="rect">
            <a:avLst/>
          </a:prstGeom>
          <a:solidFill>
            <a:srgbClr val="FFFFFF"/>
          </a:solidFill>
          <a:ln w="9525">
            <a:solidFill>
              <a:srgbClr val="2878B5"/>
            </a:solidFill>
          </a:ln>
        </p:spPr>
        <p:txBody>
          <a:bodyPr/>
          <a:lstStyle/>
          <a:p>
            <a:pPr marL="0" marR="0" lvl="0" indent="0" algn="l" defTabSz="913965"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a:cs typeface="Calibri"/>
            </a:endParaRPr>
          </a:p>
        </p:txBody>
      </p:sp>
      <p:sp>
        <p:nvSpPr>
          <p:cNvPr id="7" name="Rectangle 6">
            <a:extLst>
              <a:ext uri="{FF2B5EF4-FFF2-40B4-BE49-F238E27FC236}">
                <a16:creationId xmlns:a16="http://schemas.microsoft.com/office/drawing/2014/main" id="{4A263252-64C9-432B-B95D-71452116D9F5}"/>
              </a:ext>
            </a:extLst>
          </p:cNvPr>
          <p:cNvSpPr>
            <a:spLocks noGrp="1"/>
          </p:cNvSpPr>
          <p:nvPr/>
        </p:nvSpPr>
        <p:spPr>
          <a:xfrm>
            <a:off x="621688" y="1477289"/>
            <a:ext cx="3141779" cy="142808"/>
          </a:xfrm>
          <a:prstGeom prst="rect">
            <a:avLst/>
          </a:prstGeom>
          <a:solidFill>
            <a:srgbClr val="2878B5"/>
          </a:solidFill>
          <a:ln w="0">
            <a:noFill/>
          </a:ln>
        </p:spPr>
        <p:txBody>
          <a:bodyPr/>
          <a:lstStyle/>
          <a:p>
            <a:pPr marL="0" marR="0" lvl="0" indent="0" algn="l" defTabSz="913965"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a:cs typeface="Calibri"/>
            </a:endParaRPr>
          </a:p>
        </p:txBody>
      </p:sp>
      <p:sp>
        <p:nvSpPr>
          <p:cNvPr id="8" name="Rectangle 7">
            <a:extLst>
              <a:ext uri="{FF2B5EF4-FFF2-40B4-BE49-F238E27FC236}">
                <a16:creationId xmlns:a16="http://schemas.microsoft.com/office/drawing/2014/main" id="{220BA77A-3B3C-424F-9A0E-F7B691C03246}"/>
              </a:ext>
            </a:extLst>
          </p:cNvPr>
          <p:cNvSpPr>
            <a:spLocks noGrp="1"/>
          </p:cNvSpPr>
          <p:nvPr/>
        </p:nvSpPr>
        <p:spPr>
          <a:xfrm>
            <a:off x="859701" y="1858111"/>
            <a:ext cx="2665752" cy="342740"/>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575" b="1">
                <a:solidFill>
                  <a:srgbClr val="2878B5"/>
                </a:solidFill>
                <a:latin typeface="Arial"/>
                <a:ea typeface="Arial"/>
                <a:cs typeface="Arial"/>
              </a:defRPr>
            </a:pPr>
            <a:r>
              <a:rPr kumimoji="0" sz="1574" b="1" i="0" u="none" strike="noStrike" kern="1200" cap="none" spc="0" normalizeH="0" baseline="0" noProof="0">
                <a:ln>
                  <a:noFill/>
                </a:ln>
                <a:solidFill>
                  <a:srgbClr val="2878B5"/>
                </a:solidFill>
                <a:effectLst/>
                <a:uLnTx/>
                <a:uFillTx/>
                <a:latin typeface="Arial"/>
                <a:ea typeface="Arial"/>
                <a:cs typeface="Arial"/>
              </a:rPr>
              <a:t>SUPERVISED</a:t>
            </a:r>
          </a:p>
        </p:txBody>
      </p:sp>
      <p:sp>
        <p:nvSpPr>
          <p:cNvPr id="9" name="Rectangle 8">
            <a:extLst>
              <a:ext uri="{FF2B5EF4-FFF2-40B4-BE49-F238E27FC236}">
                <a16:creationId xmlns:a16="http://schemas.microsoft.com/office/drawing/2014/main" id="{2D9002F8-87EE-4645-9AAE-EEF78451F625}"/>
              </a:ext>
            </a:extLst>
          </p:cNvPr>
          <p:cNvSpPr>
            <a:spLocks noGrp="1"/>
          </p:cNvSpPr>
          <p:nvPr/>
        </p:nvSpPr>
        <p:spPr>
          <a:xfrm>
            <a:off x="859701" y="2572152"/>
            <a:ext cx="2665752" cy="428425"/>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875" b="1">
                <a:solidFill>
                  <a:srgbClr val="111111"/>
                </a:solidFill>
                <a:latin typeface="Arial"/>
                <a:ea typeface="Arial"/>
                <a:cs typeface="Arial"/>
              </a:defRPr>
            </a:pPr>
            <a:r>
              <a:rPr kumimoji="0" sz="1874" b="1" i="0" u="none" strike="noStrike" kern="1200" cap="none" spc="0" normalizeH="0" baseline="0" noProof="0">
                <a:ln>
                  <a:noFill/>
                </a:ln>
                <a:solidFill>
                  <a:srgbClr val="111111"/>
                </a:solidFill>
                <a:effectLst/>
                <a:uLnTx/>
                <a:uFillTx/>
                <a:latin typeface="Arial"/>
                <a:ea typeface="Arial"/>
                <a:cs typeface="Arial"/>
              </a:rPr>
              <a:t>Known labels</a:t>
            </a:r>
          </a:p>
        </p:txBody>
      </p:sp>
      <p:sp>
        <p:nvSpPr>
          <p:cNvPr id="10" name="Rectangle 9">
            <a:extLst>
              <a:ext uri="{FF2B5EF4-FFF2-40B4-BE49-F238E27FC236}">
                <a16:creationId xmlns:a16="http://schemas.microsoft.com/office/drawing/2014/main" id="{AFDCE17B-CAA3-4AB7-A28D-622A40A025FF}"/>
              </a:ext>
            </a:extLst>
          </p:cNvPr>
          <p:cNvSpPr>
            <a:spLocks noGrp="1"/>
          </p:cNvSpPr>
          <p:nvPr/>
        </p:nvSpPr>
        <p:spPr>
          <a:xfrm>
            <a:off x="859701" y="3286192"/>
            <a:ext cx="2665752" cy="437945"/>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55555"/>
                </a:solidFill>
                <a:latin typeface="Arial"/>
                <a:ea typeface="Arial"/>
                <a:cs typeface="Arial"/>
              </a:defRPr>
            </a:pPr>
            <a:r>
              <a:rPr kumimoji="0" sz="1499" b="0" i="0" u="none" strike="noStrike" kern="1200" cap="none" spc="0" normalizeH="0" baseline="0" noProof="0">
                <a:ln>
                  <a:noFill/>
                </a:ln>
                <a:solidFill>
                  <a:srgbClr val="555555"/>
                </a:solidFill>
                <a:effectLst/>
                <a:uLnTx/>
                <a:uFillTx/>
                <a:latin typeface="Arial"/>
                <a:ea typeface="Arial"/>
                <a:cs typeface="Arial"/>
              </a:rPr>
              <a:t>Spam or not spam</a:t>
            </a:r>
          </a:p>
        </p:txBody>
      </p:sp>
      <p:sp>
        <p:nvSpPr>
          <p:cNvPr id="11" name="Rectangle 10">
            <a:extLst>
              <a:ext uri="{FF2B5EF4-FFF2-40B4-BE49-F238E27FC236}">
                <a16:creationId xmlns:a16="http://schemas.microsoft.com/office/drawing/2014/main" id="{2ECBA537-575B-431A-9F9F-97DEF680A465}"/>
              </a:ext>
            </a:extLst>
          </p:cNvPr>
          <p:cNvSpPr>
            <a:spLocks noGrp="1"/>
          </p:cNvSpPr>
          <p:nvPr/>
        </p:nvSpPr>
        <p:spPr>
          <a:xfrm>
            <a:off x="4239494" y="1477289"/>
            <a:ext cx="3141779" cy="3141779"/>
          </a:xfrm>
          <a:prstGeom prst="rect">
            <a:avLst/>
          </a:prstGeom>
          <a:solidFill>
            <a:srgbClr val="FFFFFF"/>
          </a:solidFill>
          <a:ln w="9525">
            <a:solidFill>
              <a:srgbClr val="7651A8"/>
            </a:solidFill>
          </a:ln>
        </p:spPr>
        <p:txBody>
          <a:bodyPr/>
          <a:lstStyle/>
          <a:p>
            <a:pPr marL="0" marR="0" lvl="0" indent="0" algn="l" defTabSz="913965"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a:cs typeface="Calibri"/>
            </a:endParaRPr>
          </a:p>
        </p:txBody>
      </p:sp>
      <p:sp>
        <p:nvSpPr>
          <p:cNvPr id="12" name="Rectangle 11">
            <a:extLst>
              <a:ext uri="{FF2B5EF4-FFF2-40B4-BE49-F238E27FC236}">
                <a16:creationId xmlns:a16="http://schemas.microsoft.com/office/drawing/2014/main" id="{5F1F67F5-2E01-434A-9D20-23322FF5AFBA}"/>
              </a:ext>
            </a:extLst>
          </p:cNvPr>
          <p:cNvSpPr>
            <a:spLocks noGrp="1"/>
          </p:cNvSpPr>
          <p:nvPr/>
        </p:nvSpPr>
        <p:spPr>
          <a:xfrm>
            <a:off x="4239494" y="1477289"/>
            <a:ext cx="3141779" cy="142808"/>
          </a:xfrm>
          <a:prstGeom prst="rect">
            <a:avLst/>
          </a:prstGeom>
          <a:solidFill>
            <a:srgbClr val="7651A8"/>
          </a:solidFill>
          <a:ln w="0">
            <a:noFill/>
          </a:ln>
        </p:spPr>
        <p:txBody>
          <a:bodyPr/>
          <a:lstStyle/>
          <a:p>
            <a:pPr marL="0" marR="0" lvl="0" indent="0" algn="l" defTabSz="913965"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a:cs typeface="Calibri"/>
            </a:endParaRPr>
          </a:p>
        </p:txBody>
      </p:sp>
      <p:sp>
        <p:nvSpPr>
          <p:cNvPr id="13" name="Rectangle 12">
            <a:extLst>
              <a:ext uri="{FF2B5EF4-FFF2-40B4-BE49-F238E27FC236}">
                <a16:creationId xmlns:a16="http://schemas.microsoft.com/office/drawing/2014/main" id="{919C00E2-1C21-4859-AD8F-9F46A92A935D}"/>
              </a:ext>
            </a:extLst>
          </p:cNvPr>
          <p:cNvSpPr>
            <a:spLocks noGrp="1"/>
          </p:cNvSpPr>
          <p:nvPr/>
        </p:nvSpPr>
        <p:spPr>
          <a:xfrm>
            <a:off x="4477508" y="1858111"/>
            <a:ext cx="2665752" cy="342740"/>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575" b="1">
                <a:solidFill>
                  <a:srgbClr val="7651A8"/>
                </a:solidFill>
                <a:latin typeface="Arial"/>
                <a:ea typeface="Arial"/>
                <a:cs typeface="Arial"/>
              </a:defRPr>
            </a:pPr>
            <a:r>
              <a:rPr kumimoji="0" sz="1574" b="1" i="0" u="none" strike="noStrike" kern="1200" cap="none" spc="0" normalizeH="0" baseline="0" noProof="0">
                <a:ln>
                  <a:noFill/>
                </a:ln>
                <a:solidFill>
                  <a:srgbClr val="7651A8"/>
                </a:solidFill>
                <a:effectLst/>
                <a:uLnTx/>
                <a:uFillTx/>
                <a:latin typeface="Arial"/>
                <a:ea typeface="Arial"/>
                <a:cs typeface="Arial"/>
              </a:rPr>
              <a:t>UNSUPERVISED</a:t>
            </a:r>
          </a:p>
        </p:txBody>
      </p:sp>
      <p:sp>
        <p:nvSpPr>
          <p:cNvPr id="14" name="Rectangle 13">
            <a:extLst>
              <a:ext uri="{FF2B5EF4-FFF2-40B4-BE49-F238E27FC236}">
                <a16:creationId xmlns:a16="http://schemas.microsoft.com/office/drawing/2014/main" id="{2FDBA0FD-CA2B-44C1-9692-3DC354359694}"/>
              </a:ext>
            </a:extLst>
          </p:cNvPr>
          <p:cNvSpPr>
            <a:spLocks noGrp="1"/>
          </p:cNvSpPr>
          <p:nvPr/>
        </p:nvSpPr>
        <p:spPr>
          <a:xfrm>
            <a:off x="4477508" y="2572152"/>
            <a:ext cx="2665752" cy="428425"/>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875" b="1">
                <a:solidFill>
                  <a:srgbClr val="111111"/>
                </a:solidFill>
                <a:latin typeface="Arial"/>
                <a:ea typeface="Arial"/>
                <a:cs typeface="Arial"/>
              </a:defRPr>
            </a:pPr>
            <a:r>
              <a:rPr kumimoji="0" sz="1874" b="1" i="0" u="none" strike="noStrike" kern="1200" cap="none" spc="0" normalizeH="0" baseline="0" noProof="0">
                <a:ln>
                  <a:noFill/>
                </a:ln>
                <a:solidFill>
                  <a:srgbClr val="111111"/>
                </a:solidFill>
                <a:effectLst/>
                <a:uLnTx/>
                <a:uFillTx/>
                <a:latin typeface="Arial"/>
                <a:ea typeface="Arial"/>
                <a:cs typeface="Arial"/>
              </a:rPr>
              <a:t>No target labels</a:t>
            </a:r>
          </a:p>
        </p:txBody>
      </p:sp>
      <p:sp>
        <p:nvSpPr>
          <p:cNvPr id="15" name="Rectangle 14">
            <a:extLst>
              <a:ext uri="{FF2B5EF4-FFF2-40B4-BE49-F238E27FC236}">
                <a16:creationId xmlns:a16="http://schemas.microsoft.com/office/drawing/2014/main" id="{CB976423-1196-401D-ABB4-9164BDAC563F}"/>
              </a:ext>
            </a:extLst>
          </p:cNvPr>
          <p:cNvSpPr>
            <a:spLocks noGrp="1"/>
          </p:cNvSpPr>
          <p:nvPr/>
        </p:nvSpPr>
        <p:spPr>
          <a:xfrm>
            <a:off x="4477508" y="3286192"/>
            <a:ext cx="2665752" cy="437945"/>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55555"/>
                </a:solidFill>
                <a:latin typeface="Arial"/>
                <a:ea typeface="Arial"/>
                <a:cs typeface="Arial"/>
              </a:defRPr>
            </a:pPr>
            <a:r>
              <a:rPr kumimoji="0" sz="1499" b="0" i="0" u="none" strike="noStrike" kern="1200" cap="none" spc="0" normalizeH="0" baseline="0" noProof="0">
                <a:ln>
                  <a:noFill/>
                </a:ln>
                <a:solidFill>
                  <a:srgbClr val="555555"/>
                </a:solidFill>
                <a:effectLst/>
                <a:uLnTx/>
                <a:uFillTx/>
                <a:latin typeface="Arial"/>
                <a:ea typeface="Arial"/>
                <a:cs typeface="Arial"/>
              </a:rPr>
              <a:t>Customer groups</a:t>
            </a:r>
          </a:p>
        </p:txBody>
      </p:sp>
      <p:sp>
        <p:nvSpPr>
          <p:cNvPr id="16" name="Rectangle 15">
            <a:extLst>
              <a:ext uri="{FF2B5EF4-FFF2-40B4-BE49-F238E27FC236}">
                <a16:creationId xmlns:a16="http://schemas.microsoft.com/office/drawing/2014/main" id="{930962DB-9BCC-47FB-B2C2-859F22771526}"/>
              </a:ext>
            </a:extLst>
          </p:cNvPr>
          <p:cNvSpPr>
            <a:spLocks noGrp="1"/>
          </p:cNvSpPr>
          <p:nvPr/>
        </p:nvSpPr>
        <p:spPr>
          <a:xfrm>
            <a:off x="7857301" y="1477289"/>
            <a:ext cx="3141779" cy="3141779"/>
          </a:xfrm>
          <a:prstGeom prst="rect">
            <a:avLst/>
          </a:prstGeom>
          <a:solidFill>
            <a:srgbClr val="FFFFFF"/>
          </a:solidFill>
          <a:ln w="9525">
            <a:solidFill>
              <a:srgbClr val="3A9D5D"/>
            </a:solidFill>
          </a:ln>
        </p:spPr>
        <p:txBody>
          <a:bodyPr/>
          <a:lstStyle/>
          <a:p>
            <a:pPr marL="0" marR="0" lvl="0" indent="0" algn="l" defTabSz="913965"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a:cs typeface="Calibri"/>
            </a:endParaRPr>
          </a:p>
        </p:txBody>
      </p:sp>
      <p:sp>
        <p:nvSpPr>
          <p:cNvPr id="17" name="Rectangle 16">
            <a:extLst>
              <a:ext uri="{FF2B5EF4-FFF2-40B4-BE49-F238E27FC236}">
                <a16:creationId xmlns:a16="http://schemas.microsoft.com/office/drawing/2014/main" id="{A118AFC0-2F69-40AF-80A5-C6CE6BD04EC0}"/>
              </a:ext>
            </a:extLst>
          </p:cNvPr>
          <p:cNvSpPr>
            <a:spLocks noGrp="1"/>
          </p:cNvSpPr>
          <p:nvPr/>
        </p:nvSpPr>
        <p:spPr>
          <a:xfrm>
            <a:off x="7857301" y="1477289"/>
            <a:ext cx="3141779" cy="142808"/>
          </a:xfrm>
          <a:prstGeom prst="rect">
            <a:avLst/>
          </a:prstGeom>
          <a:solidFill>
            <a:srgbClr val="3A9D5D"/>
          </a:solidFill>
          <a:ln w="0">
            <a:noFill/>
          </a:ln>
        </p:spPr>
        <p:txBody>
          <a:bodyPr/>
          <a:lstStyle/>
          <a:p>
            <a:pPr marL="0" marR="0" lvl="0" indent="0" algn="l" defTabSz="913965" rtl="0" eaLnBrk="1" fontAlgn="auto" latinLnBrk="0" hangingPunct="1">
              <a:lnSpc>
                <a:spcPct val="100000"/>
              </a:lnSpc>
              <a:spcBef>
                <a:spcPts val="0"/>
              </a:spcBef>
              <a:spcAft>
                <a:spcPts val="0"/>
              </a:spcAft>
              <a:buClrTx/>
              <a:buSzTx/>
              <a:buFontTx/>
              <a:buNone/>
              <a:tabLst/>
              <a:defRPr/>
            </a:pPr>
            <a:endParaRPr kumimoji="0" lang="en-US" sz="1799" b="0" i="0" u="none" strike="noStrike" kern="1200" cap="none" spc="0" normalizeH="0" baseline="0" noProof="0">
              <a:ln>
                <a:noFill/>
              </a:ln>
              <a:solidFill>
                <a:srgbClr val="000000"/>
              </a:solidFill>
              <a:effectLst/>
              <a:uLnTx/>
              <a:uFillTx/>
              <a:latin typeface="Calibri"/>
              <a:cs typeface="Calibri"/>
            </a:endParaRPr>
          </a:p>
        </p:txBody>
      </p:sp>
      <p:sp>
        <p:nvSpPr>
          <p:cNvPr id="18" name="Rectangle 17">
            <a:extLst>
              <a:ext uri="{FF2B5EF4-FFF2-40B4-BE49-F238E27FC236}">
                <a16:creationId xmlns:a16="http://schemas.microsoft.com/office/drawing/2014/main" id="{2B001ECA-7DBB-48CA-A9F3-4B636E4FA009}"/>
              </a:ext>
            </a:extLst>
          </p:cNvPr>
          <p:cNvSpPr>
            <a:spLocks noGrp="1"/>
          </p:cNvSpPr>
          <p:nvPr/>
        </p:nvSpPr>
        <p:spPr>
          <a:xfrm>
            <a:off x="8095315" y="1858111"/>
            <a:ext cx="2665752" cy="342740"/>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575" b="1">
                <a:solidFill>
                  <a:srgbClr val="3A9D5D"/>
                </a:solidFill>
                <a:latin typeface="Arial"/>
                <a:ea typeface="Arial"/>
                <a:cs typeface="Arial"/>
              </a:defRPr>
            </a:pPr>
            <a:r>
              <a:rPr kumimoji="0" sz="1574" b="1" i="0" u="none" strike="noStrike" kern="1200" cap="none" spc="0" normalizeH="0" baseline="0" noProof="0">
                <a:ln>
                  <a:noFill/>
                </a:ln>
                <a:solidFill>
                  <a:srgbClr val="3A9D5D"/>
                </a:solidFill>
                <a:effectLst/>
                <a:uLnTx/>
                <a:uFillTx/>
                <a:latin typeface="Arial"/>
                <a:ea typeface="Arial"/>
                <a:cs typeface="Arial"/>
              </a:rPr>
              <a:t>REINFORCEMENT</a:t>
            </a:r>
          </a:p>
        </p:txBody>
      </p:sp>
      <p:sp>
        <p:nvSpPr>
          <p:cNvPr id="19" name="Rectangle 18">
            <a:extLst>
              <a:ext uri="{FF2B5EF4-FFF2-40B4-BE49-F238E27FC236}">
                <a16:creationId xmlns:a16="http://schemas.microsoft.com/office/drawing/2014/main" id="{8DBF1358-5824-4A46-8F67-0BA47308A67A}"/>
              </a:ext>
            </a:extLst>
          </p:cNvPr>
          <p:cNvSpPr>
            <a:spLocks noGrp="1"/>
          </p:cNvSpPr>
          <p:nvPr/>
        </p:nvSpPr>
        <p:spPr>
          <a:xfrm>
            <a:off x="8095315" y="2572152"/>
            <a:ext cx="2665752" cy="428425"/>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875" b="1">
                <a:solidFill>
                  <a:srgbClr val="111111"/>
                </a:solidFill>
                <a:latin typeface="Arial"/>
                <a:ea typeface="Arial"/>
                <a:cs typeface="Arial"/>
              </a:defRPr>
            </a:pPr>
            <a:r>
              <a:rPr kumimoji="0" sz="1874" b="1" i="0" u="none" strike="noStrike" kern="1200" cap="none" spc="0" normalizeH="0" baseline="0" noProof="0">
                <a:ln>
                  <a:noFill/>
                </a:ln>
                <a:solidFill>
                  <a:srgbClr val="111111"/>
                </a:solidFill>
                <a:effectLst/>
                <a:uLnTx/>
                <a:uFillTx/>
                <a:latin typeface="Arial"/>
                <a:ea typeface="Arial"/>
                <a:cs typeface="Arial"/>
              </a:rPr>
              <a:t>Rewards from actions</a:t>
            </a:r>
          </a:p>
        </p:txBody>
      </p:sp>
      <p:sp>
        <p:nvSpPr>
          <p:cNvPr id="20" name="Rectangle 19">
            <a:extLst>
              <a:ext uri="{FF2B5EF4-FFF2-40B4-BE49-F238E27FC236}">
                <a16:creationId xmlns:a16="http://schemas.microsoft.com/office/drawing/2014/main" id="{FA45E2EE-62D3-438A-95C1-AC416B1B42BF}"/>
              </a:ext>
            </a:extLst>
          </p:cNvPr>
          <p:cNvSpPr>
            <a:spLocks noGrp="1"/>
          </p:cNvSpPr>
          <p:nvPr/>
        </p:nvSpPr>
        <p:spPr>
          <a:xfrm>
            <a:off x="8095315" y="3286192"/>
            <a:ext cx="2665752" cy="437945"/>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55555"/>
                </a:solidFill>
                <a:latin typeface="Arial"/>
                <a:ea typeface="Arial"/>
                <a:cs typeface="Arial"/>
              </a:defRPr>
            </a:pPr>
            <a:r>
              <a:rPr kumimoji="0" sz="1499" b="0" i="0" u="none" strike="noStrike" kern="1200" cap="none" spc="0" normalizeH="0" baseline="0" noProof="0">
                <a:ln>
                  <a:noFill/>
                </a:ln>
                <a:solidFill>
                  <a:srgbClr val="555555"/>
                </a:solidFill>
                <a:effectLst/>
                <a:uLnTx/>
                <a:uFillTx/>
                <a:latin typeface="Arial"/>
                <a:ea typeface="Arial"/>
                <a:cs typeface="Arial"/>
              </a:rPr>
              <a:t>Game-playing agent</a:t>
            </a:r>
          </a:p>
        </p:txBody>
      </p:sp>
      <p:sp>
        <p:nvSpPr>
          <p:cNvPr id="21" name="Rectangle 20">
            <a:extLst>
              <a:ext uri="{FF2B5EF4-FFF2-40B4-BE49-F238E27FC236}">
                <a16:creationId xmlns:a16="http://schemas.microsoft.com/office/drawing/2014/main" id="{CDABCBFE-820E-4BA1-A916-01C4EFBCF654}"/>
              </a:ext>
            </a:extLst>
          </p:cNvPr>
          <p:cNvSpPr>
            <a:spLocks noGrp="1"/>
          </p:cNvSpPr>
          <p:nvPr/>
        </p:nvSpPr>
        <p:spPr>
          <a:xfrm>
            <a:off x="1145317" y="5190301"/>
            <a:ext cx="9901366" cy="437945"/>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650" b="0">
                <a:solidFill>
                  <a:srgbClr val="111111"/>
                </a:solidFill>
                <a:latin typeface="Arial"/>
                <a:ea typeface="Arial"/>
                <a:cs typeface="Arial"/>
              </a:defRPr>
            </a:pPr>
            <a:r>
              <a:rPr kumimoji="0" sz="1649" b="0" i="0" u="none" strike="noStrike" kern="1200" cap="none" spc="0" normalizeH="0" baseline="0" noProof="0">
                <a:ln>
                  <a:noFill/>
                </a:ln>
                <a:solidFill>
                  <a:srgbClr val="111111"/>
                </a:solidFill>
                <a:effectLst/>
                <a:uLnTx/>
                <a:uFillTx/>
                <a:latin typeface="Arial"/>
                <a:ea typeface="Arial"/>
                <a:cs typeface="Arial"/>
              </a:rPr>
              <a:t>Recommender systems are applications. They may use any of these learning settings.</a:t>
            </a:r>
          </a:p>
        </p:txBody>
      </p:sp>
    </p:spTree>
    <p:extLst>
      <p:ext uri="{BB962C8B-B14F-4D97-AF65-F5344CB8AC3E}">
        <p14:creationId xmlns:p14="http://schemas.microsoft.com/office/powerpoint/2010/main" val="5854367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6A7994B-CA71-43CA-A048-851BA4360A65}"/>
              </a:ext>
            </a:extLst>
          </p:cNvPr>
          <p:cNvSpPr>
            <a:spLocks noGrp="1"/>
          </p:cNvSpPr>
          <p:nvPr/>
        </p:nvSpPr>
        <p:spPr>
          <a:xfrm>
            <a:off x="2852" y="1604"/>
            <a:ext cx="12186297" cy="780685"/>
          </a:xfrm>
          <a:prstGeom prst="rect">
            <a:avLst/>
          </a:prstGeom>
          <a:solidFill>
            <a:srgbClr val="FFD900"/>
          </a:solidFill>
          <a:ln w="0">
            <a:noFill/>
          </a:ln>
        </p:spPr>
        <p:txBody>
          <a:bodyPr/>
          <a:lstStyle/>
          <a:p>
            <a:pPr marL="0" marR="0" lvl="0" indent="0" algn="l" defTabSz="913965" rtl="0" eaLnBrk="1" fontAlgn="auto" latinLnBrk="0" hangingPunct="1">
              <a:lnSpc>
                <a:spcPct val="100000"/>
              </a:lnSpc>
              <a:spcBef>
                <a:spcPts val="0"/>
              </a:spcBef>
              <a:spcAft>
                <a:spcPts val="0"/>
              </a:spcAft>
              <a:buClrTx/>
              <a:buSzTx/>
              <a:buFontTx/>
              <a:buNone/>
              <a:tabLst/>
              <a:defRPr/>
            </a:pPr>
            <a:endParaRPr kumimoji="0" lang="en-US" sz="1265"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9EEE163B-7986-4A74-9376-41F53CC04F22}"/>
              </a:ext>
            </a:extLst>
          </p:cNvPr>
          <p:cNvSpPr>
            <a:spLocks noGrp="1"/>
          </p:cNvSpPr>
          <p:nvPr/>
        </p:nvSpPr>
        <p:spPr>
          <a:xfrm>
            <a:off x="536002" y="115851"/>
            <a:ext cx="11043832" cy="552192"/>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2250" b="1">
                <a:solidFill>
                  <a:srgbClr val="111111"/>
                </a:solidFill>
                <a:latin typeface="Arial"/>
                <a:ea typeface="Arial"/>
                <a:cs typeface="Arial"/>
              </a:defRPr>
            </a:pPr>
            <a:r>
              <a:rPr kumimoji="0" lang="nb-NO" sz="2249" b="1" i="0" u="none" strike="noStrike" kern="1200" cap="none" spc="0" normalizeH="0" baseline="0" noProof="0" dirty="0" err="1">
                <a:ln>
                  <a:noFill/>
                </a:ln>
                <a:solidFill>
                  <a:srgbClr val="111111"/>
                </a:solidFill>
                <a:effectLst/>
                <a:uLnTx/>
                <a:uFillTx/>
                <a:latin typeface="Arial"/>
                <a:ea typeface="Arial"/>
                <a:cs typeface="Arial"/>
              </a:rPr>
              <a:t>Two</a:t>
            </a:r>
            <a:r>
              <a:rPr kumimoji="0" lang="nb-NO" sz="2249" b="1" i="0" u="none" strike="noStrike" kern="1200" cap="none" spc="0" normalizeH="0" baseline="0" noProof="0" dirty="0">
                <a:ln>
                  <a:noFill/>
                </a:ln>
                <a:solidFill>
                  <a:srgbClr val="111111"/>
                </a:solidFill>
                <a:effectLst/>
                <a:uLnTx/>
                <a:uFillTx/>
                <a:latin typeface="Arial"/>
                <a:ea typeface="Arial"/>
                <a:cs typeface="Arial"/>
              </a:rPr>
              <a:t> </a:t>
            </a:r>
            <a:r>
              <a:rPr kumimoji="0" lang="nb-NO" sz="2249" b="1" i="0" u="none" strike="noStrike" kern="1200" cap="none" spc="0" normalizeH="0" baseline="0" noProof="0" dirty="0" err="1">
                <a:ln>
                  <a:noFill/>
                </a:ln>
                <a:solidFill>
                  <a:srgbClr val="111111"/>
                </a:solidFill>
                <a:effectLst/>
                <a:uLnTx/>
                <a:uFillTx/>
                <a:latin typeface="Arial"/>
                <a:ea typeface="Arial"/>
                <a:cs typeface="Arial"/>
              </a:rPr>
              <a:t>kinds</a:t>
            </a:r>
            <a:r>
              <a:rPr kumimoji="0" lang="nb-NO" sz="2249" b="1" i="0" u="none" strike="noStrike" kern="1200" cap="none" spc="0" normalizeH="0" baseline="0" noProof="0" dirty="0">
                <a:ln>
                  <a:noFill/>
                </a:ln>
                <a:solidFill>
                  <a:srgbClr val="111111"/>
                </a:solidFill>
                <a:effectLst/>
                <a:uLnTx/>
                <a:uFillTx/>
                <a:latin typeface="Arial"/>
                <a:ea typeface="Arial"/>
                <a:cs typeface="Arial"/>
              </a:rPr>
              <a:t> </a:t>
            </a:r>
            <a:r>
              <a:rPr kumimoji="0" lang="nb-NO" sz="2249" b="1" i="0" u="none" strike="noStrike" kern="1200" cap="none" spc="0" normalizeH="0" baseline="0" noProof="0" dirty="0" err="1">
                <a:ln>
                  <a:noFill/>
                </a:ln>
                <a:solidFill>
                  <a:srgbClr val="111111"/>
                </a:solidFill>
                <a:effectLst/>
                <a:uLnTx/>
                <a:uFillTx/>
                <a:latin typeface="Arial"/>
                <a:ea typeface="Arial"/>
                <a:cs typeface="Arial"/>
              </a:rPr>
              <a:t>of</a:t>
            </a:r>
            <a:r>
              <a:rPr kumimoji="0" lang="nb-NO" sz="2249" b="1" i="0" u="none" strike="noStrike" kern="1200" cap="none" spc="0" normalizeH="0" baseline="0" noProof="0" dirty="0">
                <a:ln>
                  <a:noFill/>
                </a:ln>
                <a:solidFill>
                  <a:srgbClr val="111111"/>
                </a:solidFill>
                <a:effectLst/>
                <a:uLnTx/>
                <a:uFillTx/>
                <a:latin typeface="Arial"/>
                <a:ea typeface="Arial"/>
                <a:cs typeface="Arial"/>
              </a:rPr>
              <a:t> </a:t>
            </a:r>
            <a:r>
              <a:rPr kumimoji="0" lang="nb-NO" sz="2249" b="1" i="0" u="none" strike="noStrike" kern="1200" cap="none" spc="0" normalizeH="0" baseline="0" noProof="0" dirty="0" err="1">
                <a:ln>
                  <a:noFill/>
                </a:ln>
                <a:solidFill>
                  <a:srgbClr val="111111"/>
                </a:solidFill>
                <a:effectLst/>
                <a:uLnTx/>
                <a:uFillTx/>
                <a:latin typeface="Arial"/>
                <a:ea typeface="Arial"/>
                <a:cs typeface="Arial"/>
              </a:rPr>
              <a:t>supervised</a:t>
            </a:r>
            <a:r>
              <a:rPr kumimoji="0" lang="nb-NO" sz="2249" b="1" i="0" u="none" strike="noStrike" kern="1200" cap="none" spc="0" normalizeH="0" baseline="0" noProof="0" dirty="0">
                <a:ln>
                  <a:noFill/>
                </a:ln>
                <a:solidFill>
                  <a:srgbClr val="111111"/>
                </a:solidFill>
                <a:effectLst/>
                <a:uLnTx/>
                <a:uFillTx/>
                <a:latin typeface="Arial"/>
                <a:ea typeface="Arial"/>
                <a:cs typeface="Arial"/>
              </a:rPr>
              <a:t> </a:t>
            </a:r>
            <a:r>
              <a:rPr kumimoji="0" lang="nb-NO" sz="2249" b="1" i="0" u="none" strike="noStrike" kern="1200" cap="none" spc="0" normalizeH="0" baseline="0" noProof="0" dirty="0" err="1">
                <a:ln>
                  <a:noFill/>
                </a:ln>
                <a:solidFill>
                  <a:srgbClr val="111111"/>
                </a:solidFill>
                <a:effectLst/>
                <a:uLnTx/>
                <a:uFillTx/>
                <a:latin typeface="Arial"/>
                <a:ea typeface="Arial"/>
                <a:cs typeface="Arial"/>
              </a:rPr>
              <a:t>learning</a:t>
            </a:r>
            <a:r>
              <a:rPr kumimoji="0" lang="nb-NO" sz="2249" b="1" i="0" u="none" strike="noStrike" kern="1200" cap="none" spc="0" normalizeH="0" baseline="0" noProof="0" dirty="0">
                <a:ln>
                  <a:noFill/>
                </a:ln>
                <a:solidFill>
                  <a:srgbClr val="111111"/>
                </a:solidFill>
                <a:effectLst/>
                <a:uLnTx/>
                <a:uFillTx/>
                <a:latin typeface="Arial"/>
                <a:ea typeface="Arial"/>
                <a:cs typeface="Arial"/>
              </a:rPr>
              <a:t> : </a:t>
            </a:r>
            <a:r>
              <a:rPr kumimoji="0" sz="2249" b="1" i="0" u="none" strike="noStrike" kern="1200" cap="none" spc="0" normalizeH="0" baseline="0" noProof="0" dirty="0">
                <a:ln>
                  <a:noFill/>
                </a:ln>
                <a:solidFill>
                  <a:srgbClr val="111111"/>
                </a:solidFill>
                <a:effectLst/>
                <a:uLnTx/>
                <a:uFillTx/>
                <a:latin typeface="Arial"/>
                <a:ea typeface="Arial"/>
                <a:cs typeface="Arial"/>
              </a:rPr>
              <a:t>Regression and classification</a:t>
            </a:r>
          </a:p>
        </p:txBody>
      </p:sp>
      <p:sp>
        <p:nvSpPr>
          <p:cNvPr id="3" name="Rectangle 2">
            <a:extLst>
              <a:ext uri="{FF2B5EF4-FFF2-40B4-BE49-F238E27FC236}">
                <a16:creationId xmlns:a16="http://schemas.microsoft.com/office/drawing/2014/main" id="{24672774-F815-4859-8237-BED1F899A55A}"/>
              </a:ext>
            </a:extLst>
          </p:cNvPr>
          <p:cNvSpPr>
            <a:spLocks noGrp="1"/>
          </p:cNvSpPr>
          <p:nvPr/>
        </p:nvSpPr>
        <p:spPr>
          <a:xfrm>
            <a:off x="402715" y="6494615"/>
            <a:ext cx="3046574" cy="171370"/>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750" b="0">
                <a:solidFill>
                  <a:srgbClr val="777777"/>
                </a:solidFill>
                <a:latin typeface="Arial"/>
                <a:ea typeface="Arial"/>
                <a:cs typeface="Arial"/>
              </a:defRPr>
            </a:pPr>
            <a:r>
              <a:rPr kumimoji="0" sz="750" b="0" i="0" u="none" strike="noStrike" kern="1200" cap="none" spc="0" normalizeH="0" baseline="0" noProof="0">
                <a:ln>
                  <a:noFill/>
                </a:ln>
                <a:solidFill>
                  <a:srgbClr val="777777"/>
                </a:solidFill>
                <a:effectLst/>
                <a:uLnTx/>
                <a:uFillTx/>
                <a:latin typeface="Arial"/>
                <a:ea typeface="Arial"/>
                <a:cs typeface="Arial"/>
              </a:rPr>
              <a:t>OSLO METROPOLITAN UNIVERSITY</a:t>
            </a:r>
          </a:p>
        </p:txBody>
      </p:sp>
      <p:sp>
        <p:nvSpPr>
          <p:cNvPr id="4" name="Rectangle 3">
            <a:extLst>
              <a:ext uri="{FF2B5EF4-FFF2-40B4-BE49-F238E27FC236}">
                <a16:creationId xmlns:a16="http://schemas.microsoft.com/office/drawing/2014/main" id="{9FED4E67-AFAC-4DD6-8273-48986F4E2163}"/>
              </a:ext>
            </a:extLst>
          </p:cNvPr>
          <p:cNvSpPr>
            <a:spLocks noGrp="1"/>
          </p:cNvSpPr>
          <p:nvPr/>
        </p:nvSpPr>
        <p:spPr>
          <a:xfrm>
            <a:off x="4096686" y="6494615"/>
            <a:ext cx="3998629" cy="171370"/>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750" b="0">
                <a:solidFill>
                  <a:srgbClr val="777777"/>
                </a:solidFill>
                <a:latin typeface="Arial"/>
                <a:ea typeface="Arial"/>
                <a:cs typeface="Arial"/>
              </a:defRPr>
            </a:pPr>
            <a:r>
              <a:rPr kumimoji="0" sz="750" b="0" i="0" u="none" strike="noStrike" kern="1200" cap="none" spc="0" normalizeH="0" baseline="0" noProof="0">
                <a:ln>
                  <a:noFill/>
                </a:ln>
                <a:solidFill>
                  <a:srgbClr val="777777"/>
                </a:solidFill>
                <a:effectLst/>
                <a:uLnTx/>
                <a:uFillTx/>
                <a:latin typeface="Arial"/>
                <a:ea typeface="Arial"/>
                <a:cs typeface="Arial"/>
              </a:rPr>
              <a:t>DAVE3625 · UMAIR MEHMOOD IMAM</a:t>
            </a:r>
          </a:p>
        </p:txBody>
      </p:sp>
      <p:sp>
        <p:nvSpPr>
          <p:cNvPr id="5" name="Rectangle 4">
            <a:extLst>
              <a:ext uri="{FF2B5EF4-FFF2-40B4-BE49-F238E27FC236}">
                <a16:creationId xmlns:a16="http://schemas.microsoft.com/office/drawing/2014/main" id="{35542ECC-2DB8-4526-BB3F-6C2DADECFE57}"/>
              </a:ext>
            </a:extLst>
          </p:cNvPr>
          <p:cNvSpPr>
            <a:spLocks noGrp="1"/>
          </p:cNvSpPr>
          <p:nvPr/>
        </p:nvSpPr>
        <p:spPr>
          <a:xfrm>
            <a:off x="9237780" y="6494615"/>
            <a:ext cx="2522944" cy="171370"/>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750" b="0">
                <a:solidFill>
                  <a:srgbClr val="777777"/>
                </a:solidFill>
                <a:latin typeface="Arial"/>
                <a:ea typeface="Arial"/>
                <a:cs typeface="Arial"/>
              </a:defRPr>
            </a:pPr>
            <a:r>
              <a:rPr kumimoji="0" sz="750" b="0" i="0" u="none" strike="noStrike" kern="1200" cap="none" spc="0" normalizeH="0" baseline="0" noProof="0">
                <a:ln>
                  <a:noFill/>
                </a:ln>
                <a:solidFill>
                  <a:srgbClr val="777777"/>
                </a:solidFill>
                <a:effectLst/>
                <a:uLnTx/>
                <a:uFillTx/>
                <a:latin typeface="Arial"/>
                <a:ea typeface="Arial"/>
                <a:cs typeface="Arial"/>
              </a:rPr>
              <a:t>05  MACHINE LEARNING II</a:t>
            </a:r>
          </a:p>
        </p:txBody>
      </p:sp>
      <p:sp>
        <p:nvSpPr>
          <p:cNvPr id="6" name="Rectangle 5">
            <a:extLst>
              <a:ext uri="{FF2B5EF4-FFF2-40B4-BE49-F238E27FC236}">
                <a16:creationId xmlns:a16="http://schemas.microsoft.com/office/drawing/2014/main" id="{93664645-B79E-4F18-808C-E5A5CE0300AA}"/>
              </a:ext>
            </a:extLst>
          </p:cNvPr>
          <p:cNvSpPr>
            <a:spLocks noGrp="1"/>
          </p:cNvSpPr>
          <p:nvPr/>
        </p:nvSpPr>
        <p:spPr>
          <a:xfrm>
            <a:off x="859701" y="1477289"/>
            <a:ext cx="4760272" cy="3474999"/>
          </a:xfrm>
          <a:prstGeom prst="rect">
            <a:avLst/>
          </a:prstGeom>
          <a:solidFill>
            <a:srgbClr val="FFFFFF"/>
          </a:solidFill>
          <a:ln w="9525">
            <a:solidFill>
              <a:srgbClr val="3A9D5D"/>
            </a:solidFill>
          </a:ln>
        </p:spPr>
        <p:txBody>
          <a:bodyPr/>
          <a:lstStyle/>
          <a:p>
            <a:pPr marL="0" marR="0" lvl="0" indent="0" algn="l" defTabSz="913965" rtl="0" eaLnBrk="1" fontAlgn="auto" latinLnBrk="0" hangingPunct="1">
              <a:lnSpc>
                <a:spcPct val="100000"/>
              </a:lnSpc>
              <a:spcBef>
                <a:spcPts val="0"/>
              </a:spcBef>
              <a:spcAft>
                <a:spcPts val="0"/>
              </a:spcAft>
              <a:buClrTx/>
              <a:buSzTx/>
              <a:buFontTx/>
              <a:buNone/>
              <a:tabLst/>
              <a:defRPr/>
            </a:pPr>
            <a:endParaRPr kumimoji="0" lang="en-US" sz="1265" b="0" i="0" u="none" strike="noStrike" kern="1200" cap="none" spc="0" normalizeH="0" baseline="0" noProof="0">
              <a:ln>
                <a:noFill/>
              </a:ln>
              <a:solidFill>
                <a:srgbClr val="000000"/>
              </a:solidFill>
              <a:effectLst/>
              <a:uLnTx/>
              <a:uFillTx/>
              <a:latin typeface="Calibri"/>
              <a:cs typeface="Calibri"/>
            </a:endParaRPr>
          </a:p>
        </p:txBody>
      </p:sp>
      <p:sp>
        <p:nvSpPr>
          <p:cNvPr id="7" name="Rectangle 6">
            <a:extLst>
              <a:ext uri="{FF2B5EF4-FFF2-40B4-BE49-F238E27FC236}">
                <a16:creationId xmlns:a16="http://schemas.microsoft.com/office/drawing/2014/main" id="{319C7049-2AFB-4A8A-B2B4-D6C3875C6798}"/>
              </a:ext>
            </a:extLst>
          </p:cNvPr>
          <p:cNvSpPr>
            <a:spLocks noGrp="1"/>
          </p:cNvSpPr>
          <p:nvPr/>
        </p:nvSpPr>
        <p:spPr>
          <a:xfrm>
            <a:off x="6572028" y="1477289"/>
            <a:ext cx="4760272" cy="3474999"/>
          </a:xfrm>
          <a:prstGeom prst="rect">
            <a:avLst/>
          </a:prstGeom>
          <a:solidFill>
            <a:srgbClr val="FFFFFF"/>
          </a:solidFill>
          <a:ln w="9525">
            <a:solidFill>
              <a:srgbClr val="2878B5"/>
            </a:solidFill>
          </a:ln>
        </p:spPr>
        <p:txBody>
          <a:bodyPr/>
          <a:lstStyle/>
          <a:p>
            <a:pPr marL="0" marR="0" lvl="0" indent="0" algn="l" defTabSz="913965" rtl="0" eaLnBrk="1" fontAlgn="auto" latinLnBrk="0" hangingPunct="1">
              <a:lnSpc>
                <a:spcPct val="100000"/>
              </a:lnSpc>
              <a:spcBef>
                <a:spcPts val="0"/>
              </a:spcBef>
              <a:spcAft>
                <a:spcPts val="0"/>
              </a:spcAft>
              <a:buClrTx/>
              <a:buSzTx/>
              <a:buFontTx/>
              <a:buNone/>
              <a:tabLst/>
              <a:defRPr/>
            </a:pPr>
            <a:endParaRPr kumimoji="0" lang="en-US" sz="1265" b="0" i="0" u="none" strike="noStrike" kern="1200" cap="none" spc="0" normalizeH="0" baseline="0" noProof="0">
              <a:ln>
                <a:noFill/>
              </a:ln>
              <a:solidFill>
                <a:srgbClr val="000000"/>
              </a:solidFill>
              <a:effectLst/>
              <a:uLnTx/>
              <a:uFillTx/>
              <a:latin typeface="Calibri"/>
              <a:cs typeface="Calibri"/>
            </a:endParaRPr>
          </a:p>
        </p:txBody>
      </p:sp>
      <p:sp>
        <p:nvSpPr>
          <p:cNvPr id="8" name="Rectangle 7">
            <a:extLst>
              <a:ext uri="{FF2B5EF4-FFF2-40B4-BE49-F238E27FC236}">
                <a16:creationId xmlns:a16="http://schemas.microsoft.com/office/drawing/2014/main" id="{091416FB-7AA1-41FB-BCAC-AD1FC56CBFE0}"/>
              </a:ext>
            </a:extLst>
          </p:cNvPr>
          <p:cNvSpPr>
            <a:spLocks noGrp="1"/>
          </p:cNvSpPr>
          <p:nvPr/>
        </p:nvSpPr>
        <p:spPr>
          <a:xfrm>
            <a:off x="1240522" y="1858110"/>
            <a:ext cx="3998629" cy="399863"/>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2025" b="1">
                <a:solidFill>
                  <a:srgbClr val="3A9D5D"/>
                </a:solidFill>
                <a:latin typeface="Arial"/>
                <a:ea typeface="Arial"/>
                <a:cs typeface="Arial"/>
              </a:defRPr>
            </a:pPr>
            <a:r>
              <a:rPr kumimoji="0" sz="2024" b="1" i="0" u="none" strike="noStrike" kern="1200" cap="none" spc="0" normalizeH="0" baseline="0" noProof="0">
                <a:ln>
                  <a:noFill/>
                </a:ln>
                <a:solidFill>
                  <a:srgbClr val="3A9D5D"/>
                </a:solidFill>
                <a:effectLst/>
                <a:uLnTx/>
                <a:uFillTx/>
                <a:latin typeface="Arial"/>
                <a:ea typeface="Arial"/>
                <a:cs typeface="Arial"/>
              </a:rPr>
              <a:t>REGRESSION</a:t>
            </a:r>
          </a:p>
        </p:txBody>
      </p:sp>
      <p:sp>
        <p:nvSpPr>
          <p:cNvPr id="9" name="Rectangle 8">
            <a:extLst>
              <a:ext uri="{FF2B5EF4-FFF2-40B4-BE49-F238E27FC236}">
                <a16:creationId xmlns:a16="http://schemas.microsoft.com/office/drawing/2014/main" id="{ACB015CA-DFC6-42BC-B7BC-E2EFE4261B3C}"/>
              </a:ext>
            </a:extLst>
          </p:cNvPr>
          <p:cNvSpPr>
            <a:spLocks noGrp="1"/>
          </p:cNvSpPr>
          <p:nvPr/>
        </p:nvSpPr>
        <p:spPr>
          <a:xfrm>
            <a:off x="1240522" y="2524549"/>
            <a:ext cx="3998629" cy="428425"/>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2100" b="1">
                <a:solidFill>
                  <a:srgbClr val="111111"/>
                </a:solidFill>
                <a:latin typeface="Arial"/>
                <a:ea typeface="Arial"/>
                <a:cs typeface="Arial"/>
              </a:defRPr>
            </a:pPr>
            <a:r>
              <a:rPr kumimoji="0" sz="2099" b="1" i="0" u="none" strike="noStrike" kern="1200" cap="none" spc="0" normalizeH="0" baseline="0" noProof="0">
                <a:ln>
                  <a:noFill/>
                </a:ln>
                <a:solidFill>
                  <a:srgbClr val="111111"/>
                </a:solidFill>
                <a:effectLst/>
                <a:uLnTx/>
                <a:uFillTx/>
                <a:latin typeface="Arial"/>
                <a:ea typeface="Arial"/>
                <a:cs typeface="Arial"/>
              </a:rPr>
              <a:t>Predict a number</a:t>
            </a:r>
          </a:p>
        </p:txBody>
      </p:sp>
      <p:sp>
        <p:nvSpPr>
          <p:cNvPr id="10" name="Rectangle 9">
            <a:extLst>
              <a:ext uri="{FF2B5EF4-FFF2-40B4-BE49-F238E27FC236}">
                <a16:creationId xmlns:a16="http://schemas.microsoft.com/office/drawing/2014/main" id="{B379BC61-3CC9-4648-B889-E2FBD45AAA2B}"/>
              </a:ext>
            </a:extLst>
          </p:cNvPr>
          <p:cNvSpPr>
            <a:spLocks noGrp="1"/>
          </p:cNvSpPr>
          <p:nvPr/>
        </p:nvSpPr>
        <p:spPr>
          <a:xfrm>
            <a:off x="1573741" y="3333795"/>
            <a:ext cx="3332191" cy="1094863"/>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B5B5B"/>
                </a:solidFill>
                <a:latin typeface="Arial"/>
                <a:ea typeface="Arial"/>
                <a:cs typeface="Arial"/>
              </a:defRPr>
            </a:pPr>
            <a:r>
              <a:rPr kumimoji="0" sz="1499" b="0" i="0" u="none" strike="noStrike" kern="1200" cap="none" spc="0" normalizeH="0" baseline="0" noProof="0">
                <a:ln>
                  <a:noFill/>
                </a:ln>
                <a:solidFill>
                  <a:srgbClr val="5B5B5B"/>
                </a:solidFill>
                <a:effectLst/>
                <a:uLnTx/>
                <a:uFillTx/>
                <a:latin typeface="Arial"/>
                <a:ea typeface="Arial"/>
                <a:cs typeface="Arial"/>
              </a:rPr>
              <a:t>Examples</a:t>
            </a:r>
          </a:p>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B5B5B"/>
                </a:solidFill>
                <a:latin typeface="Arial"/>
                <a:ea typeface="Arial"/>
                <a:cs typeface="Arial"/>
              </a:defRPr>
            </a:pPr>
            <a:r>
              <a:rPr kumimoji="0" sz="1499" b="0" i="0" u="none" strike="noStrike" kern="1200" cap="none" spc="0" normalizeH="0" baseline="0" noProof="0">
                <a:ln>
                  <a:noFill/>
                </a:ln>
                <a:solidFill>
                  <a:srgbClr val="5B5B5B"/>
                </a:solidFill>
                <a:effectLst/>
                <a:uLnTx/>
                <a:uFillTx/>
                <a:latin typeface="Arial"/>
                <a:ea typeface="Arial"/>
                <a:cs typeface="Arial"/>
              </a:rPr>
              <a:t>House price</a:t>
            </a:r>
          </a:p>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B5B5B"/>
                </a:solidFill>
                <a:latin typeface="Arial"/>
                <a:ea typeface="Arial"/>
                <a:cs typeface="Arial"/>
              </a:defRPr>
            </a:pPr>
            <a:r>
              <a:rPr kumimoji="0" sz="1499" b="0" i="0" u="none" strike="noStrike" kern="1200" cap="none" spc="0" normalizeH="0" baseline="0" noProof="0">
                <a:ln>
                  <a:noFill/>
                </a:ln>
                <a:solidFill>
                  <a:srgbClr val="5B5B5B"/>
                </a:solidFill>
                <a:effectLst/>
                <a:uLnTx/>
                <a:uFillTx/>
                <a:latin typeface="Arial"/>
                <a:ea typeface="Arial"/>
                <a:cs typeface="Arial"/>
              </a:rPr>
              <a:t>Travel time</a:t>
            </a:r>
          </a:p>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B5B5B"/>
                </a:solidFill>
                <a:latin typeface="Arial"/>
                <a:ea typeface="Arial"/>
                <a:cs typeface="Arial"/>
              </a:defRPr>
            </a:pPr>
            <a:r>
              <a:rPr kumimoji="0" sz="1499" b="0" i="0" u="none" strike="noStrike" kern="1200" cap="none" spc="0" normalizeH="0" baseline="0" noProof="0">
                <a:ln>
                  <a:noFill/>
                </a:ln>
                <a:solidFill>
                  <a:srgbClr val="5B5B5B"/>
                </a:solidFill>
                <a:effectLst/>
                <a:uLnTx/>
                <a:uFillTx/>
                <a:latin typeface="Arial"/>
                <a:ea typeface="Arial"/>
                <a:cs typeface="Arial"/>
              </a:rPr>
              <a:t>Energy use</a:t>
            </a:r>
          </a:p>
        </p:txBody>
      </p:sp>
      <p:sp>
        <p:nvSpPr>
          <p:cNvPr id="11" name="Rectangle 10">
            <a:extLst>
              <a:ext uri="{FF2B5EF4-FFF2-40B4-BE49-F238E27FC236}">
                <a16:creationId xmlns:a16="http://schemas.microsoft.com/office/drawing/2014/main" id="{67D47EE1-7883-4F2E-B88A-A2C76A95A4AF}"/>
              </a:ext>
            </a:extLst>
          </p:cNvPr>
          <p:cNvSpPr>
            <a:spLocks noGrp="1"/>
          </p:cNvSpPr>
          <p:nvPr/>
        </p:nvSpPr>
        <p:spPr>
          <a:xfrm>
            <a:off x="6952849" y="1858110"/>
            <a:ext cx="3998629" cy="399863"/>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2025" b="1">
                <a:solidFill>
                  <a:srgbClr val="2878B5"/>
                </a:solidFill>
                <a:latin typeface="Arial"/>
                <a:ea typeface="Arial"/>
                <a:cs typeface="Arial"/>
              </a:defRPr>
            </a:pPr>
            <a:r>
              <a:rPr kumimoji="0" sz="2024" b="1" i="0" u="none" strike="noStrike" kern="1200" cap="none" spc="0" normalizeH="0" baseline="0" noProof="0">
                <a:ln>
                  <a:noFill/>
                </a:ln>
                <a:solidFill>
                  <a:srgbClr val="2878B5"/>
                </a:solidFill>
                <a:effectLst/>
                <a:uLnTx/>
                <a:uFillTx/>
                <a:latin typeface="Arial"/>
                <a:ea typeface="Arial"/>
                <a:cs typeface="Arial"/>
              </a:rPr>
              <a:t>CLASSIFICATION</a:t>
            </a:r>
          </a:p>
        </p:txBody>
      </p:sp>
      <p:sp>
        <p:nvSpPr>
          <p:cNvPr id="12" name="Rectangle 11">
            <a:extLst>
              <a:ext uri="{FF2B5EF4-FFF2-40B4-BE49-F238E27FC236}">
                <a16:creationId xmlns:a16="http://schemas.microsoft.com/office/drawing/2014/main" id="{604CE7CA-D3D1-4AA1-AAFF-8D1173BE2C49}"/>
              </a:ext>
            </a:extLst>
          </p:cNvPr>
          <p:cNvSpPr>
            <a:spLocks noGrp="1"/>
          </p:cNvSpPr>
          <p:nvPr/>
        </p:nvSpPr>
        <p:spPr>
          <a:xfrm>
            <a:off x="6952849" y="2524549"/>
            <a:ext cx="3998629" cy="428425"/>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2100" b="1">
                <a:solidFill>
                  <a:srgbClr val="111111"/>
                </a:solidFill>
                <a:latin typeface="Arial"/>
                <a:ea typeface="Arial"/>
                <a:cs typeface="Arial"/>
              </a:defRPr>
            </a:pPr>
            <a:r>
              <a:rPr kumimoji="0" sz="2099" b="1" i="0" u="none" strike="noStrike" kern="1200" cap="none" spc="0" normalizeH="0" baseline="0" noProof="0">
                <a:ln>
                  <a:noFill/>
                </a:ln>
                <a:solidFill>
                  <a:srgbClr val="111111"/>
                </a:solidFill>
                <a:effectLst/>
                <a:uLnTx/>
                <a:uFillTx/>
                <a:latin typeface="Arial"/>
                <a:ea typeface="Arial"/>
                <a:cs typeface="Arial"/>
              </a:rPr>
              <a:t>Predict a category</a:t>
            </a:r>
          </a:p>
        </p:txBody>
      </p:sp>
      <p:sp>
        <p:nvSpPr>
          <p:cNvPr id="13" name="Rectangle 12">
            <a:extLst>
              <a:ext uri="{FF2B5EF4-FFF2-40B4-BE49-F238E27FC236}">
                <a16:creationId xmlns:a16="http://schemas.microsoft.com/office/drawing/2014/main" id="{68BFC136-6878-4A29-A2F6-2CCAA2E8C481}"/>
              </a:ext>
            </a:extLst>
          </p:cNvPr>
          <p:cNvSpPr>
            <a:spLocks noGrp="1"/>
          </p:cNvSpPr>
          <p:nvPr/>
        </p:nvSpPr>
        <p:spPr>
          <a:xfrm>
            <a:off x="7286068" y="3333795"/>
            <a:ext cx="3332191" cy="1094863"/>
          </a:xfrm>
          <a:prstGeom prst="rect">
            <a:avLst/>
          </a:prstGeom>
          <a:noFill/>
          <a:ln w="0">
            <a:noFill/>
          </a:ln>
        </p:spPr>
        <p:txBody>
          <a:bodyPr>
            <a:noAutofit/>
          </a:bodyPr>
          <a:lstStyle/>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B5B5B"/>
                </a:solidFill>
                <a:latin typeface="Arial"/>
                <a:ea typeface="Arial"/>
                <a:cs typeface="Arial"/>
              </a:defRPr>
            </a:pPr>
            <a:r>
              <a:rPr kumimoji="0" sz="1499" b="0" i="0" u="none" strike="noStrike" kern="1200" cap="none" spc="0" normalizeH="0" baseline="0" noProof="0">
                <a:ln>
                  <a:noFill/>
                </a:ln>
                <a:solidFill>
                  <a:srgbClr val="5B5B5B"/>
                </a:solidFill>
                <a:effectLst/>
                <a:uLnTx/>
                <a:uFillTx/>
                <a:latin typeface="Arial"/>
                <a:ea typeface="Arial"/>
                <a:cs typeface="Arial"/>
              </a:rPr>
              <a:t>Examples</a:t>
            </a:r>
          </a:p>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B5B5B"/>
                </a:solidFill>
                <a:latin typeface="Arial"/>
                <a:ea typeface="Arial"/>
                <a:cs typeface="Arial"/>
              </a:defRPr>
            </a:pPr>
            <a:r>
              <a:rPr kumimoji="0" sz="1499" b="0" i="0" u="none" strike="noStrike" kern="1200" cap="none" spc="0" normalizeH="0" baseline="0" noProof="0">
                <a:ln>
                  <a:noFill/>
                </a:ln>
                <a:solidFill>
                  <a:srgbClr val="5B5B5B"/>
                </a:solidFill>
                <a:effectLst/>
                <a:uLnTx/>
                <a:uFillTx/>
                <a:latin typeface="Arial"/>
                <a:ea typeface="Arial"/>
                <a:cs typeface="Arial"/>
              </a:rPr>
              <a:t>Spam or normal</a:t>
            </a:r>
          </a:p>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B5B5B"/>
                </a:solidFill>
                <a:latin typeface="Arial"/>
                <a:ea typeface="Arial"/>
                <a:cs typeface="Arial"/>
              </a:defRPr>
            </a:pPr>
            <a:r>
              <a:rPr kumimoji="0" sz="1499" b="0" i="0" u="none" strike="noStrike" kern="1200" cap="none" spc="0" normalizeH="0" baseline="0" noProof="0">
                <a:ln>
                  <a:noFill/>
                </a:ln>
                <a:solidFill>
                  <a:srgbClr val="5B5B5B"/>
                </a:solidFill>
                <a:effectLst/>
                <a:uLnTx/>
                <a:uFillTx/>
                <a:latin typeface="Arial"/>
                <a:ea typeface="Arial"/>
                <a:cs typeface="Arial"/>
              </a:rPr>
              <a:t>Pass or fail</a:t>
            </a:r>
          </a:p>
          <a:p>
            <a:pPr marL="0" marR="0" lvl="0" indent="0" algn="l" defTabSz="913965" rtl="0" eaLnBrk="1" fontAlgn="auto" latinLnBrk="0" hangingPunct="1">
              <a:lnSpc>
                <a:spcPct val="100000"/>
              </a:lnSpc>
              <a:spcBef>
                <a:spcPts val="0"/>
              </a:spcBef>
              <a:spcAft>
                <a:spcPts val="0"/>
              </a:spcAft>
              <a:buClrTx/>
              <a:buSzTx/>
              <a:buFontTx/>
              <a:buNone/>
              <a:tabLst/>
              <a:defRPr sz="1500" b="0">
                <a:solidFill>
                  <a:srgbClr val="5B5B5B"/>
                </a:solidFill>
                <a:latin typeface="Arial"/>
                <a:ea typeface="Arial"/>
                <a:cs typeface="Arial"/>
              </a:defRPr>
            </a:pPr>
            <a:r>
              <a:rPr kumimoji="0" sz="1499" b="0" i="0" u="none" strike="noStrike" kern="1200" cap="none" spc="0" normalizeH="0" baseline="0" noProof="0">
                <a:ln>
                  <a:noFill/>
                </a:ln>
                <a:solidFill>
                  <a:srgbClr val="5B5B5B"/>
                </a:solidFill>
                <a:effectLst/>
                <a:uLnTx/>
                <a:uFillTx/>
                <a:latin typeface="Arial"/>
                <a:ea typeface="Arial"/>
                <a:cs typeface="Arial"/>
              </a:rPr>
              <a:t>Bus, tram or metro</a:t>
            </a:r>
          </a:p>
        </p:txBody>
      </p:sp>
    </p:spTree>
    <p:extLst>
      <p:ext uri="{BB962C8B-B14F-4D97-AF65-F5344CB8AC3E}">
        <p14:creationId xmlns:p14="http://schemas.microsoft.com/office/powerpoint/2010/main" val="13045921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Footer Placeholder 3">
            <a:extLst>
              <a:ext uri="{FF2B5EF4-FFF2-40B4-BE49-F238E27FC236}">
                <a16:creationId xmlns:a16="http://schemas.microsoft.com/office/drawing/2014/main" id="{DAA20DBE-762B-BB9A-C6E5-8E2198E0130A}"/>
              </a:ext>
            </a:extLst>
          </p:cNvPr>
          <p:cNvSpPr>
            <a:spLocks noGrp="1"/>
          </p:cNvSpPr>
          <p:nvPr>
            <p:ph type="ftr" sz="quarter" idx="11"/>
          </p:nvPr>
        </p:nvSpPr>
        <p:spPr>
          <a:xfrm>
            <a:off x="5042840" y="6147961"/>
            <a:ext cx="5649763" cy="157563"/>
          </a:xfrm>
        </p:spPr>
        <p:txBody>
          <a:bodyPr anchor="ctr">
            <a:normAutofit/>
          </a:bodyPr>
          <a:lstStyle/>
          <a:p>
            <a:pPr marL="0" marR="0" lvl="0" indent="0" algn="l" defTabSz="914222" rtl="0" eaLnBrk="1" fontAlgn="auto" latinLnBrk="0" hangingPunct="1">
              <a:lnSpc>
                <a:spcPct val="100000"/>
              </a:lnSpc>
              <a:spcBef>
                <a:spcPts val="0"/>
              </a:spcBef>
              <a:spcAft>
                <a:spcPts val="422"/>
              </a:spcAft>
              <a:buClrTx/>
              <a:buSzTx/>
              <a:buFontTx/>
              <a:buNone/>
              <a:tabLst/>
              <a:defRPr/>
            </a:pPr>
            <a:r>
              <a:rPr kumimoji="0" lang="nb-NO" sz="773" b="0" i="0" u="none" strike="noStrike" kern="1200" cap="all" spc="0" normalizeH="0" baseline="0" noProof="0">
                <a:ln>
                  <a:noFill/>
                </a:ln>
                <a:solidFill>
                  <a:prstClr val="black"/>
                </a:solidFill>
                <a:effectLst/>
                <a:uLnTx/>
                <a:uFillTx/>
                <a:latin typeface="Arial" panose="020B0604020202020204"/>
                <a:ea typeface="+mn-ea"/>
                <a:cs typeface="+mn-cs"/>
              </a:rPr>
              <a:t>DAVE3625- Intro to A.I. by Umair M.I</a:t>
            </a:r>
          </a:p>
        </p:txBody>
      </p:sp>
      <p:graphicFrame>
        <p:nvGraphicFramePr>
          <p:cNvPr id="5" name="Content Placeholder 4">
            <a:extLst>
              <a:ext uri="{FF2B5EF4-FFF2-40B4-BE49-F238E27FC236}">
                <a16:creationId xmlns:a16="http://schemas.microsoft.com/office/drawing/2014/main" id="{10F2FBDB-6D16-9941-9A94-DDD1B2DCCC34}"/>
              </a:ext>
            </a:extLst>
          </p:cNvPr>
          <p:cNvGraphicFramePr>
            <a:graphicFrameLocks noGrp="1"/>
          </p:cNvGraphicFramePr>
          <p:nvPr>
            <p:ph idx="1"/>
          </p:nvPr>
        </p:nvGraphicFramePr>
        <p:xfrm>
          <a:off x="1947134" y="1742739"/>
          <a:ext cx="7089290" cy="418834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Rectangle 3">
            <a:extLst>
              <a:ext uri="{FF2B5EF4-FFF2-40B4-BE49-F238E27FC236}">
                <a16:creationId xmlns:a16="http://schemas.microsoft.com/office/drawing/2014/main" id="{F7968508-EAFC-1A39-07E2-049CD0165586}"/>
              </a:ext>
            </a:extLst>
          </p:cNvPr>
          <p:cNvSpPr/>
          <p:nvPr/>
        </p:nvSpPr>
        <p:spPr>
          <a:xfrm>
            <a:off x="179968" y="65878"/>
            <a:ext cx="11460078" cy="1117463"/>
          </a:xfrm>
          <a:prstGeom prst="rect">
            <a:avLst/>
          </a:prstGeom>
          <a:solidFill>
            <a:srgbClr val="FFDC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ctr" defTabSz="914222" rtl="0" eaLnBrk="1" fontAlgn="auto" latinLnBrk="0" hangingPunct="1">
              <a:lnSpc>
                <a:spcPct val="100000"/>
              </a:lnSpc>
              <a:spcBef>
                <a:spcPts val="0"/>
              </a:spcBef>
              <a:spcAft>
                <a:spcPts val="0"/>
              </a:spcAft>
              <a:buClrTx/>
              <a:buSzTx/>
              <a:buFontTx/>
              <a:buNone/>
              <a:tabLst/>
              <a:defRPr/>
            </a:pPr>
            <a:endParaRPr kumimoji="0" sz="1799" b="0" i="0" u="none" strike="noStrike" kern="1200" cap="none" spc="0" normalizeH="0" baseline="0" noProof="0">
              <a:ln>
                <a:noFill/>
              </a:ln>
              <a:solidFill>
                <a:prstClr val="white"/>
              </a:solidFill>
              <a:effectLst/>
              <a:uLnTx/>
              <a:uFillTx/>
              <a:latin typeface="Arial" panose="020B0604020202020204"/>
              <a:ea typeface="+mn-ea"/>
              <a:cs typeface="+mn-cs"/>
            </a:endParaRPr>
          </a:p>
        </p:txBody>
      </p:sp>
      <p:sp>
        <p:nvSpPr>
          <p:cNvPr id="7" name="TextBox 6">
            <a:extLst>
              <a:ext uri="{FF2B5EF4-FFF2-40B4-BE49-F238E27FC236}">
                <a16:creationId xmlns:a16="http://schemas.microsoft.com/office/drawing/2014/main" id="{9A7059D0-0B6B-DEB6-C8BB-736BFD488719}"/>
              </a:ext>
            </a:extLst>
          </p:cNvPr>
          <p:cNvSpPr txBox="1"/>
          <p:nvPr/>
        </p:nvSpPr>
        <p:spPr>
          <a:xfrm>
            <a:off x="667778" y="340460"/>
            <a:ext cx="9648001" cy="568297"/>
          </a:xfrm>
          <a:prstGeom prst="rect">
            <a:avLst/>
          </a:prstGeom>
          <a:noFill/>
        </p:spPr>
        <p:txBody>
          <a:bodyPr wrap="square">
            <a:spAutoFit/>
          </a:bodyPr>
          <a:lstStyle/>
          <a:p>
            <a:pPr marL="0" marR="0" lvl="0" indent="0" algn="l" defTabSz="914222" rtl="0" eaLnBrk="1" fontAlgn="auto" latinLnBrk="0" hangingPunct="1">
              <a:lnSpc>
                <a:spcPct val="100000"/>
              </a:lnSpc>
              <a:spcBef>
                <a:spcPts val="0"/>
              </a:spcBef>
              <a:spcAft>
                <a:spcPts val="0"/>
              </a:spcAft>
              <a:buClrTx/>
              <a:buSzTx/>
              <a:buFontTx/>
              <a:buNone/>
              <a:tabLst/>
              <a:defRPr/>
            </a:pPr>
            <a:r>
              <a:rPr kumimoji="0" lang="nb-NO" sz="3093" b="1" i="0" u="none" strike="noStrike" kern="1200" cap="none" spc="0" normalizeH="0" baseline="0" noProof="0" dirty="0" err="1">
                <a:ln>
                  <a:noFill/>
                </a:ln>
                <a:solidFill>
                  <a:srgbClr val="16181D"/>
                </a:solidFill>
                <a:effectLst/>
                <a:uLnTx/>
                <a:uFillTx/>
                <a:latin typeface="Arial"/>
                <a:ea typeface="+mn-ea"/>
                <a:cs typeface="+mn-cs"/>
              </a:rPr>
              <a:t>Various</a:t>
            </a:r>
            <a:r>
              <a:rPr kumimoji="0" lang="nb-NO" sz="3093" b="1" i="0" u="none" strike="noStrike" kern="1200" cap="none" spc="0" normalizeH="0" baseline="0" noProof="0" dirty="0">
                <a:ln>
                  <a:noFill/>
                </a:ln>
                <a:solidFill>
                  <a:srgbClr val="16181D"/>
                </a:solidFill>
                <a:effectLst/>
                <a:uLnTx/>
                <a:uFillTx/>
                <a:latin typeface="Arial"/>
                <a:ea typeface="+mn-ea"/>
                <a:cs typeface="+mn-cs"/>
              </a:rPr>
              <a:t> types </a:t>
            </a:r>
            <a:r>
              <a:rPr kumimoji="0" lang="nb-NO" sz="3093" b="1" i="0" u="none" strike="noStrike" kern="1200" cap="none" spc="0" normalizeH="0" baseline="0" noProof="0" dirty="0" err="1">
                <a:ln>
                  <a:noFill/>
                </a:ln>
                <a:solidFill>
                  <a:srgbClr val="16181D"/>
                </a:solidFill>
                <a:effectLst/>
                <a:uLnTx/>
                <a:uFillTx/>
                <a:latin typeface="Arial"/>
                <a:ea typeface="+mn-ea"/>
                <a:cs typeface="+mn-cs"/>
              </a:rPr>
              <a:t>of</a:t>
            </a:r>
            <a:r>
              <a:rPr kumimoji="0" lang="nb-NO" sz="3093" b="1" i="0" u="none" strike="noStrike" kern="1200" cap="none" spc="0" normalizeH="0" baseline="0" noProof="0" dirty="0">
                <a:ln>
                  <a:noFill/>
                </a:ln>
                <a:solidFill>
                  <a:srgbClr val="16181D"/>
                </a:solidFill>
                <a:effectLst/>
                <a:uLnTx/>
                <a:uFillTx/>
                <a:latin typeface="Arial"/>
                <a:ea typeface="+mn-ea"/>
                <a:cs typeface="+mn-cs"/>
              </a:rPr>
              <a:t> </a:t>
            </a:r>
            <a:r>
              <a:rPr kumimoji="0" lang="nb-NO" sz="3093" b="1" i="0" u="none" strike="noStrike" kern="1200" cap="none" spc="0" normalizeH="0" baseline="0" noProof="0" dirty="0" err="1">
                <a:ln>
                  <a:noFill/>
                </a:ln>
                <a:solidFill>
                  <a:srgbClr val="16181D"/>
                </a:solidFill>
                <a:effectLst/>
                <a:uLnTx/>
                <a:uFillTx/>
                <a:latin typeface="Arial"/>
                <a:ea typeface="+mn-ea"/>
                <a:cs typeface="+mn-cs"/>
              </a:rPr>
              <a:t>algortihms</a:t>
            </a:r>
            <a:endParaRPr kumimoji="0" sz="3093" b="1" i="0" u="none" strike="noStrike" kern="1200" cap="none" spc="0" normalizeH="0" baseline="0" noProof="0" dirty="0">
              <a:ln>
                <a:noFill/>
              </a:ln>
              <a:solidFill>
                <a:srgbClr val="16181D"/>
              </a:solidFill>
              <a:effectLst/>
              <a:uLnTx/>
              <a:uFillTx/>
              <a:latin typeface="Arial"/>
              <a:ea typeface="+mn-ea"/>
              <a:cs typeface="+mn-cs"/>
            </a:endParaRPr>
          </a:p>
        </p:txBody>
      </p:sp>
    </p:spTree>
    <p:extLst>
      <p:ext uri="{BB962C8B-B14F-4D97-AF65-F5344CB8AC3E}">
        <p14:creationId xmlns:p14="http://schemas.microsoft.com/office/powerpoint/2010/main" val="4047570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40B36C68-C971-4659-924B-CA92442E3FA2}"/>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63073516-ABEE-4C6F-9AF6-B993BB2A4EEA}"/>
              </a:ext>
            </a:extLst>
          </p:cNvPr>
          <p:cNvSpPr>
            <a:spLocks noGrp="1"/>
          </p:cNvSpPr>
          <p:nvPr/>
        </p:nvSpPr>
        <p:spPr>
          <a:xfrm>
            <a:off x="533400" y="171450"/>
            <a:ext cx="11049000" cy="5238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sz="2400" b="1" i="0" u="none" strike="noStrike" kern="1200" cap="none" spc="0" normalizeH="0" baseline="0" noProof="0">
                <a:ln>
                  <a:noFill/>
                </a:ln>
                <a:solidFill>
                  <a:srgbClr val="151515"/>
                </a:solidFill>
                <a:effectLst/>
                <a:uLnTx/>
                <a:uFillTx/>
                <a:latin typeface="Arial"/>
                <a:ea typeface="Arial"/>
                <a:cs typeface="Arial"/>
              </a:rPr>
              <a:t>What is regression?</a:t>
            </a:r>
          </a:p>
        </p:txBody>
      </p:sp>
      <p:sp>
        <p:nvSpPr>
          <p:cNvPr id="3" name="Rectangle 2">
            <a:extLst>
              <a:ext uri="{FF2B5EF4-FFF2-40B4-BE49-F238E27FC236}">
                <a16:creationId xmlns:a16="http://schemas.microsoft.com/office/drawing/2014/main" id="{197C6957-A86F-4B97-87B1-064DD9FA1820}"/>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7D0B0FB3-1FAC-46B1-8D1B-464CBC591E5C}"/>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03</a:t>
            </a:r>
          </a:p>
        </p:txBody>
      </p:sp>
      <p:sp>
        <p:nvSpPr>
          <p:cNvPr id="5" name="Rectangle 4">
            <a:extLst>
              <a:ext uri="{FF2B5EF4-FFF2-40B4-BE49-F238E27FC236}">
                <a16:creationId xmlns:a16="http://schemas.microsoft.com/office/drawing/2014/main" id="{A31354DB-79AD-4787-9114-0B9127A8D8FD}"/>
              </a:ext>
            </a:extLst>
          </p:cNvPr>
          <p:cNvSpPr>
            <a:spLocks noGrp="1"/>
          </p:cNvSpPr>
          <p:nvPr/>
        </p:nvSpPr>
        <p:spPr>
          <a:xfrm>
            <a:off x="828675" y="1447800"/>
            <a:ext cx="10382250" cy="7143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850" b="1">
                <a:solidFill>
                  <a:srgbClr val="246DA8"/>
                </a:solidFill>
                <a:latin typeface="Arial"/>
                <a:ea typeface="Arial"/>
                <a:cs typeface="Arial"/>
              </a:defRPr>
            </a:pPr>
            <a:r>
              <a:rPr kumimoji="0" sz="2850" b="1" i="0" u="none" strike="noStrike" kern="1200" cap="none" spc="0" normalizeH="0" baseline="0" noProof="0">
                <a:ln>
                  <a:noFill/>
                </a:ln>
                <a:solidFill>
                  <a:srgbClr val="246DA8"/>
                </a:solidFill>
                <a:effectLst/>
                <a:uLnTx/>
                <a:uFillTx/>
                <a:latin typeface="Arial"/>
                <a:ea typeface="Arial"/>
                <a:cs typeface="Arial"/>
              </a:rPr>
              <a:t>Regression predicts a numerical value.</a:t>
            </a:r>
          </a:p>
        </p:txBody>
      </p:sp>
      <p:sp>
        <p:nvSpPr>
          <p:cNvPr id="6" name="Rectangle 5">
            <a:extLst>
              <a:ext uri="{FF2B5EF4-FFF2-40B4-BE49-F238E27FC236}">
                <a16:creationId xmlns:a16="http://schemas.microsoft.com/office/drawing/2014/main" id="{11D6A058-0222-4926-9B42-B1B9BB0FE76E}"/>
              </a:ext>
            </a:extLst>
          </p:cNvPr>
          <p:cNvSpPr>
            <a:spLocks noGrp="1"/>
          </p:cNvSpPr>
          <p:nvPr/>
        </p:nvSpPr>
        <p:spPr>
          <a:xfrm>
            <a:off x="800100" y="2781300"/>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1">
                <a:solidFill>
                  <a:srgbClr val="246DA8"/>
                </a:solidFill>
                <a:latin typeface="Arial"/>
                <a:ea typeface="Arial"/>
                <a:cs typeface="Arial"/>
              </a:defRPr>
            </a:pPr>
            <a:r>
              <a:rPr kumimoji="0" sz="1725" b="1" i="0" u="none" strike="noStrike" kern="1200" cap="none" spc="0" normalizeH="0" baseline="0" noProof="0">
                <a:ln>
                  <a:noFill/>
                </a:ln>
                <a:solidFill>
                  <a:srgbClr val="246DA8"/>
                </a:solidFill>
                <a:effectLst/>
                <a:uLnTx/>
                <a:uFillTx/>
                <a:latin typeface="Arial"/>
                <a:ea typeface="Arial"/>
                <a:cs typeface="Arial"/>
              </a:rPr>
              <a:t>TRAINING</a:t>
            </a:r>
          </a:p>
        </p:txBody>
      </p:sp>
      <p:sp>
        <p:nvSpPr>
          <p:cNvPr id="7" name="Rectangle 6">
            <a:extLst>
              <a:ext uri="{FF2B5EF4-FFF2-40B4-BE49-F238E27FC236}">
                <a16:creationId xmlns:a16="http://schemas.microsoft.com/office/drawing/2014/main" id="{9D909539-79F9-4FB9-B280-029658C5D8D1}"/>
              </a:ext>
            </a:extLst>
          </p:cNvPr>
          <p:cNvSpPr>
            <a:spLocks noGrp="1"/>
          </p:cNvSpPr>
          <p:nvPr/>
        </p:nvSpPr>
        <p:spPr>
          <a:xfrm>
            <a:off x="3571875" y="2781300"/>
            <a:ext cx="7524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51515"/>
                </a:solidFill>
                <a:latin typeface="Arial"/>
                <a:ea typeface="Arial"/>
                <a:cs typeface="Arial"/>
              </a:defRPr>
            </a:pPr>
            <a:r>
              <a:rPr kumimoji="0" sz="1725" b="0" i="0" u="none" strike="noStrike" kern="1200" cap="none" spc="0" normalizeH="0" baseline="0" noProof="0">
                <a:ln>
                  <a:noFill/>
                </a:ln>
                <a:solidFill>
                  <a:srgbClr val="151515"/>
                </a:solidFill>
                <a:effectLst/>
                <a:uLnTx/>
                <a:uFillTx/>
                <a:latin typeface="Arial"/>
                <a:ea typeface="Arial"/>
                <a:cs typeface="Arial"/>
              </a:rPr>
              <a:t>Examples include input features and a known number.</a:t>
            </a:r>
          </a:p>
        </p:txBody>
      </p:sp>
      <p:sp>
        <p:nvSpPr>
          <p:cNvPr id="8" name="Rectangle 7">
            <a:extLst>
              <a:ext uri="{FF2B5EF4-FFF2-40B4-BE49-F238E27FC236}">
                <a16:creationId xmlns:a16="http://schemas.microsoft.com/office/drawing/2014/main" id="{26D00EDC-AECE-4D93-BF3A-38F11F9EF3D8}"/>
              </a:ext>
            </a:extLst>
          </p:cNvPr>
          <p:cNvSpPr>
            <a:spLocks noGrp="1"/>
          </p:cNvSpPr>
          <p:nvPr/>
        </p:nvSpPr>
        <p:spPr>
          <a:xfrm>
            <a:off x="800100" y="3971925"/>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1">
                <a:solidFill>
                  <a:srgbClr val="246DA8"/>
                </a:solidFill>
                <a:latin typeface="Arial"/>
                <a:ea typeface="Arial"/>
                <a:cs typeface="Arial"/>
              </a:defRPr>
            </a:pPr>
            <a:r>
              <a:rPr kumimoji="0" sz="1725" b="1" i="0" u="none" strike="noStrike" kern="1200" cap="none" spc="0" normalizeH="0" baseline="0" noProof="0">
                <a:ln>
                  <a:noFill/>
                </a:ln>
                <a:solidFill>
                  <a:srgbClr val="246DA8"/>
                </a:solidFill>
                <a:effectLst/>
                <a:uLnTx/>
                <a:uFillTx/>
                <a:latin typeface="Arial"/>
                <a:ea typeface="Arial"/>
                <a:cs typeface="Arial"/>
              </a:rPr>
              <a:t>PREDICTION</a:t>
            </a:r>
          </a:p>
        </p:txBody>
      </p:sp>
      <p:sp>
        <p:nvSpPr>
          <p:cNvPr id="9" name="Rectangle 8">
            <a:extLst>
              <a:ext uri="{FF2B5EF4-FFF2-40B4-BE49-F238E27FC236}">
                <a16:creationId xmlns:a16="http://schemas.microsoft.com/office/drawing/2014/main" id="{B70E2DF1-4B74-449B-9833-2A5607A6466B}"/>
              </a:ext>
            </a:extLst>
          </p:cNvPr>
          <p:cNvSpPr>
            <a:spLocks noGrp="1"/>
          </p:cNvSpPr>
          <p:nvPr/>
        </p:nvSpPr>
        <p:spPr>
          <a:xfrm>
            <a:off x="3571875" y="3971925"/>
            <a:ext cx="7524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51515"/>
                </a:solidFill>
                <a:latin typeface="Arial"/>
                <a:ea typeface="Arial"/>
                <a:cs typeface="Arial"/>
              </a:defRPr>
            </a:pPr>
            <a:r>
              <a:rPr kumimoji="0" sz="1725" b="0" i="0" u="none" strike="noStrike" kern="1200" cap="none" spc="0" normalizeH="0" baseline="0" noProof="0">
                <a:ln>
                  <a:noFill/>
                </a:ln>
                <a:solidFill>
                  <a:srgbClr val="151515"/>
                </a:solidFill>
                <a:effectLst/>
                <a:uLnTx/>
                <a:uFillTx/>
                <a:latin typeface="Arial"/>
                <a:ea typeface="Arial"/>
                <a:cs typeface="Arial"/>
              </a:rPr>
              <a:t>For a new input, the model estimates that number.</a:t>
            </a:r>
          </a:p>
        </p:txBody>
      </p:sp>
      <p:sp>
        <p:nvSpPr>
          <p:cNvPr id="10" name="Rectangle 9">
            <a:extLst>
              <a:ext uri="{FF2B5EF4-FFF2-40B4-BE49-F238E27FC236}">
                <a16:creationId xmlns:a16="http://schemas.microsoft.com/office/drawing/2014/main" id="{0D4B78B9-859A-419A-A7FD-439FE3B9964F}"/>
              </a:ext>
            </a:extLst>
          </p:cNvPr>
          <p:cNvSpPr>
            <a:spLocks noGrp="1"/>
          </p:cNvSpPr>
          <p:nvPr/>
        </p:nvSpPr>
        <p:spPr>
          <a:xfrm>
            <a:off x="800100" y="5162550"/>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1">
                <a:solidFill>
                  <a:srgbClr val="246DA8"/>
                </a:solidFill>
                <a:latin typeface="Arial"/>
                <a:ea typeface="Arial"/>
                <a:cs typeface="Arial"/>
              </a:defRPr>
            </a:pPr>
            <a:r>
              <a:rPr kumimoji="0" sz="1725" b="1" i="0" u="none" strike="noStrike" kern="1200" cap="none" spc="0" normalizeH="0" baseline="0" noProof="0">
                <a:ln>
                  <a:noFill/>
                </a:ln>
                <a:solidFill>
                  <a:srgbClr val="246DA8"/>
                </a:solidFill>
                <a:effectLst/>
                <a:uLnTx/>
                <a:uFillTx/>
                <a:latin typeface="Arial"/>
                <a:ea typeface="Arial"/>
                <a:cs typeface="Arial"/>
              </a:rPr>
              <a:t>EXAMPLES</a:t>
            </a:r>
          </a:p>
        </p:txBody>
      </p:sp>
      <p:sp>
        <p:nvSpPr>
          <p:cNvPr id="11" name="Rectangle 10">
            <a:extLst>
              <a:ext uri="{FF2B5EF4-FFF2-40B4-BE49-F238E27FC236}">
                <a16:creationId xmlns:a16="http://schemas.microsoft.com/office/drawing/2014/main" id="{FFAA9F3F-D73D-4D80-9328-F34406DC1727}"/>
              </a:ext>
            </a:extLst>
          </p:cNvPr>
          <p:cNvSpPr>
            <a:spLocks noGrp="1"/>
          </p:cNvSpPr>
          <p:nvPr/>
        </p:nvSpPr>
        <p:spPr>
          <a:xfrm>
            <a:off x="3571875" y="5162550"/>
            <a:ext cx="7524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51515"/>
                </a:solidFill>
                <a:latin typeface="Arial"/>
                <a:ea typeface="Arial"/>
                <a:cs typeface="Arial"/>
              </a:defRPr>
            </a:pPr>
            <a:r>
              <a:rPr kumimoji="0" sz="1725" b="0" i="0" u="none" strike="noStrike" kern="1200" cap="none" spc="0" normalizeH="0" baseline="0" noProof="0">
                <a:ln>
                  <a:noFill/>
                </a:ln>
                <a:solidFill>
                  <a:srgbClr val="151515"/>
                </a:solidFill>
                <a:effectLst/>
                <a:uLnTx/>
                <a:uFillTx/>
                <a:latin typeface="Arial"/>
                <a:ea typeface="Arial"/>
                <a:cs typeface="Arial"/>
              </a:rPr>
              <a:t>Trip duration, apartment price, or passenger count.</a:t>
            </a:r>
          </a:p>
        </p:txBody>
      </p:sp>
    </p:spTree>
    <p:extLst>
      <p:ext uri="{BB962C8B-B14F-4D97-AF65-F5344CB8AC3E}">
        <p14:creationId xmlns:p14="http://schemas.microsoft.com/office/powerpoint/2010/main" val="10749913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6A620C0-623A-1D46-AEBE-934C3A62E35C}"/>
              </a:ext>
            </a:extLst>
          </p:cNvPr>
          <p:cNvSpPr>
            <a:spLocks noGrp="1"/>
          </p:cNvSpPr>
          <p:nvPr>
            <p:ph idx="1"/>
          </p:nvPr>
        </p:nvSpPr>
        <p:spPr>
          <a:xfrm>
            <a:off x="683315" y="1703277"/>
            <a:ext cx="10806491" cy="4043230"/>
          </a:xfrm>
        </p:spPr>
        <p:txBody>
          <a:bodyPr>
            <a:normAutofit/>
          </a:bodyPr>
          <a:lstStyle/>
          <a:p>
            <a:r>
              <a:rPr lang="en-NO" dirty="0"/>
              <a:t>Churn: Classification</a:t>
            </a:r>
          </a:p>
          <a:p>
            <a:r>
              <a:rPr lang="en-NO" dirty="0"/>
              <a:t>Stock market price prediction: Classification</a:t>
            </a:r>
          </a:p>
          <a:p>
            <a:r>
              <a:rPr lang="en-NO" dirty="0"/>
              <a:t>Spam email: classification</a:t>
            </a:r>
          </a:p>
          <a:p>
            <a:r>
              <a:rPr lang="en-NO" dirty="0"/>
              <a:t>Prediction of price of an oil: Regression</a:t>
            </a:r>
          </a:p>
          <a:p>
            <a:r>
              <a:rPr lang="en-NO" dirty="0"/>
              <a:t>Salary prediction: Regression</a:t>
            </a:r>
          </a:p>
          <a:p>
            <a:r>
              <a:rPr lang="en-NO" dirty="0"/>
              <a:t>Age prediction: Regression</a:t>
            </a:r>
          </a:p>
          <a:p>
            <a:r>
              <a:rPr lang="en-NO" dirty="0"/>
              <a:t>Gender prediction: Classification</a:t>
            </a:r>
          </a:p>
          <a:p>
            <a:endParaRPr lang="en-NO" dirty="0"/>
          </a:p>
          <a:p>
            <a:endParaRPr lang="en-NO" dirty="0"/>
          </a:p>
          <a:p>
            <a:endParaRPr lang="en-NO" dirty="0"/>
          </a:p>
          <a:p>
            <a:endParaRPr lang="en-NO" dirty="0"/>
          </a:p>
        </p:txBody>
      </p:sp>
      <p:sp>
        <p:nvSpPr>
          <p:cNvPr id="4" name="Footer Placeholder 3">
            <a:extLst>
              <a:ext uri="{FF2B5EF4-FFF2-40B4-BE49-F238E27FC236}">
                <a16:creationId xmlns:a16="http://schemas.microsoft.com/office/drawing/2014/main" id="{0CE4B39C-E185-1442-BA08-028384AAF904}"/>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Tree>
    <p:extLst>
      <p:ext uri="{BB962C8B-B14F-4D97-AF65-F5344CB8AC3E}">
        <p14:creationId xmlns:p14="http://schemas.microsoft.com/office/powerpoint/2010/main" val="165875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C5AC57-1A09-954C-A4E2-32BCCDF340DF}"/>
              </a:ext>
            </a:extLst>
          </p:cNvPr>
          <p:cNvSpPr>
            <a:spLocks noGrp="1"/>
          </p:cNvSpPr>
          <p:nvPr>
            <p:ph idx="1"/>
          </p:nvPr>
        </p:nvSpPr>
        <p:spPr>
          <a:xfrm>
            <a:off x="683315" y="1435453"/>
            <a:ext cx="10806491" cy="4311054"/>
          </a:xfrm>
        </p:spPr>
        <p:txBody>
          <a:bodyPr>
            <a:normAutofit fontScale="92500" lnSpcReduction="20000"/>
          </a:bodyPr>
          <a:lstStyle/>
          <a:p>
            <a:r>
              <a:rPr lang="en-NO" dirty="0"/>
              <a:t>Regression models are used to predict a continuous value</a:t>
            </a:r>
          </a:p>
          <a:p>
            <a:r>
              <a:rPr lang="en-NO" dirty="0"/>
              <a:t>Examples</a:t>
            </a:r>
          </a:p>
          <a:p>
            <a:pPr lvl="1"/>
            <a:r>
              <a:rPr lang="en-GB" dirty="0"/>
              <a:t>P</a:t>
            </a:r>
            <a:r>
              <a:rPr lang="en-NO" dirty="0"/>
              <a:t>redicting prices of a house given a set of features (size, price, location etc)</a:t>
            </a:r>
          </a:p>
          <a:p>
            <a:pPr lvl="1"/>
            <a:r>
              <a:rPr lang="en-GB" dirty="0"/>
              <a:t>P</a:t>
            </a:r>
            <a:r>
              <a:rPr lang="en-NO" dirty="0"/>
              <a:t>redicting sales revenue of a company based on previous sales figures</a:t>
            </a:r>
          </a:p>
          <a:p>
            <a:pPr lvl="1"/>
            <a:endParaRPr lang="en-NO" dirty="0"/>
          </a:p>
          <a:p>
            <a:r>
              <a:rPr lang="en-NO" dirty="0"/>
              <a:t>Question: Are the following use cases regression or classification ?</a:t>
            </a:r>
          </a:p>
          <a:p>
            <a:pPr lvl="1"/>
            <a:r>
              <a:rPr lang="en-NO" dirty="0"/>
              <a:t>Customer Churn: when a customer leaves the company</a:t>
            </a:r>
          </a:p>
          <a:p>
            <a:pPr lvl="1"/>
            <a:r>
              <a:rPr lang="en-NO" dirty="0"/>
              <a:t>Stock market price prediction</a:t>
            </a:r>
          </a:p>
          <a:p>
            <a:pPr lvl="1"/>
            <a:r>
              <a:rPr lang="en-NO" dirty="0"/>
              <a:t>Spam email </a:t>
            </a:r>
          </a:p>
          <a:p>
            <a:pPr lvl="1"/>
            <a:r>
              <a:rPr lang="en-NO" dirty="0"/>
              <a:t>Prediction of price of an oil</a:t>
            </a:r>
          </a:p>
          <a:p>
            <a:pPr lvl="1"/>
            <a:r>
              <a:rPr lang="en-NO" dirty="0"/>
              <a:t>Salary prediction</a:t>
            </a:r>
          </a:p>
          <a:p>
            <a:pPr lvl="1"/>
            <a:r>
              <a:rPr lang="en-NO" dirty="0"/>
              <a:t>Age prediction</a:t>
            </a:r>
          </a:p>
          <a:p>
            <a:pPr lvl="1"/>
            <a:r>
              <a:rPr lang="en-NO" dirty="0"/>
              <a:t>Gender prediction</a:t>
            </a:r>
          </a:p>
        </p:txBody>
      </p:sp>
      <p:sp>
        <p:nvSpPr>
          <p:cNvPr id="4" name="Footer Placeholder 3">
            <a:extLst>
              <a:ext uri="{FF2B5EF4-FFF2-40B4-BE49-F238E27FC236}">
                <a16:creationId xmlns:a16="http://schemas.microsoft.com/office/drawing/2014/main" id="{068566B4-78F4-594E-8790-14B93CAECFC7}"/>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7BC9BCAC-892B-6D47-875E-DCE9F9FFC747}"/>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a:solidFill>
                <a:prstClr val="white"/>
              </a:solidFill>
              <a:latin typeface="Arial" panose="020B0604020202020204"/>
            </a:endParaRPr>
          </a:p>
        </p:txBody>
      </p:sp>
      <p:sp>
        <p:nvSpPr>
          <p:cNvPr id="6" name="Title 1">
            <a:extLst>
              <a:ext uri="{FF2B5EF4-FFF2-40B4-BE49-F238E27FC236}">
                <a16:creationId xmlns:a16="http://schemas.microsoft.com/office/drawing/2014/main" id="{38A55DFA-9A7A-F04F-B6A0-A19803442188}"/>
              </a:ext>
            </a:extLst>
          </p:cNvPr>
          <p:cNvSpPr>
            <a:spLocks noGrp="1"/>
          </p:cNvSpPr>
          <p:nvPr>
            <p:ph type="title"/>
          </p:nvPr>
        </p:nvSpPr>
        <p:spPr>
          <a:xfrm>
            <a:off x="356722" y="414788"/>
            <a:ext cx="10806491" cy="467293"/>
          </a:xfrm>
        </p:spPr>
        <p:txBody>
          <a:bodyPr/>
          <a:lstStyle/>
          <a:p>
            <a:r>
              <a:rPr lang="en-NO" dirty="0"/>
              <a:t>Regression</a:t>
            </a:r>
          </a:p>
        </p:txBody>
      </p:sp>
    </p:spTree>
    <p:extLst>
      <p:ext uri="{BB962C8B-B14F-4D97-AF65-F5344CB8AC3E}">
        <p14:creationId xmlns:p14="http://schemas.microsoft.com/office/powerpoint/2010/main" val="392752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C08D2B7-D783-424A-AE81-087D626C1EED}"/>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6DB7CDCB-E3A6-458B-96CB-75CA75D23532}"/>
              </a:ext>
            </a:extLst>
          </p:cNvPr>
          <p:cNvSpPr>
            <a:spLocks noGrp="1"/>
          </p:cNvSpPr>
          <p:nvPr/>
        </p:nvSpPr>
        <p:spPr>
          <a:xfrm>
            <a:off x="533400" y="171450"/>
            <a:ext cx="11049000" cy="5238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sz="2400" b="1" i="0" u="none" strike="noStrike" kern="1200" cap="none" spc="0" normalizeH="0" baseline="0" noProof="0">
                <a:ln>
                  <a:noFill/>
                </a:ln>
                <a:solidFill>
                  <a:srgbClr val="151515"/>
                </a:solidFill>
                <a:effectLst/>
                <a:uLnTx/>
                <a:uFillTx/>
                <a:latin typeface="Arial"/>
                <a:ea typeface="Arial"/>
                <a:cs typeface="Arial"/>
              </a:rPr>
              <a:t>How does regression work?</a:t>
            </a:r>
          </a:p>
        </p:txBody>
      </p:sp>
      <p:sp>
        <p:nvSpPr>
          <p:cNvPr id="3" name="Rectangle 2">
            <a:extLst>
              <a:ext uri="{FF2B5EF4-FFF2-40B4-BE49-F238E27FC236}">
                <a16:creationId xmlns:a16="http://schemas.microsoft.com/office/drawing/2014/main" id="{64A1678E-FC60-4C45-ABD6-9AEB7D020A4C}"/>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694ABE85-59EF-45BA-B892-E3D0F5B1A3CB}"/>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04</a:t>
            </a:r>
          </a:p>
        </p:txBody>
      </p:sp>
      <p:sp>
        <p:nvSpPr>
          <p:cNvPr id="5" name="Rectangle 4">
            <a:extLst>
              <a:ext uri="{FF2B5EF4-FFF2-40B4-BE49-F238E27FC236}">
                <a16:creationId xmlns:a16="http://schemas.microsoft.com/office/drawing/2014/main" id="{4729D5DF-59B9-491D-ABDA-25893AA8597C}"/>
              </a:ext>
            </a:extLst>
          </p:cNvPr>
          <p:cNvSpPr>
            <a:spLocks noGrp="1"/>
          </p:cNvSpPr>
          <p:nvPr/>
        </p:nvSpPr>
        <p:spPr>
          <a:xfrm>
            <a:off x="800100" y="1428750"/>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1">
                <a:solidFill>
                  <a:srgbClr val="246DA8"/>
                </a:solidFill>
                <a:latin typeface="Arial"/>
                <a:ea typeface="Arial"/>
                <a:cs typeface="Arial"/>
              </a:defRPr>
            </a:pPr>
            <a:r>
              <a:rPr kumimoji="0" sz="1725" b="1" i="0" u="none" strike="noStrike" kern="1200" cap="none" spc="0" normalizeH="0" baseline="0" noProof="0">
                <a:ln>
                  <a:noFill/>
                </a:ln>
                <a:solidFill>
                  <a:srgbClr val="246DA8"/>
                </a:solidFill>
                <a:effectLst/>
                <a:uLnTx/>
                <a:uFillTx/>
                <a:latin typeface="Arial"/>
                <a:ea typeface="Arial"/>
                <a:cs typeface="Arial"/>
              </a:rPr>
              <a:t>1. Measure</a:t>
            </a:r>
          </a:p>
        </p:txBody>
      </p:sp>
      <p:sp>
        <p:nvSpPr>
          <p:cNvPr id="6" name="Rectangle 5">
            <a:extLst>
              <a:ext uri="{FF2B5EF4-FFF2-40B4-BE49-F238E27FC236}">
                <a16:creationId xmlns:a16="http://schemas.microsoft.com/office/drawing/2014/main" id="{11932EF2-60CD-41F0-9252-FB5411142667}"/>
              </a:ext>
            </a:extLst>
          </p:cNvPr>
          <p:cNvSpPr>
            <a:spLocks noGrp="1"/>
          </p:cNvSpPr>
          <p:nvPr/>
        </p:nvSpPr>
        <p:spPr>
          <a:xfrm>
            <a:off x="3571875" y="1428750"/>
            <a:ext cx="7524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51515"/>
                </a:solidFill>
                <a:latin typeface="Arial"/>
                <a:ea typeface="Arial"/>
                <a:cs typeface="Arial"/>
              </a:defRPr>
            </a:pPr>
            <a:r>
              <a:rPr kumimoji="0" sz="1725" b="0" i="0" u="none" strike="noStrike" kern="1200" cap="none" spc="0" normalizeH="0" baseline="0" noProof="0">
                <a:ln>
                  <a:noFill/>
                </a:ln>
                <a:solidFill>
                  <a:srgbClr val="151515"/>
                </a:solidFill>
                <a:effectLst/>
                <a:uLnTx/>
                <a:uFillTx/>
                <a:latin typeface="Arial"/>
                <a:ea typeface="Arial"/>
                <a:cs typeface="Arial"/>
              </a:rPr>
              <a:t>Record features, such as trip distance.</a:t>
            </a:r>
          </a:p>
        </p:txBody>
      </p:sp>
      <p:sp>
        <p:nvSpPr>
          <p:cNvPr id="7" name="Rectangle 6">
            <a:extLst>
              <a:ext uri="{FF2B5EF4-FFF2-40B4-BE49-F238E27FC236}">
                <a16:creationId xmlns:a16="http://schemas.microsoft.com/office/drawing/2014/main" id="{5B963B35-1E60-4719-8CD9-0E531B490F4F}"/>
              </a:ext>
            </a:extLst>
          </p:cNvPr>
          <p:cNvSpPr>
            <a:spLocks noGrp="1"/>
          </p:cNvSpPr>
          <p:nvPr/>
        </p:nvSpPr>
        <p:spPr>
          <a:xfrm>
            <a:off x="800100" y="2476500"/>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1">
                <a:solidFill>
                  <a:srgbClr val="246DA8"/>
                </a:solidFill>
                <a:latin typeface="Arial"/>
                <a:ea typeface="Arial"/>
                <a:cs typeface="Arial"/>
              </a:defRPr>
            </a:pPr>
            <a:r>
              <a:rPr kumimoji="0" sz="1725" b="1" i="0" u="none" strike="noStrike" kern="1200" cap="none" spc="0" normalizeH="0" baseline="0" noProof="0">
                <a:ln>
                  <a:noFill/>
                </a:ln>
                <a:solidFill>
                  <a:srgbClr val="246DA8"/>
                </a:solidFill>
                <a:effectLst/>
                <a:uLnTx/>
                <a:uFillTx/>
                <a:latin typeface="Arial"/>
                <a:ea typeface="Arial"/>
                <a:cs typeface="Arial"/>
              </a:rPr>
              <a:t>2. Label</a:t>
            </a:r>
          </a:p>
        </p:txBody>
      </p:sp>
      <p:sp>
        <p:nvSpPr>
          <p:cNvPr id="8" name="Rectangle 7">
            <a:extLst>
              <a:ext uri="{FF2B5EF4-FFF2-40B4-BE49-F238E27FC236}">
                <a16:creationId xmlns:a16="http://schemas.microsoft.com/office/drawing/2014/main" id="{52A6469C-079A-4646-BFAA-D1DE7D09FDF5}"/>
              </a:ext>
            </a:extLst>
          </p:cNvPr>
          <p:cNvSpPr>
            <a:spLocks noGrp="1"/>
          </p:cNvSpPr>
          <p:nvPr/>
        </p:nvSpPr>
        <p:spPr>
          <a:xfrm>
            <a:off x="3571875" y="2476500"/>
            <a:ext cx="7524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51515"/>
                </a:solidFill>
                <a:latin typeface="Arial"/>
                <a:ea typeface="Arial"/>
                <a:cs typeface="Arial"/>
              </a:defRPr>
            </a:pPr>
            <a:r>
              <a:rPr kumimoji="0" sz="1725" b="0" i="0" u="none" strike="noStrike" kern="1200" cap="none" spc="0" normalizeH="0" baseline="0" noProof="0">
                <a:ln>
                  <a:noFill/>
                </a:ln>
                <a:solidFill>
                  <a:srgbClr val="151515"/>
                </a:solidFill>
                <a:effectLst/>
                <a:uLnTx/>
                <a:uFillTx/>
                <a:latin typeface="Arial"/>
                <a:ea typeface="Arial"/>
                <a:cs typeface="Arial"/>
              </a:rPr>
              <a:t>Record the numeric target, such as travel time.</a:t>
            </a:r>
          </a:p>
        </p:txBody>
      </p:sp>
      <p:sp>
        <p:nvSpPr>
          <p:cNvPr id="9" name="Rectangle 8">
            <a:extLst>
              <a:ext uri="{FF2B5EF4-FFF2-40B4-BE49-F238E27FC236}">
                <a16:creationId xmlns:a16="http://schemas.microsoft.com/office/drawing/2014/main" id="{E98AA29F-E829-4CFB-9702-35DFE74403C1}"/>
              </a:ext>
            </a:extLst>
          </p:cNvPr>
          <p:cNvSpPr>
            <a:spLocks noGrp="1"/>
          </p:cNvSpPr>
          <p:nvPr/>
        </p:nvSpPr>
        <p:spPr>
          <a:xfrm>
            <a:off x="800100" y="3524250"/>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1">
                <a:solidFill>
                  <a:srgbClr val="246DA8"/>
                </a:solidFill>
                <a:latin typeface="Arial"/>
                <a:ea typeface="Arial"/>
                <a:cs typeface="Arial"/>
              </a:defRPr>
            </a:pPr>
            <a:r>
              <a:rPr kumimoji="0" sz="1725" b="1" i="0" u="none" strike="noStrike" kern="1200" cap="none" spc="0" normalizeH="0" baseline="0" noProof="0">
                <a:ln>
                  <a:noFill/>
                </a:ln>
                <a:solidFill>
                  <a:srgbClr val="246DA8"/>
                </a:solidFill>
                <a:effectLst/>
                <a:uLnTx/>
                <a:uFillTx/>
                <a:latin typeface="Arial"/>
                <a:ea typeface="Arial"/>
                <a:cs typeface="Arial"/>
              </a:rPr>
              <a:t>3. Fit</a:t>
            </a:r>
          </a:p>
        </p:txBody>
      </p:sp>
      <p:sp>
        <p:nvSpPr>
          <p:cNvPr id="10" name="Rectangle 9">
            <a:extLst>
              <a:ext uri="{FF2B5EF4-FFF2-40B4-BE49-F238E27FC236}">
                <a16:creationId xmlns:a16="http://schemas.microsoft.com/office/drawing/2014/main" id="{BFEF6D3F-8BCB-45A4-9116-1745249FB2D1}"/>
              </a:ext>
            </a:extLst>
          </p:cNvPr>
          <p:cNvSpPr>
            <a:spLocks noGrp="1"/>
          </p:cNvSpPr>
          <p:nvPr/>
        </p:nvSpPr>
        <p:spPr>
          <a:xfrm>
            <a:off x="3571875" y="3524250"/>
            <a:ext cx="7524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51515"/>
                </a:solidFill>
                <a:latin typeface="Arial"/>
                <a:ea typeface="Arial"/>
                <a:cs typeface="Arial"/>
              </a:defRPr>
            </a:pPr>
            <a:r>
              <a:rPr kumimoji="0" sz="1725" b="0" i="0" u="none" strike="noStrike" kern="1200" cap="none" spc="0" normalizeH="0" baseline="0" noProof="0">
                <a:ln>
                  <a:noFill/>
                </a:ln>
                <a:solidFill>
                  <a:srgbClr val="151515"/>
                </a:solidFill>
                <a:effectLst/>
                <a:uLnTx/>
                <a:uFillTx/>
                <a:latin typeface="Arial"/>
                <a:ea typeface="Arial"/>
                <a:cs typeface="Arial"/>
              </a:rPr>
              <a:t>Find a relationship that reduces prediction errors.</a:t>
            </a:r>
          </a:p>
        </p:txBody>
      </p:sp>
      <p:sp>
        <p:nvSpPr>
          <p:cNvPr id="11" name="Rectangle 10">
            <a:extLst>
              <a:ext uri="{FF2B5EF4-FFF2-40B4-BE49-F238E27FC236}">
                <a16:creationId xmlns:a16="http://schemas.microsoft.com/office/drawing/2014/main" id="{583AAE28-CCED-438B-86C7-96C44028E27F}"/>
              </a:ext>
            </a:extLst>
          </p:cNvPr>
          <p:cNvSpPr>
            <a:spLocks noGrp="1"/>
          </p:cNvSpPr>
          <p:nvPr/>
        </p:nvSpPr>
        <p:spPr>
          <a:xfrm>
            <a:off x="800100" y="4572000"/>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1">
                <a:solidFill>
                  <a:srgbClr val="246DA8"/>
                </a:solidFill>
                <a:latin typeface="Arial"/>
                <a:ea typeface="Arial"/>
                <a:cs typeface="Arial"/>
              </a:defRPr>
            </a:pPr>
            <a:r>
              <a:rPr kumimoji="0" sz="1725" b="1" i="0" u="none" strike="noStrike" kern="1200" cap="none" spc="0" normalizeH="0" baseline="0" noProof="0">
                <a:ln>
                  <a:noFill/>
                </a:ln>
                <a:solidFill>
                  <a:srgbClr val="246DA8"/>
                </a:solidFill>
                <a:effectLst/>
                <a:uLnTx/>
                <a:uFillTx/>
                <a:latin typeface="Arial"/>
                <a:ea typeface="Arial"/>
                <a:cs typeface="Arial"/>
              </a:rPr>
              <a:t>4. Predict</a:t>
            </a:r>
          </a:p>
        </p:txBody>
      </p:sp>
      <p:sp>
        <p:nvSpPr>
          <p:cNvPr id="12" name="Rectangle 11">
            <a:extLst>
              <a:ext uri="{FF2B5EF4-FFF2-40B4-BE49-F238E27FC236}">
                <a16:creationId xmlns:a16="http://schemas.microsoft.com/office/drawing/2014/main" id="{4741B96C-FF04-4713-AEDA-5505A9103D9C}"/>
              </a:ext>
            </a:extLst>
          </p:cNvPr>
          <p:cNvSpPr>
            <a:spLocks noGrp="1"/>
          </p:cNvSpPr>
          <p:nvPr/>
        </p:nvSpPr>
        <p:spPr>
          <a:xfrm>
            <a:off x="3571875" y="4572000"/>
            <a:ext cx="7524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51515"/>
                </a:solidFill>
                <a:latin typeface="Arial"/>
                <a:ea typeface="Arial"/>
                <a:cs typeface="Arial"/>
              </a:defRPr>
            </a:pPr>
            <a:r>
              <a:rPr kumimoji="0" sz="1725" b="0" i="0" u="none" strike="noStrike" kern="1200" cap="none" spc="0" normalizeH="0" baseline="0" noProof="0">
                <a:ln>
                  <a:noFill/>
                </a:ln>
                <a:solidFill>
                  <a:srgbClr val="151515"/>
                </a:solidFill>
                <a:effectLst/>
                <a:uLnTx/>
                <a:uFillTx/>
                <a:latin typeface="Arial"/>
                <a:ea typeface="Arial"/>
                <a:cs typeface="Arial"/>
              </a:rPr>
              <a:t>Apply the learned relationship to a new trip.</a:t>
            </a:r>
          </a:p>
        </p:txBody>
      </p:sp>
    </p:spTree>
    <p:extLst>
      <p:ext uri="{BB962C8B-B14F-4D97-AF65-F5344CB8AC3E}">
        <p14:creationId xmlns:p14="http://schemas.microsoft.com/office/powerpoint/2010/main" val="6575728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32F7EFF-D989-004A-8180-13BE11C64155}"/>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pic>
        <p:nvPicPr>
          <p:cNvPr id="7170" name="Picture 2" descr="What is regression in machine learning? - Quora">
            <a:extLst>
              <a:ext uri="{FF2B5EF4-FFF2-40B4-BE49-F238E27FC236}">
                <a16:creationId xmlns:a16="http://schemas.microsoft.com/office/drawing/2014/main" id="{F487EC3E-EB52-714B-8CC7-19073FE6EB6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17311" y="376103"/>
            <a:ext cx="7660181" cy="574490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EF3A0FB8-C6B9-5441-B3E7-D0563C700A82}"/>
              </a:ext>
            </a:extLst>
          </p:cNvPr>
          <p:cNvSpPr/>
          <p:nvPr/>
        </p:nvSpPr>
        <p:spPr>
          <a:xfrm>
            <a:off x="6411737" y="6295305"/>
            <a:ext cx="5430549" cy="308674"/>
          </a:xfrm>
          <a:prstGeom prst="rect">
            <a:avLst/>
          </a:prstGeom>
        </p:spPr>
        <p:txBody>
          <a:bodyPr wrap="square">
            <a:spAutoFit/>
          </a:bodyPr>
          <a:lstStyle/>
          <a:p>
            <a:pPr defTabSz="914222"/>
            <a:r>
              <a:rPr lang="en-NO" sz="1406" dirty="0">
                <a:solidFill>
                  <a:prstClr val="black"/>
                </a:solidFill>
                <a:latin typeface="Arial" panose="020B0604020202020204"/>
              </a:rPr>
              <a:t>https://www.quora.com/What-is-regression-in-machine-learning</a:t>
            </a:r>
          </a:p>
        </p:txBody>
      </p:sp>
    </p:spTree>
    <p:extLst>
      <p:ext uri="{BB962C8B-B14F-4D97-AF65-F5344CB8AC3E}">
        <p14:creationId xmlns:p14="http://schemas.microsoft.com/office/powerpoint/2010/main" val="5191574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73B8D8D-FFFD-D643-9D40-67DBAA72AB09}"/>
              </a:ext>
            </a:extLst>
          </p:cNvPr>
          <p:cNvSpPr>
            <a:spLocks noGrp="1"/>
          </p:cNvSpPr>
          <p:nvPr>
            <p:ph idx="1"/>
          </p:nvPr>
        </p:nvSpPr>
        <p:spPr/>
        <p:txBody>
          <a:bodyPr/>
          <a:lstStyle/>
          <a:p>
            <a:pPr marL="0" indent="0" algn="ctr">
              <a:buNone/>
            </a:pPr>
            <a:r>
              <a:rPr lang="en-NO" dirty="0"/>
              <a:t>Regression is used for prediction, forecasting, time series modeling, and determining the causal effect between variables</a:t>
            </a:r>
          </a:p>
        </p:txBody>
      </p:sp>
      <p:sp>
        <p:nvSpPr>
          <p:cNvPr id="4" name="Footer Placeholder 3">
            <a:extLst>
              <a:ext uri="{FF2B5EF4-FFF2-40B4-BE49-F238E27FC236}">
                <a16:creationId xmlns:a16="http://schemas.microsoft.com/office/drawing/2014/main" id="{B691AA74-2F20-074F-B96C-9B19DDB2225F}"/>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Tree>
    <p:extLst>
      <p:ext uri="{BB962C8B-B14F-4D97-AF65-F5344CB8AC3E}">
        <p14:creationId xmlns:p14="http://schemas.microsoft.com/office/powerpoint/2010/main" val="36987589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851FC-AEB9-5A4F-BEC4-93800F5C08E2}"/>
              </a:ext>
            </a:extLst>
          </p:cNvPr>
          <p:cNvSpPr>
            <a:spLocks noGrp="1"/>
          </p:cNvSpPr>
          <p:nvPr>
            <p:ph type="title"/>
          </p:nvPr>
        </p:nvSpPr>
        <p:spPr/>
        <p:txBody>
          <a:bodyPr/>
          <a:lstStyle/>
          <a:p>
            <a:endParaRPr lang="en-NO"/>
          </a:p>
        </p:txBody>
      </p:sp>
      <p:pic>
        <p:nvPicPr>
          <p:cNvPr id="6" name="Content Placeholder 5">
            <a:extLst>
              <a:ext uri="{FF2B5EF4-FFF2-40B4-BE49-F238E27FC236}">
                <a16:creationId xmlns:a16="http://schemas.microsoft.com/office/drawing/2014/main" id="{785A0FC7-25CA-954F-822E-8DE240450DC5}"/>
              </a:ext>
            </a:extLst>
          </p:cNvPr>
          <p:cNvPicPr>
            <a:picLocks noGrp="1" noChangeAspect="1"/>
          </p:cNvPicPr>
          <p:nvPr>
            <p:ph idx="1"/>
          </p:nvPr>
        </p:nvPicPr>
        <p:blipFill>
          <a:blip r:embed="rId3">
            <a:extLst>
              <a:ext uri="{28A0092B-C50C-407E-A947-70E740481C1C}">
                <a14:useLocalDpi xmlns:a14="http://schemas.microsoft.com/office/drawing/2010/main" val="0"/>
              </a:ext>
            </a:extLst>
          </a:blip>
          <a:stretch>
            <a:fillRect/>
          </a:stretch>
        </p:blipFill>
        <p:spPr>
          <a:xfrm>
            <a:off x="937864" y="1277874"/>
            <a:ext cx="10297393" cy="4766097"/>
          </a:xfrm>
        </p:spPr>
      </p:pic>
      <p:sp>
        <p:nvSpPr>
          <p:cNvPr id="4" name="Footer Placeholder 3">
            <a:extLst>
              <a:ext uri="{FF2B5EF4-FFF2-40B4-BE49-F238E27FC236}">
                <a16:creationId xmlns:a16="http://schemas.microsoft.com/office/drawing/2014/main" id="{9A990B31-BAA2-D449-A3CC-FE4160114F2F}"/>
              </a:ext>
            </a:extLst>
          </p:cNvPr>
          <p:cNvSpPr>
            <a:spLocks noGrp="1"/>
          </p:cNvSpPr>
          <p:nvPr>
            <p:ph type="ftr" sz="quarter" idx="11"/>
          </p:nvPr>
        </p:nvSpPr>
        <p:spPr>
          <a:xfrm>
            <a:off x="5162821" y="6403124"/>
            <a:ext cx="6326985" cy="184579"/>
          </a:xfrm>
        </p:spPr>
        <p:txBody>
          <a:bodyPr/>
          <a:lstStyle/>
          <a:p>
            <a:pPr defTabSz="914222"/>
            <a:r>
              <a:rPr lang="nb-NO" dirty="0" err="1">
                <a:solidFill>
                  <a:prstClr val="black"/>
                </a:solidFill>
                <a:latin typeface="Arial" panose="020B0604020202020204"/>
              </a:rPr>
              <a:t>https</a:t>
            </a:r>
            <a:r>
              <a:rPr lang="nb-NO" dirty="0">
                <a:solidFill>
                  <a:prstClr val="black"/>
                </a:solidFill>
                <a:latin typeface="Arial" panose="020B0604020202020204"/>
              </a:rPr>
              <a:t>://</a:t>
            </a:r>
            <a:r>
              <a:rPr lang="nb-NO" dirty="0" err="1">
                <a:solidFill>
                  <a:prstClr val="black"/>
                </a:solidFill>
                <a:latin typeface="Arial" panose="020B0604020202020204"/>
              </a:rPr>
              <a:t>www.javatpoint.com</a:t>
            </a:r>
            <a:r>
              <a:rPr lang="nb-NO" dirty="0">
                <a:solidFill>
                  <a:prstClr val="black"/>
                </a:solidFill>
                <a:latin typeface="Arial" panose="020B0604020202020204"/>
              </a:rPr>
              <a:t>/</a:t>
            </a:r>
            <a:r>
              <a:rPr lang="nb-NO" dirty="0" err="1">
                <a:solidFill>
                  <a:prstClr val="black"/>
                </a:solidFill>
                <a:latin typeface="Arial" panose="020B0604020202020204"/>
              </a:rPr>
              <a:t>regression</a:t>
            </a:r>
            <a:r>
              <a:rPr lang="nb-NO" dirty="0">
                <a:solidFill>
                  <a:prstClr val="black"/>
                </a:solidFill>
                <a:latin typeface="Arial" panose="020B0604020202020204"/>
              </a:rPr>
              <a:t>-</a:t>
            </a:r>
            <a:r>
              <a:rPr lang="nb-NO" dirty="0" err="1">
                <a:solidFill>
                  <a:prstClr val="black"/>
                </a:solidFill>
                <a:latin typeface="Arial" panose="020B0604020202020204"/>
              </a:rPr>
              <a:t>vs</a:t>
            </a:r>
            <a:r>
              <a:rPr lang="nb-NO" dirty="0">
                <a:solidFill>
                  <a:prstClr val="black"/>
                </a:solidFill>
                <a:latin typeface="Arial" panose="020B0604020202020204"/>
              </a:rPr>
              <a:t>-</a:t>
            </a:r>
            <a:r>
              <a:rPr lang="nb-NO" dirty="0" err="1">
                <a:solidFill>
                  <a:prstClr val="black"/>
                </a:solidFill>
                <a:latin typeface="Arial" panose="020B0604020202020204"/>
              </a:rPr>
              <a:t>classification</a:t>
            </a:r>
            <a:r>
              <a:rPr lang="nb-NO" dirty="0">
                <a:solidFill>
                  <a:prstClr val="black"/>
                </a:solidFill>
                <a:latin typeface="Arial" panose="020B0604020202020204"/>
              </a:rPr>
              <a:t>-in-</a:t>
            </a:r>
            <a:r>
              <a:rPr lang="nb-NO" dirty="0" err="1">
                <a:solidFill>
                  <a:prstClr val="black"/>
                </a:solidFill>
                <a:latin typeface="Arial" panose="020B0604020202020204"/>
              </a:rPr>
              <a:t>machine</a:t>
            </a:r>
            <a:r>
              <a:rPr lang="nb-NO" dirty="0">
                <a:solidFill>
                  <a:prstClr val="black"/>
                </a:solidFill>
                <a:latin typeface="Arial" panose="020B0604020202020204"/>
              </a:rPr>
              <a:t>-</a:t>
            </a:r>
            <a:r>
              <a:rPr lang="nb-NO" dirty="0" err="1">
                <a:solidFill>
                  <a:prstClr val="black"/>
                </a:solidFill>
                <a:latin typeface="Arial" panose="020B0604020202020204"/>
              </a:rPr>
              <a:t>learning</a:t>
            </a:r>
            <a:endParaRPr lang="nb-NO" dirty="0">
              <a:solidFill>
                <a:prstClr val="black"/>
              </a:solidFill>
              <a:latin typeface="Arial" panose="020B0604020202020204"/>
            </a:endParaRPr>
          </a:p>
        </p:txBody>
      </p:sp>
    </p:spTree>
    <p:extLst>
      <p:ext uri="{BB962C8B-B14F-4D97-AF65-F5344CB8AC3E}">
        <p14:creationId xmlns:p14="http://schemas.microsoft.com/office/powerpoint/2010/main" val="17860330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317E6-3C15-024B-9CC4-756350EFCC84}"/>
              </a:ext>
            </a:extLst>
          </p:cNvPr>
          <p:cNvSpPr>
            <a:spLocks noGrp="1"/>
          </p:cNvSpPr>
          <p:nvPr>
            <p:ph idx="1"/>
          </p:nvPr>
        </p:nvSpPr>
        <p:spPr>
          <a:xfrm>
            <a:off x="683315" y="1600620"/>
            <a:ext cx="10806491" cy="4145887"/>
          </a:xfrm>
        </p:spPr>
        <p:txBody>
          <a:bodyPr/>
          <a:lstStyle/>
          <a:p>
            <a:r>
              <a:rPr lang="en-NO" dirty="0"/>
              <a:t>Linear regression</a:t>
            </a:r>
          </a:p>
          <a:p>
            <a:r>
              <a:rPr lang="en-NO" dirty="0"/>
              <a:t>Polynomial regression</a:t>
            </a:r>
          </a:p>
          <a:p>
            <a:r>
              <a:rPr lang="en-GB" dirty="0"/>
              <a:t>S</a:t>
            </a:r>
            <a:r>
              <a:rPr lang="en-NO" dirty="0"/>
              <a:t>upport vector regression</a:t>
            </a:r>
          </a:p>
          <a:p>
            <a:r>
              <a:rPr lang="en-GB" dirty="0"/>
              <a:t>D</a:t>
            </a:r>
            <a:r>
              <a:rPr lang="en-NO" dirty="0"/>
              <a:t>ecision tree regression</a:t>
            </a:r>
          </a:p>
          <a:p>
            <a:r>
              <a:rPr lang="en-GB" dirty="0"/>
              <a:t>R</a:t>
            </a:r>
            <a:r>
              <a:rPr lang="en-NO" dirty="0"/>
              <a:t>andom forest regression</a:t>
            </a:r>
          </a:p>
          <a:p>
            <a:r>
              <a:rPr lang="en-GB" dirty="0"/>
              <a:t>R</a:t>
            </a:r>
            <a:r>
              <a:rPr lang="en-NO" dirty="0"/>
              <a:t>idge regression</a:t>
            </a:r>
          </a:p>
          <a:p>
            <a:r>
              <a:rPr lang="en-GB" dirty="0"/>
              <a:t>L</a:t>
            </a:r>
            <a:r>
              <a:rPr lang="en-NO" dirty="0"/>
              <a:t>asso regression</a:t>
            </a:r>
          </a:p>
        </p:txBody>
      </p:sp>
      <p:sp>
        <p:nvSpPr>
          <p:cNvPr id="4" name="Footer Placeholder 3">
            <a:extLst>
              <a:ext uri="{FF2B5EF4-FFF2-40B4-BE49-F238E27FC236}">
                <a16:creationId xmlns:a16="http://schemas.microsoft.com/office/drawing/2014/main" id="{A980453C-8CD5-CB45-AC49-B3965CA507D9}"/>
              </a:ext>
            </a:extLst>
          </p:cNvPr>
          <p:cNvSpPr>
            <a:spLocks noGrp="1"/>
          </p:cNvSpPr>
          <p:nvPr>
            <p:ph type="ftr" sz="quarter" idx="11"/>
          </p:nvPr>
        </p:nvSpPr>
        <p:spPr/>
        <p:txBody>
          <a:bodyPr/>
          <a:lstStyle/>
          <a:p>
            <a:r>
              <a:rPr lang="nb-NO"/>
              <a:t>DAVE3625- Intro to A.I. by Umair M.I</a:t>
            </a:r>
          </a:p>
        </p:txBody>
      </p:sp>
      <p:sp>
        <p:nvSpPr>
          <p:cNvPr id="5" name="Rectangle 4">
            <a:extLst>
              <a:ext uri="{FF2B5EF4-FFF2-40B4-BE49-F238E27FC236}">
                <a16:creationId xmlns:a16="http://schemas.microsoft.com/office/drawing/2014/main" id="{C7AE7C93-9A4A-F446-8F3B-CCEF2EDB1F61}"/>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O" sz="1265"/>
          </a:p>
        </p:txBody>
      </p:sp>
      <p:sp>
        <p:nvSpPr>
          <p:cNvPr id="6" name="Title 1">
            <a:extLst>
              <a:ext uri="{FF2B5EF4-FFF2-40B4-BE49-F238E27FC236}">
                <a16:creationId xmlns:a16="http://schemas.microsoft.com/office/drawing/2014/main" id="{C1C7839D-9358-9144-B9F6-FF4367F73F24}"/>
              </a:ext>
            </a:extLst>
          </p:cNvPr>
          <p:cNvSpPr>
            <a:spLocks noGrp="1"/>
          </p:cNvSpPr>
          <p:nvPr>
            <p:ph type="title"/>
          </p:nvPr>
        </p:nvSpPr>
        <p:spPr>
          <a:xfrm>
            <a:off x="526549" y="414788"/>
            <a:ext cx="10806491" cy="467293"/>
          </a:xfrm>
        </p:spPr>
        <p:txBody>
          <a:bodyPr/>
          <a:lstStyle/>
          <a:p>
            <a:r>
              <a:rPr lang="nb-NO" dirty="0" err="1"/>
              <a:t>Regression</a:t>
            </a:r>
            <a:r>
              <a:rPr lang="nb-NO" dirty="0"/>
              <a:t> </a:t>
            </a:r>
            <a:r>
              <a:rPr lang="nb-NO" dirty="0" err="1"/>
              <a:t>algorithms</a:t>
            </a:r>
            <a:endParaRPr lang="en-NO" dirty="0"/>
          </a:p>
        </p:txBody>
      </p:sp>
    </p:spTree>
    <p:extLst>
      <p:ext uri="{BB962C8B-B14F-4D97-AF65-F5344CB8AC3E}">
        <p14:creationId xmlns:p14="http://schemas.microsoft.com/office/powerpoint/2010/main" val="30392641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317E6-3C15-024B-9CC4-756350EFCC84}"/>
              </a:ext>
            </a:extLst>
          </p:cNvPr>
          <p:cNvSpPr>
            <a:spLocks noGrp="1"/>
          </p:cNvSpPr>
          <p:nvPr>
            <p:ph idx="1"/>
          </p:nvPr>
        </p:nvSpPr>
        <p:spPr>
          <a:xfrm>
            <a:off x="683315" y="1600620"/>
            <a:ext cx="10806491" cy="4145887"/>
          </a:xfrm>
        </p:spPr>
        <p:txBody>
          <a:bodyPr/>
          <a:lstStyle/>
          <a:p>
            <a:r>
              <a:rPr lang="en-NO" dirty="0"/>
              <a:t>It’s a linear model</a:t>
            </a:r>
          </a:p>
          <a:p>
            <a:pPr lvl="1"/>
            <a:r>
              <a:rPr lang="en-GB" dirty="0"/>
              <a:t>an equation that describes a relationship between two quantities that show a constant rate of change.</a:t>
            </a:r>
          </a:p>
          <a:p>
            <a:pPr lvl="1"/>
            <a:r>
              <a:rPr lang="en-GB" dirty="0" err="1"/>
              <a:t>e.g</a:t>
            </a:r>
            <a:r>
              <a:rPr lang="en-GB" dirty="0"/>
              <a:t> the older I get, the wiser I will be (hopefully)</a:t>
            </a:r>
          </a:p>
          <a:p>
            <a:pPr lvl="1"/>
            <a:r>
              <a:rPr lang="en-GB" dirty="0"/>
              <a:t>Attending all lectures in Intro to A.I course will result in passing the exam</a:t>
            </a:r>
          </a:p>
          <a:p>
            <a:endParaRPr lang="en-GB" dirty="0"/>
          </a:p>
          <a:p>
            <a:r>
              <a:rPr lang="en-GB" dirty="0"/>
              <a:t>There is always an input variable (x) and an output variable (y)</a:t>
            </a:r>
          </a:p>
          <a:p>
            <a:pPr lvl="1"/>
            <a:r>
              <a:rPr lang="en-GB" dirty="0"/>
              <a:t>Y can be calculated from a linear combination of input variables (x)</a:t>
            </a:r>
          </a:p>
          <a:p>
            <a:pPr lvl="1"/>
            <a:endParaRPr lang="en-NO" dirty="0"/>
          </a:p>
        </p:txBody>
      </p:sp>
      <p:sp>
        <p:nvSpPr>
          <p:cNvPr id="4" name="Footer Placeholder 3">
            <a:extLst>
              <a:ext uri="{FF2B5EF4-FFF2-40B4-BE49-F238E27FC236}">
                <a16:creationId xmlns:a16="http://schemas.microsoft.com/office/drawing/2014/main" id="{A980453C-8CD5-CB45-AC49-B3965CA507D9}"/>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C7AE7C93-9A4A-F446-8F3B-CCEF2EDB1F61}"/>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dirty="0">
              <a:solidFill>
                <a:prstClr val="white"/>
              </a:solidFill>
              <a:latin typeface="Arial" panose="020B0604020202020204"/>
            </a:endParaRPr>
          </a:p>
        </p:txBody>
      </p:sp>
      <p:sp>
        <p:nvSpPr>
          <p:cNvPr id="6" name="Title 1">
            <a:extLst>
              <a:ext uri="{FF2B5EF4-FFF2-40B4-BE49-F238E27FC236}">
                <a16:creationId xmlns:a16="http://schemas.microsoft.com/office/drawing/2014/main" id="{C1C7839D-9358-9144-B9F6-FF4367F73F24}"/>
              </a:ext>
            </a:extLst>
          </p:cNvPr>
          <p:cNvSpPr>
            <a:spLocks noGrp="1"/>
          </p:cNvSpPr>
          <p:nvPr>
            <p:ph type="title"/>
          </p:nvPr>
        </p:nvSpPr>
        <p:spPr>
          <a:xfrm>
            <a:off x="526549" y="414788"/>
            <a:ext cx="10806491" cy="467293"/>
          </a:xfrm>
        </p:spPr>
        <p:txBody>
          <a:bodyPr/>
          <a:lstStyle/>
          <a:p>
            <a:r>
              <a:rPr lang="en-NO" dirty="0"/>
              <a:t>1. Linear Regression</a:t>
            </a:r>
          </a:p>
        </p:txBody>
      </p:sp>
    </p:spTree>
    <p:extLst>
      <p:ext uri="{BB962C8B-B14F-4D97-AF65-F5344CB8AC3E}">
        <p14:creationId xmlns:p14="http://schemas.microsoft.com/office/powerpoint/2010/main" val="15204104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9E3F0-18E4-7341-A36A-D5B98C4FFD74}"/>
              </a:ext>
            </a:extLst>
          </p:cNvPr>
          <p:cNvSpPr>
            <a:spLocks noGrp="1"/>
          </p:cNvSpPr>
          <p:nvPr>
            <p:ph type="title"/>
          </p:nvPr>
        </p:nvSpPr>
        <p:spPr/>
        <p:txBody>
          <a:bodyPr/>
          <a:lstStyle/>
          <a:p>
            <a:endParaRPr lang="en-NO"/>
          </a:p>
        </p:txBody>
      </p:sp>
      <p:sp>
        <p:nvSpPr>
          <p:cNvPr id="3" name="Content Placeholder 2">
            <a:extLst>
              <a:ext uri="{FF2B5EF4-FFF2-40B4-BE49-F238E27FC236}">
                <a16:creationId xmlns:a16="http://schemas.microsoft.com/office/drawing/2014/main" id="{16E490D4-15CC-D84B-94CD-45ACFA820357}"/>
              </a:ext>
            </a:extLst>
          </p:cNvPr>
          <p:cNvSpPr>
            <a:spLocks noGrp="1"/>
          </p:cNvSpPr>
          <p:nvPr>
            <p:ph idx="1"/>
          </p:nvPr>
        </p:nvSpPr>
        <p:spPr/>
        <p:txBody>
          <a:bodyPr/>
          <a:lstStyle/>
          <a:p>
            <a:endParaRPr lang="en-NO"/>
          </a:p>
        </p:txBody>
      </p:sp>
      <p:sp>
        <p:nvSpPr>
          <p:cNvPr id="4" name="Footer Placeholder 3">
            <a:extLst>
              <a:ext uri="{FF2B5EF4-FFF2-40B4-BE49-F238E27FC236}">
                <a16:creationId xmlns:a16="http://schemas.microsoft.com/office/drawing/2014/main" id="{578CEF50-0C74-C446-8284-05DAD050AE68}"/>
              </a:ext>
            </a:extLst>
          </p:cNvPr>
          <p:cNvSpPr>
            <a:spLocks noGrp="1"/>
          </p:cNvSpPr>
          <p:nvPr>
            <p:ph type="ftr" sz="quarter" idx="11"/>
          </p:nvPr>
        </p:nvSpPr>
        <p:spPr/>
        <p:txBody>
          <a:bodyPr>
            <a:normAutofit fontScale="85000" lnSpcReduction="10000"/>
          </a:bodyPr>
          <a:lstStyle/>
          <a:p>
            <a:pPr defTabSz="914222"/>
            <a:r>
              <a:rPr lang="nb-NO" sz="984" dirty="0" err="1">
                <a:solidFill>
                  <a:prstClr val="black"/>
                </a:solidFill>
                <a:latin typeface="Arial" panose="020B0604020202020204"/>
              </a:rPr>
              <a:t>https</a:t>
            </a:r>
            <a:r>
              <a:rPr lang="nb-NO" sz="984" dirty="0">
                <a:solidFill>
                  <a:prstClr val="black"/>
                </a:solidFill>
                <a:latin typeface="Arial" panose="020B0604020202020204"/>
              </a:rPr>
              <a:t>://</a:t>
            </a:r>
            <a:r>
              <a:rPr lang="nb-NO" sz="984" dirty="0" err="1">
                <a:solidFill>
                  <a:prstClr val="black"/>
                </a:solidFill>
                <a:latin typeface="Arial" panose="020B0604020202020204"/>
              </a:rPr>
              <a:t>towardsdatascience.com</a:t>
            </a:r>
            <a:r>
              <a:rPr lang="nb-NO" sz="984" dirty="0">
                <a:solidFill>
                  <a:prstClr val="black"/>
                </a:solidFill>
                <a:latin typeface="Arial" panose="020B0604020202020204"/>
              </a:rPr>
              <a:t>/linear-regression-and-its-mathematical-implementation-29d520a75ede</a:t>
            </a:r>
          </a:p>
        </p:txBody>
      </p:sp>
      <p:pic>
        <p:nvPicPr>
          <p:cNvPr id="11266" name="Picture 2" descr="Image for post">
            <a:extLst>
              <a:ext uri="{FF2B5EF4-FFF2-40B4-BE49-F238E27FC236}">
                <a16:creationId xmlns:a16="http://schemas.microsoft.com/office/drawing/2014/main" id="{4545FFF1-A591-E446-A502-F36881B447B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34238" y="2829792"/>
            <a:ext cx="7083464" cy="25018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138477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5798327-6C51-0749-98C0-AD4A6B961FF1}"/>
              </a:ext>
            </a:extLst>
          </p:cNvPr>
          <p:cNvSpPr>
            <a:spLocks noGrp="1"/>
          </p:cNvSpPr>
          <p:nvPr>
            <p:ph idx="1"/>
          </p:nvPr>
        </p:nvSpPr>
        <p:spPr>
          <a:xfrm>
            <a:off x="683316" y="1600620"/>
            <a:ext cx="6326985" cy="4326746"/>
          </a:xfrm>
        </p:spPr>
        <p:txBody>
          <a:bodyPr>
            <a:normAutofit/>
          </a:bodyPr>
          <a:lstStyle/>
          <a:p>
            <a:pPr marL="0" indent="0">
              <a:buNone/>
            </a:pPr>
            <a:r>
              <a:rPr lang="en-NO" dirty="0"/>
              <a:t>		Y = a+bX</a:t>
            </a:r>
          </a:p>
          <a:p>
            <a:pPr marL="0" indent="0">
              <a:buNone/>
            </a:pPr>
            <a:r>
              <a:rPr lang="en-NO" dirty="0"/>
              <a:t>Y = Salary</a:t>
            </a:r>
          </a:p>
          <a:p>
            <a:pPr marL="0" indent="0">
              <a:buNone/>
            </a:pPr>
            <a:r>
              <a:rPr lang="en-NO" dirty="0"/>
              <a:t>X = Employees age</a:t>
            </a:r>
          </a:p>
          <a:p>
            <a:pPr marL="0" indent="0">
              <a:buNone/>
            </a:pPr>
            <a:r>
              <a:rPr lang="en-NO" dirty="0"/>
              <a:t>A,B: Coefficients of the equation</a:t>
            </a:r>
          </a:p>
          <a:p>
            <a:pPr marL="0" indent="0">
              <a:buNone/>
            </a:pPr>
            <a:endParaRPr lang="en-NO" dirty="0"/>
          </a:p>
          <a:p>
            <a:pPr marL="0" indent="0">
              <a:buNone/>
            </a:pPr>
            <a:r>
              <a:rPr lang="en-NO" dirty="0"/>
              <a:t>Coefficients are estimates of the unknown. These are calculated for a regression model and help us predict value of Y for each value of X</a:t>
            </a:r>
          </a:p>
        </p:txBody>
      </p:sp>
      <p:sp>
        <p:nvSpPr>
          <p:cNvPr id="4" name="Footer Placeholder 3">
            <a:extLst>
              <a:ext uri="{FF2B5EF4-FFF2-40B4-BE49-F238E27FC236}">
                <a16:creationId xmlns:a16="http://schemas.microsoft.com/office/drawing/2014/main" id="{D513C62C-57E4-AB46-A58B-B8AD7B8ACE45}"/>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pic>
        <p:nvPicPr>
          <p:cNvPr id="10242" name="Picture 2" descr="Regression Analysis in Machine learning">
            <a:extLst>
              <a:ext uri="{FF2B5EF4-FFF2-40B4-BE49-F238E27FC236}">
                <a16:creationId xmlns:a16="http://schemas.microsoft.com/office/drawing/2014/main" id="{359E1A07-131A-4A4D-A510-49FF725377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45204" y="2060613"/>
            <a:ext cx="4463482" cy="35707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62587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0475A5E-0807-469B-503A-7146FEE061E6}"/>
              </a:ext>
            </a:extLst>
          </p:cNvPr>
          <p:cNvSpPr>
            <a:spLocks noGrp="1"/>
          </p:cNvSpPr>
          <p:nvPr>
            <p:ph idx="1"/>
          </p:nvPr>
        </p:nvSpPr>
        <p:spPr>
          <a:xfrm>
            <a:off x="683315" y="1592390"/>
            <a:ext cx="10806491" cy="4154117"/>
          </a:xfrm>
        </p:spPr>
        <p:txBody>
          <a:bodyPr/>
          <a:lstStyle/>
          <a:p>
            <a:pPr marL="0" indent="0">
              <a:buNone/>
            </a:pPr>
            <a:r>
              <a:rPr lang="en-GB" dirty="0"/>
              <a:t>The coefficients are the numbers that tell you:</a:t>
            </a:r>
          </a:p>
          <a:p>
            <a:endParaRPr lang="en-GB" dirty="0"/>
          </a:p>
          <a:p>
            <a:r>
              <a:rPr lang="en-GB" dirty="0"/>
              <a:t>How much does the line go up or down when you change one of the input values.</a:t>
            </a:r>
          </a:p>
          <a:p>
            <a:r>
              <a:rPr lang="en-GB" dirty="0"/>
              <a:t>Positive coefficient → output goes up when input increases.</a:t>
            </a:r>
          </a:p>
          <a:p>
            <a:r>
              <a:rPr lang="en-GB" dirty="0"/>
              <a:t>Negative coefficient → output goes down when input increases.</a:t>
            </a:r>
          </a:p>
          <a:p>
            <a:r>
              <a:rPr lang="en-GB" dirty="0"/>
              <a:t>Bigger number → stronger effect.</a:t>
            </a:r>
          </a:p>
          <a:p>
            <a:endParaRPr lang="en-NO" dirty="0"/>
          </a:p>
        </p:txBody>
      </p:sp>
      <p:sp>
        <p:nvSpPr>
          <p:cNvPr id="4" name="Footer Placeholder 3">
            <a:extLst>
              <a:ext uri="{FF2B5EF4-FFF2-40B4-BE49-F238E27FC236}">
                <a16:creationId xmlns:a16="http://schemas.microsoft.com/office/drawing/2014/main" id="{1E4518E4-4A87-4479-03FC-CA7DDE67F6D2}"/>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Tree>
    <p:extLst>
      <p:ext uri="{BB962C8B-B14F-4D97-AF65-F5344CB8AC3E}">
        <p14:creationId xmlns:p14="http://schemas.microsoft.com/office/powerpoint/2010/main" val="18770589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2D4F17-BC22-1587-CA30-4B810EF21CC2}"/>
              </a:ext>
            </a:extLst>
          </p:cNvPr>
          <p:cNvSpPr>
            <a:spLocks noGrp="1"/>
          </p:cNvSpPr>
          <p:nvPr>
            <p:ph type="title"/>
          </p:nvPr>
        </p:nvSpPr>
        <p:spPr/>
        <p:txBody>
          <a:bodyPr/>
          <a:lstStyle/>
          <a:p>
            <a:endParaRPr lang="en-NO"/>
          </a:p>
        </p:txBody>
      </p:sp>
      <p:pic>
        <p:nvPicPr>
          <p:cNvPr id="6" name="Content Placeholder 5">
            <a:extLst>
              <a:ext uri="{FF2B5EF4-FFF2-40B4-BE49-F238E27FC236}">
                <a16:creationId xmlns:a16="http://schemas.microsoft.com/office/drawing/2014/main" id="{6D6A3742-D66E-3C45-05CD-0D438DF5A47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703266" y="277085"/>
            <a:ext cx="7471868" cy="6028439"/>
          </a:xfrm>
        </p:spPr>
      </p:pic>
      <p:sp>
        <p:nvSpPr>
          <p:cNvPr id="4" name="Footer Placeholder 3">
            <a:extLst>
              <a:ext uri="{FF2B5EF4-FFF2-40B4-BE49-F238E27FC236}">
                <a16:creationId xmlns:a16="http://schemas.microsoft.com/office/drawing/2014/main" id="{94D42AE1-7DFF-258C-00F0-15D88A64B978}"/>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Tree>
    <p:extLst>
      <p:ext uri="{BB962C8B-B14F-4D97-AF65-F5344CB8AC3E}">
        <p14:creationId xmlns:p14="http://schemas.microsoft.com/office/powerpoint/2010/main" val="21097707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B3BEBD-9816-822B-F037-0A60F9F7FBA8}"/>
              </a:ext>
            </a:extLst>
          </p:cNvPr>
          <p:cNvSpPr>
            <a:spLocks noGrp="1"/>
          </p:cNvSpPr>
          <p:nvPr>
            <p:ph type="title"/>
          </p:nvPr>
        </p:nvSpPr>
        <p:spPr>
          <a:xfrm>
            <a:off x="2125864" y="644202"/>
            <a:ext cx="10806491" cy="467293"/>
          </a:xfrm>
        </p:spPr>
        <p:txBody>
          <a:bodyPr/>
          <a:lstStyle/>
          <a:p>
            <a:r>
              <a:rPr lang="en-NO" dirty="0"/>
              <a:t>Example of Coefficient</a:t>
            </a:r>
          </a:p>
        </p:txBody>
      </p:sp>
      <p:sp>
        <p:nvSpPr>
          <p:cNvPr id="3" name="Content Placeholder 2">
            <a:extLst>
              <a:ext uri="{FF2B5EF4-FFF2-40B4-BE49-F238E27FC236}">
                <a16:creationId xmlns:a16="http://schemas.microsoft.com/office/drawing/2014/main" id="{76BC030E-DE71-6129-BDB7-592BB1E4D3DF}"/>
              </a:ext>
            </a:extLst>
          </p:cNvPr>
          <p:cNvSpPr>
            <a:spLocks noGrp="1"/>
          </p:cNvSpPr>
          <p:nvPr>
            <p:ph idx="1"/>
          </p:nvPr>
        </p:nvSpPr>
        <p:spPr>
          <a:xfrm>
            <a:off x="683315" y="1669997"/>
            <a:ext cx="10806491" cy="4294058"/>
          </a:xfrm>
        </p:spPr>
        <p:txBody>
          <a:bodyPr>
            <a:normAutofit fontScale="92500" lnSpcReduction="10000"/>
          </a:bodyPr>
          <a:lstStyle/>
          <a:p>
            <a:r>
              <a:rPr lang="en-GB" dirty="0"/>
              <a:t>Suppose we model house prices:</a:t>
            </a:r>
          </a:p>
          <a:p>
            <a:pPr marL="0" indent="0">
              <a:buNone/>
            </a:pPr>
            <a:endParaRPr lang="en-GB" dirty="0"/>
          </a:p>
          <a:p>
            <a:r>
              <a:rPr lang="en-GB" dirty="0"/>
              <a:t>Price = 50,000 + 200 x Size + 1,000 x Bedrooms</a:t>
            </a:r>
          </a:p>
          <a:p>
            <a:endParaRPr lang="en-GB" dirty="0"/>
          </a:p>
          <a:p>
            <a:r>
              <a:rPr lang="en-GB" dirty="0"/>
              <a:t>Intercept (50,000) → base price of a house even if size = 0 and bedrooms = 0.</a:t>
            </a:r>
          </a:p>
          <a:p>
            <a:endParaRPr lang="en-GB" dirty="0"/>
          </a:p>
          <a:p>
            <a:r>
              <a:rPr lang="en-GB" dirty="0"/>
              <a:t>Coefficient of Size (200) → for every extra square meter, price increases by $200.</a:t>
            </a:r>
          </a:p>
          <a:p>
            <a:endParaRPr lang="en-GB" dirty="0"/>
          </a:p>
          <a:p>
            <a:r>
              <a:rPr lang="en-GB" dirty="0"/>
              <a:t>Coefficient of Bedrooms (1,000) → for each additional bedroom, price increases by $1,000.</a:t>
            </a:r>
          </a:p>
          <a:p>
            <a:endParaRPr lang="en-NO" dirty="0"/>
          </a:p>
        </p:txBody>
      </p:sp>
      <p:sp>
        <p:nvSpPr>
          <p:cNvPr id="4" name="Footer Placeholder 3">
            <a:extLst>
              <a:ext uri="{FF2B5EF4-FFF2-40B4-BE49-F238E27FC236}">
                <a16:creationId xmlns:a16="http://schemas.microsoft.com/office/drawing/2014/main" id="{92D97C93-F370-F768-F031-98BE5D8EB1C6}"/>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Tree>
    <p:extLst>
      <p:ext uri="{BB962C8B-B14F-4D97-AF65-F5344CB8AC3E}">
        <p14:creationId xmlns:p14="http://schemas.microsoft.com/office/powerpoint/2010/main" val="9351383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EF2189-9FFD-9640-8FDB-F019188F63A4}"/>
              </a:ext>
            </a:extLst>
          </p:cNvPr>
          <p:cNvSpPr>
            <a:spLocks noGrp="1"/>
          </p:cNvSpPr>
          <p:nvPr>
            <p:ph type="title"/>
          </p:nvPr>
        </p:nvSpPr>
        <p:spPr/>
        <p:txBody>
          <a:bodyPr/>
          <a:lstStyle/>
          <a:p>
            <a:endParaRPr lang="en-NO"/>
          </a:p>
        </p:txBody>
      </p:sp>
      <p:sp>
        <p:nvSpPr>
          <p:cNvPr id="3" name="Content Placeholder 2">
            <a:extLst>
              <a:ext uri="{FF2B5EF4-FFF2-40B4-BE49-F238E27FC236}">
                <a16:creationId xmlns:a16="http://schemas.microsoft.com/office/drawing/2014/main" id="{3A0478B5-01E5-0D48-A144-83078950EDB3}"/>
              </a:ext>
            </a:extLst>
          </p:cNvPr>
          <p:cNvSpPr>
            <a:spLocks noGrp="1"/>
          </p:cNvSpPr>
          <p:nvPr>
            <p:ph idx="1"/>
          </p:nvPr>
        </p:nvSpPr>
        <p:spPr/>
        <p:txBody>
          <a:bodyPr/>
          <a:lstStyle/>
          <a:p>
            <a:endParaRPr lang="en-NO"/>
          </a:p>
        </p:txBody>
      </p:sp>
      <p:sp>
        <p:nvSpPr>
          <p:cNvPr id="4" name="Footer Placeholder 3">
            <a:extLst>
              <a:ext uri="{FF2B5EF4-FFF2-40B4-BE49-F238E27FC236}">
                <a16:creationId xmlns:a16="http://schemas.microsoft.com/office/drawing/2014/main" id="{EF87F596-5978-4D41-ABD3-6978BA973F1B}"/>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pic>
        <p:nvPicPr>
          <p:cNvPr id="14338" name="Picture 2" descr="Image for post">
            <a:extLst>
              <a:ext uri="{FF2B5EF4-FFF2-40B4-BE49-F238E27FC236}">
                <a16:creationId xmlns:a16="http://schemas.microsoft.com/office/drawing/2014/main" id="{2FBFA109-A024-2E4B-9B03-25AB6692A08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9373" y="1285972"/>
            <a:ext cx="5713256" cy="4284942"/>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Image for post">
            <a:extLst>
              <a:ext uri="{FF2B5EF4-FFF2-40B4-BE49-F238E27FC236}">
                <a16:creationId xmlns:a16="http://schemas.microsoft.com/office/drawing/2014/main" id="{5FF050EE-74CA-5C47-9304-0C032A9651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46496" y="1393095"/>
            <a:ext cx="5713256" cy="4284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1613588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1783981C-F1C0-4ECE-A0DE-0DBB637F3F85}"/>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713E9730-9FA1-46B5-94C1-BEA95EECE007}"/>
              </a:ext>
            </a:extLst>
          </p:cNvPr>
          <p:cNvSpPr>
            <a:spLocks noGrp="1"/>
          </p:cNvSpPr>
          <p:nvPr/>
        </p:nvSpPr>
        <p:spPr>
          <a:xfrm>
            <a:off x="533400" y="171450"/>
            <a:ext cx="11049000" cy="5238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sz="2400" b="1" i="0" u="none" strike="noStrike" kern="1200" cap="none" spc="0" normalizeH="0" baseline="0" noProof="0">
                <a:ln>
                  <a:noFill/>
                </a:ln>
                <a:solidFill>
                  <a:srgbClr val="151515"/>
                </a:solidFill>
                <a:effectLst/>
                <a:uLnTx/>
                <a:uFillTx/>
                <a:latin typeface="Arial"/>
                <a:ea typeface="Arial"/>
                <a:cs typeface="Arial"/>
              </a:rPr>
              <a:t>Example: predicting travel time</a:t>
            </a:r>
          </a:p>
        </p:txBody>
      </p:sp>
      <p:sp>
        <p:nvSpPr>
          <p:cNvPr id="3" name="Rectangle 2">
            <a:extLst>
              <a:ext uri="{FF2B5EF4-FFF2-40B4-BE49-F238E27FC236}">
                <a16:creationId xmlns:a16="http://schemas.microsoft.com/office/drawing/2014/main" id="{D00E8950-90E4-4D08-AC42-1BBA63EF690C}"/>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AE6DAE08-FDE6-4597-962B-7EBA07CAE192}"/>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06</a:t>
            </a:r>
          </a:p>
        </p:txBody>
      </p:sp>
      <p:sp>
        <p:nvSpPr>
          <p:cNvPr id="5" name="Rectangle 4">
            <a:extLst>
              <a:ext uri="{FF2B5EF4-FFF2-40B4-BE49-F238E27FC236}">
                <a16:creationId xmlns:a16="http://schemas.microsoft.com/office/drawing/2014/main" id="{9F2CD37D-05D8-430C-B1C4-C583DEF35585}"/>
              </a:ext>
            </a:extLst>
          </p:cNvPr>
          <p:cNvSpPr>
            <a:spLocks noGrp="1"/>
          </p:cNvSpPr>
          <p:nvPr/>
        </p:nvSpPr>
        <p:spPr>
          <a:xfrm>
            <a:off x="1866900" y="1562100"/>
            <a:ext cx="3429000" cy="5048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75" b="1">
                <a:solidFill>
                  <a:srgbClr val="246DA8"/>
                </a:solidFill>
                <a:latin typeface="Arial"/>
                <a:ea typeface="Arial"/>
                <a:cs typeface="Arial"/>
              </a:defRPr>
            </a:pPr>
            <a:r>
              <a:rPr kumimoji="0" sz="2175" b="1" i="0" u="none" strike="noStrike" kern="1200" cap="none" spc="0" normalizeH="0" baseline="0" noProof="0">
                <a:ln>
                  <a:noFill/>
                </a:ln>
                <a:solidFill>
                  <a:srgbClr val="246DA8"/>
                </a:solidFill>
                <a:effectLst/>
                <a:uLnTx/>
                <a:uFillTx/>
                <a:latin typeface="Arial"/>
                <a:ea typeface="Arial"/>
                <a:cs typeface="Arial"/>
              </a:rPr>
              <a:t>Distance</a:t>
            </a:r>
          </a:p>
        </p:txBody>
      </p:sp>
      <p:sp>
        <p:nvSpPr>
          <p:cNvPr id="6" name="Rectangle 5">
            <a:extLst>
              <a:ext uri="{FF2B5EF4-FFF2-40B4-BE49-F238E27FC236}">
                <a16:creationId xmlns:a16="http://schemas.microsoft.com/office/drawing/2014/main" id="{986ADCAA-90FF-48DF-9A0E-03AB9230616C}"/>
              </a:ext>
            </a:extLst>
          </p:cNvPr>
          <p:cNvSpPr>
            <a:spLocks noGrp="1"/>
          </p:cNvSpPr>
          <p:nvPr/>
        </p:nvSpPr>
        <p:spPr>
          <a:xfrm>
            <a:off x="6419850" y="1562100"/>
            <a:ext cx="3429000" cy="5048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75" b="1">
                <a:solidFill>
                  <a:srgbClr val="298550"/>
                </a:solidFill>
                <a:latin typeface="Arial"/>
                <a:ea typeface="Arial"/>
                <a:cs typeface="Arial"/>
              </a:defRPr>
            </a:pPr>
            <a:r>
              <a:rPr kumimoji="0" sz="2175" b="1" i="0" u="none" strike="noStrike" kern="1200" cap="none" spc="0" normalizeH="0" baseline="0" noProof="0">
                <a:ln>
                  <a:noFill/>
                </a:ln>
                <a:solidFill>
                  <a:srgbClr val="298550"/>
                </a:solidFill>
                <a:effectLst/>
                <a:uLnTx/>
                <a:uFillTx/>
                <a:latin typeface="Arial"/>
                <a:ea typeface="Arial"/>
                <a:cs typeface="Arial"/>
              </a:rPr>
              <a:t>Travel time</a:t>
            </a:r>
          </a:p>
        </p:txBody>
      </p:sp>
      <p:sp>
        <p:nvSpPr>
          <p:cNvPr id="7" name="Rectangle 6">
            <a:extLst>
              <a:ext uri="{FF2B5EF4-FFF2-40B4-BE49-F238E27FC236}">
                <a16:creationId xmlns:a16="http://schemas.microsoft.com/office/drawing/2014/main" id="{2FFA2F3F-B4C3-42AB-BFC0-3BE79B10427A}"/>
              </a:ext>
            </a:extLst>
          </p:cNvPr>
          <p:cNvSpPr>
            <a:spLocks noGrp="1"/>
          </p:cNvSpPr>
          <p:nvPr/>
        </p:nvSpPr>
        <p:spPr>
          <a:xfrm>
            <a:off x="2038350" y="2257425"/>
            <a:ext cx="276225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0">
                <a:solidFill>
                  <a:srgbClr val="151515"/>
                </a:solidFill>
                <a:latin typeface="Arial"/>
                <a:ea typeface="Arial"/>
                <a:cs typeface="Arial"/>
              </a:defRPr>
            </a:pPr>
            <a:r>
              <a:rPr kumimoji="0" sz="2100" b="0" i="0" u="none" strike="noStrike" kern="1200" cap="none" spc="0" normalizeH="0" baseline="0" noProof="0">
                <a:ln>
                  <a:noFill/>
                </a:ln>
                <a:solidFill>
                  <a:srgbClr val="151515"/>
                </a:solidFill>
                <a:effectLst/>
                <a:uLnTx/>
                <a:uFillTx/>
                <a:latin typeface="Arial"/>
                <a:ea typeface="Arial"/>
                <a:cs typeface="Arial"/>
              </a:rPr>
              <a:t>1 km</a:t>
            </a:r>
          </a:p>
        </p:txBody>
      </p:sp>
      <p:sp>
        <p:nvSpPr>
          <p:cNvPr id="8" name="Rectangle 7">
            <a:extLst>
              <a:ext uri="{FF2B5EF4-FFF2-40B4-BE49-F238E27FC236}">
                <a16:creationId xmlns:a16="http://schemas.microsoft.com/office/drawing/2014/main" id="{B839EBD2-029B-4707-8B3C-2B422F82CCCE}"/>
              </a:ext>
            </a:extLst>
          </p:cNvPr>
          <p:cNvSpPr>
            <a:spLocks noGrp="1"/>
          </p:cNvSpPr>
          <p:nvPr/>
        </p:nvSpPr>
        <p:spPr>
          <a:xfrm>
            <a:off x="6610350" y="2257425"/>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0">
                <a:solidFill>
                  <a:srgbClr val="151515"/>
                </a:solidFill>
                <a:latin typeface="Arial"/>
                <a:ea typeface="Arial"/>
                <a:cs typeface="Arial"/>
              </a:defRPr>
            </a:pPr>
            <a:r>
              <a:rPr kumimoji="0" sz="2100" b="0" i="0" u="none" strike="noStrike" kern="1200" cap="none" spc="0" normalizeH="0" baseline="0" noProof="0">
                <a:ln>
                  <a:noFill/>
                </a:ln>
                <a:solidFill>
                  <a:srgbClr val="151515"/>
                </a:solidFill>
                <a:effectLst/>
                <a:uLnTx/>
                <a:uFillTx/>
                <a:latin typeface="Arial"/>
                <a:ea typeface="Arial"/>
                <a:cs typeface="Arial"/>
              </a:rPr>
              <a:t>5 min</a:t>
            </a:r>
          </a:p>
        </p:txBody>
      </p:sp>
      <p:sp>
        <p:nvSpPr>
          <p:cNvPr id="9" name="Rectangle 8">
            <a:extLst>
              <a:ext uri="{FF2B5EF4-FFF2-40B4-BE49-F238E27FC236}">
                <a16:creationId xmlns:a16="http://schemas.microsoft.com/office/drawing/2014/main" id="{33914158-212F-4BF2-B53D-160BDE9D03C6}"/>
              </a:ext>
            </a:extLst>
          </p:cNvPr>
          <p:cNvSpPr>
            <a:spLocks noGrp="1"/>
          </p:cNvSpPr>
          <p:nvPr/>
        </p:nvSpPr>
        <p:spPr>
          <a:xfrm>
            <a:off x="2038350" y="3028950"/>
            <a:ext cx="276225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0">
                <a:solidFill>
                  <a:srgbClr val="151515"/>
                </a:solidFill>
                <a:latin typeface="Arial"/>
                <a:ea typeface="Arial"/>
                <a:cs typeface="Arial"/>
              </a:defRPr>
            </a:pPr>
            <a:r>
              <a:rPr kumimoji="0" sz="2100" b="0" i="0" u="none" strike="noStrike" kern="1200" cap="none" spc="0" normalizeH="0" baseline="0" noProof="0">
                <a:ln>
                  <a:noFill/>
                </a:ln>
                <a:solidFill>
                  <a:srgbClr val="151515"/>
                </a:solidFill>
                <a:effectLst/>
                <a:uLnTx/>
                <a:uFillTx/>
                <a:latin typeface="Arial"/>
                <a:ea typeface="Arial"/>
                <a:cs typeface="Arial"/>
              </a:rPr>
              <a:t>2 km</a:t>
            </a:r>
          </a:p>
        </p:txBody>
      </p:sp>
      <p:sp>
        <p:nvSpPr>
          <p:cNvPr id="10" name="Rectangle 9">
            <a:extLst>
              <a:ext uri="{FF2B5EF4-FFF2-40B4-BE49-F238E27FC236}">
                <a16:creationId xmlns:a16="http://schemas.microsoft.com/office/drawing/2014/main" id="{42D3D68B-BFC7-42A4-B9A2-00CC56CA0B7F}"/>
              </a:ext>
            </a:extLst>
          </p:cNvPr>
          <p:cNvSpPr>
            <a:spLocks noGrp="1"/>
          </p:cNvSpPr>
          <p:nvPr/>
        </p:nvSpPr>
        <p:spPr>
          <a:xfrm>
            <a:off x="6610350" y="3028950"/>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0">
                <a:solidFill>
                  <a:srgbClr val="151515"/>
                </a:solidFill>
                <a:latin typeface="Arial"/>
                <a:ea typeface="Arial"/>
                <a:cs typeface="Arial"/>
              </a:defRPr>
            </a:pPr>
            <a:r>
              <a:rPr kumimoji="0" sz="2100" b="0" i="0" u="none" strike="noStrike" kern="1200" cap="none" spc="0" normalizeH="0" baseline="0" noProof="0">
                <a:ln>
                  <a:noFill/>
                </a:ln>
                <a:solidFill>
                  <a:srgbClr val="151515"/>
                </a:solidFill>
                <a:effectLst/>
                <a:uLnTx/>
                <a:uFillTx/>
                <a:latin typeface="Arial"/>
                <a:ea typeface="Arial"/>
                <a:cs typeface="Arial"/>
              </a:rPr>
              <a:t>8 min</a:t>
            </a:r>
          </a:p>
        </p:txBody>
      </p:sp>
      <p:sp>
        <p:nvSpPr>
          <p:cNvPr id="11" name="Rectangle 10">
            <a:extLst>
              <a:ext uri="{FF2B5EF4-FFF2-40B4-BE49-F238E27FC236}">
                <a16:creationId xmlns:a16="http://schemas.microsoft.com/office/drawing/2014/main" id="{162EB529-F3CD-41C5-9723-4750859989D7}"/>
              </a:ext>
            </a:extLst>
          </p:cNvPr>
          <p:cNvSpPr>
            <a:spLocks noGrp="1"/>
          </p:cNvSpPr>
          <p:nvPr/>
        </p:nvSpPr>
        <p:spPr>
          <a:xfrm>
            <a:off x="2038350" y="3800475"/>
            <a:ext cx="276225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0">
                <a:solidFill>
                  <a:srgbClr val="151515"/>
                </a:solidFill>
                <a:latin typeface="Arial"/>
                <a:ea typeface="Arial"/>
                <a:cs typeface="Arial"/>
              </a:defRPr>
            </a:pPr>
            <a:r>
              <a:rPr kumimoji="0" sz="2100" b="0" i="0" u="none" strike="noStrike" kern="1200" cap="none" spc="0" normalizeH="0" baseline="0" noProof="0">
                <a:ln>
                  <a:noFill/>
                </a:ln>
                <a:solidFill>
                  <a:srgbClr val="151515"/>
                </a:solidFill>
                <a:effectLst/>
                <a:uLnTx/>
                <a:uFillTx/>
                <a:latin typeface="Arial"/>
                <a:ea typeface="Arial"/>
                <a:cs typeface="Arial"/>
              </a:rPr>
              <a:t>3 km</a:t>
            </a:r>
          </a:p>
        </p:txBody>
      </p:sp>
      <p:sp>
        <p:nvSpPr>
          <p:cNvPr id="12" name="Rectangle 11">
            <a:extLst>
              <a:ext uri="{FF2B5EF4-FFF2-40B4-BE49-F238E27FC236}">
                <a16:creationId xmlns:a16="http://schemas.microsoft.com/office/drawing/2014/main" id="{E9E6C35C-62C0-4F81-9A59-24DB809840AD}"/>
              </a:ext>
            </a:extLst>
          </p:cNvPr>
          <p:cNvSpPr>
            <a:spLocks noGrp="1"/>
          </p:cNvSpPr>
          <p:nvPr/>
        </p:nvSpPr>
        <p:spPr>
          <a:xfrm>
            <a:off x="6610350" y="3800475"/>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0">
                <a:solidFill>
                  <a:srgbClr val="151515"/>
                </a:solidFill>
                <a:latin typeface="Arial"/>
                <a:ea typeface="Arial"/>
                <a:cs typeface="Arial"/>
              </a:defRPr>
            </a:pPr>
            <a:r>
              <a:rPr kumimoji="0" sz="2100" b="0" i="0" u="none" strike="noStrike" kern="1200" cap="none" spc="0" normalizeH="0" baseline="0" noProof="0">
                <a:ln>
                  <a:noFill/>
                </a:ln>
                <a:solidFill>
                  <a:srgbClr val="151515"/>
                </a:solidFill>
                <a:effectLst/>
                <a:uLnTx/>
                <a:uFillTx/>
                <a:latin typeface="Arial"/>
                <a:ea typeface="Arial"/>
                <a:cs typeface="Arial"/>
              </a:rPr>
              <a:t>11 min</a:t>
            </a:r>
          </a:p>
        </p:txBody>
      </p:sp>
      <p:sp>
        <p:nvSpPr>
          <p:cNvPr id="13" name="Rectangle 12">
            <a:extLst>
              <a:ext uri="{FF2B5EF4-FFF2-40B4-BE49-F238E27FC236}">
                <a16:creationId xmlns:a16="http://schemas.microsoft.com/office/drawing/2014/main" id="{A4E331AF-F951-49AD-9CC8-CF0B5CFC823E}"/>
              </a:ext>
            </a:extLst>
          </p:cNvPr>
          <p:cNvSpPr>
            <a:spLocks noGrp="1"/>
          </p:cNvSpPr>
          <p:nvPr/>
        </p:nvSpPr>
        <p:spPr>
          <a:xfrm>
            <a:off x="2038350" y="4572000"/>
            <a:ext cx="276225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0">
                <a:solidFill>
                  <a:srgbClr val="151515"/>
                </a:solidFill>
                <a:latin typeface="Arial"/>
                <a:ea typeface="Arial"/>
                <a:cs typeface="Arial"/>
              </a:defRPr>
            </a:pPr>
            <a:r>
              <a:rPr kumimoji="0" sz="2100" b="0" i="0" u="none" strike="noStrike" kern="1200" cap="none" spc="0" normalizeH="0" baseline="0" noProof="0">
                <a:ln>
                  <a:noFill/>
                </a:ln>
                <a:solidFill>
                  <a:srgbClr val="151515"/>
                </a:solidFill>
                <a:effectLst/>
                <a:uLnTx/>
                <a:uFillTx/>
                <a:latin typeface="Arial"/>
                <a:ea typeface="Arial"/>
                <a:cs typeface="Arial"/>
              </a:rPr>
              <a:t>4 km</a:t>
            </a:r>
          </a:p>
        </p:txBody>
      </p:sp>
      <p:sp>
        <p:nvSpPr>
          <p:cNvPr id="14" name="Rectangle 13">
            <a:extLst>
              <a:ext uri="{FF2B5EF4-FFF2-40B4-BE49-F238E27FC236}">
                <a16:creationId xmlns:a16="http://schemas.microsoft.com/office/drawing/2014/main" id="{F9D09640-7EC9-412A-A9E7-F468324129FC}"/>
              </a:ext>
            </a:extLst>
          </p:cNvPr>
          <p:cNvSpPr>
            <a:spLocks noGrp="1"/>
          </p:cNvSpPr>
          <p:nvPr/>
        </p:nvSpPr>
        <p:spPr>
          <a:xfrm>
            <a:off x="6610350" y="4572000"/>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0">
                <a:solidFill>
                  <a:srgbClr val="151515"/>
                </a:solidFill>
                <a:latin typeface="Arial"/>
                <a:ea typeface="Arial"/>
                <a:cs typeface="Arial"/>
              </a:defRPr>
            </a:pPr>
            <a:r>
              <a:rPr kumimoji="0" sz="2100" b="0" i="0" u="none" strike="noStrike" kern="1200" cap="none" spc="0" normalizeH="0" baseline="0" noProof="0">
                <a:ln>
                  <a:noFill/>
                </a:ln>
                <a:solidFill>
                  <a:srgbClr val="151515"/>
                </a:solidFill>
                <a:effectLst/>
                <a:uLnTx/>
                <a:uFillTx/>
                <a:latin typeface="Arial"/>
                <a:ea typeface="Arial"/>
                <a:cs typeface="Arial"/>
              </a:rPr>
              <a:t>14 min</a:t>
            </a:r>
          </a:p>
        </p:txBody>
      </p:sp>
      <p:sp>
        <p:nvSpPr>
          <p:cNvPr id="15" name="Rectangle 14">
            <a:extLst>
              <a:ext uri="{FF2B5EF4-FFF2-40B4-BE49-F238E27FC236}">
                <a16:creationId xmlns:a16="http://schemas.microsoft.com/office/drawing/2014/main" id="{F7122EB4-4560-4E7E-BB12-C6841E2F833A}"/>
              </a:ext>
            </a:extLst>
          </p:cNvPr>
          <p:cNvSpPr>
            <a:spLocks noGrp="1"/>
          </p:cNvSpPr>
          <p:nvPr/>
        </p:nvSpPr>
        <p:spPr>
          <a:xfrm>
            <a:off x="1238250" y="5495925"/>
            <a:ext cx="9620250" cy="4857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025" b="1">
                <a:solidFill>
                  <a:srgbClr val="7044A4"/>
                </a:solidFill>
                <a:latin typeface="Arial"/>
                <a:ea typeface="Arial"/>
                <a:cs typeface="Arial"/>
              </a:defRPr>
            </a:pPr>
            <a:r>
              <a:rPr kumimoji="0" sz="2025" b="1" i="0" u="none" strike="noStrike" kern="1200" cap="none" spc="0" normalizeH="0" baseline="0" noProof="0" dirty="0">
                <a:ln>
                  <a:noFill/>
                </a:ln>
                <a:solidFill>
                  <a:srgbClr val="7044A4"/>
                </a:solidFill>
                <a:effectLst/>
                <a:uLnTx/>
                <a:uFillTx/>
                <a:latin typeface="Arial"/>
                <a:ea typeface="Arial"/>
                <a:cs typeface="Arial"/>
              </a:rPr>
              <a:t>Each extra </a:t>
            </a:r>
            <a:r>
              <a:rPr kumimoji="0" sz="2025" b="1" i="0" u="none" strike="noStrike" kern="1200" cap="none" spc="0" normalizeH="0" baseline="0" noProof="0" dirty="0" err="1">
                <a:ln>
                  <a:noFill/>
                </a:ln>
                <a:solidFill>
                  <a:srgbClr val="7044A4"/>
                </a:solidFill>
                <a:effectLst/>
                <a:uLnTx/>
                <a:uFillTx/>
                <a:latin typeface="Arial"/>
                <a:ea typeface="Arial"/>
                <a:cs typeface="Arial"/>
              </a:rPr>
              <a:t>kilomete</a:t>
            </a:r>
            <a:r>
              <a:rPr kumimoji="0" lang="nb-NO" sz="2025" b="1" i="0" u="none" strike="noStrike" kern="1200" cap="none" spc="0" normalizeH="0" baseline="0" noProof="0" dirty="0">
                <a:ln>
                  <a:noFill/>
                </a:ln>
                <a:solidFill>
                  <a:srgbClr val="7044A4"/>
                </a:solidFill>
                <a:effectLst/>
                <a:uLnTx/>
                <a:uFillTx/>
                <a:latin typeface="Arial"/>
                <a:ea typeface="Arial"/>
                <a:cs typeface="Arial"/>
              </a:rPr>
              <a:t>r</a:t>
            </a:r>
            <a:r>
              <a:rPr kumimoji="0" sz="2025" b="1" i="0" u="none" strike="noStrike" kern="1200" cap="none" spc="0" normalizeH="0" baseline="0" noProof="0" dirty="0">
                <a:ln>
                  <a:noFill/>
                </a:ln>
                <a:solidFill>
                  <a:srgbClr val="7044A4"/>
                </a:solidFill>
                <a:effectLst/>
                <a:uLnTx/>
                <a:uFillTx/>
                <a:latin typeface="Arial"/>
                <a:ea typeface="Arial"/>
                <a:cs typeface="Arial"/>
              </a:rPr>
              <a:t> adds 3 minutes.</a:t>
            </a:r>
          </a:p>
        </p:txBody>
      </p:sp>
    </p:spTree>
    <p:extLst>
      <p:ext uri="{BB962C8B-B14F-4D97-AF65-F5344CB8AC3E}">
        <p14:creationId xmlns:p14="http://schemas.microsoft.com/office/powerpoint/2010/main" val="2664401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FE58C77-5F90-4F0F-9834-7EBD142F93C6}"/>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3" name="Rectangle 2">
            <a:extLst>
              <a:ext uri="{FF2B5EF4-FFF2-40B4-BE49-F238E27FC236}">
                <a16:creationId xmlns:a16="http://schemas.microsoft.com/office/drawing/2014/main" id="{DFF8CC79-A84D-4373-802E-E9048B4295CD}"/>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2C143F61-D00F-4D2E-BFBD-11401BA980ED}"/>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08</a:t>
            </a:r>
          </a:p>
        </p:txBody>
      </p:sp>
      <p:sp>
        <p:nvSpPr>
          <p:cNvPr id="5" name="Rectangle 4">
            <a:extLst>
              <a:ext uri="{FF2B5EF4-FFF2-40B4-BE49-F238E27FC236}">
                <a16:creationId xmlns:a16="http://schemas.microsoft.com/office/drawing/2014/main" id="{52BC556B-B277-4E55-A8E4-BE2FB46918C4}"/>
              </a:ext>
            </a:extLst>
          </p:cNvPr>
          <p:cNvSpPr>
            <a:spLocks noGrp="1"/>
          </p:cNvSpPr>
          <p:nvPr/>
        </p:nvSpPr>
        <p:spPr>
          <a:xfrm>
            <a:off x="1047750" y="1571625"/>
            <a:ext cx="10096500" cy="9144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450" b="1">
                <a:solidFill>
                  <a:srgbClr val="246DA8"/>
                </a:solidFill>
                <a:latin typeface="Arial"/>
                <a:ea typeface="Arial"/>
                <a:cs typeface="Arial"/>
              </a:defRPr>
            </a:pPr>
            <a:r>
              <a:rPr kumimoji="0" sz="3450" b="1" i="0" u="none" strike="noStrike" kern="1200" cap="none" spc="0" normalizeH="0" baseline="0" noProof="0">
                <a:ln>
                  <a:noFill/>
                </a:ln>
                <a:solidFill>
                  <a:srgbClr val="246DA8"/>
                </a:solidFill>
                <a:effectLst/>
                <a:uLnTx/>
                <a:uFillTx/>
                <a:latin typeface="Arial"/>
                <a:ea typeface="Arial"/>
                <a:cs typeface="Arial"/>
              </a:rPr>
              <a:t>Predicted time = 2 + 3 × distance</a:t>
            </a:r>
          </a:p>
        </p:txBody>
      </p:sp>
      <p:sp>
        <p:nvSpPr>
          <p:cNvPr id="6" name="Rectangle 5">
            <a:extLst>
              <a:ext uri="{FF2B5EF4-FFF2-40B4-BE49-F238E27FC236}">
                <a16:creationId xmlns:a16="http://schemas.microsoft.com/office/drawing/2014/main" id="{C8BE1D88-B4A0-465D-B62A-D3FD703791DD}"/>
              </a:ext>
            </a:extLst>
          </p:cNvPr>
          <p:cNvSpPr>
            <a:spLocks noGrp="1"/>
          </p:cNvSpPr>
          <p:nvPr/>
        </p:nvSpPr>
        <p:spPr>
          <a:xfrm>
            <a:off x="876300" y="3305175"/>
            <a:ext cx="4857750" cy="5524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7044A4"/>
                </a:solidFill>
                <a:latin typeface="Arial"/>
                <a:ea typeface="Arial"/>
                <a:cs typeface="Arial"/>
              </a:defRPr>
            </a:pPr>
            <a:r>
              <a:rPr kumimoji="0" sz="2250" b="1" i="0" u="none" strike="noStrike" kern="1200" cap="none" spc="0" normalizeH="0" baseline="0" noProof="0">
                <a:ln>
                  <a:noFill/>
                </a:ln>
                <a:solidFill>
                  <a:srgbClr val="7044A4"/>
                </a:solidFill>
                <a:effectLst/>
                <a:uLnTx/>
                <a:uFillTx/>
                <a:latin typeface="Arial"/>
                <a:ea typeface="Arial"/>
                <a:cs typeface="Arial"/>
              </a:rPr>
              <a:t>Start with 2 minutes.</a:t>
            </a:r>
          </a:p>
        </p:txBody>
      </p:sp>
      <p:sp>
        <p:nvSpPr>
          <p:cNvPr id="7" name="Rectangle 6">
            <a:extLst>
              <a:ext uri="{FF2B5EF4-FFF2-40B4-BE49-F238E27FC236}">
                <a16:creationId xmlns:a16="http://schemas.microsoft.com/office/drawing/2014/main" id="{0F60F888-9463-4B05-BA81-64EB3DC118D9}"/>
              </a:ext>
            </a:extLst>
          </p:cNvPr>
          <p:cNvSpPr>
            <a:spLocks noGrp="1"/>
          </p:cNvSpPr>
          <p:nvPr/>
        </p:nvSpPr>
        <p:spPr>
          <a:xfrm>
            <a:off x="6076950" y="3305175"/>
            <a:ext cx="5238750" cy="6477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75" b="1">
                <a:solidFill>
                  <a:srgbClr val="298550"/>
                </a:solidFill>
                <a:latin typeface="Arial"/>
                <a:ea typeface="Arial"/>
                <a:cs typeface="Arial"/>
              </a:defRPr>
            </a:pPr>
            <a:r>
              <a:rPr kumimoji="0" sz="2175" b="1" i="0" u="none" strike="noStrike" kern="1200" cap="none" spc="0" normalizeH="0" baseline="0" noProof="0">
                <a:ln>
                  <a:noFill/>
                </a:ln>
                <a:solidFill>
                  <a:srgbClr val="298550"/>
                </a:solidFill>
                <a:effectLst/>
                <a:uLnTx/>
                <a:uFillTx/>
                <a:latin typeface="Arial"/>
                <a:ea typeface="Arial"/>
                <a:cs typeface="Arial"/>
              </a:rPr>
              <a:t>Add 3 minutes for each kilometre.</a:t>
            </a:r>
          </a:p>
        </p:txBody>
      </p:sp>
      <p:sp>
        <p:nvSpPr>
          <p:cNvPr id="8" name="Rectangle 7">
            <a:extLst>
              <a:ext uri="{FF2B5EF4-FFF2-40B4-BE49-F238E27FC236}">
                <a16:creationId xmlns:a16="http://schemas.microsoft.com/office/drawing/2014/main" id="{F12D3995-4173-454E-8AED-872BF820CE5A}"/>
              </a:ext>
            </a:extLst>
          </p:cNvPr>
          <p:cNvSpPr>
            <a:spLocks noGrp="1"/>
          </p:cNvSpPr>
          <p:nvPr/>
        </p:nvSpPr>
        <p:spPr>
          <a:xfrm>
            <a:off x="923925" y="4895850"/>
            <a:ext cx="10382250" cy="6381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75" b="0">
                <a:solidFill>
                  <a:srgbClr val="151515"/>
                </a:solidFill>
                <a:latin typeface="Arial"/>
                <a:ea typeface="Arial"/>
                <a:cs typeface="Arial"/>
              </a:defRPr>
            </a:pPr>
            <a:r>
              <a:rPr kumimoji="0" sz="1875" b="0" i="0" u="none" strike="noStrike" kern="1200" cap="none" spc="0" normalizeH="0" baseline="0" noProof="0" dirty="0">
                <a:ln>
                  <a:noFill/>
                </a:ln>
                <a:solidFill>
                  <a:srgbClr val="151515"/>
                </a:solidFill>
                <a:effectLst/>
                <a:uLnTx/>
                <a:uFillTx/>
                <a:latin typeface="Arial"/>
                <a:ea typeface="Arial"/>
                <a:cs typeface="Arial"/>
              </a:rPr>
              <a:t>A straight-line rule like this is called linear regression.</a:t>
            </a:r>
          </a:p>
        </p:txBody>
      </p:sp>
      <p:sp>
        <p:nvSpPr>
          <p:cNvPr id="11" name="TextBox 10">
            <a:extLst>
              <a:ext uri="{FF2B5EF4-FFF2-40B4-BE49-F238E27FC236}">
                <a16:creationId xmlns:a16="http://schemas.microsoft.com/office/drawing/2014/main" id="{8629F7BE-E21A-EA63-6CE2-41D7349ABB9F}"/>
              </a:ext>
            </a:extLst>
          </p:cNvPr>
          <p:cNvSpPr txBox="1"/>
          <p:nvPr/>
        </p:nvSpPr>
        <p:spPr>
          <a:xfrm>
            <a:off x="1047750" y="242230"/>
            <a:ext cx="6093822" cy="481670"/>
          </a:xfrm>
          <a:prstGeom prst="rect">
            <a:avLst/>
          </a:prstGeom>
          <a:noFill/>
        </p:spPr>
        <p:txBody>
          <a:bodyPr wrap="square">
            <a:spAutoFit/>
          </a:bodyPr>
          <a:lstStyle/>
          <a:p>
            <a:r>
              <a:rPr lang="en-NO" sz="2530"/>
              <a:t>Y = a+bX</a:t>
            </a:r>
            <a:endParaRPr lang="en-US" dirty="0"/>
          </a:p>
        </p:txBody>
      </p:sp>
    </p:spTree>
    <p:extLst>
      <p:ext uri="{BB962C8B-B14F-4D97-AF65-F5344CB8AC3E}">
        <p14:creationId xmlns:p14="http://schemas.microsoft.com/office/powerpoint/2010/main" val="12220470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F1ED4C1-EF7A-41BE-805C-30060D5C5C53}"/>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F6576F0C-8912-4667-8E0F-AAC25896D66C}"/>
              </a:ext>
            </a:extLst>
          </p:cNvPr>
          <p:cNvSpPr>
            <a:spLocks noGrp="1"/>
          </p:cNvSpPr>
          <p:nvPr/>
        </p:nvSpPr>
        <p:spPr>
          <a:xfrm>
            <a:off x="533400" y="171450"/>
            <a:ext cx="11049000" cy="5238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sz="2400" b="1" i="0" u="none" strike="noStrike" kern="1200" cap="none" spc="0" normalizeH="0" baseline="0" noProof="0">
                <a:ln>
                  <a:noFill/>
                </a:ln>
                <a:solidFill>
                  <a:srgbClr val="151515"/>
                </a:solidFill>
                <a:effectLst/>
                <a:uLnTx/>
                <a:uFillTx/>
                <a:latin typeface="Arial"/>
                <a:ea typeface="Arial"/>
                <a:cs typeface="Arial"/>
              </a:rPr>
              <a:t>The pattern as a line</a:t>
            </a:r>
          </a:p>
        </p:txBody>
      </p:sp>
      <p:sp>
        <p:nvSpPr>
          <p:cNvPr id="3" name="Rectangle 2">
            <a:extLst>
              <a:ext uri="{FF2B5EF4-FFF2-40B4-BE49-F238E27FC236}">
                <a16:creationId xmlns:a16="http://schemas.microsoft.com/office/drawing/2014/main" id="{FA4DDB54-F9E5-4F8B-BD4D-B4B89B9A3270}"/>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7266FEE5-0795-4F69-AE1C-820FB93AFEBF}"/>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07</a:t>
            </a:r>
          </a:p>
        </p:txBody>
      </p:sp>
      <p:graphicFrame>
        <p:nvGraphicFramePr>
          <p:cNvPr id="11" name="Chart"/>
          <p:cNvGraphicFramePr/>
          <p:nvPr/>
        </p:nvGraphicFramePr>
        <p:xfrm>
          <a:off x="1857375" y="1285875"/>
          <a:ext cx="857250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9E56CE5C-E312-4F4C-919C-CEC673927BCA}"/>
              </a:ext>
            </a:extLst>
          </p:cNvPr>
          <p:cNvSpPr>
            <a:spLocks noGrp="1"/>
          </p:cNvSpPr>
          <p:nvPr/>
        </p:nvSpPr>
        <p:spPr>
          <a:xfrm>
            <a:off x="1352550" y="5667375"/>
            <a:ext cx="942975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555555"/>
                </a:solidFill>
                <a:latin typeface="Arial"/>
                <a:ea typeface="Arial"/>
                <a:cs typeface="Arial"/>
              </a:defRPr>
            </a:pPr>
            <a:r>
              <a:rPr kumimoji="0" sz="1500" b="0" i="0" u="none" strike="noStrike" kern="1200" cap="none" spc="0" normalizeH="0" baseline="0" noProof="0">
                <a:ln>
                  <a:noFill/>
                </a:ln>
                <a:solidFill>
                  <a:srgbClr val="555555"/>
                </a:solidFill>
                <a:effectLst/>
                <a:uLnTx/>
                <a:uFillTx/>
                <a:latin typeface="Arial"/>
                <a:ea typeface="Arial"/>
                <a:cs typeface="Arial"/>
              </a:rPr>
              <a:t>The points follow a simple straight-line pattern.</a:t>
            </a:r>
          </a:p>
        </p:txBody>
      </p:sp>
    </p:spTree>
    <p:extLst>
      <p:ext uri="{BB962C8B-B14F-4D97-AF65-F5344CB8AC3E}">
        <p14:creationId xmlns:p14="http://schemas.microsoft.com/office/powerpoint/2010/main" val="212947673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1754AAE5-0207-48F7-9BC0-D255FC66C118}"/>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39CFF09A-800A-4CF5-BD8A-99FF44F04F61}"/>
              </a:ext>
            </a:extLst>
          </p:cNvPr>
          <p:cNvSpPr>
            <a:spLocks noGrp="1"/>
          </p:cNvSpPr>
          <p:nvPr/>
        </p:nvSpPr>
        <p:spPr>
          <a:xfrm>
            <a:off x="533400" y="171450"/>
            <a:ext cx="11049000" cy="5238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lang="nb-NO" sz="2400" b="1" i="0" u="none" strike="noStrike" kern="1200" cap="none" spc="0" normalizeH="0" baseline="0" noProof="0" dirty="0" err="1">
                <a:ln>
                  <a:noFill/>
                </a:ln>
                <a:solidFill>
                  <a:srgbClr val="151515"/>
                </a:solidFill>
                <a:effectLst/>
                <a:uLnTx/>
                <a:uFillTx/>
                <a:latin typeface="Arial"/>
                <a:ea typeface="Arial"/>
                <a:cs typeface="Arial"/>
              </a:rPr>
              <a:t>Example</a:t>
            </a:r>
            <a:r>
              <a:rPr kumimoji="0" sz="2400" b="1" i="0" u="none" strike="noStrike" kern="1200" cap="none" spc="0" normalizeH="0" baseline="0" noProof="0" dirty="0">
                <a:ln>
                  <a:noFill/>
                </a:ln>
                <a:solidFill>
                  <a:srgbClr val="151515"/>
                </a:solidFill>
                <a:effectLst/>
                <a:uLnTx/>
                <a:uFillTx/>
                <a:latin typeface="Arial"/>
                <a:ea typeface="Arial"/>
                <a:cs typeface="Arial"/>
              </a:rPr>
              <a:t>: predict a trip</a:t>
            </a:r>
          </a:p>
        </p:txBody>
      </p:sp>
      <p:sp>
        <p:nvSpPr>
          <p:cNvPr id="3" name="Rectangle 2">
            <a:extLst>
              <a:ext uri="{FF2B5EF4-FFF2-40B4-BE49-F238E27FC236}">
                <a16:creationId xmlns:a16="http://schemas.microsoft.com/office/drawing/2014/main" id="{A800E264-6664-4599-B1A7-893E42FE9B12}"/>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1AEA4215-6084-454B-BC74-0B28BA3DD0CF}"/>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09</a:t>
            </a:r>
          </a:p>
        </p:txBody>
      </p:sp>
      <p:sp>
        <p:nvSpPr>
          <p:cNvPr id="5" name="Rectangle 4">
            <a:extLst>
              <a:ext uri="{FF2B5EF4-FFF2-40B4-BE49-F238E27FC236}">
                <a16:creationId xmlns:a16="http://schemas.microsoft.com/office/drawing/2014/main" id="{1A0748A8-1D90-44E6-97AB-F1641961817F}"/>
              </a:ext>
            </a:extLst>
          </p:cNvPr>
          <p:cNvSpPr>
            <a:spLocks noGrp="1"/>
          </p:cNvSpPr>
          <p:nvPr/>
        </p:nvSpPr>
        <p:spPr>
          <a:xfrm>
            <a:off x="876300" y="1638300"/>
            <a:ext cx="10287000" cy="6381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625" b="1">
                <a:solidFill>
                  <a:srgbClr val="151515"/>
                </a:solidFill>
                <a:latin typeface="Arial"/>
                <a:ea typeface="Arial"/>
                <a:cs typeface="Arial"/>
              </a:defRPr>
            </a:pPr>
            <a:r>
              <a:rPr kumimoji="0" sz="2625" b="1" i="0" u="none" strike="noStrike" kern="1200" cap="none" spc="0" normalizeH="0" baseline="0" noProof="0">
                <a:ln>
                  <a:noFill/>
                </a:ln>
                <a:solidFill>
                  <a:srgbClr val="151515"/>
                </a:solidFill>
                <a:effectLst/>
                <a:uLnTx/>
                <a:uFillTx/>
                <a:latin typeface="Arial"/>
                <a:ea typeface="Arial"/>
                <a:cs typeface="Arial"/>
              </a:rPr>
              <a:t>Distance: 5 km</a:t>
            </a:r>
          </a:p>
        </p:txBody>
      </p:sp>
      <p:sp>
        <p:nvSpPr>
          <p:cNvPr id="6" name="Rectangle 5">
            <a:extLst>
              <a:ext uri="{FF2B5EF4-FFF2-40B4-BE49-F238E27FC236}">
                <a16:creationId xmlns:a16="http://schemas.microsoft.com/office/drawing/2014/main" id="{07002E59-8F3A-4428-9900-A2334F232F76}"/>
              </a:ext>
            </a:extLst>
          </p:cNvPr>
          <p:cNvSpPr>
            <a:spLocks noGrp="1"/>
          </p:cNvSpPr>
          <p:nvPr/>
        </p:nvSpPr>
        <p:spPr>
          <a:xfrm>
            <a:off x="876300" y="2724150"/>
            <a:ext cx="10382250" cy="6858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0">
                <a:solidFill>
                  <a:srgbClr val="151515"/>
                </a:solidFill>
                <a:latin typeface="Arial"/>
                <a:ea typeface="Arial"/>
                <a:cs typeface="Arial"/>
              </a:defRPr>
            </a:pPr>
            <a:r>
              <a:rPr kumimoji="0" sz="2250" b="0" i="0" u="none" strike="noStrike" kern="1200" cap="none" spc="0" normalizeH="0" baseline="0" noProof="0">
                <a:ln>
                  <a:noFill/>
                </a:ln>
                <a:solidFill>
                  <a:srgbClr val="151515"/>
                </a:solidFill>
                <a:effectLst/>
                <a:uLnTx/>
                <a:uFillTx/>
                <a:latin typeface="Arial"/>
                <a:ea typeface="Arial"/>
                <a:cs typeface="Arial"/>
              </a:rPr>
              <a:t>Start at 2 minutes. Add 3 minutes five times.</a:t>
            </a:r>
          </a:p>
        </p:txBody>
      </p:sp>
      <p:sp>
        <p:nvSpPr>
          <p:cNvPr id="7" name="Rectangle 6">
            <a:extLst>
              <a:ext uri="{FF2B5EF4-FFF2-40B4-BE49-F238E27FC236}">
                <a16:creationId xmlns:a16="http://schemas.microsoft.com/office/drawing/2014/main" id="{C9E00D37-E5C5-457C-B4E5-A3B6D88BFA8A}"/>
              </a:ext>
            </a:extLst>
          </p:cNvPr>
          <p:cNvSpPr>
            <a:spLocks noGrp="1"/>
          </p:cNvSpPr>
          <p:nvPr/>
        </p:nvSpPr>
        <p:spPr>
          <a:xfrm>
            <a:off x="876300" y="3886200"/>
            <a:ext cx="10334625" cy="8667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225" b="1">
                <a:solidFill>
                  <a:srgbClr val="246DA8"/>
                </a:solidFill>
                <a:latin typeface="Arial"/>
                <a:ea typeface="Arial"/>
                <a:cs typeface="Arial"/>
              </a:defRPr>
            </a:pPr>
            <a:r>
              <a:rPr kumimoji="0" sz="3225" b="1" i="0" u="none" strike="noStrike" kern="1200" cap="none" spc="0" normalizeH="0" baseline="0" noProof="0">
                <a:ln>
                  <a:noFill/>
                </a:ln>
                <a:solidFill>
                  <a:srgbClr val="246DA8"/>
                </a:solidFill>
                <a:effectLst/>
                <a:uLnTx/>
                <a:uFillTx/>
                <a:latin typeface="Arial"/>
                <a:ea typeface="Arial"/>
                <a:cs typeface="Arial"/>
              </a:rPr>
              <a:t>2 + 3 × 5 = 17 minutes</a:t>
            </a:r>
          </a:p>
        </p:txBody>
      </p:sp>
      <p:sp>
        <p:nvSpPr>
          <p:cNvPr id="8" name="Rectangle 7">
            <a:extLst>
              <a:ext uri="{FF2B5EF4-FFF2-40B4-BE49-F238E27FC236}">
                <a16:creationId xmlns:a16="http://schemas.microsoft.com/office/drawing/2014/main" id="{437AECAF-547A-4FE2-A99D-BDAC7F99E0CA}"/>
              </a:ext>
            </a:extLst>
          </p:cNvPr>
          <p:cNvSpPr>
            <a:spLocks noGrp="1"/>
          </p:cNvSpPr>
          <p:nvPr/>
        </p:nvSpPr>
        <p:spPr>
          <a:xfrm>
            <a:off x="876300" y="5219700"/>
            <a:ext cx="10334625" cy="4953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555555"/>
                </a:solidFill>
                <a:latin typeface="Arial"/>
                <a:ea typeface="Arial"/>
                <a:cs typeface="Arial"/>
              </a:defRPr>
            </a:pPr>
            <a:r>
              <a:rPr kumimoji="0" sz="1800" b="0" i="0" u="none" strike="noStrike" kern="1200" cap="none" spc="0" normalizeH="0" baseline="0" noProof="0">
                <a:ln>
                  <a:noFill/>
                </a:ln>
                <a:solidFill>
                  <a:srgbClr val="555555"/>
                </a:solidFill>
                <a:effectLst/>
                <a:uLnTx/>
                <a:uFillTx/>
                <a:latin typeface="Arial"/>
                <a:ea typeface="Arial"/>
                <a:cs typeface="Arial"/>
              </a:rPr>
              <a:t>Actual journeys can take longer or shorter.</a:t>
            </a:r>
          </a:p>
        </p:txBody>
      </p:sp>
    </p:spTree>
    <p:extLst>
      <p:ext uri="{BB962C8B-B14F-4D97-AF65-F5344CB8AC3E}">
        <p14:creationId xmlns:p14="http://schemas.microsoft.com/office/powerpoint/2010/main" val="11796269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B3A34EE-06DA-48F8-93A9-33F70C8CA8B1}"/>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1AB4A089-A734-497A-B995-2425F199CF20}"/>
              </a:ext>
            </a:extLst>
          </p:cNvPr>
          <p:cNvSpPr>
            <a:spLocks noGrp="1"/>
          </p:cNvSpPr>
          <p:nvPr/>
        </p:nvSpPr>
        <p:spPr>
          <a:xfrm>
            <a:off x="533400" y="171450"/>
            <a:ext cx="11049000" cy="5238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sz="2400" b="1" i="0" u="none" strike="noStrike" kern="1200" cap="none" spc="0" normalizeH="0" baseline="0" noProof="0">
                <a:ln>
                  <a:noFill/>
                </a:ln>
                <a:solidFill>
                  <a:srgbClr val="151515"/>
                </a:solidFill>
                <a:effectLst/>
                <a:uLnTx/>
                <a:uFillTx/>
                <a:latin typeface="Arial"/>
                <a:ea typeface="Arial"/>
                <a:cs typeface="Arial"/>
              </a:rPr>
              <a:t>When the prediction is off</a:t>
            </a:r>
          </a:p>
        </p:txBody>
      </p:sp>
      <p:sp>
        <p:nvSpPr>
          <p:cNvPr id="3" name="Rectangle 2">
            <a:extLst>
              <a:ext uri="{FF2B5EF4-FFF2-40B4-BE49-F238E27FC236}">
                <a16:creationId xmlns:a16="http://schemas.microsoft.com/office/drawing/2014/main" id="{288791BF-B948-40BD-A76A-5F3E3A6B3877}"/>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1926FCAB-8DC8-4444-B6BB-D5286C74D0D6}"/>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10</a:t>
            </a:r>
          </a:p>
        </p:txBody>
      </p:sp>
      <p:sp>
        <p:nvSpPr>
          <p:cNvPr id="5" name="Rectangle 4">
            <a:extLst>
              <a:ext uri="{FF2B5EF4-FFF2-40B4-BE49-F238E27FC236}">
                <a16:creationId xmlns:a16="http://schemas.microsoft.com/office/drawing/2014/main" id="{DE0AA4BA-3AB2-47E3-B59A-519B275D1A99}"/>
              </a:ext>
            </a:extLst>
          </p:cNvPr>
          <p:cNvSpPr>
            <a:spLocks noGrp="1"/>
          </p:cNvSpPr>
          <p:nvPr/>
        </p:nvSpPr>
        <p:spPr>
          <a:xfrm>
            <a:off x="809625" y="1600200"/>
            <a:ext cx="1047750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sz="2400" b="1" i="0" u="none" strike="noStrike" kern="1200" cap="none" spc="0" normalizeH="0" baseline="0" noProof="0">
                <a:ln>
                  <a:noFill/>
                </a:ln>
                <a:solidFill>
                  <a:srgbClr val="151515"/>
                </a:solidFill>
                <a:effectLst/>
                <a:uLnTx/>
                <a:uFillTx/>
                <a:latin typeface="Arial"/>
                <a:ea typeface="Arial"/>
                <a:cs typeface="Arial"/>
              </a:rPr>
              <a:t>The rule predicts 14 minutes for a 4 km trip.</a:t>
            </a:r>
          </a:p>
        </p:txBody>
      </p:sp>
      <p:sp>
        <p:nvSpPr>
          <p:cNvPr id="6" name="Rectangle 5">
            <a:extLst>
              <a:ext uri="{FF2B5EF4-FFF2-40B4-BE49-F238E27FC236}">
                <a16:creationId xmlns:a16="http://schemas.microsoft.com/office/drawing/2014/main" id="{A971EE49-D3AA-417F-A2E6-DD14D1E525FE}"/>
              </a:ext>
            </a:extLst>
          </p:cNvPr>
          <p:cNvSpPr>
            <a:spLocks noGrp="1"/>
          </p:cNvSpPr>
          <p:nvPr/>
        </p:nvSpPr>
        <p:spPr>
          <a:xfrm>
            <a:off x="809625" y="2571750"/>
            <a:ext cx="1047750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0">
                <a:solidFill>
                  <a:srgbClr val="151515"/>
                </a:solidFill>
                <a:latin typeface="Arial"/>
                <a:ea typeface="Arial"/>
                <a:cs typeface="Arial"/>
              </a:defRPr>
            </a:pPr>
            <a:r>
              <a:rPr kumimoji="0" sz="2400" b="0" i="0" u="none" strike="noStrike" kern="1200" cap="none" spc="0" normalizeH="0" baseline="0" noProof="0">
                <a:ln>
                  <a:noFill/>
                </a:ln>
                <a:solidFill>
                  <a:srgbClr val="151515"/>
                </a:solidFill>
                <a:effectLst/>
                <a:uLnTx/>
                <a:uFillTx/>
                <a:latin typeface="Arial"/>
                <a:ea typeface="Arial"/>
                <a:cs typeface="Arial"/>
              </a:rPr>
              <a:t>Another 4 km trip actually takes 15 minutes.</a:t>
            </a:r>
          </a:p>
        </p:txBody>
      </p:sp>
      <p:sp>
        <p:nvSpPr>
          <p:cNvPr id="7" name="Rectangle 6">
            <a:extLst>
              <a:ext uri="{FF2B5EF4-FFF2-40B4-BE49-F238E27FC236}">
                <a16:creationId xmlns:a16="http://schemas.microsoft.com/office/drawing/2014/main" id="{681460D8-A716-4EBC-B877-8B6E184D7239}"/>
              </a:ext>
            </a:extLst>
          </p:cNvPr>
          <p:cNvSpPr>
            <a:spLocks noGrp="1"/>
          </p:cNvSpPr>
          <p:nvPr/>
        </p:nvSpPr>
        <p:spPr>
          <a:xfrm>
            <a:off x="809625" y="3790950"/>
            <a:ext cx="10477500" cy="7334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625" b="1">
                <a:solidFill>
                  <a:srgbClr val="246DA8"/>
                </a:solidFill>
                <a:latin typeface="Arial"/>
                <a:ea typeface="Arial"/>
                <a:cs typeface="Arial"/>
              </a:defRPr>
            </a:pPr>
            <a:r>
              <a:rPr kumimoji="0" sz="2625" b="1" i="0" u="none" strike="noStrike" kern="1200" cap="none" spc="0" normalizeH="0" baseline="0" noProof="0">
                <a:ln>
                  <a:noFill/>
                </a:ln>
                <a:solidFill>
                  <a:srgbClr val="246DA8"/>
                </a:solidFill>
                <a:effectLst/>
                <a:uLnTx/>
                <a:uFillTx/>
                <a:latin typeface="Arial"/>
                <a:ea typeface="Arial"/>
                <a:cs typeface="Arial"/>
              </a:rPr>
              <a:t>Prediction error: 15 − 14 = 1 minute</a:t>
            </a:r>
          </a:p>
        </p:txBody>
      </p:sp>
      <p:sp>
        <p:nvSpPr>
          <p:cNvPr id="8" name="Rectangle 7">
            <a:extLst>
              <a:ext uri="{FF2B5EF4-FFF2-40B4-BE49-F238E27FC236}">
                <a16:creationId xmlns:a16="http://schemas.microsoft.com/office/drawing/2014/main" id="{14515323-6B92-4CD6-95F4-62A9D8EB599A}"/>
              </a:ext>
            </a:extLst>
          </p:cNvPr>
          <p:cNvSpPr>
            <a:spLocks noGrp="1"/>
          </p:cNvSpPr>
          <p:nvPr/>
        </p:nvSpPr>
        <p:spPr>
          <a:xfrm>
            <a:off x="809625" y="5191125"/>
            <a:ext cx="10572750" cy="5143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555555"/>
                </a:solidFill>
                <a:latin typeface="Arial"/>
                <a:ea typeface="Arial"/>
                <a:cs typeface="Arial"/>
              </a:defRPr>
            </a:pPr>
            <a:r>
              <a:rPr kumimoji="0" sz="1725" b="0" i="0" u="none" strike="noStrike" kern="1200" cap="none" spc="0" normalizeH="0" baseline="0" noProof="0">
                <a:ln>
                  <a:noFill/>
                </a:ln>
                <a:solidFill>
                  <a:srgbClr val="555555"/>
                </a:solidFill>
                <a:effectLst/>
                <a:uLnTx/>
                <a:uFillTx/>
                <a:latin typeface="Arial"/>
                <a:ea typeface="Arial"/>
                <a:cs typeface="Arial"/>
              </a:rPr>
              <a:t>Regression learns a pattern, but predictions need not be exact.</a:t>
            </a:r>
          </a:p>
        </p:txBody>
      </p:sp>
    </p:spTree>
    <p:extLst>
      <p:ext uri="{BB962C8B-B14F-4D97-AF65-F5344CB8AC3E}">
        <p14:creationId xmlns:p14="http://schemas.microsoft.com/office/powerpoint/2010/main" val="87983576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B988E7B-D114-4E5A-8566-2731AF86F314}"/>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A624CBFD-BEDB-4373-9F6E-9A4674B19FBC}"/>
              </a:ext>
            </a:extLst>
          </p:cNvPr>
          <p:cNvSpPr>
            <a:spLocks noGrp="1"/>
          </p:cNvSpPr>
          <p:nvPr/>
        </p:nvSpPr>
        <p:spPr>
          <a:xfrm>
            <a:off x="533400" y="171450"/>
            <a:ext cx="11049000" cy="5238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sz="2400" b="1" i="0" u="none" strike="noStrike" kern="1200" cap="none" spc="0" normalizeH="0" baseline="0" noProof="0">
                <a:ln>
                  <a:noFill/>
                </a:ln>
                <a:solidFill>
                  <a:srgbClr val="151515"/>
                </a:solidFill>
                <a:effectLst/>
                <a:uLnTx/>
                <a:uFillTx/>
                <a:latin typeface="Arial"/>
                <a:ea typeface="Arial"/>
                <a:cs typeface="Arial"/>
              </a:rPr>
              <a:t>Another example: gym spending</a:t>
            </a:r>
          </a:p>
        </p:txBody>
      </p:sp>
      <p:sp>
        <p:nvSpPr>
          <p:cNvPr id="3" name="Rectangle 2">
            <a:extLst>
              <a:ext uri="{FF2B5EF4-FFF2-40B4-BE49-F238E27FC236}">
                <a16:creationId xmlns:a16="http://schemas.microsoft.com/office/drawing/2014/main" id="{EFE0B081-2125-4767-81C5-01391B31E9C1}"/>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3853FFC4-692F-4A3B-9429-D996684EFFC7}"/>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11</a:t>
            </a:r>
          </a:p>
        </p:txBody>
      </p:sp>
      <p:sp>
        <p:nvSpPr>
          <p:cNvPr id="5" name="Rectangle 4">
            <a:extLst>
              <a:ext uri="{FF2B5EF4-FFF2-40B4-BE49-F238E27FC236}">
                <a16:creationId xmlns:a16="http://schemas.microsoft.com/office/drawing/2014/main" id="{A5E3C679-954D-4B92-B095-C47D6CEC378D}"/>
              </a:ext>
            </a:extLst>
          </p:cNvPr>
          <p:cNvSpPr>
            <a:spLocks noGrp="1"/>
          </p:cNvSpPr>
          <p:nvPr/>
        </p:nvSpPr>
        <p:spPr>
          <a:xfrm>
            <a:off x="781050" y="1438275"/>
            <a:ext cx="10668000" cy="8477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625" b="1">
                <a:solidFill>
                  <a:srgbClr val="246DA8"/>
                </a:solidFill>
                <a:latin typeface="Arial"/>
                <a:ea typeface="Arial"/>
                <a:cs typeface="Arial"/>
              </a:defRPr>
            </a:pPr>
            <a:r>
              <a:rPr kumimoji="0" sz="2625" b="1" i="0" u="none" strike="noStrike" kern="1200" cap="none" spc="0" normalizeH="0" baseline="0" noProof="0">
                <a:ln>
                  <a:noFill/>
                </a:ln>
                <a:solidFill>
                  <a:srgbClr val="246DA8"/>
                </a:solidFill>
                <a:effectLst/>
                <a:uLnTx/>
                <a:uFillTx/>
                <a:latin typeface="Arial"/>
                <a:ea typeface="Arial"/>
                <a:cs typeface="Arial"/>
              </a:rPr>
              <a:t>Monthly cost = 200 NOK + 50 NOK × classes</a:t>
            </a:r>
          </a:p>
        </p:txBody>
      </p:sp>
      <p:sp>
        <p:nvSpPr>
          <p:cNvPr id="6" name="Rectangle 5">
            <a:extLst>
              <a:ext uri="{FF2B5EF4-FFF2-40B4-BE49-F238E27FC236}">
                <a16:creationId xmlns:a16="http://schemas.microsoft.com/office/drawing/2014/main" id="{A961E34F-C1D4-4CDF-8D24-0C2EFEDF116F}"/>
              </a:ext>
            </a:extLst>
          </p:cNvPr>
          <p:cNvSpPr>
            <a:spLocks noGrp="1"/>
          </p:cNvSpPr>
          <p:nvPr/>
        </p:nvSpPr>
        <p:spPr>
          <a:xfrm>
            <a:off x="1466850" y="2781300"/>
            <a:ext cx="3067050" cy="5334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151515"/>
                </a:solidFill>
                <a:latin typeface="Arial"/>
                <a:ea typeface="Arial"/>
                <a:cs typeface="Arial"/>
              </a:defRPr>
            </a:pPr>
            <a:r>
              <a:rPr kumimoji="0" sz="2250" b="1" i="0" u="none" strike="noStrike" kern="1200" cap="none" spc="0" normalizeH="0" baseline="0" noProof="0">
                <a:ln>
                  <a:noFill/>
                </a:ln>
                <a:solidFill>
                  <a:srgbClr val="151515"/>
                </a:solidFill>
                <a:effectLst/>
                <a:uLnTx/>
                <a:uFillTx/>
                <a:latin typeface="Arial"/>
                <a:ea typeface="Arial"/>
                <a:cs typeface="Arial"/>
              </a:rPr>
              <a:t>2 classes</a:t>
            </a:r>
          </a:p>
        </p:txBody>
      </p:sp>
      <p:sp>
        <p:nvSpPr>
          <p:cNvPr id="7" name="Rectangle 6">
            <a:extLst>
              <a:ext uri="{FF2B5EF4-FFF2-40B4-BE49-F238E27FC236}">
                <a16:creationId xmlns:a16="http://schemas.microsoft.com/office/drawing/2014/main" id="{F839A933-E0B2-4474-80FB-93D67A2C9E9D}"/>
              </a:ext>
            </a:extLst>
          </p:cNvPr>
          <p:cNvSpPr>
            <a:spLocks noGrp="1"/>
          </p:cNvSpPr>
          <p:nvPr/>
        </p:nvSpPr>
        <p:spPr>
          <a:xfrm>
            <a:off x="5334000" y="2781300"/>
            <a:ext cx="5048250" cy="5334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0">
                <a:solidFill>
                  <a:srgbClr val="151515"/>
                </a:solidFill>
                <a:latin typeface="Arial"/>
                <a:ea typeface="Arial"/>
                <a:cs typeface="Arial"/>
              </a:defRPr>
            </a:pPr>
            <a:r>
              <a:rPr kumimoji="0" sz="2250" b="0" i="0" u="none" strike="noStrike" kern="1200" cap="none" spc="0" normalizeH="0" baseline="0" noProof="0">
                <a:ln>
                  <a:noFill/>
                </a:ln>
                <a:solidFill>
                  <a:srgbClr val="151515"/>
                </a:solidFill>
                <a:effectLst/>
                <a:uLnTx/>
                <a:uFillTx/>
                <a:latin typeface="Arial"/>
                <a:ea typeface="Arial"/>
                <a:cs typeface="Arial"/>
              </a:rPr>
              <a:t>300 NOK</a:t>
            </a:r>
          </a:p>
        </p:txBody>
      </p:sp>
      <p:sp>
        <p:nvSpPr>
          <p:cNvPr id="8" name="Rectangle 7">
            <a:extLst>
              <a:ext uri="{FF2B5EF4-FFF2-40B4-BE49-F238E27FC236}">
                <a16:creationId xmlns:a16="http://schemas.microsoft.com/office/drawing/2014/main" id="{4DE6165F-4D65-4A82-9FCA-82FB216C5766}"/>
              </a:ext>
            </a:extLst>
          </p:cNvPr>
          <p:cNvSpPr>
            <a:spLocks noGrp="1"/>
          </p:cNvSpPr>
          <p:nvPr/>
        </p:nvSpPr>
        <p:spPr>
          <a:xfrm>
            <a:off x="1466850" y="3619500"/>
            <a:ext cx="3067050" cy="5334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1">
                <a:solidFill>
                  <a:srgbClr val="151515"/>
                </a:solidFill>
                <a:latin typeface="Arial"/>
                <a:ea typeface="Arial"/>
                <a:cs typeface="Arial"/>
              </a:defRPr>
            </a:pPr>
            <a:r>
              <a:rPr kumimoji="0" sz="2250" b="1" i="0" u="none" strike="noStrike" kern="1200" cap="none" spc="0" normalizeH="0" baseline="0" noProof="0">
                <a:ln>
                  <a:noFill/>
                </a:ln>
                <a:solidFill>
                  <a:srgbClr val="151515"/>
                </a:solidFill>
                <a:effectLst/>
                <a:uLnTx/>
                <a:uFillTx/>
                <a:latin typeface="Arial"/>
                <a:ea typeface="Arial"/>
                <a:cs typeface="Arial"/>
              </a:rPr>
              <a:t>4 classes</a:t>
            </a:r>
          </a:p>
        </p:txBody>
      </p:sp>
      <p:sp>
        <p:nvSpPr>
          <p:cNvPr id="9" name="Rectangle 8">
            <a:extLst>
              <a:ext uri="{FF2B5EF4-FFF2-40B4-BE49-F238E27FC236}">
                <a16:creationId xmlns:a16="http://schemas.microsoft.com/office/drawing/2014/main" id="{A40B245E-37EA-468B-976D-67D3927F44E6}"/>
              </a:ext>
            </a:extLst>
          </p:cNvPr>
          <p:cNvSpPr>
            <a:spLocks noGrp="1"/>
          </p:cNvSpPr>
          <p:nvPr/>
        </p:nvSpPr>
        <p:spPr>
          <a:xfrm>
            <a:off x="5334000" y="3619500"/>
            <a:ext cx="5048250" cy="5334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250" b="0">
                <a:solidFill>
                  <a:srgbClr val="151515"/>
                </a:solidFill>
                <a:latin typeface="Arial"/>
                <a:ea typeface="Arial"/>
                <a:cs typeface="Arial"/>
              </a:defRPr>
            </a:pPr>
            <a:r>
              <a:rPr kumimoji="0" sz="2250" b="0" i="0" u="none" strike="noStrike" kern="1200" cap="none" spc="0" normalizeH="0" baseline="0" noProof="0">
                <a:ln>
                  <a:noFill/>
                </a:ln>
                <a:solidFill>
                  <a:srgbClr val="151515"/>
                </a:solidFill>
                <a:effectLst/>
                <a:uLnTx/>
                <a:uFillTx/>
                <a:latin typeface="Arial"/>
                <a:ea typeface="Arial"/>
                <a:cs typeface="Arial"/>
              </a:rPr>
              <a:t>400 NOK</a:t>
            </a:r>
          </a:p>
        </p:txBody>
      </p:sp>
      <p:sp>
        <p:nvSpPr>
          <p:cNvPr id="10" name="Rectangle 9">
            <a:extLst>
              <a:ext uri="{FF2B5EF4-FFF2-40B4-BE49-F238E27FC236}">
                <a16:creationId xmlns:a16="http://schemas.microsoft.com/office/drawing/2014/main" id="{3E77130F-0A1D-4C81-B16B-2DFF5AF14DFE}"/>
              </a:ext>
            </a:extLst>
          </p:cNvPr>
          <p:cNvSpPr>
            <a:spLocks noGrp="1"/>
          </p:cNvSpPr>
          <p:nvPr/>
        </p:nvSpPr>
        <p:spPr>
          <a:xfrm>
            <a:off x="923925" y="5133975"/>
            <a:ext cx="10191750" cy="6572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00" b="1">
                <a:solidFill>
                  <a:srgbClr val="7044A4"/>
                </a:solidFill>
                <a:latin typeface="Arial"/>
                <a:ea typeface="Arial"/>
                <a:cs typeface="Arial"/>
              </a:defRPr>
            </a:pPr>
            <a:r>
              <a:rPr kumimoji="0" sz="2100" b="1" i="0" u="none" strike="noStrike" kern="1200" cap="none" spc="0" normalizeH="0" baseline="0" noProof="0">
                <a:ln>
                  <a:noFill/>
                </a:ln>
                <a:solidFill>
                  <a:srgbClr val="7044A4"/>
                </a:solidFill>
                <a:effectLst/>
                <a:uLnTx/>
                <a:uFillTx/>
                <a:latin typeface="Arial"/>
                <a:ea typeface="Arial"/>
                <a:cs typeface="Arial"/>
              </a:rPr>
              <a:t>Question: What about 3 classes?</a:t>
            </a:r>
          </a:p>
        </p:txBody>
      </p:sp>
    </p:spTree>
    <p:extLst>
      <p:ext uri="{BB962C8B-B14F-4D97-AF65-F5344CB8AC3E}">
        <p14:creationId xmlns:p14="http://schemas.microsoft.com/office/powerpoint/2010/main" val="72396459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CFFE34D0-FD1D-4A4F-9AAF-A990F01F11FB}"/>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D00CDE92-B450-4953-966C-7331E7DC398E}"/>
              </a:ext>
            </a:extLst>
          </p:cNvPr>
          <p:cNvSpPr>
            <a:spLocks noGrp="1"/>
          </p:cNvSpPr>
          <p:nvPr/>
        </p:nvSpPr>
        <p:spPr>
          <a:xfrm>
            <a:off x="533400" y="171450"/>
            <a:ext cx="11049000" cy="5238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sz="2400" b="1" i="0" u="none" strike="noStrike" kern="1200" cap="none" spc="0" normalizeH="0" baseline="0" noProof="0">
                <a:ln>
                  <a:noFill/>
                </a:ln>
                <a:solidFill>
                  <a:srgbClr val="151515"/>
                </a:solidFill>
                <a:effectLst/>
                <a:uLnTx/>
                <a:uFillTx/>
                <a:latin typeface="Arial"/>
                <a:ea typeface="Arial"/>
                <a:cs typeface="Arial"/>
              </a:rPr>
              <a:t>How is the line learned?</a:t>
            </a:r>
          </a:p>
        </p:txBody>
      </p:sp>
      <p:sp>
        <p:nvSpPr>
          <p:cNvPr id="3" name="Rectangle 2">
            <a:extLst>
              <a:ext uri="{FF2B5EF4-FFF2-40B4-BE49-F238E27FC236}">
                <a16:creationId xmlns:a16="http://schemas.microsoft.com/office/drawing/2014/main" id="{4D6AB386-D15F-41B7-A416-74CB690F760E}"/>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2DE63BAD-691C-46B1-8F7C-517B6346DD21}"/>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12</a:t>
            </a:r>
          </a:p>
        </p:txBody>
      </p:sp>
      <p:sp>
        <p:nvSpPr>
          <p:cNvPr id="5" name="Rectangle 4">
            <a:extLst>
              <a:ext uri="{FF2B5EF4-FFF2-40B4-BE49-F238E27FC236}">
                <a16:creationId xmlns:a16="http://schemas.microsoft.com/office/drawing/2014/main" id="{F7DB982A-A8C2-481C-B977-9D4AEB097C41}"/>
              </a:ext>
            </a:extLst>
          </p:cNvPr>
          <p:cNvSpPr>
            <a:spLocks noGrp="1"/>
          </p:cNvSpPr>
          <p:nvPr/>
        </p:nvSpPr>
        <p:spPr>
          <a:xfrm>
            <a:off x="800100" y="1428750"/>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1">
                <a:solidFill>
                  <a:srgbClr val="246DA8"/>
                </a:solidFill>
                <a:latin typeface="Arial"/>
                <a:ea typeface="Arial"/>
                <a:cs typeface="Arial"/>
              </a:defRPr>
            </a:pPr>
            <a:r>
              <a:rPr kumimoji="0" sz="1725" b="1" i="0" u="none" strike="noStrike" kern="1200" cap="none" spc="0" normalizeH="0" baseline="0" noProof="0">
                <a:ln>
                  <a:noFill/>
                </a:ln>
                <a:solidFill>
                  <a:srgbClr val="246DA8"/>
                </a:solidFill>
                <a:effectLst/>
                <a:uLnTx/>
                <a:uFillTx/>
                <a:latin typeface="Arial"/>
                <a:ea typeface="Arial"/>
                <a:cs typeface="Arial"/>
              </a:rPr>
              <a:t>Try a rule</a:t>
            </a:r>
          </a:p>
        </p:txBody>
      </p:sp>
      <p:sp>
        <p:nvSpPr>
          <p:cNvPr id="6" name="Rectangle 5">
            <a:extLst>
              <a:ext uri="{FF2B5EF4-FFF2-40B4-BE49-F238E27FC236}">
                <a16:creationId xmlns:a16="http://schemas.microsoft.com/office/drawing/2014/main" id="{7FAFDD9A-E9D1-4158-93EC-D19441A218C6}"/>
              </a:ext>
            </a:extLst>
          </p:cNvPr>
          <p:cNvSpPr>
            <a:spLocks noGrp="1"/>
          </p:cNvSpPr>
          <p:nvPr/>
        </p:nvSpPr>
        <p:spPr>
          <a:xfrm>
            <a:off x="3571875" y="1428750"/>
            <a:ext cx="7524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51515"/>
                </a:solidFill>
                <a:latin typeface="Arial"/>
                <a:ea typeface="Arial"/>
                <a:cs typeface="Arial"/>
              </a:defRPr>
            </a:pPr>
            <a:r>
              <a:rPr kumimoji="0" sz="1725" b="0" i="0" u="none" strike="noStrike" kern="1200" cap="none" spc="0" normalizeH="0" baseline="0" noProof="0">
                <a:ln>
                  <a:noFill/>
                </a:ln>
                <a:solidFill>
                  <a:srgbClr val="151515"/>
                </a:solidFill>
                <a:effectLst/>
                <a:uLnTx/>
                <a:uFillTx/>
                <a:latin typeface="Arial"/>
                <a:ea typeface="Arial"/>
                <a:cs typeface="Arial"/>
              </a:rPr>
              <a:t>For example, start at 2 and add 3 for each km.</a:t>
            </a:r>
          </a:p>
        </p:txBody>
      </p:sp>
      <p:sp>
        <p:nvSpPr>
          <p:cNvPr id="7" name="Rectangle 6">
            <a:extLst>
              <a:ext uri="{FF2B5EF4-FFF2-40B4-BE49-F238E27FC236}">
                <a16:creationId xmlns:a16="http://schemas.microsoft.com/office/drawing/2014/main" id="{8CEB9BE8-8F12-4AAA-9B58-B52F3CDB5F92}"/>
              </a:ext>
            </a:extLst>
          </p:cNvPr>
          <p:cNvSpPr>
            <a:spLocks noGrp="1"/>
          </p:cNvSpPr>
          <p:nvPr/>
        </p:nvSpPr>
        <p:spPr>
          <a:xfrm>
            <a:off x="800100" y="2714625"/>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1">
                <a:solidFill>
                  <a:srgbClr val="246DA8"/>
                </a:solidFill>
                <a:latin typeface="Arial"/>
                <a:ea typeface="Arial"/>
                <a:cs typeface="Arial"/>
              </a:defRPr>
            </a:pPr>
            <a:r>
              <a:rPr kumimoji="0" sz="1725" b="1" i="0" u="none" strike="noStrike" kern="1200" cap="none" spc="0" normalizeH="0" baseline="0" noProof="0">
                <a:ln>
                  <a:noFill/>
                </a:ln>
                <a:solidFill>
                  <a:srgbClr val="246DA8"/>
                </a:solidFill>
                <a:effectLst/>
                <a:uLnTx/>
                <a:uFillTx/>
                <a:latin typeface="Arial"/>
                <a:ea typeface="Arial"/>
                <a:cs typeface="Arial"/>
              </a:rPr>
              <a:t>Check</a:t>
            </a:r>
          </a:p>
        </p:txBody>
      </p:sp>
      <p:sp>
        <p:nvSpPr>
          <p:cNvPr id="8" name="Rectangle 7">
            <a:extLst>
              <a:ext uri="{FF2B5EF4-FFF2-40B4-BE49-F238E27FC236}">
                <a16:creationId xmlns:a16="http://schemas.microsoft.com/office/drawing/2014/main" id="{31A45FA9-880A-4191-AD86-84AA2985B697}"/>
              </a:ext>
            </a:extLst>
          </p:cNvPr>
          <p:cNvSpPr>
            <a:spLocks noGrp="1"/>
          </p:cNvSpPr>
          <p:nvPr/>
        </p:nvSpPr>
        <p:spPr>
          <a:xfrm>
            <a:off x="3571875" y="2714625"/>
            <a:ext cx="7524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51515"/>
                </a:solidFill>
                <a:latin typeface="Arial"/>
                <a:ea typeface="Arial"/>
                <a:cs typeface="Arial"/>
              </a:defRPr>
            </a:pPr>
            <a:r>
              <a:rPr kumimoji="0" sz="1725" b="0" i="0" u="none" strike="noStrike" kern="1200" cap="none" spc="0" normalizeH="0" baseline="0" noProof="0">
                <a:ln>
                  <a:noFill/>
                </a:ln>
                <a:solidFill>
                  <a:srgbClr val="151515"/>
                </a:solidFill>
                <a:effectLst/>
                <a:uLnTx/>
                <a:uFillTx/>
                <a:latin typeface="Arial"/>
                <a:ea typeface="Arial"/>
                <a:cs typeface="Arial"/>
              </a:rPr>
              <a:t>Compare its predictions with the known trip times.</a:t>
            </a:r>
          </a:p>
        </p:txBody>
      </p:sp>
      <p:sp>
        <p:nvSpPr>
          <p:cNvPr id="9" name="Rectangle 8">
            <a:extLst>
              <a:ext uri="{FF2B5EF4-FFF2-40B4-BE49-F238E27FC236}">
                <a16:creationId xmlns:a16="http://schemas.microsoft.com/office/drawing/2014/main" id="{42F19C29-F214-47D4-89A1-06F993146CA6}"/>
              </a:ext>
            </a:extLst>
          </p:cNvPr>
          <p:cNvSpPr>
            <a:spLocks noGrp="1"/>
          </p:cNvSpPr>
          <p:nvPr/>
        </p:nvSpPr>
        <p:spPr>
          <a:xfrm>
            <a:off x="800100" y="4000500"/>
            <a:ext cx="285750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1">
                <a:solidFill>
                  <a:srgbClr val="246DA8"/>
                </a:solidFill>
                <a:latin typeface="Arial"/>
                <a:ea typeface="Arial"/>
                <a:cs typeface="Arial"/>
              </a:defRPr>
            </a:pPr>
            <a:r>
              <a:rPr kumimoji="0" sz="1725" b="1" i="0" u="none" strike="noStrike" kern="1200" cap="none" spc="0" normalizeH="0" baseline="0" noProof="0">
                <a:ln>
                  <a:noFill/>
                </a:ln>
                <a:solidFill>
                  <a:srgbClr val="246DA8"/>
                </a:solidFill>
                <a:effectLst/>
                <a:uLnTx/>
                <a:uFillTx/>
                <a:latin typeface="Arial"/>
                <a:ea typeface="Arial"/>
                <a:cs typeface="Arial"/>
              </a:rPr>
              <a:t>Improve</a:t>
            </a:r>
          </a:p>
        </p:txBody>
      </p:sp>
      <p:sp>
        <p:nvSpPr>
          <p:cNvPr id="10" name="Rectangle 9">
            <a:extLst>
              <a:ext uri="{FF2B5EF4-FFF2-40B4-BE49-F238E27FC236}">
                <a16:creationId xmlns:a16="http://schemas.microsoft.com/office/drawing/2014/main" id="{14D3A88C-D013-4425-8428-6B99C3CAD0C4}"/>
              </a:ext>
            </a:extLst>
          </p:cNvPr>
          <p:cNvSpPr>
            <a:spLocks noGrp="1"/>
          </p:cNvSpPr>
          <p:nvPr/>
        </p:nvSpPr>
        <p:spPr>
          <a:xfrm>
            <a:off x="3571875" y="4000500"/>
            <a:ext cx="7524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725" b="0">
                <a:solidFill>
                  <a:srgbClr val="151515"/>
                </a:solidFill>
                <a:latin typeface="Arial"/>
                <a:ea typeface="Arial"/>
                <a:cs typeface="Arial"/>
              </a:defRPr>
            </a:pPr>
            <a:r>
              <a:rPr kumimoji="0" sz="1725" b="0" i="0" u="none" strike="noStrike" kern="1200" cap="none" spc="0" normalizeH="0" baseline="0" noProof="0">
                <a:ln>
                  <a:noFill/>
                </a:ln>
                <a:solidFill>
                  <a:srgbClr val="151515"/>
                </a:solidFill>
                <a:effectLst/>
                <a:uLnTx/>
                <a:uFillTx/>
                <a:latin typeface="Arial"/>
                <a:ea typeface="Arial"/>
                <a:cs typeface="Arial"/>
              </a:rPr>
              <a:t>Adjust the numbers to make the overall mistakes smaller.</a:t>
            </a:r>
          </a:p>
        </p:txBody>
      </p:sp>
    </p:spTree>
    <p:extLst>
      <p:ext uri="{BB962C8B-B14F-4D97-AF65-F5344CB8AC3E}">
        <p14:creationId xmlns:p14="http://schemas.microsoft.com/office/powerpoint/2010/main" val="45553997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E2F63BC-477C-47C3-890B-F1FDE2875B58}"/>
              </a:ext>
            </a:extLst>
          </p:cNvPr>
          <p:cNvSpPr>
            <a:spLocks noGrp="1"/>
          </p:cNvSpPr>
          <p:nvPr/>
        </p:nvSpPr>
        <p:spPr>
          <a:xfrm>
            <a:off x="0" y="0"/>
            <a:ext cx="12192000" cy="838200"/>
          </a:xfrm>
          <a:prstGeom prst="rect">
            <a:avLst/>
          </a:prstGeom>
          <a:solidFill>
            <a:srgbClr val="FFD900"/>
          </a:solidFill>
          <a:ln w="0">
            <a:noFill/>
          </a:ln>
        </p:spPr>
        <p:txBody>
          <a:bodyPr/>
          <a:lstStyle/>
          <a:p>
            <a:endParaRPr lang="en-US"/>
          </a:p>
        </p:txBody>
      </p:sp>
      <p:sp>
        <p:nvSpPr>
          <p:cNvPr id="2" name="Rectangle 1">
            <a:extLst>
              <a:ext uri="{FF2B5EF4-FFF2-40B4-BE49-F238E27FC236}">
                <a16:creationId xmlns:a16="http://schemas.microsoft.com/office/drawing/2014/main" id="{9B8CBEDE-E945-4A44-A561-4F7666C98F56}"/>
              </a:ext>
            </a:extLst>
          </p:cNvPr>
          <p:cNvSpPr>
            <a:spLocks noGrp="1"/>
          </p:cNvSpPr>
          <p:nvPr/>
        </p:nvSpPr>
        <p:spPr>
          <a:xfrm>
            <a:off x="533400" y="171450"/>
            <a:ext cx="11049000" cy="523875"/>
          </a:xfrm>
          <a:prstGeom prst="rect">
            <a:avLst/>
          </a:prstGeom>
          <a:noFill/>
          <a:ln w="0">
            <a:noFill/>
          </a:ln>
        </p:spPr>
        <p:txBody>
          <a:bodyPr>
            <a:noAutofit/>
          </a:bodyPr>
          <a:lstStyle/>
          <a:p>
            <a:pPr>
              <a:defRPr sz="2400" b="1">
                <a:solidFill>
                  <a:srgbClr val="151515"/>
                </a:solidFill>
                <a:latin typeface="Arial"/>
                <a:ea typeface="Arial"/>
                <a:cs typeface="Arial"/>
              </a:defRPr>
            </a:pPr>
            <a:r>
              <a:rPr sz="2400" b="1">
                <a:solidFill>
                  <a:srgbClr val="151515"/>
                </a:solidFill>
                <a:latin typeface="Arial"/>
                <a:ea typeface="Arial"/>
                <a:cs typeface="Arial"/>
              </a:rPr>
              <a:t>Linear regression in Python</a:t>
            </a:r>
          </a:p>
        </p:txBody>
      </p:sp>
      <p:sp>
        <p:nvSpPr>
          <p:cNvPr id="3" name="Rectangle 2">
            <a:extLst>
              <a:ext uri="{FF2B5EF4-FFF2-40B4-BE49-F238E27FC236}">
                <a16:creationId xmlns:a16="http://schemas.microsoft.com/office/drawing/2014/main" id="{B241C293-C5FF-4321-BC00-F04A0B1D95B6}"/>
              </a:ext>
            </a:extLst>
          </p:cNvPr>
          <p:cNvSpPr>
            <a:spLocks noGrp="1"/>
          </p:cNvSpPr>
          <p:nvPr/>
        </p:nvSpPr>
        <p:spPr>
          <a:xfrm>
            <a:off x="514350" y="6438900"/>
            <a:ext cx="5238750"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DAVE3625  |  Umair Mehmood Imam</a:t>
            </a:r>
          </a:p>
        </p:txBody>
      </p:sp>
      <p:sp>
        <p:nvSpPr>
          <p:cNvPr id="4" name="Rectangle 3">
            <a:extLst>
              <a:ext uri="{FF2B5EF4-FFF2-40B4-BE49-F238E27FC236}">
                <a16:creationId xmlns:a16="http://schemas.microsoft.com/office/drawing/2014/main" id="{945CB29B-FAF8-4D7E-9E0D-68B9C11AEC53}"/>
              </a:ext>
            </a:extLst>
          </p:cNvPr>
          <p:cNvSpPr>
            <a:spLocks noGrp="1"/>
          </p:cNvSpPr>
          <p:nvPr/>
        </p:nvSpPr>
        <p:spPr>
          <a:xfrm>
            <a:off x="8524875" y="6438900"/>
            <a:ext cx="3095625"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MACHINE LEARNING III  |  13</a:t>
            </a:r>
          </a:p>
        </p:txBody>
      </p:sp>
      <p:sp>
        <p:nvSpPr>
          <p:cNvPr id="5" name="Rectangle 4">
            <a:extLst>
              <a:ext uri="{FF2B5EF4-FFF2-40B4-BE49-F238E27FC236}">
                <a16:creationId xmlns:a16="http://schemas.microsoft.com/office/drawing/2014/main" id="{655F9840-5A39-4B01-BAD4-80D67AA2600C}"/>
              </a:ext>
            </a:extLst>
          </p:cNvPr>
          <p:cNvSpPr>
            <a:spLocks noGrp="1"/>
          </p:cNvSpPr>
          <p:nvPr/>
        </p:nvSpPr>
        <p:spPr>
          <a:xfrm>
            <a:off x="704850" y="1352550"/>
            <a:ext cx="10763250" cy="3838575"/>
          </a:xfrm>
          <a:prstGeom prst="rect">
            <a:avLst/>
          </a:prstGeom>
          <a:solidFill>
            <a:srgbClr val="1A1D22"/>
          </a:solidFill>
          <a:ln w="0">
            <a:noFill/>
          </a:ln>
        </p:spPr>
        <p:txBody>
          <a:bodyPr/>
          <a:lstStyle/>
          <a:p>
            <a:endParaRPr lang="en-US"/>
          </a:p>
        </p:txBody>
      </p:sp>
      <p:sp>
        <p:nvSpPr>
          <p:cNvPr id="6" name="Rectangle 5">
            <a:extLst>
              <a:ext uri="{FF2B5EF4-FFF2-40B4-BE49-F238E27FC236}">
                <a16:creationId xmlns:a16="http://schemas.microsoft.com/office/drawing/2014/main" id="{60757F00-B73B-463B-9BB5-3E93814E7F9A}"/>
              </a:ext>
            </a:extLst>
          </p:cNvPr>
          <p:cNvSpPr>
            <a:spLocks noGrp="1"/>
          </p:cNvSpPr>
          <p:nvPr/>
        </p:nvSpPr>
        <p:spPr>
          <a:xfrm>
            <a:off x="1057275" y="1628775"/>
            <a:ext cx="10001250" cy="3209925"/>
          </a:xfrm>
          <a:prstGeom prst="rect">
            <a:avLst/>
          </a:prstGeom>
          <a:noFill/>
          <a:ln w="0">
            <a:noFill/>
          </a:ln>
        </p:spPr>
        <p:txBody>
          <a:bodyPr>
            <a:noAutofit/>
          </a:bodyPr>
          <a:lstStyle/>
          <a:p>
            <a:pPr>
              <a:defRPr sz="1725" b="0">
                <a:solidFill>
                  <a:srgbClr val="FAFAFA"/>
                </a:solidFill>
                <a:latin typeface="Arial"/>
                <a:ea typeface="Arial"/>
                <a:cs typeface="Arial"/>
              </a:defRPr>
            </a:pPr>
            <a:r>
              <a:rPr sz="1725" b="0">
                <a:solidFill>
                  <a:srgbClr val="FAFAFA"/>
                </a:solidFill>
                <a:latin typeface="Arial"/>
                <a:ea typeface="Arial"/>
                <a:cs typeface="Arial"/>
              </a:rPr>
              <a:t>from sklearn.linear_model import LinearRegression</a:t>
            </a:r>
          </a:p>
          <a:p>
            <a:endParaRPr sz="1725" b="0">
              <a:solidFill>
                <a:srgbClr val="FAFAFA"/>
              </a:solidFill>
              <a:latin typeface="Arial"/>
              <a:ea typeface="Arial"/>
              <a:cs typeface="Arial"/>
            </a:endParaRPr>
          </a:p>
          <a:p>
            <a:pPr>
              <a:defRPr sz="1725" b="0">
                <a:solidFill>
                  <a:srgbClr val="FAFAFA"/>
                </a:solidFill>
                <a:latin typeface="Arial"/>
                <a:ea typeface="Arial"/>
                <a:cs typeface="Arial"/>
              </a:defRPr>
            </a:pPr>
            <a:r>
              <a:rPr sz="1725" b="0">
                <a:solidFill>
                  <a:srgbClr val="FAFAFA"/>
                </a:solidFill>
                <a:latin typeface="Arial"/>
                <a:ea typeface="Arial"/>
                <a:cs typeface="Arial"/>
              </a:rPr>
              <a:t>X = [[1], [2], [3], [4]]   # distance in km</a:t>
            </a:r>
          </a:p>
          <a:p>
            <a:pPr>
              <a:defRPr sz="1725" b="0">
                <a:solidFill>
                  <a:srgbClr val="FAFAFA"/>
                </a:solidFill>
                <a:latin typeface="Arial"/>
                <a:ea typeface="Arial"/>
                <a:cs typeface="Arial"/>
              </a:defRPr>
            </a:pPr>
            <a:r>
              <a:rPr sz="1725" b="0">
                <a:solidFill>
                  <a:srgbClr val="FAFAFA"/>
                </a:solidFill>
                <a:latin typeface="Arial"/>
                <a:ea typeface="Arial"/>
                <a:cs typeface="Arial"/>
              </a:rPr>
              <a:t>y = [5, 8, 11, 14]          # time in min</a:t>
            </a:r>
          </a:p>
          <a:p>
            <a:endParaRPr sz="1725" b="0">
              <a:solidFill>
                <a:srgbClr val="FAFAFA"/>
              </a:solidFill>
              <a:latin typeface="Arial"/>
              <a:ea typeface="Arial"/>
              <a:cs typeface="Arial"/>
            </a:endParaRPr>
          </a:p>
          <a:p>
            <a:pPr>
              <a:defRPr sz="1725" b="0">
                <a:solidFill>
                  <a:srgbClr val="FAFAFA"/>
                </a:solidFill>
                <a:latin typeface="Arial"/>
                <a:ea typeface="Arial"/>
                <a:cs typeface="Arial"/>
              </a:defRPr>
            </a:pPr>
            <a:r>
              <a:rPr sz="1725" b="0">
                <a:solidFill>
                  <a:srgbClr val="FAFAFA"/>
                </a:solidFill>
                <a:latin typeface="Arial"/>
                <a:ea typeface="Arial"/>
                <a:cs typeface="Arial"/>
              </a:rPr>
              <a:t>model = LinearRegression().fit(X, y)</a:t>
            </a:r>
          </a:p>
          <a:p>
            <a:pPr>
              <a:defRPr sz="1725" b="0">
                <a:solidFill>
                  <a:srgbClr val="FAFAFA"/>
                </a:solidFill>
                <a:latin typeface="Arial"/>
                <a:ea typeface="Arial"/>
                <a:cs typeface="Arial"/>
              </a:defRPr>
            </a:pPr>
            <a:r>
              <a:rPr sz="1725" b="0">
                <a:solidFill>
                  <a:srgbClr val="FAFAFA"/>
                </a:solidFill>
                <a:latin typeface="Arial"/>
                <a:ea typeface="Arial"/>
                <a:cs typeface="Arial"/>
              </a:rPr>
              <a:t>print(model.predict([[5]]))   # about 17 minutes</a:t>
            </a:r>
          </a:p>
        </p:txBody>
      </p:sp>
      <p:sp>
        <p:nvSpPr>
          <p:cNvPr id="7" name="Rectangle 6">
            <a:extLst>
              <a:ext uri="{FF2B5EF4-FFF2-40B4-BE49-F238E27FC236}">
                <a16:creationId xmlns:a16="http://schemas.microsoft.com/office/drawing/2014/main" id="{3D4B8108-51D2-47A0-836A-79BC956CFF28}"/>
              </a:ext>
            </a:extLst>
          </p:cNvPr>
          <p:cNvSpPr>
            <a:spLocks noGrp="1"/>
          </p:cNvSpPr>
          <p:nvPr/>
        </p:nvSpPr>
        <p:spPr>
          <a:xfrm>
            <a:off x="1257300" y="5467350"/>
            <a:ext cx="9810750" cy="514350"/>
          </a:xfrm>
          <a:prstGeom prst="rect">
            <a:avLst/>
          </a:prstGeom>
          <a:noFill/>
          <a:ln w="0">
            <a:noFill/>
          </a:ln>
        </p:spPr>
        <p:txBody>
          <a:bodyPr>
            <a:noAutofit/>
          </a:bodyPr>
          <a:lstStyle/>
          <a:p>
            <a:pPr>
              <a:defRPr sz="1650" b="0">
                <a:solidFill>
                  <a:srgbClr val="555555"/>
                </a:solidFill>
                <a:latin typeface="Arial"/>
                <a:ea typeface="Arial"/>
                <a:cs typeface="Arial"/>
              </a:defRPr>
            </a:pPr>
            <a:r>
              <a:rPr sz="1650" b="0">
                <a:solidFill>
                  <a:srgbClr val="555555"/>
                </a:solidFill>
                <a:latin typeface="Arial"/>
                <a:ea typeface="Arial"/>
                <a:cs typeface="Arial"/>
              </a:rPr>
              <a:t>The algorithm learns the line from these four examples.</a:t>
            </a:r>
          </a:p>
        </p:txBody>
      </p:sp>
    </p:spTree>
    <p:extLst>
      <p:ext uri="{BB962C8B-B14F-4D97-AF65-F5344CB8AC3E}">
        <p14:creationId xmlns:p14="http://schemas.microsoft.com/office/powerpoint/2010/main" val="3212577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E62884BB-E503-47F3-84AC-3F468AB1F183}"/>
              </a:ext>
            </a:extLst>
          </p:cNvPr>
          <p:cNvSpPr>
            <a:spLocks noGrp="1"/>
          </p:cNvSpPr>
          <p:nvPr/>
        </p:nvSpPr>
        <p:spPr>
          <a:xfrm>
            <a:off x="0" y="0"/>
            <a:ext cx="12192000" cy="838200"/>
          </a:xfrm>
          <a:prstGeom prst="rect">
            <a:avLst/>
          </a:prstGeom>
          <a:solidFill>
            <a:srgbClr val="FFD900"/>
          </a:solidFill>
          <a:ln w="0">
            <a:noFill/>
          </a:ln>
        </p:spPr>
        <p:txBody>
          <a:bodyPr/>
          <a:lstStyle/>
          <a:p>
            <a:endParaRPr lang="en-US"/>
          </a:p>
        </p:txBody>
      </p:sp>
      <p:sp>
        <p:nvSpPr>
          <p:cNvPr id="2" name="Rectangle 1">
            <a:extLst>
              <a:ext uri="{FF2B5EF4-FFF2-40B4-BE49-F238E27FC236}">
                <a16:creationId xmlns:a16="http://schemas.microsoft.com/office/drawing/2014/main" id="{AEB8CC92-8DAD-497A-B64B-1FBDF496A750}"/>
              </a:ext>
            </a:extLst>
          </p:cNvPr>
          <p:cNvSpPr>
            <a:spLocks noGrp="1"/>
          </p:cNvSpPr>
          <p:nvPr/>
        </p:nvSpPr>
        <p:spPr>
          <a:xfrm>
            <a:off x="533400" y="171450"/>
            <a:ext cx="11049000" cy="523875"/>
          </a:xfrm>
          <a:prstGeom prst="rect">
            <a:avLst/>
          </a:prstGeom>
          <a:noFill/>
          <a:ln w="0">
            <a:noFill/>
          </a:ln>
        </p:spPr>
        <p:txBody>
          <a:bodyPr>
            <a:noAutofit/>
          </a:bodyPr>
          <a:lstStyle/>
          <a:p>
            <a:pPr>
              <a:defRPr sz="2400" b="1">
                <a:solidFill>
                  <a:srgbClr val="151515"/>
                </a:solidFill>
                <a:latin typeface="Arial"/>
                <a:ea typeface="Arial"/>
                <a:cs typeface="Arial"/>
              </a:defRPr>
            </a:pPr>
            <a:r>
              <a:rPr sz="2400" b="1">
                <a:solidFill>
                  <a:srgbClr val="151515"/>
                </a:solidFill>
                <a:latin typeface="Arial"/>
                <a:ea typeface="Arial"/>
                <a:cs typeface="Arial"/>
              </a:rPr>
              <a:t>Quick check: linear regression</a:t>
            </a:r>
          </a:p>
        </p:txBody>
      </p:sp>
      <p:sp>
        <p:nvSpPr>
          <p:cNvPr id="3" name="Rectangle 2">
            <a:extLst>
              <a:ext uri="{FF2B5EF4-FFF2-40B4-BE49-F238E27FC236}">
                <a16:creationId xmlns:a16="http://schemas.microsoft.com/office/drawing/2014/main" id="{56B12CFC-5100-4F44-B8E8-A8EF67421671}"/>
              </a:ext>
            </a:extLst>
          </p:cNvPr>
          <p:cNvSpPr>
            <a:spLocks noGrp="1"/>
          </p:cNvSpPr>
          <p:nvPr/>
        </p:nvSpPr>
        <p:spPr>
          <a:xfrm>
            <a:off x="514350" y="6438900"/>
            <a:ext cx="5238750"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DAVE3625  |  Umair Mehmood Imam</a:t>
            </a:r>
          </a:p>
        </p:txBody>
      </p:sp>
      <p:sp>
        <p:nvSpPr>
          <p:cNvPr id="4" name="Rectangle 3">
            <a:extLst>
              <a:ext uri="{FF2B5EF4-FFF2-40B4-BE49-F238E27FC236}">
                <a16:creationId xmlns:a16="http://schemas.microsoft.com/office/drawing/2014/main" id="{4C06D5A1-F2FC-4B24-92D7-235BE9470A7D}"/>
              </a:ext>
            </a:extLst>
          </p:cNvPr>
          <p:cNvSpPr>
            <a:spLocks noGrp="1"/>
          </p:cNvSpPr>
          <p:nvPr/>
        </p:nvSpPr>
        <p:spPr>
          <a:xfrm>
            <a:off x="8524875" y="6438900"/>
            <a:ext cx="3095625"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MACHINE LEARNING III  |  14</a:t>
            </a:r>
          </a:p>
        </p:txBody>
      </p:sp>
      <p:sp>
        <p:nvSpPr>
          <p:cNvPr id="5" name="Rectangle 4">
            <a:extLst>
              <a:ext uri="{FF2B5EF4-FFF2-40B4-BE49-F238E27FC236}">
                <a16:creationId xmlns:a16="http://schemas.microsoft.com/office/drawing/2014/main" id="{CB9ACBD7-6400-429B-B931-D42AFF6E080A}"/>
              </a:ext>
            </a:extLst>
          </p:cNvPr>
          <p:cNvSpPr>
            <a:spLocks noGrp="1"/>
          </p:cNvSpPr>
          <p:nvPr/>
        </p:nvSpPr>
        <p:spPr>
          <a:xfrm>
            <a:off x="866775" y="1400175"/>
            <a:ext cx="10144125" cy="619125"/>
          </a:xfrm>
          <a:prstGeom prst="rect">
            <a:avLst/>
          </a:prstGeom>
          <a:noFill/>
          <a:ln w="0">
            <a:noFill/>
          </a:ln>
        </p:spPr>
        <p:txBody>
          <a:bodyPr>
            <a:noAutofit/>
          </a:bodyPr>
          <a:lstStyle/>
          <a:p>
            <a:pPr>
              <a:defRPr sz="2175" b="1">
                <a:solidFill>
                  <a:srgbClr val="151515"/>
                </a:solidFill>
                <a:latin typeface="Arial"/>
                <a:ea typeface="Arial"/>
                <a:cs typeface="Arial"/>
              </a:defRPr>
            </a:pPr>
            <a:r>
              <a:rPr sz="2175" b="1">
                <a:solidFill>
                  <a:srgbClr val="151515"/>
                </a:solidFill>
                <a:latin typeface="Arial"/>
                <a:ea typeface="Arial"/>
                <a:cs typeface="Arial"/>
              </a:rPr>
              <a:t>Predicted time = 2 + 3 × distance.</a:t>
            </a:r>
          </a:p>
        </p:txBody>
      </p:sp>
      <p:sp>
        <p:nvSpPr>
          <p:cNvPr id="6" name="Rectangle 5">
            <a:extLst>
              <a:ext uri="{FF2B5EF4-FFF2-40B4-BE49-F238E27FC236}">
                <a16:creationId xmlns:a16="http://schemas.microsoft.com/office/drawing/2014/main" id="{3C5EABD3-FB10-4128-AE34-702205B9C254}"/>
              </a:ext>
            </a:extLst>
          </p:cNvPr>
          <p:cNvSpPr>
            <a:spLocks noGrp="1"/>
          </p:cNvSpPr>
          <p:nvPr/>
        </p:nvSpPr>
        <p:spPr>
          <a:xfrm>
            <a:off x="800100" y="238125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1</a:t>
            </a:r>
          </a:p>
        </p:txBody>
      </p:sp>
      <p:sp>
        <p:nvSpPr>
          <p:cNvPr id="7" name="Rectangle 6">
            <a:extLst>
              <a:ext uri="{FF2B5EF4-FFF2-40B4-BE49-F238E27FC236}">
                <a16:creationId xmlns:a16="http://schemas.microsoft.com/office/drawing/2014/main" id="{57F67638-BB02-4799-A8CE-3627F55240B7}"/>
              </a:ext>
            </a:extLst>
          </p:cNvPr>
          <p:cNvSpPr>
            <a:spLocks noGrp="1"/>
          </p:cNvSpPr>
          <p:nvPr/>
        </p:nvSpPr>
        <p:spPr>
          <a:xfrm>
            <a:off x="3571875" y="238125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What does the rule predict for a 2 km trip?</a:t>
            </a:r>
          </a:p>
        </p:txBody>
      </p:sp>
      <p:sp>
        <p:nvSpPr>
          <p:cNvPr id="8" name="Rectangle 7">
            <a:extLst>
              <a:ext uri="{FF2B5EF4-FFF2-40B4-BE49-F238E27FC236}">
                <a16:creationId xmlns:a16="http://schemas.microsoft.com/office/drawing/2014/main" id="{D8420101-5CAA-40BB-9E2B-619D6562D243}"/>
              </a:ext>
            </a:extLst>
          </p:cNvPr>
          <p:cNvSpPr>
            <a:spLocks noGrp="1"/>
          </p:cNvSpPr>
          <p:nvPr/>
        </p:nvSpPr>
        <p:spPr>
          <a:xfrm>
            <a:off x="800100" y="342900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2</a:t>
            </a:r>
          </a:p>
        </p:txBody>
      </p:sp>
      <p:sp>
        <p:nvSpPr>
          <p:cNvPr id="9" name="Rectangle 8">
            <a:extLst>
              <a:ext uri="{FF2B5EF4-FFF2-40B4-BE49-F238E27FC236}">
                <a16:creationId xmlns:a16="http://schemas.microsoft.com/office/drawing/2014/main" id="{4526C93E-6445-4607-A5DD-514A7D4A237C}"/>
              </a:ext>
            </a:extLst>
          </p:cNvPr>
          <p:cNvSpPr>
            <a:spLocks noGrp="1"/>
          </p:cNvSpPr>
          <p:nvPr/>
        </p:nvSpPr>
        <p:spPr>
          <a:xfrm>
            <a:off x="3571875" y="342900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At 3 km it predicts 11, but a trip takes 12. By how much is it off?</a:t>
            </a:r>
          </a:p>
        </p:txBody>
      </p:sp>
      <p:sp>
        <p:nvSpPr>
          <p:cNvPr id="10" name="Rectangle 9">
            <a:extLst>
              <a:ext uri="{FF2B5EF4-FFF2-40B4-BE49-F238E27FC236}">
                <a16:creationId xmlns:a16="http://schemas.microsoft.com/office/drawing/2014/main" id="{A458EAEB-2148-4DC3-9C0C-AB6B2940B51E}"/>
              </a:ext>
            </a:extLst>
          </p:cNvPr>
          <p:cNvSpPr>
            <a:spLocks noGrp="1"/>
          </p:cNvSpPr>
          <p:nvPr/>
        </p:nvSpPr>
        <p:spPr>
          <a:xfrm>
            <a:off x="800100" y="447675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3</a:t>
            </a:r>
          </a:p>
        </p:txBody>
      </p:sp>
      <p:sp>
        <p:nvSpPr>
          <p:cNvPr id="11" name="Rectangle 10">
            <a:extLst>
              <a:ext uri="{FF2B5EF4-FFF2-40B4-BE49-F238E27FC236}">
                <a16:creationId xmlns:a16="http://schemas.microsoft.com/office/drawing/2014/main" id="{0276EAE4-B742-44E5-AC2C-121AFEF60F3C}"/>
              </a:ext>
            </a:extLst>
          </p:cNvPr>
          <p:cNvSpPr>
            <a:spLocks noGrp="1"/>
          </p:cNvSpPr>
          <p:nvPr/>
        </p:nvSpPr>
        <p:spPr>
          <a:xfrm>
            <a:off x="3571875" y="447675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Why be careful when predicting a 20 km trip?</a:t>
            </a:r>
          </a:p>
        </p:txBody>
      </p:sp>
    </p:spTree>
    <p:extLst>
      <p:ext uri="{BB962C8B-B14F-4D97-AF65-F5344CB8AC3E}">
        <p14:creationId xmlns:p14="http://schemas.microsoft.com/office/powerpoint/2010/main" val="80819979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C366BB6-FD7D-854C-87CC-6416A1CE8E29}"/>
              </a:ext>
            </a:extLst>
          </p:cNvPr>
          <p:cNvSpPr>
            <a:spLocks noGrp="1"/>
          </p:cNvSpPr>
          <p:nvPr>
            <p:ph idx="1"/>
          </p:nvPr>
        </p:nvSpPr>
        <p:spPr>
          <a:xfrm>
            <a:off x="885729" y="1886506"/>
            <a:ext cx="10806491" cy="3290032"/>
          </a:xfrm>
        </p:spPr>
        <p:txBody>
          <a:bodyPr/>
          <a:lstStyle/>
          <a:p>
            <a:r>
              <a:rPr lang="en-NO" dirty="0"/>
              <a:t>Simple Linear regression</a:t>
            </a:r>
          </a:p>
          <a:p>
            <a:pPr lvl="1"/>
            <a:r>
              <a:rPr lang="en-GB" dirty="0"/>
              <a:t>W</a:t>
            </a:r>
            <a:r>
              <a:rPr lang="en-NO" dirty="0"/>
              <a:t>hen there is a single input variable (x)</a:t>
            </a:r>
          </a:p>
          <a:p>
            <a:pPr marL="228491" lvl="1" indent="0">
              <a:buNone/>
            </a:pPr>
            <a:endParaRPr lang="en-NO" dirty="0"/>
          </a:p>
          <a:p>
            <a:r>
              <a:rPr lang="en-NO" dirty="0"/>
              <a:t>Multiple linear regression</a:t>
            </a:r>
          </a:p>
          <a:p>
            <a:pPr lvl="1"/>
            <a:r>
              <a:rPr lang="en-GB" dirty="0"/>
              <a:t>Multiple input variables</a:t>
            </a:r>
          </a:p>
        </p:txBody>
      </p:sp>
      <p:sp>
        <p:nvSpPr>
          <p:cNvPr id="4" name="Footer Placeholder 3">
            <a:extLst>
              <a:ext uri="{FF2B5EF4-FFF2-40B4-BE49-F238E27FC236}">
                <a16:creationId xmlns:a16="http://schemas.microsoft.com/office/drawing/2014/main" id="{5EF43A30-4C1E-4A47-A372-721545A16567}"/>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6" name="TextBox 5">
            <a:extLst>
              <a:ext uri="{FF2B5EF4-FFF2-40B4-BE49-F238E27FC236}">
                <a16:creationId xmlns:a16="http://schemas.microsoft.com/office/drawing/2014/main" id="{1614BC56-74A9-4F56-5BF0-0C162AD8B3B2}"/>
              </a:ext>
            </a:extLst>
          </p:cNvPr>
          <p:cNvSpPr txBox="1"/>
          <p:nvPr/>
        </p:nvSpPr>
        <p:spPr>
          <a:xfrm>
            <a:off x="1006733" y="4488301"/>
            <a:ext cx="11185267" cy="369204"/>
          </a:xfrm>
          <a:prstGeom prst="rect">
            <a:avLst/>
          </a:prstGeom>
          <a:noFill/>
        </p:spPr>
        <p:txBody>
          <a:bodyPr wrap="square">
            <a:spAutoFit/>
          </a:bodyPr>
          <a:lstStyle/>
          <a:p>
            <a:pPr defTabSz="914222"/>
            <a:r>
              <a:rPr lang="en-US" sz="1799" dirty="0">
                <a:solidFill>
                  <a:prstClr val="black"/>
                </a:solidFill>
                <a:latin typeface="Arial" panose="020B0604020202020204"/>
              </a:rPr>
              <a:t>Ref: https://</a:t>
            </a:r>
            <a:r>
              <a:rPr lang="en-US" sz="1799" dirty="0" err="1">
                <a:solidFill>
                  <a:prstClr val="black"/>
                </a:solidFill>
                <a:latin typeface="Arial" panose="020B0604020202020204"/>
              </a:rPr>
              <a:t>sphweb.bumc.bu.edu</a:t>
            </a:r>
            <a:r>
              <a:rPr lang="en-US" sz="1799" dirty="0">
                <a:solidFill>
                  <a:prstClr val="black"/>
                </a:solidFill>
                <a:latin typeface="Arial" panose="020B0604020202020204"/>
              </a:rPr>
              <a:t>/</a:t>
            </a:r>
            <a:r>
              <a:rPr lang="en-US" sz="1799" dirty="0" err="1">
                <a:solidFill>
                  <a:prstClr val="black"/>
                </a:solidFill>
                <a:latin typeface="Arial" panose="020B0604020202020204"/>
              </a:rPr>
              <a:t>otlt</a:t>
            </a:r>
            <a:r>
              <a:rPr lang="en-US" sz="1799" dirty="0">
                <a:solidFill>
                  <a:prstClr val="black"/>
                </a:solidFill>
                <a:latin typeface="Arial" panose="020B0604020202020204"/>
              </a:rPr>
              <a:t>/MPH-Modules/BS/BS704-EP713_MultivariableMethods/</a:t>
            </a:r>
          </a:p>
        </p:txBody>
      </p:sp>
    </p:spTree>
    <p:extLst>
      <p:ext uri="{BB962C8B-B14F-4D97-AF65-F5344CB8AC3E}">
        <p14:creationId xmlns:p14="http://schemas.microsoft.com/office/powerpoint/2010/main" val="12979676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DE71320-2B41-4E5D-8ED0-D2B34FFB5BAB}"/>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FC3A1F03-1079-4C8C-8E2B-DF8A88A00BDF}"/>
              </a:ext>
            </a:extLst>
          </p:cNvPr>
          <p:cNvSpPr>
            <a:spLocks noGrp="1"/>
          </p:cNvSpPr>
          <p:nvPr/>
        </p:nvSpPr>
        <p:spPr>
          <a:xfrm>
            <a:off x="533400" y="171450"/>
            <a:ext cx="11049000" cy="5238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sz="2400" b="1" i="0" u="none" strike="noStrike" kern="1200" cap="none" spc="0" normalizeH="0" baseline="0" noProof="0">
                <a:ln>
                  <a:noFill/>
                </a:ln>
                <a:solidFill>
                  <a:srgbClr val="151515"/>
                </a:solidFill>
                <a:effectLst/>
                <a:uLnTx/>
                <a:uFillTx/>
                <a:latin typeface="Arial"/>
                <a:ea typeface="Arial"/>
                <a:cs typeface="Arial"/>
              </a:rPr>
              <a:t>Polynomial regression: a curved pattern</a:t>
            </a:r>
          </a:p>
        </p:txBody>
      </p:sp>
      <p:sp>
        <p:nvSpPr>
          <p:cNvPr id="3" name="Rectangle 2">
            <a:extLst>
              <a:ext uri="{FF2B5EF4-FFF2-40B4-BE49-F238E27FC236}">
                <a16:creationId xmlns:a16="http://schemas.microsoft.com/office/drawing/2014/main" id="{165A00C1-202D-4E8A-9FEF-A1842426AFF0}"/>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01CA421C-05DE-48F6-89EB-281D5F98487B}"/>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15</a:t>
            </a:r>
          </a:p>
        </p:txBody>
      </p:sp>
      <p:graphicFrame>
        <p:nvGraphicFramePr>
          <p:cNvPr id="11" name="Chart"/>
          <p:cNvGraphicFramePr/>
          <p:nvPr/>
        </p:nvGraphicFramePr>
        <p:xfrm>
          <a:off x="1857375" y="1285875"/>
          <a:ext cx="857250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92FA218C-3787-4DBA-B2E3-CC0E5BF1ECB9}"/>
              </a:ext>
            </a:extLst>
          </p:cNvPr>
          <p:cNvSpPr>
            <a:spLocks noGrp="1"/>
          </p:cNvSpPr>
          <p:nvPr/>
        </p:nvSpPr>
        <p:spPr>
          <a:xfrm>
            <a:off x="1352550" y="5667375"/>
            <a:ext cx="9429750" cy="45720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0">
                <a:solidFill>
                  <a:srgbClr val="555555"/>
                </a:solidFill>
                <a:latin typeface="Arial"/>
                <a:ea typeface="Arial"/>
                <a:cs typeface="Arial"/>
              </a:defRPr>
            </a:pPr>
            <a:r>
              <a:rPr kumimoji="0" sz="1500" b="0" i="0" u="none" strike="noStrike" kern="1200" cap="none" spc="0" normalizeH="0" baseline="0" noProof="0">
                <a:ln>
                  <a:noFill/>
                </a:ln>
                <a:solidFill>
                  <a:srgbClr val="555555"/>
                </a:solidFill>
                <a:effectLst/>
                <a:uLnTx/>
                <a:uFillTx/>
                <a:latin typeface="Arial"/>
                <a:ea typeface="Arial"/>
                <a:cs typeface="Arial"/>
              </a:rPr>
              <a:t>Toy data: demand rises, peaks and then falls. A straight line misses the pattern.</a:t>
            </a:r>
          </a:p>
        </p:txBody>
      </p:sp>
    </p:spTree>
    <p:extLst>
      <p:ext uri="{BB962C8B-B14F-4D97-AF65-F5344CB8AC3E}">
        <p14:creationId xmlns:p14="http://schemas.microsoft.com/office/powerpoint/2010/main" val="45684056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0A317E6-3C15-024B-9CC4-756350EFCC84}"/>
              </a:ext>
            </a:extLst>
          </p:cNvPr>
          <p:cNvSpPr>
            <a:spLocks noGrp="1"/>
          </p:cNvSpPr>
          <p:nvPr>
            <p:ph idx="1"/>
          </p:nvPr>
        </p:nvSpPr>
        <p:spPr>
          <a:xfrm>
            <a:off x="734378" y="1746535"/>
            <a:ext cx="5195417" cy="4145887"/>
          </a:xfrm>
        </p:spPr>
        <p:txBody>
          <a:bodyPr/>
          <a:lstStyle/>
          <a:p>
            <a:r>
              <a:rPr lang="en-NO" dirty="0"/>
              <a:t>It is also a linear model</a:t>
            </a:r>
          </a:p>
          <a:p>
            <a:r>
              <a:rPr lang="en-NO" dirty="0"/>
              <a:t>But it is never a striaght line</a:t>
            </a:r>
          </a:p>
        </p:txBody>
      </p:sp>
      <p:sp>
        <p:nvSpPr>
          <p:cNvPr id="4" name="Footer Placeholder 3">
            <a:extLst>
              <a:ext uri="{FF2B5EF4-FFF2-40B4-BE49-F238E27FC236}">
                <a16:creationId xmlns:a16="http://schemas.microsoft.com/office/drawing/2014/main" id="{A980453C-8CD5-CB45-AC49-B3965CA507D9}"/>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C7AE7C93-9A4A-F446-8F3B-CCEF2EDB1F61}"/>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dirty="0">
              <a:solidFill>
                <a:prstClr val="white"/>
              </a:solidFill>
              <a:latin typeface="Arial" panose="020B0604020202020204"/>
            </a:endParaRPr>
          </a:p>
        </p:txBody>
      </p:sp>
      <p:sp>
        <p:nvSpPr>
          <p:cNvPr id="6" name="Title 1">
            <a:extLst>
              <a:ext uri="{FF2B5EF4-FFF2-40B4-BE49-F238E27FC236}">
                <a16:creationId xmlns:a16="http://schemas.microsoft.com/office/drawing/2014/main" id="{C1C7839D-9358-9144-B9F6-FF4367F73F24}"/>
              </a:ext>
            </a:extLst>
          </p:cNvPr>
          <p:cNvSpPr>
            <a:spLocks noGrp="1"/>
          </p:cNvSpPr>
          <p:nvPr>
            <p:ph type="title"/>
          </p:nvPr>
        </p:nvSpPr>
        <p:spPr>
          <a:xfrm>
            <a:off x="526549" y="414788"/>
            <a:ext cx="10806491" cy="467293"/>
          </a:xfrm>
        </p:spPr>
        <p:txBody>
          <a:bodyPr/>
          <a:lstStyle/>
          <a:p>
            <a:r>
              <a:rPr lang="en-NO"/>
              <a:t>Polynomial </a:t>
            </a:r>
            <a:r>
              <a:rPr lang="en-NO" dirty="0"/>
              <a:t>Regression</a:t>
            </a:r>
          </a:p>
        </p:txBody>
      </p:sp>
      <p:pic>
        <p:nvPicPr>
          <p:cNvPr id="12290" name="Picture 2">
            <a:extLst>
              <a:ext uri="{FF2B5EF4-FFF2-40B4-BE49-F238E27FC236}">
                <a16:creationId xmlns:a16="http://schemas.microsoft.com/office/drawing/2014/main" id="{470E2112-94B5-124F-B6CD-DA3121CE27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2207" y="1559315"/>
            <a:ext cx="5713256" cy="4284942"/>
          </a:xfrm>
          <a:prstGeom prst="rect">
            <a:avLst/>
          </a:prstGeom>
          <a:noFill/>
          <a:extLst>
            <a:ext uri="{909E8E84-426E-40DD-AFC4-6F175D3DCCD1}">
              <a14:hiddenFill xmlns:a14="http://schemas.microsoft.com/office/drawing/2010/main">
                <a:solidFill>
                  <a:srgbClr val="FFFFFF"/>
                </a:solidFill>
              </a14:hiddenFill>
            </a:ext>
          </a:extLst>
        </p:spPr>
      </p:pic>
      <p:sp>
        <p:nvSpPr>
          <p:cNvPr id="8" name="Rectangle 7">
            <a:extLst>
              <a:ext uri="{FF2B5EF4-FFF2-40B4-BE49-F238E27FC236}">
                <a16:creationId xmlns:a16="http://schemas.microsoft.com/office/drawing/2014/main" id="{C00E82C2-B4DE-5747-BA6D-8AD8F96C612E}"/>
              </a:ext>
            </a:extLst>
          </p:cNvPr>
          <p:cNvSpPr/>
          <p:nvPr/>
        </p:nvSpPr>
        <p:spPr>
          <a:xfrm>
            <a:off x="5627907" y="6393425"/>
            <a:ext cx="7742776" cy="308674"/>
          </a:xfrm>
          <a:prstGeom prst="rect">
            <a:avLst/>
          </a:prstGeom>
        </p:spPr>
        <p:txBody>
          <a:bodyPr wrap="square">
            <a:spAutoFit/>
          </a:bodyPr>
          <a:lstStyle/>
          <a:p>
            <a:pPr defTabSz="914222"/>
            <a:r>
              <a:rPr lang="en-NO" sz="1406" dirty="0">
                <a:solidFill>
                  <a:prstClr val="black"/>
                </a:solidFill>
                <a:latin typeface="Arial" panose="020B0604020202020204"/>
              </a:rPr>
              <a:t>https://www.w3schools.com/python/python_ml_polynomial_regression.asp</a:t>
            </a:r>
          </a:p>
        </p:txBody>
      </p:sp>
    </p:spTree>
    <p:extLst>
      <p:ext uri="{BB962C8B-B14F-4D97-AF65-F5344CB8AC3E}">
        <p14:creationId xmlns:p14="http://schemas.microsoft.com/office/powerpoint/2010/main" val="148758943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EC8A144D-C80D-472F-9742-BB43490A5481}"/>
              </a:ext>
            </a:extLst>
          </p:cNvPr>
          <p:cNvSpPr>
            <a:spLocks noGrp="1"/>
          </p:cNvSpPr>
          <p:nvPr/>
        </p:nvSpPr>
        <p:spPr>
          <a:xfrm>
            <a:off x="0" y="0"/>
            <a:ext cx="12192000" cy="838200"/>
          </a:xfrm>
          <a:prstGeom prst="rect">
            <a:avLst/>
          </a:prstGeom>
          <a:solidFill>
            <a:srgbClr val="FFD900"/>
          </a:solid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a:cs typeface="Calibri"/>
            </a:endParaRPr>
          </a:p>
        </p:txBody>
      </p:sp>
      <p:sp>
        <p:nvSpPr>
          <p:cNvPr id="2" name="Rectangle 1">
            <a:extLst>
              <a:ext uri="{FF2B5EF4-FFF2-40B4-BE49-F238E27FC236}">
                <a16:creationId xmlns:a16="http://schemas.microsoft.com/office/drawing/2014/main" id="{CC5075E2-10CF-4A2E-A348-A0355FDEC425}"/>
              </a:ext>
            </a:extLst>
          </p:cNvPr>
          <p:cNvSpPr>
            <a:spLocks noGrp="1"/>
          </p:cNvSpPr>
          <p:nvPr/>
        </p:nvSpPr>
        <p:spPr>
          <a:xfrm>
            <a:off x="533400" y="171450"/>
            <a:ext cx="11049000" cy="52387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151515"/>
                </a:solidFill>
                <a:latin typeface="Arial"/>
                <a:ea typeface="Arial"/>
                <a:cs typeface="Arial"/>
              </a:defRPr>
            </a:pPr>
            <a:r>
              <a:rPr kumimoji="0" sz="2400" b="1" i="0" u="none" strike="noStrike" kern="1200" cap="none" spc="0" normalizeH="0" baseline="0" noProof="0">
                <a:ln>
                  <a:noFill/>
                </a:ln>
                <a:solidFill>
                  <a:srgbClr val="151515"/>
                </a:solidFill>
                <a:effectLst/>
                <a:uLnTx/>
                <a:uFillTx/>
                <a:latin typeface="Arial"/>
                <a:ea typeface="Arial"/>
                <a:cs typeface="Arial"/>
              </a:rPr>
              <a:t>Polynomial regression: the idea</a:t>
            </a:r>
          </a:p>
        </p:txBody>
      </p:sp>
      <p:sp>
        <p:nvSpPr>
          <p:cNvPr id="3" name="Rectangle 2">
            <a:extLst>
              <a:ext uri="{FF2B5EF4-FFF2-40B4-BE49-F238E27FC236}">
                <a16:creationId xmlns:a16="http://schemas.microsoft.com/office/drawing/2014/main" id="{8198248C-F06E-4DBA-92BB-97752A6249FF}"/>
              </a:ext>
            </a:extLst>
          </p:cNvPr>
          <p:cNvSpPr>
            <a:spLocks noGrp="1"/>
          </p:cNvSpPr>
          <p:nvPr/>
        </p:nvSpPr>
        <p:spPr>
          <a:xfrm>
            <a:off x="514350" y="6438900"/>
            <a:ext cx="5238750"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DAVE3625  |  Umair Mehmood Imam</a:t>
            </a:r>
          </a:p>
        </p:txBody>
      </p:sp>
      <p:sp>
        <p:nvSpPr>
          <p:cNvPr id="4" name="Rectangle 3">
            <a:extLst>
              <a:ext uri="{FF2B5EF4-FFF2-40B4-BE49-F238E27FC236}">
                <a16:creationId xmlns:a16="http://schemas.microsoft.com/office/drawing/2014/main" id="{86C959C5-5980-4316-A4C9-D55643D5693E}"/>
              </a:ext>
            </a:extLst>
          </p:cNvPr>
          <p:cNvSpPr>
            <a:spLocks noGrp="1"/>
          </p:cNvSpPr>
          <p:nvPr/>
        </p:nvSpPr>
        <p:spPr>
          <a:xfrm>
            <a:off x="8524875" y="6438900"/>
            <a:ext cx="3095625" cy="209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825" b="0">
                <a:solidFill>
                  <a:srgbClr val="555555"/>
                </a:solidFill>
                <a:latin typeface="Arial"/>
                <a:ea typeface="Arial"/>
                <a:cs typeface="Arial"/>
              </a:defRPr>
            </a:pPr>
            <a:r>
              <a:rPr kumimoji="0" sz="825" b="0" i="0" u="none" strike="noStrike" kern="1200" cap="none" spc="0" normalizeH="0" baseline="0" noProof="0">
                <a:ln>
                  <a:noFill/>
                </a:ln>
                <a:solidFill>
                  <a:srgbClr val="555555"/>
                </a:solidFill>
                <a:effectLst/>
                <a:uLnTx/>
                <a:uFillTx/>
                <a:latin typeface="Arial"/>
                <a:ea typeface="Arial"/>
                <a:cs typeface="Arial"/>
              </a:rPr>
              <a:t>MACHINE LEARNING III  |  16</a:t>
            </a:r>
          </a:p>
        </p:txBody>
      </p:sp>
      <p:sp>
        <p:nvSpPr>
          <p:cNvPr id="5" name="Rectangle 4">
            <a:extLst>
              <a:ext uri="{FF2B5EF4-FFF2-40B4-BE49-F238E27FC236}">
                <a16:creationId xmlns:a16="http://schemas.microsoft.com/office/drawing/2014/main" id="{6DE83BD3-5BFF-4CB8-935A-01F8734EC846}"/>
              </a:ext>
            </a:extLst>
          </p:cNvPr>
          <p:cNvSpPr>
            <a:spLocks noGrp="1"/>
          </p:cNvSpPr>
          <p:nvPr/>
        </p:nvSpPr>
        <p:spPr>
          <a:xfrm>
            <a:off x="781050" y="1600200"/>
            <a:ext cx="10572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246DA8"/>
                </a:solidFill>
                <a:latin typeface="Arial"/>
                <a:ea typeface="Arial"/>
                <a:cs typeface="Arial"/>
              </a:defRPr>
            </a:pPr>
            <a:r>
              <a:rPr kumimoji="0" sz="2400" b="1" i="0" u="none" strike="noStrike" kern="1200" cap="none" spc="0" normalizeH="0" baseline="0" noProof="0">
                <a:ln>
                  <a:noFill/>
                </a:ln>
                <a:solidFill>
                  <a:srgbClr val="246DA8"/>
                </a:solidFill>
                <a:effectLst/>
                <a:uLnTx/>
                <a:uFillTx/>
                <a:latin typeface="Arial"/>
                <a:ea typeface="Arial"/>
                <a:cs typeface="Arial"/>
              </a:rPr>
              <a:t>Linear regression: a straight line</a:t>
            </a:r>
          </a:p>
        </p:txBody>
      </p:sp>
      <p:sp>
        <p:nvSpPr>
          <p:cNvPr id="6" name="Rectangle 5">
            <a:extLst>
              <a:ext uri="{FF2B5EF4-FFF2-40B4-BE49-F238E27FC236}">
                <a16:creationId xmlns:a16="http://schemas.microsoft.com/office/drawing/2014/main" id="{DE8D04C8-6C18-42EC-B021-44622FA2204E}"/>
              </a:ext>
            </a:extLst>
          </p:cNvPr>
          <p:cNvSpPr>
            <a:spLocks noGrp="1"/>
          </p:cNvSpPr>
          <p:nvPr/>
        </p:nvSpPr>
        <p:spPr>
          <a:xfrm>
            <a:off x="781050" y="2724150"/>
            <a:ext cx="10572750" cy="6286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400" b="1">
                <a:solidFill>
                  <a:srgbClr val="7044A4"/>
                </a:solidFill>
                <a:latin typeface="Arial"/>
                <a:ea typeface="Arial"/>
                <a:cs typeface="Arial"/>
              </a:defRPr>
            </a:pPr>
            <a:r>
              <a:rPr kumimoji="0" sz="2400" b="1" i="0" u="none" strike="noStrike" kern="1200" cap="none" spc="0" normalizeH="0" baseline="0" noProof="0">
                <a:ln>
                  <a:noFill/>
                </a:ln>
                <a:solidFill>
                  <a:srgbClr val="7044A4"/>
                </a:solidFill>
                <a:effectLst/>
                <a:uLnTx/>
                <a:uFillTx/>
                <a:latin typeface="Arial"/>
                <a:ea typeface="Arial"/>
                <a:cs typeface="Arial"/>
              </a:rPr>
              <a:t>Polynomial regression: a curve</a:t>
            </a:r>
          </a:p>
        </p:txBody>
      </p:sp>
      <p:sp>
        <p:nvSpPr>
          <p:cNvPr id="7" name="Rectangle 6">
            <a:extLst>
              <a:ext uri="{FF2B5EF4-FFF2-40B4-BE49-F238E27FC236}">
                <a16:creationId xmlns:a16="http://schemas.microsoft.com/office/drawing/2014/main" id="{40C45CDC-AC07-4861-8DA1-9C8AC3229B70}"/>
              </a:ext>
            </a:extLst>
          </p:cNvPr>
          <p:cNvSpPr>
            <a:spLocks noGrp="1"/>
          </p:cNvSpPr>
          <p:nvPr/>
        </p:nvSpPr>
        <p:spPr>
          <a:xfrm>
            <a:off x="781050" y="3838575"/>
            <a:ext cx="10572750" cy="733425"/>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2175" b="0">
                <a:solidFill>
                  <a:srgbClr val="151515"/>
                </a:solidFill>
                <a:latin typeface="Arial"/>
                <a:ea typeface="Arial"/>
                <a:cs typeface="Arial"/>
              </a:defRPr>
            </a:pPr>
            <a:r>
              <a:rPr kumimoji="0" sz="2175" b="0" i="0" u="none" strike="noStrike" kern="1200" cap="none" spc="0" normalizeH="0" baseline="0" noProof="0">
                <a:ln>
                  <a:noFill/>
                </a:ln>
                <a:solidFill>
                  <a:srgbClr val="151515"/>
                </a:solidFill>
                <a:effectLst/>
                <a:uLnTx/>
                <a:uFillTx/>
                <a:latin typeface="Arial"/>
                <a:ea typeface="Arial"/>
                <a:cs typeface="Arial"/>
              </a:rPr>
              <a:t>It uses an extra feature such as time² to let the line bend.</a:t>
            </a:r>
          </a:p>
        </p:txBody>
      </p:sp>
      <p:sp>
        <p:nvSpPr>
          <p:cNvPr id="8" name="Rectangle 7">
            <a:extLst>
              <a:ext uri="{FF2B5EF4-FFF2-40B4-BE49-F238E27FC236}">
                <a16:creationId xmlns:a16="http://schemas.microsoft.com/office/drawing/2014/main" id="{58C9A004-E711-4B5E-8198-909EF24A03F3}"/>
              </a:ext>
            </a:extLst>
          </p:cNvPr>
          <p:cNvSpPr>
            <a:spLocks noGrp="1"/>
          </p:cNvSpPr>
          <p:nvPr/>
        </p:nvSpPr>
        <p:spPr>
          <a:xfrm>
            <a:off x="781050" y="5143500"/>
            <a:ext cx="10572750" cy="590550"/>
          </a:xfrm>
          <a:prstGeom prst="rect">
            <a:avLst/>
          </a:prstGeom>
          <a:noFill/>
          <a:ln w="0">
            <a:noFill/>
          </a:ln>
        </p:spPr>
        <p:txBody>
          <a:bodyP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800" b="0">
                <a:solidFill>
                  <a:srgbClr val="555555"/>
                </a:solidFill>
                <a:latin typeface="Arial"/>
                <a:ea typeface="Arial"/>
                <a:cs typeface="Arial"/>
              </a:defRPr>
            </a:pPr>
            <a:r>
              <a:rPr kumimoji="0" sz="1800" b="0" i="0" u="none" strike="noStrike" kern="1200" cap="none" spc="0" normalizeH="0" baseline="0" noProof="0">
                <a:ln>
                  <a:noFill/>
                </a:ln>
                <a:solidFill>
                  <a:srgbClr val="555555"/>
                </a:solidFill>
                <a:effectLst/>
                <a:uLnTx/>
                <a:uFillTx/>
                <a:latin typeface="Arial"/>
                <a:ea typeface="Arial"/>
                <a:cs typeface="Arial"/>
              </a:rPr>
              <a:t>In the example, demand rises and later falls.</a:t>
            </a:r>
          </a:p>
        </p:txBody>
      </p:sp>
    </p:spTree>
    <p:extLst>
      <p:ext uri="{BB962C8B-B14F-4D97-AF65-F5344CB8AC3E}">
        <p14:creationId xmlns:p14="http://schemas.microsoft.com/office/powerpoint/2010/main" val="19775676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3336390F-E70A-CE49-90BF-EAD36BD02635}"/>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pic>
        <p:nvPicPr>
          <p:cNvPr id="15362" name="Picture 2" descr="Image for post">
            <a:extLst>
              <a:ext uri="{FF2B5EF4-FFF2-40B4-BE49-F238E27FC236}">
                <a16:creationId xmlns:a16="http://schemas.microsoft.com/office/drawing/2014/main" id="{77DD4287-D8C1-2841-A111-FA2D3F17593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315" y="2033761"/>
            <a:ext cx="4950327" cy="3712746"/>
          </a:xfrm>
          <a:prstGeom prst="rect">
            <a:avLst/>
          </a:prstGeom>
          <a:noFill/>
          <a:extLst>
            <a:ext uri="{909E8E84-426E-40DD-AFC4-6F175D3DCCD1}">
              <a14:hiddenFill xmlns:a14="http://schemas.microsoft.com/office/drawing/2010/main">
                <a:solidFill>
                  <a:srgbClr val="FFFFFF"/>
                </a:solidFill>
              </a14:hiddenFill>
            </a:ext>
          </a:extLst>
        </p:spPr>
      </p:pic>
      <p:pic>
        <p:nvPicPr>
          <p:cNvPr id="15364" name="Picture 4" descr="Image for post">
            <a:extLst>
              <a:ext uri="{FF2B5EF4-FFF2-40B4-BE49-F238E27FC236}">
                <a16:creationId xmlns:a16="http://schemas.microsoft.com/office/drawing/2014/main" id="{6750A353-F552-9E4E-BE3E-84AB6C41C02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96000" y="2033760"/>
            <a:ext cx="4950327" cy="3712746"/>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629FAACE-A29F-864C-8270-ABC494B5BB24}"/>
              </a:ext>
            </a:extLst>
          </p:cNvPr>
          <p:cNvSpPr/>
          <p:nvPr/>
        </p:nvSpPr>
        <p:spPr>
          <a:xfrm>
            <a:off x="3230494" y="6479021"/>
            <a:ext cx="8673144" cy="308674"/>
          </a:xfrm>
          <a:prstGeom prst="rect">
            <a:avLst/>
          </a:prstGeom>
        </p:spPr>
        <p:txBody>
          <a:bodyPr wrap="square">
            <a:spAutoFit/>
          </a:bodyPr>
          <a:lstStyle/>
          <a:p>
            <a:pPr defTabSz="914222"/>
            <a:r>
              <a:rPr lang="en-NO" sz="1406" dirty="0">
                <a:solidFill>
                  <a:prstClr val="black"/>
                </a:solidFill>
                <a:latin typeface="Arial" panose="020B0604020202020204"/>
              </a:rPr>
              <a:t>https://towardsdatascience.com/introduction-to-linear-regression-and-polynomial-regression-f8adc96f31cb</a:t>
            </a:r>
          </a:p>
        </p:txBody>
      </p:sp>
      <p:sp>
        <p:nvSpPr>
          <p:cNvPr id="6" name="TextBox 5">
            <a:extLst>
              <a:ext uri="{FF2B5EF4-FFF2-40B4-BE49-F238E27FC236}">
                <a16:creationId xmlns:a16="http://schemas.microsoft.com/office/drawing/2014/main" id="{0297C32F-2027-494A-821D-77C9647EB833}"/>
              </a:ext>
            </a:extLst>
          </p:cNvPr>
          <p:cNvSpPr txBox="1"/>
          <p:nvPr/>
        </p:nvSpPr>
        <p:spPr>
          <a:xfrm>
            <a:off x="1835275" y="1690677"/>
            <a:ext cx="2790438" cy="369204"/>
          </a:xfrm>
          <a:prstGeom prst="rect">
            <a:avLst/>
          </a:prstGeom>
          <a:noFill/>
        </p:spPr>
        <p:txBody>
          <a:bodyPr wrap="square" rtlCol="0">
            <a:spAutoFit/>
          </a:bodyPr>
          <a:lstStyle/>
          <a:p>
            <a:pPr defTabSz="914222"/>
            <a:r>
              <a:rPr lang="en-NO" sz="1799" dirty="0">
                <a:solidFill>
                  <a:prstClr val="black"/>
                </a:solidFill>
                <a:latin typeface="Arial" panose="020B0604020202020204"/>
              </a:rPr>
              <a:t>Linear regression</a:t>
            </a:r>
          </a:p>
        </p:txBody>
      </p:sp>
      <p:sp>
        <p:nvSpPr>
          <p:cNvPr id="9" name="TextBox 8">
            <a:extLst>
              <a:ext uri="{FF2B5EF4-FFF2-40B4-BE49-F238E27FC236}">
                <a16:creationId xmlns:a16="http://schemas.microsoft.com/office/drawing/2014/main" id="{BC454080-C6FA-1A43-A14B-00657B4D907B}"/>
              </a:ext>
            </a:extLst>
          </p:cNvPr>
          <p:cNvSpPr txBox="1"/>
          <p:nvPr/>
        </p:nvSpPr>
        <p:spPr>
          <a:xfrm>
            <a:off x="7349722" y="1592254"/>
            <a:ext cx="2790438" cy="369204"/>
          </a:xfrm>
          <a:prstGeom prst="rect">
            <a:avLst/>
          </a:prstGeom>
          <a:noFill/>
        </p:spPr>
        <p:txBody>
          <a:bodyPr wrap="square" rtlCol="0">
            <a:spAutoFit/>
          </a:bodyPr>
          <a:lstStyle/>
          <a:p>
            <a:pPr defTabSz="914222"/>
            <a:r>
              <a:rPr lang="en-NO" sz="1799" dirty="0">
                <a:solidFill>
                  <a:prstClr val="black"/>
                </a:solidFill>
                <a:latin typeface="Arial" panose="020B0604020202020204"/>
              </a:rPr>
              <a:t>Polynomial regression</a:t>
            </a:r>
          </a:p>
        </p:txBody>
      </p:sp>
    </p:spTree>
    <p:extLst>
      <p:ext uri="{BB962C8B-B14F-4D97-AF65-F5344CB8AC3E}">
        <p14:creationId xmlns:p14="http://schemas.microsoft.com/office/powerpoint/2010/main" val="66264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04AAD0-4150-FA4D-8F11-1CFD4EEC5FE7}"/>
              </a:ext>
            </a:extLst>
          </p:cNvPr>
          <p:cNvSpPr>
            <a:spLocks noGrp="1"/>
          </p:cNvSpPr>
          <p:nvPr>
            <p:ph type="ctrTitle"/>
          </p:nvPr>
        </p:nvSpPr>
        <p:spPr>
          <a:xfrm>
            <a:off x="683315" y="2084957"/>
            <a:ext cx="11011443" cy="1518702"/>
          </a:xfrm>
        </p:spPr>
        <p:txBody>
          <a:bodyPr/>
          <a:lstStyle/>
          <a:p>
            <a:r>
              <a:rPr lang="en-NO" dirty="0"/>
              <a:t>Unsupervised machine learning</a:t>
            </a:r>
          </a:p>
        </p:txBody>
      </p:sp>
      <p:sp>
        <p:nvSpPr>
          <p:cNvPr id="8" name="TextBox 7">
            <a:extLst>
              <a:ext uri="{FF2B5EF4-FFF2-40B4-BE49-F238E27FC236}">
                <a16:creationId xmlns:a16="http://schemas.microsoft.com/office/drawing/2014/main" id="{07E729E1-A146-7E41-B9EA-45EF00CFD0C6}"/>
              </a:ext>
            </a:extLst>
          </p:cNvPr>
          <p:cNvSpPr txBox="1"/>
          <p:nvPr/>
        </p:nvSpPr>
        <p:spPr>
          <a:xfrm>
            <a:off x="1046003" y="4046172"/>
            <a:ext cx="10286067" cy="369204"/>
          </a:xfrm>
          <a:prstGeom prst="rect">
            <a:avLst/>
          </a:prstGeom>
          <a:noFill/>
        </p:spPr>
        <p:txBody>
          <a:bodyPr wrap="square" rtlCol="0">
            <a:spAutoFit/>
          </a:bodyPr>
          <a:lstStyle/>
          <a:p>
            <a:pPr defTabSz="914222"/>
            <a:r>
              <a:rPr lang="en-NO" sz="1799" dirty="0">
                <a:solidFill>
                  <a:prstClr val="black"/>
                </a:solidFill>
                <a:latin typeface="Arial" panose="020B0604020202020204"/>
              </a:rPr>
              <a:t>Looks for undetected patterns in a data set (with no labels and minimum human supervision)</a:t>
            </a:r>
          </a:p>
        </p:txBody>
      </p:sp>
    </p:spTree>
    <p:extLst>
      <p:ext uri="{BB962C8B-B14F-4D97-AF65-F5344CB8AC3E}">
        <p14:creationId xmlns:p14="http://schemas.microsoft.com/office/powerpoint/2010/main" val="18480219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3E68715-24F0-EF4E-B1B9-FF056B261D29}"/>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defRPr/>
            </a:pPr>
            <a:endParaRPr lang="en-NO" sz="1799">
              <a:solidFill>
                <a:prstClr val="white"/>
              </a:solidFill>
              <a:latin typeface="Arial" panose="020B0604020202020204"/>
            </a:endParaRPr>
          </a:p>
        </p:txBody>
      </p:sp>
      <p:sp>
        <p:nvSpPr>
          <p:cNvPr id="2" name="Title 1">
            <a:extLst>
              <a:ext uri="{FF2B5EF4-FFF2-40B4-BE49-F238E27FC236}">
                <a16:creationId xmlns:a16="http://schemas.microsoft.com/office/drawing/2014/main" id="{EF9D56AE-182C-F344-A1CC-EEA63DBE2FB1}"/>
              </a:ext>
            </a:extLst>
          </p:cNvPr>
          <p:cNvSpPr>
            <a:spLocks noGrp="1"/>
          </p:cNvSpPr>
          <p:nvPr>
            <p:ph type="title"/>
          </p:nvPr>
        </p:nvSpPr>
        <p:spPr>
          <a:xfrm>
            <a:off x="683315" y="414788"/>
            <a:ext cx="10806491" cy="467293"/>
          </a:xfrm>
        </p:spPr>
        <p:txBody>
          <a:bodyPr/>
          <a:lstStyle/>
          <a:p>
            <a:r>
              <a:rPr lang="en-NO" dirty="0"/>
              <a:t>Unsupervised learning</a:t>
            </a:r>
          </a:p>
        </p:txBody>
      </p:sp>
      <p:sp>
        <p:nvSpPr>
          <p:cNvPr id="4" name="Footer Placeholder 3">
            <a:extLst>
              <a:ext uri="{FF2B5EF4-FFF2-40B4-BE49-F238E27FC236}">
                <a16:creationId xmlns:a16="http://schemas.microsoft.com/office/drawing/2014/main" id="{0DC30149-B514-9D44-9EF7-341A304CA1F8}"/>
              </a:ext>
            </a:extLst>
          </p:cNvPr>
          <p:cNvSpPr>
            <a:spLocks noGrp="1"/>
          </p:cNvSpPr>
          <p:nvPr>
            <p:ph type="ftr" sz="quarter" idx="11"/>
          </p:nvPr>
        </p:nvSpPr>
        <p:spPr/>
        <p:txBody>
          <a:bodyPr/>
          <a:lstStyle/>
          <a:p>
            <a:pPr defTabSz="914222">
              <a:defRPr/>
            </a:pPr>
            <a:r>
              <a:rPr lang="nb-NO">
                <a:solidFill>
                  <a:prstClr val="black"/>
                </a:solidFill>
                <a:latin typeface="Arial" panose="020B0604020202020204"/>
              </a:rPr>
              <a:t>Introduction to A.I - Umair M.I</a:t>
            </a:r>
          </a:p>
        </p:txBody>
      </p:sp>
      <p:pic>
        <p:nvPicPr>
          <p:cNvPr id="4098" name="Picture 2" descr="unsupervised learning model - What is Machine learning and why is it important?  - Verzeo">
            <a:extLst>
              <a:ext uri="{FF2B5EF4-FFF2-40B4-BE49-F238E27FC236}">
                <a16:creationId xmlns:a16="http://schemas.microsoft.com/office/drawing/2014/main" id="{FFA8EC0A-0043-5A4C-8ED8-8EB55928D3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97364" y="1779989"/>
            <a:ext cx="9735239" cy="36219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306313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2BD09812-35C4-4C2D-8CDC-24684E49061B}"/>
              </a:ext>
            </a:extLst>
          </p:cNvPr>
          <p:cNvSpPr>
            <a:spLocks noGrp="1"/>
          </p:cNvSpPr>
          <p:nvPr/>
        </p:nvSpPr>
        <p:spPr>
          <a:xfrm>
            <a:off x="0" y="0"/>
            <a:ext cx="12192000" cy="838200"/>
          </a:xfrm>
          <a:prstGeom prst="rect">
            <a:avLst/>
          </a:prstGeom>
          <a:solidFill>
            <a:srgbClr val="FFD900"/>
          </a:solidFill>
          <a:ln w="0">
            <a:noFill/>
          </a:ln>
        </p:spPr>
        <p:txBody>
          <a:bodyPr/>
          <a:lstStyle/>
          <a:p>
            <a:endParaRPr lang="en-US"/>
          </a:p>
        </p:txBody>
      </p:sp>
      <p:sp>
        <p:nvSpPr>
          <p:cNvPr id="2" name="Rectangle 1">
            <a:extLst>
              <a:ext uri="{FF2B5EF4-FFF2-40B4-BE49-F238E27FC236}">
                <a16:creationId xmlns:a16="http://schemas.microsoft.com/office/drawing/2014/main" id="{04D3BE12-5D20-4499-B652-986B825B246C}"/>
              </a:ext>
            </a:extLst>
          </p:cNvPr>
          <p:cNvSpPr>
            <a:spLocks noGrp="1"/>
          </p:cNvSpPr>
          <p:nvPr/>
        </p:nvSpPr>
        <p:spPr>
          <a:xfrm>
            <a:off x="533400" y="171450"/>
            <a:ext cx="11049000" cy="523875"/>
          </a:xfrm>
          <a:prstGeom prst="rect">
            <a:avLst/>
          </a:prstGeom>
          <a:noFill/>
          <a:ln w="0">
            <a:noFill/>
          </a:ln>
        </p:spPr>
        <p:txBody>
          <a:bodyPr>
            <a:noAutofit/>
          </a:bodyPr>
          <a:lstStyle/>
          <a:p>
            <a:pPr>
              <a:defRPr sz="2400" b="1">
                <a:solidFill>
                  <a:srgbClr val="151515"/>
                </a:solidFill>
                <a:latin typeface="Arial"/>
                <a:ea typeface="Arial"/>
                <a:cs typeface="Arial"/>
              </a:defRPr>
            </a:pPr>
            <a:r>
              <a:rPr sz="2400" b="1">
                <a:solidFill>
                  <a:srgbClr val="151515"/>
                </a:solidFill>
                <a:latin typeface="Arial"/>
                <a:ea typeface="Arial"/>
                <a:cs typeface="Arial"/>
              </a:rPr>
              <a:t>Classification versus clustering</a:t>
            </a:r>
          </a:p>
        </p:txBody>
      </p:sp>
      <p:sp>
        <p:nvSpPr>
          <p:cNvPr id="3" name="Rectangle 2">
            <a:extLst>
              <a:ext uri="{FF2B5EF4-FFF2-40B4-BE49-F238E27FC236}">
                <a16:creationId xmlns:a16="http://schemas.microsoft.com/office/drawing/2014/main" id="{7BB44127-E3D4-41FE-9C0D-B9266BDCA06B}"/>
              </a:ext>
            </a:extLst>
          </p:cNvPr>
          <p:cNvSpPr>
            <a:spLocks noGrp="1"/>
          </p:cNvSpPr>
          <p:nvPr/>
        </p:nvSpPr>
        <p:spPr>
          <a:xfrm>
            <a:off x="514350" y="6438900"/>
            <a:ext cx="5238750"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DAVE3625  |  Umair Mehmood Imam</a:t>
            </a:r>
          </a:p>
        </p:txBody>
      </p:sp>
      <p:sp>
        <p:nvSpPr>
          <p:cNvPr id="4" name="Rectangle 3">
            <a:extLst>
              <a:ext uri="{FF2B5EF4-FFF2-40B4-BE49-F238E27FC236}">
                <a16:creationId xmlns:a16="http://schemas.microsoft.com/office/drawing/2014/main" id="{1987723F-0D28-4C7F-B680-787948CA28E1}"/>
              </a:ext>
            </a:extLst>
          </p:cNvPr>
          <p:cNvSpPr>
            <a:spLocks noGrp="1"/>
          </p:cNvSpPr>
          <p:nvPr/>
        </p:nvSpPr>
        <p:spPr>
          <a:xfrm>
            <a:off x="8524875" y="6438900"/>
            <a:ext cx="3095625"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MACHINE LEARNING III  |  16</a:t>
            </a:r>
          </a:p>
        </p:txBody>
      </p:sp>
      <p:sp>
        <p:nvSpPr>
          <p:cNvPr id="5" name="Rectangle 4">
            <a:extLst>
              <a:ext uri="{FF2B5EF4-FFF2-40B4-BE49-F238E27FC236}">
                <a16:creationId xmlns:a16="http://schemas.microsoft.com/office/drawing/2014/main" id="{EB971880-57EC-4D2C-953B-024093356E6F}"/>
              </a:ext>
            </a:extLst>
          </p:cNvPr>
          <p:cNvSpPr>
            <a:spLocks noGrp="1"/>
          </p:cNvSpPr>
          <p:nvPr/>
        </p:nvSpPr>
        <p:spPr>
          <a:xfrm>
            <a:off x="762000" y="1543050"/>
            <a:ext cx="5095875" cy="495300"/>
          </a:xfrm>
          <a:prstGeom prst="rect">
            <a:avLst/>
          </a:prstGeom>
          <a:noFill/>
          <a:ln w="0">
            <a:noFill/>
          </a:ln>
        </p:spPr>
        <p:txBody>
          <a:bodyPr>
            <a:noAutofit/>
          </a:bodyPr>
          <a:lstStyle/>
          <a:p>
            <a:pPr>
              <a:defRPr sz="2175" b="1">
                <a:solidFill>
                  <a:srgbClr val="246DA8"/>
                </a:solidFill>
                <a:latin typeface="Arial"/>
                <a:ea typeface="Arial"/>
                <a:cs typeface="Arial"/>
              </a:defRPr>
            </a:pPr>
            <a:r>
              <a:rPr sz="2175" b="1">
                <a:solidFill>
                  <a:srgbClr val="246DA8"/>
                </a:solidFill>
                <a:latin typeface="Arial"/>
                <a:ea typeface="Arial"/>
                <a:cs typeface="Arial"/>
              </a:rPr>
              <a:t>CLASSIFICATION</a:t>
            </a:r>
          </a:p>
        </p:txBody>
      </p:sp>
      <p:sp>
        <p:nvSpPr>
          <p:cNvPr id="6" name="Rectangle 5">
            <a:extLst>
              <a:ext uri="{FF2B5EF4-FFF2-40B4-BE49-F238E27FC236}">
                <a16:creationId xmlns:a16="http://schemas.microsoft.com/office/drawing/2014/main" id="{0CC72782-6C0D-403A-B6B5-2F13F3FE865C}"/>
              </a:ext>
            </a:extLst>
          </p:cNvPr>
          <p:cNvSpPr>
            <a:spLocks noGrp="1"/>
          </p:cNvSpPr>
          <p:nvPr/>
        </p:nvSpPr>
        <p:spPr>
          <a:xfrm>
            <a:off x="762000" y="2257425"/>
            <a:ext cx="5000625" cy="29527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We specify the categories before training.</a:t>
            </a:r>
          </a:p>
          <a:p>
            <a:endParaRPr sz="1725" b="0">
              <a:solidFill>
                <a:srgbClr val="151515"/>
              </a:solidFill>
              <a:latin typeface="Arial"/>
              <a:ea typeface="Arial"/>
              <a:cs typeface="Arial"/>
            </a:endParaRPr>
          </a:p>
          <a:p>
            <a:pPr>
              <a:defRPr sz="1725" b="0">
                <a:solidFill>
                  <a:srgbClr val="151515"/>
                </a:solidFill>
                <a:latin typeface="Arial"/>
                <a:ea typeface="Arial"/>
                <a:cs typeface="Arial"/>
              </a:defRPr>
            </a:pPr>
            <a:r>
              <a:rPr sz="1725" b="0">
                <a:solidFill>
                  <a:srgbClr val="151515"/>
                </a:solidFill>
                <a:latin typeface="Arial"/>
                <a:ea typeface="Arial"/>
                <a:cs typeface="Arial"/>
              </a:rPr>
              <a:t>The model learns from examples with those labels.</a:t>
            </a:r>
          </a:p>
        </p:txBody>
      </p:sp>
      <p:sp>
        <p:nvSpPr>
          <p:cNvPr id="7" name="Rectangle 6">
            <a:extLst>
              <a:ext uri="{FF2B5EF4-FFF2-40B4-BE49-F238E27FC236}">
                <a16:creationId xmlns:a16="http://schemas.microsoft.com/office/drawing/2014/main" id="{7B7ECDFA-DF6E-48EB-9D86-BFA822BB592F}"/>
              </a:ext>
            </a:extLst>
          </p:cNvPr>
          <p:cNvSpPr>
            <a:spLocks noGrp="1"/>
          </p:cNvSpPr>
          <p:nvPr/>
        </p:nvSpPr>
        <p:spPr>
          <a:xfrm>
            <a:off x="6286500" y="1543050"/>
            <a:ext cx="5095875" cy="495300"/>
          </a:xfrm>
          <a:prstGeom prst="rect">
            <a:avLst/>
          </a:prstGeom>
          <a:noFill/>
          <a:ln w="0">
            <a:noFill/>
          </a:ln>
        </p:spPr>
        <p:txBody>
          <a:bodyPr>
            <a:noAutofit/>
          </a:bodyPr>
          <a:lstStyle/>
          <a:p>
            <a:pPr>
              <a:defRPr sz="2175" b="1">
                <a:solidFill>
                  <a:srgbClr val="7044A4"/>
                </a:solidFill>
                <a:latin typeface="Arial"/>
                <a:ea typeface="Arial"/>
                <a:cs typeface="Arial"/>
              </a:defRPr>
            </a:pPr>
            <a:r>
              <a:rPr sz="2175" b="1">
                <a:solidFill>
                  <a:srgbClr val="7044A4"/>
                </a:solidFill>
                <a:latin typeface="Arial"/>
                <a:ea typeface="Arial"/>
                <a:cs typeface="Arial"/>
              </a:rPr>
              <a:t>CLUSTERING</a:t>
            </a:r>
          </a:p>
        </p:txBody>
      </p:sp>
      <p:sp>
        <p:nvSpPr>
          <p:cNvPr id="8" name="Rectangle 7">
            <a:extLst>
              <a:ext uri="{FF2B5EF4-FFF2-40B4-BE49-F238E27FC236}">
                <a16:creationId xmlns:a16="http://schemas.microsoft.com/office/drawing/2014/main" id="{C0A62608-3C43-4B09-B630-03EDE031B5D8}"/>
              </a:ext>
            </a:extLst>
          </p:cNvPr>
          <p:cNvSpPr>
            <a:spLocks noGrp="1"/>
          </p:cNvSpPr>
          <p:nvPr/>
        </p:nvSpPr>
        <p:spPr>
          <a:xfrm>
            <a:off x="6286500" y="2257425"/>
            <a:ext cx="5000625" cy="29527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The algorithm groups similar observations.</a:t>
            </a:r>
          </a:p>
          <a:p>
            <a:endParaRPr sz="1725" b="0">
              <a:solidFill>
                <a:srgbClr val="151515"/>
              </a:solidFill>
              <a:latin typeface="Arial"/>
              <a:ea typeface="Arial"/>
              <a:cs typeface="Arial"/>
            </a:endParaRPr>
          </a:p>
          <a:p>
            <a:pPr>
              <a:defRPr sz="1725" b="0">
                <a:solidFill>
                  <a:srgbClr val="151515"/>
                </a:solidFill>
                <a:latin typeface="Arial"/>
                <a:ea typeface="Arial"/>
                <a:cs typeface="Arial"/>
              </a:defRPr>
            </a:pPr>
            <a:r>
              <a:rPr sz="1725" b="0">
                <a:solidFill>
                  <a:srgbClr val="151515"/>
                </a:solidFill>
                <a:latin typeface="Arial"/>
                <a:ea typeface="Arial"/>
                <a:cs typeface="Arial"/>
              </a:rPr>
              <a:t>We inspect the groups before deciding whether they are useful.</a:t>
            </a:r>
          </a:p>
        </p:txBody>
      </p:sp>
    </p:spTree>
    <p:extLst>
      <p:ext uri="{BB962C8B-B14F-4D97-AF65-F5344CB8AC3E}">
        <p14:creationId xmlns:p14="http://schemas.microsoft.com/office/powerpoint/2010/main" val="186747332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8B4546B-5119-4040-98FB-E939680CC7B4}"/>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E87883DB-B1DF-544F-9EAE-25E80BD6F66A}"/>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a:solidFill>
                <a:prstClr val="white"/>
              </a:solidFill>
              <a:latin typeface="Arial" panose="020B0604020202020204"/>
            </a:endParaRPr>
          </a:p>
        </p:txBody>
      </p:sp>
      <p:sp>
        <p:nvSpPr>
          <p:cNvPr id="6" name="Title 1">
            <a:extLst>
              <a:ext uri="{FF2B5EF4-FFF2-40B4-BE49-F238E27FC236}">
                <a16:creationId xmlns:a16="http://schemas.microsoft.com/office/drawing/2014/main" id="{7CBB3060-246F-1F48-9134-7D7D89E56385}"/>
              </a:ext>
            </a:extLst>
          </p:cNvPr>
          <p:cNvSpPr>
            <a:spLocks noGrp="1"/>
          </p:cNvSpPr>
          <p:nvPr>
            <p:ph type="title"/>
          </p:nvPr>
        </p:nvSpPr>
        <p:spPr>
          <a:xfrm>
            <a:off x="495196" y="414788"/>
            <a:ext cx="10806491" cy="467293"/>
          </a:xfrm>
        </p:spPr>
        <p:txBody>
          <a:bodyPr/>
          <a:lstStyle/>
          <a:p>
            <a:r>
              <a:rPr lang="en-NO"/>
              <a:t>Clustering</a:t>
            </a:r>
            <a:endParaRPr lang="en-NO" dirty="0"/>
          </a:p>
        </p:txBody>
      </p:sp>
      <p:pic>
        <p:nvPicPr>
          <p:cNvPr id="2" name="Picture 2">
            <a:extLst>
              <a:ext uri="{FF2B5EF4-FFF2-40B4-BE49-F238E27FC236}">
                <a16:creationId xmlns:a16="http://schemas.microsoft.com/office/drawing/2014/main" id="{D395C0F1-99D1-7CDA-9EBF-9F27251946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680450" y="2308796"/>
            <a:ext cx="6831099" cy="28467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786691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12EA18A5-7E99-E846-9752-CD98627581E8}"/>
              </a:ext>
            </a:extLst>
          </p:cNvPr>
          <p:cNvSpPr>
            <a:spLocks noGrp="1"/>
          </p:cNvSpPr>
          <p:nvPr>
            <p:ph type="ftr" sz="quarter" idx="11"/>
          </p:nvPr>
        </p:nvSpPr>
        <p:spPr/>
        <p:txBody>
          <a:bodyPr/>
          <a:lstStyle/>
          <a:p>
            <a:r>
              <a:rPr lang="nb-NO"/>
              <a:t>DAVE3625- Intro to A.I. by Umair M.I</a:t>
            </a:r>
          </a:p>
        </p:txBody>
      </p:sp>
      <p:pic>
        <p:nvPicPr>
          <p:cNvPr id="1028" name="Picture 4" descr="What is Hierarchical Clustering?">
            <a:extLst>
              <a:ext uri="{FF2B5EF4-FFF2-40B4-BE49-F238E27FC236}">
                <a16:creationId xmlns:a16="http://schemas.microsoft.com/office/drawing/2014/main" id="{7523AA01-6A01-A640-8AD7-90BAAE358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0336" y="1663731"/>
            <a:ext cx="5453421" cy="4082775"/>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a:extLst>
              <a:ext uri="{FF2B5EF4-FFF2-40B4-BE49-F238E27FC236}">
                <a16:creationId xmlns:a16="http://schemas.microsoft.com/office/drawing/2014/main" id="{34880C7C-E958-774D-8165-15D1203CF7D5}"/>
              </a:ext>
            </a:extLst>
          </p:cNvPr>
          <p:cNvSpPr/>
          <p:nvPr/>
        </p:nvSpPr>
        <p:spPr>
          <a:xfrm>
            <a:off x="6790142" y="6420354"/>
            <a:ext cx="6094884" cy="287002"/>
          </a:xfrm>
          <a:prstGeom prst="rect">
            <a:avLst/>
          </a:prstGeom>
        </p:spPr>
        <p:txBody>
          <a:bodyPr>
            <a:spAutoFit/>
          </a:bodyPr>
          <a:lstStyle/>
          <a:p>
            <a:r>
              <a:rPr lang="en-NO" sz="1265" dirty="0"/>
              <a:t>https://miro.medium.com/max/561/0*ff7kw5DRQbs_uixR.jpg</a:t>
            </a:r>
          </a:p>
        </p:txBody>
      </p:sp>
    </p:spTree>
    <p:extLst>
      <p:ext uri="{BB962C8B-B14F-4D97-AF65-F5344CB8AC3E}">
        <p14:creationId xmlns:p14="http://schemas.microsoft.com/office/powerpoint/2010/main" val="104774439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552FE88-0EAF-401B-8EE7-5DB876B680FB}"/>
              </a:ext>
            </a:extLst>
          </p:cNvPr>
          <p:cNvSpPr>
            <a:spLocks noGrp="1"/>
          </p:cNvSpPr>
          <p:nvPr/>
        </p:nvSpPr>
        <p:spPr>
          <a:xfrm>
            <a:off x="0" y="0"/>
            <a:ext cx="12192000" cy="838200"/>
          </a:xfrm>
          <a:prstGeom prst="rect">
            <a:avLst/>
          </a:prstGeom>
          <a:solidFill>
            <a:srgbClr val="FFD900"/>
          </a:solidFill>
          <a:ln w="0">
            <a:noFill/>
          </a:ln>
        </p:spPr>
        <p:txBody>
          <a:bodyPr/>
          <a:lstStyle/>
          <a:p>
            <a:endParaRPr lang="en-US"/>
          </a:p>
        </p:txBody>
      </p:sp>
      <p:sp>
        <p:nvSpPr>
          <p:cNvPr id="2" name="Rectangle 1">
            <a:extLst>
              <a:ext uri="{FF2B5EF4-FFF2-40B4-BE49-F238E27FC236}">
                <a16:creationId xmlns:a16="http://schemas.microsoft.com/office/drawing/2014/main" id="{FD464AD9-7DDD-4A0D-92C1-9240C3EBF995}"/>
              </a:ext>
            </a:extLst>
          </p:cNvPr>
          <p:cNvSpPr>
            <a:spLocks noGrp="1"/>
          </p:cNvSpPr>
          <p:nvPr/>
        </p:nvSpPr>
        <p:spPr>
          <a:xfrm>
            <a:off x="533400" y="171450"/>
            <a:ext cx="11049000" cy="523875"/>
          </a:xfrm>
          <a:prstGeom prst="rect">
            <a:avLst/>
          </a:prstGeom>
          <a:noFill/>
          <a:ln w="0">
            <a:noFill/>
          </a:ln>
        </p:spPr>
        <p:txBody>
          <a:bodyPr>
            <a:noAutofit/>
          </a:bodyPr>
          <a:lstStyle/>
          <a:p>
            <a:pPr>
              <a:defRPr sz="2400" b="1">
                <a:solidFill>
                  <a:srgbClr val="151515"/>
                </a:solidFill>
                <a:latin typeface="Arial"/>
                <a:ea typeface="Arial"/>
                <a:cs typeface="Arial"/>
              </a:defRPr>
            </a:pPr>
            <a:r>
              <a:rPr sz="2400" b="1">
                <a:solidFill>
                  <a:srgbClr val="151515"/>
                </a:solidFill>
                <a:latin typeface="Arial"/>
                <a:ea typeface="Arial"/>
                <a:cs typeface="Arial"/>
              </a:rPr>
              <a:t>A dataset without labels</a:t>
            </a:r>
          </a:p>
        </p:txBody>
      </p:sp>
      <p:sp>
        <p:nvSpPr>
          <p:cNvPr id="3" name="Rectangle 2">
            <a:extLst>
              <a:ext uri="{FF2B5EF4-FFF2-40B4-BE49-F238E27FC236}">
                <a16:creationId xmlns:a16="http://schemas.microsoft.com/office/drawing/2014/main" id="{A8624875-7C71-485F-BFEE-0CCCA01080AC}"/>
              </a:ext>
            </a:extLst>
          </p:cNvPr>
          <p:cNvSpPr>
            <a:spLocks noGrp="1"/>
          </p:cNvSpPr>
          <p:nvPr/>
        </p:nvSpPr>
        <p:spPr>
          <a:xfrm>
            <a:off x="514350" y="6438900"/>
            <a:ext cx="5238750"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DAVE3625  |  Umair Mehmood Imam</a:t>
            </a:r>
          </a:p>
        </p:txBody>
      </p:sp>
      <p:sp>
        <p:nvSpPr>
          <p:cNvPr id="4" name="Rectangle 3">
            <a:extLst>
              <a:ext uri="{FF2B5EF4-FFF2-40B4-BE49-F238E27FC236}">
                <a16:creationId xmlns:a16="http://schemas.microsoft.com/office/drawing/2014/main" id="{745F70D2-9254-4CEE-AB62-1B59BEA4239C}"/>
              </a:ext>
            </a:extLst>
          </p:cNvPr>
          <p:cNvSpPr>
            <a:spLocks noGrp="1"/>
          </p:cNvSpPr>
          <p:nvPr/>
        </p:nvSpPr>
        <p:spPr>
          <a:xfrm>
            <a:off x="8524875" y="6438900"/>
            <a:ext cx="3095625"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MACHINE LEARNING III  |  18</a:t>
            </a:r>
          </a:p>
        </p:txBody>
      </p:sp>
      <p:graphicFrame>
        <p:nvGraphicFramePr>
          <p:cNvPr id="11" name="Chart"/>
          <p:cNvGraphicFramePr/>
          <p:nvPr/>
        </p:nvGraphicFramePr>
        <p:xfrm>
          <a:off x="1857375" y="1285875"/>
          <a:ext cx="857250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3F769964-40BE-47C5-860B-628D1DE1F3C5}"/>
              </a:ext>
            </a:extLst>
          </p:cNvPr>
          <p:cNvSpPr>
            <a:spLocks noGrp="1"/>
          </p:cNvSpPr>
          <p:nvPr/>
        </p:nvSpPr>
        <p:spPr>
          <a:xfrm>
            <a:off x="1352550" y="5667375"/>
            <a:ext cx="9429750" cy="457200"/>
          </a:xfrm>
          <a:prstGeom prst="rect">
            <a:avLst/>
          </a:prstGeom>
          <a:noFill/>
          <a:ln w="0">
            <a:noFill/>
          </a:ln>
        </p:spPr>
        <p:txBody>
          <a:bodyPr>
            <a:noAutofit/>
          </a:bodyPr>
          <a:lstStyle/>
          <a:p>
            <a:pPr>
              <a:defRPr sz="1500" b="0">
                <a:solidFill>
                  <a:srgbClr val="555555"/>
                </a:solidFill>
                <a:latin typeface="Arial"/>
                <a:ea typeface="Arial"/>
                <a:cs typeface="Arial"/>
              </a:defRPr>
            </a:pPr>
            <a:r>
              <a:rPr sz="1500" b="0">
                <a:solidFill>
                  <a:srgbClr val="555555"/>
                </a:solidFill>
                <a:latin typeface="Arial"/>
                <a:ea typeface="Arial"/>
                <a:cs typeface="Arial"/>
              </a:rPr>
              <a:t>We have measurements for each point, but no group labels.</a:t>
            </a:r>
          </a:p>
        </p:txBody>
      </p:sp>
    </p:spTree>
    <p:extLst>
      <p:ext uri="{BB962C8B-B14F-4D97-AF65-F5344CB8AC3E}">
        <p14:creationId xmlns:p14="http://schemas.microsoft.com/office/powerpoint/2010/main" val="14210999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10302559-D649-458C-8B46-D6101D1DDE33}"/>
              </a:ext>
            </a:extLst>
          </p:cNvPr>
          <p:cNvSpPr>
            <a:spLocks noGrp="1"/>
          </p:cNvSpPr>
          <p:nvPr/>
        </p:nvSpPr>
        <p:spPr>
          <a:xfrm>
            <a:off x="0" y="0"/>
            <a:ext cx="12192000" cy="838200"/>
          </a:xfrm>
          <a:prstGeom prst="rect">
            <a:avLst/>
          </a:prstGeom>
          <a:solidFill>
            <a:srgbClr val="FFD900"/>
          </a:solidFill>
          <a:ln w="0">
            <a:noFill/>
          </a:ln>
        </p:spPr>
        <p:txBody>
          <a:bodyPr/>
          <a:lstStyle/>
          <a:p>
            <a:endParaRPr lang="en-US"/>
          </a:p>
        </p:txBody>
      </p:sp>
      <p:sp>
        <p:nvSpPr>
          <p:cNvPr id="2" name="Rectangle 1">
            <a:extLst>
              <a:ext uri="{FF2B5EF4-FFF2-40B4-BE49-F238E27FC236}">
                <a16:creationId xmlns:a16="http://schemas.microsoft.com/office/drawing/2014/main" id="{73DFB87A-51BB-4B14-B273-35B332C58E16}"/>
              </a:ext>
            </a:extLst>
          </p:cNvPr>
          <p:cNvSpPr>
            <a:spLocks noGrp="1"/>
          </p:cNvSpPr>
          <p:nvPr/>
        </p:nvSpPr>
        <p:spPr>
          <a:xfrm>
            <a:off x="533400" y="171450"/>
            <a:ext cx="11049000" cy="523875"/>
          </a:xfrm>
          <a:prstGeom prst="rect">
            <a:avLst/>
          </a:prstGeom>
          <a:noFill/>
          <a:ln w="0">
            <a:noFill/>
          </a:ln>
        </p:spPr>
        <p:txBody>
          <a:bodyPr>
            <a:noAutofit/>
          </a:bodyPr>
          <a:lstStyle/>
          <a:p>
            <a:pPr>
              <a:defRPr sz="2400" b="1">
                <a:solidFill>
                  <a:srgbClr val="151515"/>
                </a:solidFill>
                <a:latin typeface="Arial"/>
                <a:ea typeface="Arial"/>
                <a:cs typeface="Arial"/>
              </a:defRPr>
            </a:pPr>
            <a:r>
              <a:rPr lang="nb-NO" sz="2400" b="1" dirty="0" err="1">
                <a:solidFill>
                  <a:srgbClr val="151515"/>
                </a:solidFill>
                <a:latin typeface="Arial"/>
                <a:ea typeface="Arial"/>
                <a:cs typeface="Arial"/>
              </a:rPr>
              <a:t>Examples</a:t>
            </a:r>
            <a:r>
              <a:rPr lang="nb-NO" sz="2400" b="1" dirty="0">
                <a:solidFill>
                  <a:srgbClr val="151515"/>
                </a:solidFill>
                <a:latin typeface="Arial"/>
                <a:ea typeface="Arial"/>
                <a:cs typeface="Arial"/>
              </a:rPr>
              <a:t>: w</a:t>
            </a:r>
            <a:r>
              <a:rPr sz="2400" b="1" dirty="0">
                <a:solidFill>
                  <a:srgbClr val="151515"/>
                </a:solidFill>
                <a:latin typeface="Arial"/>
                <a:ea typeface="Arial"/>
                <a:cs typeface="Arial"/>
              </a:rPr>
              <a:t>hat can clustering reveal?</a:t>
            </a:r>
          </a:p>
        </p:txBody>
      </p:sp>
      <p:sp>
        <p:nvSpPr>
          <p:cNvPr id="3" name="Rectangle 2">
            <a:extLst>
              <a:ext uri="{FF2B5EF4-FFF2-40B4-BE49-F238E27FC236}">
                <a16:creationId xmlns:a16="http://schemas.microsoft.com/office/drawing/2014/main" id="{A430E0B8-5AE2-455C-BCBA-7EEC9F93D22C}"/>
              </a:ext>
            </a:extLst>
          </p:cNvPr>
          <p:cNvSpPr>
            <a:spLocks noGrp="1"/>
          </p:cNvSpPr>
          <p:nvPr/>
        </p:nvSpPr>
        <p:spPr>
          <a:xfrm>
            <a:off x="514350" y="6438900"/>
            <a:ext cx="5238750"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DAVE3625  |  Umair Mehmood Imam</a:t>
            </a:r>
          </a:p>
        </p:txBody>
      </p:sp>
      <p:sp>
        <p:nvSpPr>
          <p:cNvPr id="4" name="Rectangle 3">
            <a:extLst>
              <a:ext uri="{FF2B5EF4-FFF2-40B4-BE49-F238E27FC236}">
                <a16:creationId xmlns:a16="http://schemas.microsoft.com/office/drawing/2014/main" id="{82A4DC6C-8E59-4F30-9AB7-0DDD1C11F5A1}"/>
              </a:ext>
            </a:extLst>
          </p:cNvPr>
          <p:cNvSpPr>
            <a:spLocks noGrp="1"/>
          </p:cNvSpPr>
          <p:nvPr/>
        </p:nvSpPr>
        <p:spPr>
          <a:xfrm>
            <a:off x="8524875" y="6438900"/>
            <a:ext cx="3095625"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MACHINE LEARNING III  |  17</a:t>
            </a:r>
          </a:p>
        </p:txBody>
      </p:sp>
      <p:sp>
        <p:nvSpPr>
          <p:cNvPr id="5" name="Rectangle 4">
            <a:extLst>
              <a:ext uri="{FF2B5EF4-FFF2-40B4-BE49-F238E27FC236}">
                <a16:creationId xmlns:a16="http://schemas.microsoft.com/office/drawing/2014/main" id="{D488098F-D9DC-441A-B6A4-825D1D9FDB4D}"/>
              </a:ext>
            </a:extLst>
          </p:cNvPr>
          <p:cNvSpPr>
            <a:spLocks noGrp="1"/>
          </p:cNvSpPr>
          <p:nvPr/>
        </p:nvSpPr>
        <p:spPr>
          <a:xfrm>
            <a:off x="800100" y="142875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Transport</a:t>
            </a:r>
          </a:p>
        </p:txBody>
      </p:sp>
      <p:sp>
        <p:nvSpPr>
          <p:cNvPr id="6" name="Rectangle 5">
            <a:extLst>
              <a:ext uri="{FF2B5EF4-FFF2-40B4-BE49-F238E27FC236}">
                <a16:creationId xmlns:a16="http://schemas.microsoft.com/office/drawing/2014/main" id="{C53022A4-3014-45F3-9E17-8712F0BC8EEF}"/>
              </a:ext>
            </a:extLst>
          </p:cNvPr>
          <p:cNvSpPr>
            <a:spLocks noGrp="1"/>
          </p:cNvSpPr>
          <p:nvPr/>
        </p:nvSpPr>
        <p:spPr>
          <a:xfrm>
            <a:off x="3571875" y="142875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dirty="0">
                <a:solidFill>
                  <a:srgbClr val="151515"/>
                </a:solidFill>
                <a:latin typeface="Arial"/>
                <a:ea typeface="Arial"/>
                <a:cs typeface="Arial"/>
              </a:rPr>
              <a:t>Trips with similar distance and departure time</a:t>
            </a:r>
          </a:p>
        </p:txBody>
      </p:sp>
      <p:sp>
        <p:nvSpPr>
          <p:cNvPr id="7" name="Rectangle 6">
            <a:extLst>
              <a:ext uri="{FF2B5EF4-FFF2-40B4-BE49-F238E27FC236}">
                <a16:creationId xmlns:a16="http://schemas.microsoft.com/office/drawing/2014/main" id="{D806E1F1-4753-4B69-872E-2E4A304ED17F}"/>
              </a:ext>
            </a:extLst>
          </p:cNvPr>
          <p:cNvSpPr>
            <a:spLocks noGrp="1"/>
          </p:cNvSpPr>
          <p:nvPr/>
        </p:nvSpPr>
        <p:spPr>
          <a:xfrm>
            <a:off x="800100" y="247650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Energy</a:t>
            </a:r>
          </a:p>
        </p:txBody>
      </p:sp>
      <p:sp>
        <p:nvSpPr>
          <p:cNvPr id="8" name="Rectangle 7">
            <a:extLst>
              <a:ext uri="{FF2B5EF4-FFF2-40B4-BE49-F238E27FC236}">
                <a16:creationId xmlns:a16="http://schemas.microsoft.com/office/drawing/2014/main" id="{885EA79B-DDAB-408A-ADB6-B47917D270C0}"/>
              </a:ext>
            </a:extLst>
          </p:cNvPr>
          <p:cNvSpPr>
            <a:spLocks noGrp="1"/>
          </p:cNvSpPr>
          <p:nvPr/>
        </p:nvSpPr>
        <p:spPr>
          <a:xfrm>
            <a:off x="3571875" y="247650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dirty="0">
                <a:solidFill>
                  <a:srgbClr val="151515"/>
                </a:solidFill>
                <a:latin typeface="Arial"/>
                <a:ea typeface="Arial"/>
                <a:cs typeface="Arial"/>
              </a:rPr>
              <a:t>Buildings with similar usage patterns</a:t>
            </a:r>
          </a:p>
        </p:txBody>
      </p:sp>
      <p:sp>
        <p:nvSpPr>
          <p:cNvPr id="9" name="Rectangle 8">
            <a:extLst>
              <a:ext uri="{FF2B5EF4-FFF2-40B4-BE49-F238E27FC236}">
                <a16:creationId xmlns:a16="http://schemas.microsoft.com/office/drawing/2014/main" id="{E7A7270C-2B41-4340-8827-21E75AA7EAF5}"/>
              </a:ext>
            </a:extLst>
          </p:cNvPr>
          <p:cNvSpPr>
            <a:spLocks noGrp="1"/>
          </p:cNvSpPr>
          <p:nvPr/>
        </p:nvSpPr>
        <p:spPr>
          <a:xfrm>
            <a:off x="800100" y="352425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Documents</a:t>
            </a:r>
          </a:p>
        </p:txBody>
      </p:sp>
      <p:sp>
        <p:nvSpPr>
          <p:cNvPr id="10" name="Rectangle 9">
            <a:extLst>
              <a:ext uri="{FF2B5EF4-FFF2-40B4-BE49-F238E27FC236}">
                <a16:creationId xmlns:a16="http://schemas.microsoft.com/office/drawing/2014/main" id="{8A229D14-1D8A-43FC-90A6-D1875662C4B5}"/>
              </a:ext>
            </a:extLst>
          </p:cNvPr>
          <p:cNvSpPr>
            <a:spLocks noGrp="1"/>
          </p:cNvSpPr>
          <p:nvPr/>
        </p:nvSpPr>
        <p:spPr>
          <a:xfrm>
            <a:off x="3571875" y="352425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dirty="0">
                <a:solidFill>
                  <a:srgbClr val="151515"/>
                </a:solidFill>
                <a:latin typeface="Arial"/>
                <a:ea typeface="Arial"/>
                <a:cs typeface="Arial"/>
              </a:rPr>
              <a:t>Texts with similar measured features</a:t>
            </a:r>
          </a:p>
        </p:txBody>
      </p:sp>
      <p:sp>
        <p:nvSpPr>
          <p:cNvPr id="11" name="Rectangle 10">
            <a:extLst>
              <a:ext uri="{FF2B5EF4-FFF2-40B4-BE49-F238E27FC236}">
                <a16:creationId xmlns:a16="http://schemas.microsoft.com/office/drawing/2014/main" id="{B42CAE3A-3E54-47E7-A32D-C17F1C00D53C}"/>
              </a:ext>
            </a:extLst>
          </p:cNvPr>
          <p:cNvSpPr>
            <a:spLocks noGrp="1"/>
          </p:cNvSpPr>
          <p:nvPr/>
        </p:nvSpPr>
        <p:spPr>
          <a:xfrm>
            <a:off x="800100" y="457200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Limit</a:t>
            </a:r>
          </a:p>
        </p:txBody>
      </p:sp>
      <p:sp>
        <p:nvSpPr>
          <p:cNvPr id="12" name="Rectangle 11">
            <a:extLst>
              <a:ext uri="{FF2B5EF4-FFF2-40B4-BE49-F238E27FC236}">
                <a16:creationId xmlns:a16="http://schemas.microsoft.com/office/drawing/2014/main" id="{FCA87B0B-07E8-4328-9570-29FFAF249E9B}"/>
              </a:ext>
            </a:extLst>
          </p:cNvPr>
          <p:cNvSpPr>
            <a:spLocks noGrp="1"/>
          </p:cNvSpPr>
          <p:nvPr/>
        </p:nvSpPr>
        <p:spPr>
          <a:xfrm>
            <a:off x="3571875" y="457200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dirty="0">
                <a:solidFill>
                  <a:srgbClr val="151515"/>
                </a:solidFill>
                <a:latin typeface="Arial"/>
                <a:ea typeface="Arial"/>
                <a:cs typeface="Arial"/>
              </a:rPr>
              <a:t>A group may reflect data collection or feature scaling</a:t>
            </a:r>
          </a:p>
        </p:txBody>
      </p:sp>
    </p:spTree>
    <p:extLst>
      <p:ext uri="{BB962C8B-B14F-4D97-AF65-F5344CB8AC3E}">
        <p14:creationId xmlns:p14="http://schemas.microsoft.com/office/powerpoint/2010/main" val="17818344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10" grpId="0"/>
      <p:bldP spid="11" grpId="0"/>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8B4546B-5119-4040-98FB-E939680CC7B4}"/>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E87883DB-B1DF-544F-9EAE-25E80BD6F66A}"/>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a:solidFill>
                <a:prstClr val="white"/>
              </a:solidFill>
              <a:latin typeface="Arial" panose="020B0604020202020204"/>
            </a:endParaRPr>
          </a:p>
        </p:txBody>
      </p:sp>
      <p:sp>
        <p:nvSpPr>
          <p:cNvPr id="6" name="Title 1">
            <a:extLst>
              <a:ext uri="{FF2B5EF4-FFF2-40B4-BE49-F238E27FC236}">
                <a16:creationId xmlns:a16="http://schemas.microsoft.com/office/drawing/2014/main" id="{7CBB3060-246F-1F48-9134-7D7D89E56385}"/>
              </a:ext>
            </a:extLst>
          </p:cNvPr>
          <p:cNvSpPr>
            <a:spLocks noGrp="1"/>
          </p:cNvSpPr>
          <p:nvPr>
            <p:ph type="title"/>
          </p:nvPr>
        </p:nvSpPr>
        <p:spPr>
          <a:xfrm>
            <a:off x="495196" y="414788"/>
            <a:ext cx="10806491" cy="467293"/>
          </a:xfrm>
        </p:spPr>
        <p:txBody>
          <a:bodyPr/>
          <a:lstStyle/>
          <a:p>
            <a:r>
              <a:rPr lang="en-NO" dirty="0"/>
              <a:t>K-Means Clustering</a:t>
            </a:r>
          </a:p>
        </p:txBody>
      </p:sp>
      <p:sp>
        <p:nvSpPr>
          <p:cNvPr id="7" name="Content Placeholder 2">
            <a:extLst>
              <a:ext uri="{FF2B5EF4-FFF2-40B4-BE49-F238E27FC236}">
                <a16:creationId xmlns:a16="http://schemas.microsoft.com/office/drawing/2014/main" id="{D5CF3A5E-D6A5-5F46-A7C6-DBC68B346771}"/>
              </a:ext>
            </a:extLst>
          </p:cNvPr>
          <p:cNvSpPr txBox="1">
            <a:spLocks/>
          </p:cNvSpPr>
          <p:nvPr/>
        </p:nvSpPr>
        <p:spPr>
          <a:xfrm>
            <a:off x="1106507" y="2660863"/>
            <a:ext cx="11085494" cy="1182766"/>
          </a:xfrm>
          <a:prstGeom prst="rect">
            <a:avLst/>
          </a:prstGeom>
        </p:spPr>
        <p:txBody>
          <a:bodyPr vert="horz" lIns="0" tIns="0" rIns="0" bIns="0" rtlCol="0">
            <a:normAutofit/>
          </a:bodyPr>
          <a:lstStyle>
            <a:lvl1pPr marL="325069" indent="-325069" algn="l" defTabSz="1300277" rtl="0" eaLnBrk="1" latinLnBrk="0" hangingPunct="1">
              <a:lnSpc>
                <a:spcPct val="100000"/>
              </a:lnSpc>
              <a:spcBef>
                <a:spcPts val="0"/>
              </a:spcBef>
              <a:spcAft>
                <a:spcPts val="1000"/>
              </a:spcAft>
              <a:buClrTx/>
              <a:buFont typeface="Arial" panose="020B0604020202020204" pitchFamily="34" charset="0"/>
              <a:buChar char="•"/>
              <a:defRPr sz="3600" kern="1200">
                <a:solidFill>
                  <a:schemeClr val="tx1"/>
                </a:solidFill>
                <a:latin typeface="+mn-lt"/>
                <a:ea typeface="+mn-ea"/>
                <a:cs typeface="+mn-cs"/>
              </a:defRPr>
            </a:lvl1pPr>
            <a:lvl2pPr marL="650138" indent="-325069" algn="l" defTabSz="1300277" rtl="0" eaLnBrk="1" latinLnBrk="0" hangingPunct="1">
              <a:lnSpc>
                <a:spcPct val="100000"/>
              </a:lnSpc>
              <a:spcBef>
                <a:spcPts val="500"/>
              </a:spcBef>
              <a:buClrTx/>
              <a:buFont typeface="Arial" panose="020B0604020202020204" pitchFamily="34" charset="0"/>
              <a:buChar char="•"/>
              <a:defRPr sz="3200" kern="1200">
                <a:solidFill>
                  <a:schemeClr val="tx1"/>
                </a:solidFill>
                <a:latin typeface="+mn-lt"/>
                <a:ea typeface="+mn-ea"/>
                <a:cs typeface="+mn-cs"/>
              </a:defRPr>
            </a:lvl2pPr>
            <a:lvl3pPr marL="975207" indent="-325069" algn="l" defTabSz="1300277" rtl="0" eaLnBrk="1" latinLnBrk="0" hangingPunct="1">
              <a:lnSpc>
                <a:spcPct val="100000"/>
              </a:lnSpc>
              <a:spcBef>
                <a:spcPts val="500"/>
              </a:spcBef>
              <a:buClrTx/>
              <a:buFont typeface="Arial" panose="020B0604020202020204" pitchFamily="34" charset="0"/>
              <a:buChar char="•"/>
              <a:defRPr sz="2800" kern="1200">
                <a:solidFill>
                  <a:schemeClr val="tx1"/>
                </a:solidFill>
                <a:latin typeface="+mn-lt"/>
                <a:ea typeface="+mn-ea"/>
                <a:cs typeface="+mn-cs"/>
              </a:defRPr>
            </a:lvl3pPr>
            <a:lvl4pPr marL="1300276" indent="-325069" algn="l" defTabSz="1300277" rtl="0" eaLnBrk="1" latinLnBrk="0" hangingPunct="1">
              <a:lnSpc>
                <a:spcPct val="100000"/>
              </a:lnSpc>
              <a:spcBef>
                <a:spcPts val="500"/>
              </a:spcBef>
              <a:buClrTx/>
              <a:buFont typeface="Arial" panose="020B0604020202020204" pitchFamily="34" charset="0"/>
              <a:buChar char="•"/>
              <a:defRPr sz="2400" kern="1200">
                <a:solidFill>
                  <a:schemeClr val="tx1"/>
                </a:solidFill>
                <a:latin typeface="+mn-lt"/>
                <a:ea typeface="+mn-ea"/>
                <a:cs typeface="+mn-cs"/>
              </a:defRPr>
            </a:lvl4pPr>
            <a:lvl5pPr marL="1625345" indent="-325069" algn="l" defTabSz="1300277" rtl="0" eaLnBrk="1" latinLnBrk="0" hangingPunct="1">
              <a:lnSpc>
                <a:spcPct val="100000"/>
              </a:lnSpc>
              <a:spcBef>
                <a:spcPts val="500"/>
              </a:spcBef>
              <a:buClrTx/>
              <a:buFont typeface="Arial" panose="020B0604020202020204" pitchFamily="34" charset="0"/>
              <a:buChar char="•"/>
              <a:defRPr sz="2000" kern="1200">
                <a:solidFill>
                  <a:schemeClr val="tx1"/>
                </a:solidFill>
                <a:latin typeface="+mn-lt"/>
                <a:ea typeface="+mn-ea"/>
                <a:cs typeface="+mn-cs"/>
              </a:defRPr>
            </a:lvl5pPr>
            <a:lvl6pPr marL="3575761"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6pPr>
            <a:lvl7pPr marL="4225900"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7pPr>
            <a:lvl8pPr marL="4876038"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8pPr>
            <a:lvl9pPr marL="5526176" indent="-325069" algn="l" defTabSz="1300277" rtl="0" eaLnBrk="1" latinLnBrk="0" hangingPunct="1">
              <a:lnSpc>
                <a:spcPct val="90000"/>
              </a:lnSpc>
              <a:spcBef>
                <a:spcPts val="711"/>
              </a:spcBef>
              <a:buFont typeface="Arial" panose="020B0604020202020204" pitchFamily="34" charset="0"/>
              <a:buChar char="•"/>
              <a:defRPr sz="2560" kern="1200">
                <a:solidFill>
                  <a:schemeClr val="tx1"/>
                </a:solidFill>
                <a:latin typeface="+mn-lt"/>
                <a:ea typeface="+mn-ea"/>
                <a:cs typeface="+mn-cs"/>
              </a:defRPr>
            </a:lvl9pPr>
          </a:lstStyle>
          <a:p>
            <a:pPr marL="0" indent="0" defTabSz="913965">
              <a:spcAft>
                <a:spcPts val="703"/>
              </a:spcAft>
              <a:buNone/>
            </a:pPr>
            <a:r>
              <a:rPr lang="nb-NO" sz="2530" dirty="0">
                <a:solidFill>
                  <a:prstClr val="black"/>
                </a:solidFill>
                <a:latin typeface="Arial" panose="020B0604020202020204"/>
              </a:rPr>
              <a:t>K-</a:t>
            </a:r>
            <a:r>
              <a:rPr lang="nb-NO" sz="2530" dirty="0" err="1">
                <a:solidFill>
                  <a:prstClr val="black"/>
                </a:solidFill>
                <a:latin typeface="Arial" panose="020B0604020202020204"/>
              </a:rPr>
              <a:t>means</a:t>
            </a:r>
            <a:r>
              <a:rPr lang="nb-NO" sz="2530" dirty="0">
                <a:solidFill>
                  <a:prstClr val="black"/>
                </a:solidFill>
                <a:latin typeface="Arial" panose="020B0604020202020204"/>
              </a:rPr>
              <a:t> is a </a:t>
            </a:r>
            <a:r>
              <a:rPr lang="nb-NO" sz="2530" dirty="0" err="1">
                <a:solidFill>
                  <a:prstClr val="black"/>
                </a:solidFill>
                <a:latin typeface="Arial" panose="020B0604020202020204"/>
              </a:rPr>
              <a:t>distance</a:t>
            </a:r>
            <a:r>
              <a:rPr lang="nb-NO" sz="2530" dirty="0">
                <a:solidFill>
                  <a:prstClr val="black"/>
                </a:solidFill>
                <a:latin typeface="Arial" panose="020B0604020202020204"/>
              </a:rPr>
              <a:t> </a:t>
            </a:r>
            <a:r>
              <a:rPr lang="nb-NO" sz="2530" dirty="0" err="1">
                <a:solidFill>
                  <a:prstClr val="black"/>
                </a:solidFill>
                <a:latin typeface="Arial" panose="020B0604020202020204"/>
              </a:rPr>
              <a:t>based</a:t>
            </a:r>
            <a:r>
              <a:rPr lang="nb-NO" sz="2530" dirty="0">
                <a:solidFill>
                  <a:prstClr val="black"/>
                </a:solidFill>
                <a:latin typeface="Arial" panose="020B0604020202020204"/>
              </a:rPr>
              <a:t> </a:t>
            </a:r>
            <a:r>
              <a:rPr lang="nb-NO" sz="2530" dirty="0" err="1">
                <a:solidFill>
                  <a:prstClr val="black"/>
                </a:solidFill>
                <a:latin typeface="Arial" panose="020B0604020202020204"/>
              </a:rPr>
              <a:t>algorithm</a:t>
            </a:r>
            <a:r>
              <a:rPr lang="nb-NO" sz="2530" dirty="0">
                <a:solidFill>
                  <a:prstClr val="black"/>
                </a:solidFill>
                <a:latin typeface="Arial" panose="020B0604020202020204"/>
              </a:rPr>
              <a:t> </a:t>
            </a:r>
            <a:r>
              <a:rPr lang="nb-NO" sz="2530" dirty="0" err="1">
                <a:solidFill>
                  <a:prstClr val="black"/>
                </a:solidFill>
                <a:latin typeface="Arial" panose="020B0604020202020204"/>
              </a:rPr>
              <a:t>where</a:t>
            </a:r>
            <a:r>
              <a:rPr lang="nb-NO" sz="2530" dirty="0">
                <a:solidFill>
                  <a:prstClr val="black"/>
                </a:solidFill>
                <a:latin typeface="Arial" panose="020B0604020202020204"/>
              </a:rPr>
              <a:t> </a:t>
            </a:r>
            <a:r>
              <a:rPr lang="nb-NO" sz="2530" dirty="0" err="1">
                <a:solidFill>
                  <a:prstClr val="black"/>
                </a:solidFill>
                <a:latin typeface="Arial" panose="020B0604020202020204"/>
              </a:rPr>
              <a:t>we</a:t>
            </a:r>
            <a:r>
              <a:rPr lang="nb-NO" sz="2530" dirty="0">
                <a:solidFill>
                  <a:prstClr val="black"/>
                </a:solidFill>
                <a:latin typeface="Arial" panose="020B0604020202020204"/>
              </a:rPr>
              <a:t> </a:t>
            </a:r>
            <a:r>
              <a:rPr lang="nb-NO" sz="2530" dirty="0" err="1">
                <a:solidFill>
                  <a:prstClr val="black"/>
                </a:solidFill>
                <a:latin typeface="Arial" panose="020B0604020202020204"/>
              </a:rPr>
              <a:t>calculate</a:t>
            </a:r>
            <a:r>
              <a:rPr lang="nb-NO" sz="2530" dirty="0">
                <a:solidFill>
                  <a:prstClr val="black"/>
                </a:solidFill>
                <a:latin typeface="Arial" panose="020B0604020202020204"/>
              </a:rPr>
              <a:t> </a:t>
            </a:r>
            <a:r>
              <a:rPr lang="nb-NO" sz="2530" dirty="0" err="1">
                <a:solidFill>
                  <a:prstClr val="black"/>
                </a:solidFill>
                <a:latin typeface="Arial" panose="020B0604020202020204"/>
              </a:rPr>
              <a:t>distances</a:t>
            </a:r>
            <a:r>
              <a:rPr lang="nb-NO" sz="2530" dirty="0">
                <a:solidFill>
                  <a:prstClr val="black"/>
                </a:solidFill>
                <a:latin typeface="Arial" panose="020B0604020202020204"/>
              </a:rPr>
              <a:t> </a:t>
            </a:r>
            <a:r>
              <a:rPr lang="nb-NO" sz="2530" dirty="0" err="1">
                <a:solidFill>
                  <a:prstClr val="black"/>
                </a:solidFill>
                <a:latin typeface="Arial" panose="020B0604020202020204"/>
              </a:rPr>
              <a:t>between</a:t>
            </a:r>
            <a:r>
              <a:rPr lang="nb-NO" sz="2530" dirty="0">
                <a:solidFill>
                  <a:prstClr val="black"/>
                </a:solidFill>
                <a:latin typeface="Arial" panose="020B0604020202020204"/>
              </a:rPr>
              <a:t> data </a:t>
            </a:r>
            <a:r>
              <a:rPr lang="nb-NO" sz="2530" dirty="0" err="1">
                <a:solidFill>
                  <a:prstClr val="black"/>
                </a:solidFill>
                <a:latin typeface="Arial" panose="020B0604020202020204"/>
              </a:rPr>
              <a:t>points</a:t>
            </a:r>
            <a:r>
              <a:rPr lang="nb-NO" sz="2530" dirty="0">
                <a:solidFill>
                  <a:prstClr val="black"/>
                </a:solidFill>
                <a:latin typeface="Arial" panose="020B0604020202020204"/>
              </a:rPr>
              <a:t> to </a:t>
            </a:r>
            <a:r>
              <a:rPr lang="nb-NO" sz="2530" dirty="0" err="1">
                <a:solidFill>
                  <a:prstClr val="black"/>
                </a:solidFill>
                <a:latin typeface="Arial" panose="020B0604020202020204"/>
              </a:rPr>
              <a:t>assign</a:t>
            </a:r>
            <a:r>
              <a:rPr lang="nb-NO" sz="2530" dirty="0">
                <a:solidFill>
                  <a:prstClr val="black"/>
                </a:solidFill>
                <a:latin typeface="Arial" panose="020B0604020202020204"/>
              </a:rPr>
              <a:t> a </a:t>
            </a:r>
            <a:r>
              <a:rPr lang="nb-NO" sz="2530" dirty="0" err="1">
                <a:solidFill>
                  <a:prstClr val="black"/>
                </a:solidFill>
                <a:latin typeface="Arial" panose="020B0604020202020204"/>
              </a:rPr>
              <a:t>point</a:t>
            </a:r>
            <a:r>
              <a:rPr lang="nb-NO" sz="2530" dirty="0">
                <a:solidFill>
                  <a:prstClr val="black"/>
                </a:solidFill>
                <a:latin typeface="Arial" panose="020B0604020202020204"/>
              </a:rPr>
              <a:t> to </a:t>
            </a:r>
            <a:r>
              <a:rPr lang="nb-NO" sz="2530" dirty="0" err="1">
                <a:solidFill>
                  <a:prstClr val="black"/>
                </a:solidFill>
                <a:latin typeface="Arial" panose="020B0604020202020204"/>
              </a:rPr>
              <a:t>the</a:t>
            </a:r>
            <a:r>
              <a:rPr lang="nb-NO" sz="2530" dirty="0">
                <a:solidFill>
                  <a:prstClr val="black"/>
                </a:solidFill>
                <a:latin typeface="Arial" panose="020B0604020202020204"/>
              </a:rPr>
              <a:t> </a:t>
            </a:r>
            <a:r>
              <a:rPr lang="nb-NO" sz="2530" dirty="0" err="1">
                <a:solidFill>
                  <a:prstClr val="black"/>
                </a:solidFill>
                <a:latin typeface="Arial" panose="020B0604020202020204"/>
              </a:rPr>
              <a:t>cluster</a:t>
            </a:r>
            <a:endParaRPr lang="en-NO" sz="2530" dirty="0">
              <a:solidFill>
                <a:prstClr val="black"/>
              </a:solidFill>
              <a:latin typeface="Arial" panose="020B0604020202020204"/>
            </a:endParaRPr>
          </a:p>
          <a:p>
            <a:pPr marL="228491" lvl="1" indent="0" defTabSz="913965">
              <a:spcBef>
                <a:spcPts val="351"/>
              </a:spcBef>
              <a:buNone/>
            </a:pPr>
            <a:endParaRPr lang="en-NO" sz="2249" dirty="0">
              <a:solidFill>
                <a:prstClr val="black"/>
              </a:solidFill>
              <a:latin typeface="Arial" panose="020B0604020202020204"/>
            </a:endParaRPr>
          </a:p>
        </p:txBody>
      </p:sp>
    </p:spTree>
    <p:extLst>
      <p:ext uri="{BB962C8B-B14F-4D97-AF65-F5344CB8AC3E}">
        <p14:creationId xmlns:p14="http://schemas.microsoft.com/office/powerpoint/2010/main" val="321026391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187D264-86EB-354D-8BB7-F027AAA262FA}"/>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pic>
        <p:nvPicPr>
          <p:cNvPr id="3074" name="Picture 2" descr="K-Means Clustering - Data Science &amp; Machine Learning">
            <a:extLst>
              <a:ext uri="{FF2B5EF4-FFF2-40B4-BE49-F238E27FC236}">
                <a16:creationId xmlns:a16="http://schemas.microsoft.com/office/drawing/2014/main" id="{FFF33D69-6ED7-B049-96A7-F315151E460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606" y="1500776"/>
            <a:ext cx="5141931" cy="3856448"/>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Image for post">
            <a:extLst>
              <a:ext uri="{FF2B5EF4-FFF2-40B4-BE49-F238E27FC236}">
                <a16:creationId xmlns:a16="http://schemas.microsoft.com/office/drawing/2014/main" id="{F1CE62C4-38DA-1A40-816D-7E0A2D7A43B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85452" y="1286529"/>
            <a:ext cx="4284942" cy="428494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344323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930F6CF-F1C7-4D8D-96D2-88ADE622709F}"/>
              </a:ext>
            </a:extLst>
          </p:cNvPr>
          <p:cNvSpPr>
            <a:spLocks noGrp="1"/>
          </p:cNvSpPr>
          <p:nvPr/>
        </p:nvSpPr>
        <p:spPr>
          <a:xfrm>
            <a:off x="0" y="0"/>
            <a:ext cx="12192000" cy="838200"/>
          </a:xfrm>
          <a:prstGeom prst="rect">
            <a:avLst/>
          </a:prstGeom>
          <a:solidFill>
            <a:srgbClr val="FFD900"/>
          </a:solidFill>
          <a:ln w="0">
            <a:noFill/>
          </a:ln>
        </p:spPr>
        <p:txBody>
          <a:bodyPr/>
          <a:lstStyle/>
          <a:p>
            <a:endParaRPr lang="en-US"/>
          </a:p>
        </p:txBody>
      </p:sp>
      <p:sp>
        <p:nvSpPr>
          <p:cNvPr id="2" name="Rectangle 1">
            <a:extLst>
              <a:ext uri="{FF2B5EF4-FFF2-40B4-BE49-F238E27FC236}">
                <a16:creationId xmlns:a16="http://schemas.microsoft.com/office/drawing/2014/main" id="{C2CEC9AF-1E38-403A-86C1-1F7FA05C8DDD}"/>
              </a:ext>
            </a:extLst>
          </p:cNvPr>
          <p:cNvSpPr>
            <a:spLocks noGrp="1"/>
          </p:cNvSpPr>
          <p:nvPr/>
        </p:nvSpPr>
        <p:spPr>
          <a:xfrm>
            <a:off x="533400" y="171450"/>
            <a:ext cx="11049000" cy="523875"/>
          </a:xfrm>
          <a:prstGeom prst="rect">
            <a:avLst/>
          </a:prstGeom>
          <a:noFill/>
          <a:ln w="0">
            <a:noFill/>
          </a:ln>
        </p:spPr>
        <p:txBody>
          <a:bodyPr>
            <a:noAutofit/>
          </a:bodyPr>
          <a:lstStyle/>
          <a:p>
            <a:pPr>
              <a:defRPr sz="2400" b="1">
                <a:solidFill>
                  <a:srgbClr val="151515"/>
                </a:solidFill>
                <a:latin typeface="Arial"/>
                <a:ea typeface="Arial"/>
                <a:cs typeface="Arial"/>
              </a:defRPr>
            </a:pPr>
            <a:r>
              <a:rPr sz="2400" b="1">
                <a:solidFill>
                  <a:srgbClr val="151515"/>
                </a:solidFill>
                <a:latin typeface="Arial"/>
                <a:ea typeface="Arial"/>
                <a:cs typeface="Arial"/>
              </a:rPr>
              <a:t>K-means with K = 2</a:t>
            </a:r>
          </a:p>
        </p:txBody>
      </p:sp>
      <p:sp>
        <p:nvSpPr>
          <p:cNvPr id="3" name="Rectangle 2">
            <a:extLst>
              <a:ext uri="{FF2B5EF4-FFF2-40B4-BE49-F238E27FC236}">
                <a16:creationId xmlns:a16="http://schemas.microsoft.com/office/drawing/2014/main" id="{1FF20B77-1D84-47EF-A184-16092E061127}"/>
              </a:ext>
            </a:extLst>
          </p:cNvPr>
          <p:cNvSpPr>
            <a:spLocks noGrp="1"/>
          </p:cNvSpPr>
          <p:nvPr/>
        </p:nvSpPr>
        <p:spPr>
          <a:xfrm>
            <a:off x="514350" y="6438900"/>
            <a:ext cx="5238750"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DAVE3625  |  Umair Mehmood Imam</a:t>
            </a:r>
          </a:p>
        </p:txBody>
      </p:sp>
      <p:sp>
        <p:nvSpPr>
          <p:cNvPr id="4" name="Rectangle 3">
            <a:extLst>
              <a:ext uri="{FF2B5EF4-FFF2-40B4-BE49-F238E27FC236}">
                <a16:creationId xmlns:a16="http://schemas.microsoft.com/office/drawing/2014/main" id="{89222630-43F9-4DC6-8090-695161C5A4F9}"/>
              </a:ext>
            </a:extLst>
          </p:cNvPr>
          <p:cNvSpPr>
            <a:spLocks noGrp="1"/>
          </p:cNvSpPr>
          <p:nvPr/>
        </p:nvSpPr>
        <p:spPr>
          <a:xfrm>
            <a:off x="8524875" y="6438900"/>
            <a:ext cx="3095625"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MACHINE LEARNING III  |  20</a:t>
            </a:r>
          </a:p>
        </p:txBody>
      </p:sp>
      <p:graphicFrame>
        <p:nvGraphicFramePr>
          <p:cNvPr id="11" name="Chart"/>
          <p:cNvGraphicFramePr/>
          <p:nvPr/>
        </p:nvGraphicFramePr>
        <p:xfrm>
          <a:off x="1857375" y="1285875"/>
          <a:ext cx="8572500" cy="4191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ectangle 5">
            <a:extLst>
              <a:ext uri="{FF2B5EF4-FFF2-40B4-BE49-F238E27FC236}">
                <a16:creationId xmlns:a16="http://schemas.microsoft.com/office/drawing/2014/main" id="{F332D547-AFE0-4C13-9CEB-FE1DDD197952}"/>
              </a:ext>
            </a:extLst>
          </p:cNvPr>
          <p:cNvSpPr>
            <a:spLocks noGrp="1"/>
          </p:cNvSpPr>
          <p:nvPr/>
        </p:nvSpPr>
        <p:spPr>
          <a:xfrm>
            <a:off x="1352550" y="5667375"/>
            <a:ext cx="9429750" cy="457200"/>
          </a:xfrm>
          <a:prstGeom prst="rect">
            <a:avLst/>
          </a:prstGeom>
          <a:noFill/>
          <a:ln w="0">
            <a:noFill/>
          </a:ln>
        </p:spPr>
        <p:txBody>
          <a:bodyPr>
            <a:noAutofit/>
          </a:bodyPr>
          <a:lstStyle/>
          <a:p>
            <a:pPr>
              <a:defRPr sz="1500" b="0">
                <a:solidFill>
                  <a:srgbClr val="555555"/>
                </a:solidFill>
                <a:latin typeface="Arial"/>
                <a:ea typeface="Arial"/>
                <a:cs typeface="Arial"/>
              </a:defRPr>
            </a:pPr>
            <a:r>
              <a:rPr sz="1500" b="0">
                <a:solidFill>
                  <a:srgbClr val="555555"/>
                </a:solidFill>
                <a:latin typeface="Arial"/>
                <a:ea typeface="Arial"/>
                <a:cs typeface="Arial"/>
              </a:rPr>
              <a:t>Centre A ≈ (1.8, 2.4)     Centre B ≈ (7.8, 7.6)</a:t>
            </a:r>
          </a:p>
        </p:txBody>
      </p:sp>
    </p:spTree>
    <p:extLst>
      <p:ext uri="{BB962C8B-B14F-4D97-AF65-F5344CB8AC3E}">
        <p14:creationId xmlns:p14="http://schemas.microsoft.com/office/powerpoint/2010/main" val="6814734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0FFB30-1F14-B948-938B-51035993FD8E}"/>
              </a:ext>
            </a:extLst>
          </p:cNvPr>
          <p:cNvSpPr>
            <a:spLocks noGrp="1"/>
          </p:cNvSpPr>
          <p:nvPr>
            <p:ph type="title"/>
          </p:nvPr>
        </p:nvSpPr>
        <p:spPr/>
        <p:txBody>
          <a:bodyPr/>
          <a:lstStyle/>
          <a:p>
            <a:endParaRPr lang="en-NO"/>
          </a:p>
        </p:txBody>
      </p:sp>
      <p:sp>
        <p:nvSpPr>
          <p:cNvPr id="3" name="Content Placeholder 2">
            <a:extLst>
              <a:ext uri="{FF2B5EF4-FFF2-40B4-BE49-F238E27FC236}">
                <a16:creationId xmlns:a16="http://schemas.microsoft.com/office/drawing/2014/main" id="{62CDFF7B-ECEB-D840-950A-7850C54E868A}"/>
              </a:ext>
            </a:extLst>
          </p:cNvPr>
          <p:cNvSpPr>
            <a:spLocks noGrp="1"/>
          </p:cNvSpPr>
          <p:nvPr>
            <p:ph idx="1"/>
          </p:nvPr>
        </p:nvSpPr>
        <p:spPr/>
        <p:txBody>
          <a:bodyPr/>
          <a:lstStyle/>
          <a:p>
            <a:endParaRPr lang="en-NO"/>
          </a:p>
        </p:txBody>
      </p:sp>
      <p:sp>
        <p:nvSpPr>
          <p:cNvPr id="4" name="Footer Placeholder 3">
            <a:extLst>
              <a:ext uri="{FF2B5EF4-FFF2-40B4-BE49-F238E27FC236}">
                <a16:creationId xmlns:a16="http://schemas.microsoft.com/office/drawing/2014/main" id="{FBFD4F3A-BE4C-9844-9933-663265A1016E}"/>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pic>
        <p:nvPicPr>
          <p:cNvPr id="4098" name="Picture 2">
            <a:extLst>
              <a:ext uri="{FF2B5EF4-FFF2-40B4-BE49-F238E27FC236}">
                <a16:creationId xmlns:a16="http://schemas.microsoft.com/office/drawing/2014/main" id="{0BE50363-F03C-474A-B209-95482AEC7E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09911" y="1253311"/>
            <a:ext cx="5306944" cy="4378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98523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305422-4D9C-CA31-91A3-41F48BC743FB}"/>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50242B7-E6CE-B304-BFE6-D9E678543A9F}"/>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81F1FB71-B959-23D8-8DEF-8B63BF3AEAFC}"/>
              </a:ext>
            </a:extLst>
          </p:cNvPr>
          <p:cNvSpPr>
            <a:spLocks noGrp="1"/>
          </p:cNvSpPr>
          <p:nvPr>
            <p:ph type="ftr" sz="quarter" idx="11"/>
          </p:nvPr>
        </p:nvSpPr>
        <p:spPr/>
        <p:txBody>
          <a:bodyPr/>
          <a:lstStyle/>
          <a:p>
            <a:r>
              <a:rPr lang="nb-NO"/>
              <a:t>DAVE3625- Intro to A.I. by Umair M.I</a:t>
            </a:r>
          </a:p>
        </p:txBody>
      </p:sp>
      <p:pic>
        <p:nvPicPr>
          <p:cNvPr id="5" name="Picture 4" descr="File:K-means convergence.gif - Wikimedia Commons">
            <a:extLst>
              <a:ext uri="{FF2B5EF4-FFF2-40B4-BE49-F238E27FC236}">
                <a16:creationId xmlns:a16="http://schemas.microsoft.com/office/drawing/2014/main" id="{DD3D1A0A-BB38-DE56-9359-46CC3DFEA7DE}"/>
              </a:ext>
            </a:extLst>
          </p:cNvPr>
          <p:cNvPicPr>
            <a:picLocks noChangeAspect="1"/>
          </p:cNvPicPr>
          <p:nvPr/>
        </p:nvPicPr>
        <p:blipFill>
          <a:blip r:embed="rId2"/>
          <a:stretch>
            <a:fillRect/>
          </a:stretch>
        </p:blipFill>
        <p:spPr>
          <a:xfrm>
            <a:off x="3063385" y="791398"/>
            <a:ext cx="5293069" cy="5143500"/>
          </a:xfrm>
          <a:prstGeom prst="rect">
            <a:avLst/>
          </a:prstGeom>
        </p:spPr>
      </p:pic>
    </p:spTree>
    <p:extLst>
      <p:ext uri="{BB962C8B-B14F-4D97-AF65-F5344CB8AC3E}">
        <p14:creationId xmlns:p14="http://schemas.microsoft.com/office/powerpoint/2010/main" val="13347768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BD2DD2-13F2-9F46-8513-A1ADE94DF235}"/>
              </a:ext>
            </a:extLst>
          </p:cNvPr>
          <p:cNvSpPr>
            <a:spLocks noGrp="1"/>
          </p:cNvSpPr>
          <p:nvPr>
            <p:ph type="title"/>
          </p:nvPr>
        </p:nvSpPr>
        <p:spPr/>
        <p:txBody>
          <a:bodyPr/>
          <a:lstStyle/>
          <a:p>
            <a:r>
              <a:rPr lang="en-GB" dirty="0"/>
              <a:t>I</a:t>
            </a:r>
            <a:r>
              <a:rPr lang="en-NO" dirty="0"/>
              <a:t>t will stop when</a:t>
            </a:r>
          </a:p>
        </p:txBody>
      </p:sp>
      <p:sp>
        <p:nvSpPr>
          <p:cNvPr id="3" name="Content Placeholder 2">
            <a:extLst>
              <a:ext uri="{FF2B5EF4-FFF2-40B4-BE49-F238E27FC236}">
                <a16:creationId xmlns:a16="http://schemas.microsoft.com/office/drawing/2014/main" id="{A2740492-F5D9-BA4C-9986-FD15F0081F33}"/>
              </a:ext>
            </a:extLst>
          </p:cNvPr>
          <p:cNvSpPr>
            <a:spLocks noGrp="1"/>
          </p:cNvSpPr>
          <p:nvPr>
            <p:ph idx="1"/>
          </p:nvPr>
        </p:nvSpPr>
        <p:spPr/>
        <p:txBody>
          <a:bodyPr/>
          <a:lstStyle/>
          <a:p>
            <a:r>
              <a:rPr lang="en-NO" dirty="0"/>
              <a:t>The centroids have been stabilized – there is no change in their values since clustering has been successful</a:t>
            </a:r>
          </a:p>
          <a:p>
            <a:pPr lvl="1"/>
            <a:r>
              <a:rPr lang="en-GB" dirty="0"/>
              <a:t>A centroid is the imaginary or real location representing the </a:t>
            </a:r>
            <a:r>
              <a:rPr lang="en-GB" dirty="0" err="1"/>
              <a:t>center</a:t>
            </a:r>
            <a:r>
              <a:rPr lang="en-GB" dirty="0"/>
              <a:t> of the cluster.</a:t>
            </a:r>
          </a:p>
          <a:p>
            <a:pPr lvl="1"/>
            <a:endParaRPr lang="en-NO" dirty="0"/>
          </a:p>
          <a:p>
            <a:r>
              <a:rPr lang="en-NO" dirty="0"/>
              <a:t>The defined number of iterations have been reached.</a:t>
            </a:r>
          </a:p>
        </p:txBody>
      </p:sp>
      <p:sp>
        <p:nvSpPr>
          <p:cNvPr id="4" name="Footer Placeholder 3">
            <a:extLst>
              <a:ext uri="{FF2B5EF4-FFF2-40B4-BE49-F238E27FC236}">
                <a16:creationId xmlns:a16="http://schemas.microsoft.com/office/drawing/2014/main" id="{7ED69F43-2ACD-5A49-87E1-466DC50C7DFB}"/>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Tree>
    <p:extLst>
      <p:ext uri="{BB962C8B-B14F-4D97-AF65-F5344CB8AC3E}">
        <p14:creationId xmlns:p14="http://schemas.microsoft.com/office/powerpoint/2010/main" val="41662417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3FEC-3E4F-A441-AF7C-8ABEA2A0BC39}"/>
              </a:ext>
            </a:extLst>
          </p:cNvPr>
          <p:cNvSpPr>
            <a:spLocks noGrp="1"/>
          </p:cNvSpPr>
          <p:nvPr>
            <p:ph type="title"/>
          </p:nvPr>
        </p:nvSpPr>
        <p:spPr/>
        <p:txBody>
          <a:bodyPr/>
          <a:lstStyle/>
          <a:p>
            <a:r>
              <a:rPr lang="en-NO" dirty="0"/>
              <a:t>Advantages of K-means</a:t>
            </a:r>
          </a:p>
        </p:txBody>
      </p:sp>
      <p:sp>
        <p:nvSpPr>
          <p:cNvPr id="3" name="Content Placeholder 2">
            <a:extLst>
              <a:ext uri="{FF2B5EF4-FFF2-40B4-BE49-F238E27FC236}">
                <a16:creationId xmlns:a16="http://schemas.microsoft.com/office/drawing/2014/main" id="{FFFD2CB2-8E46-9A43-9815-24BD345914A4}"/>
              </a:ext>
            </a:extLst>
          </p:cNvPr>
          <p:cNvSpPr>
            <a:spLocks noGrp="1"/>
          </p:cNvSpPr>
          <p:nvPr>
            <p:ph idx="1"/>
          </p:nvPr>
        </p:nvSpPr>
        <p:spPr/>
        <p:txBody>
          <a:bodyPr/>
          <a:lstStyle/>
          <a:p>
            <a:r>
              <a:rPr lang="en-GB" dirty="0"/>
              <a:t>V</a:t>
            </a:r>
            <a:r>
              <a:rPr lang="en-NO" dirty="0"/>
              <a:t>ery simple to run. (choose k and run it a number of times)</a:t>
            </a:r>
          </a:p>
          <a:p>
            <a:r>
              <a:rPr lang="en-GB" dirty="0"/>
              <a:t>M</a:t>
            </a:r>
            <a:r>
              <a:rPr lang="en-NO" dirty="0"/>
              <a:t>ost projects donot need quality sensitive clusters</a:t>
            </a:r>
          </a:p>
        </p:txBody>
      </p:sp>
      <p:sp>
        <p:nvSpPr>
          <p:cNvPr id="4" name="Footer Placeholder 3">
            <a:extLst>
              <a:ext uri="{FF2B5EF4-FFF2-40B4-BE49-F238E27FC236}">
                <a16:creationId xmlns:a16="http://schemas.microsoft.com/office/drawing/2014/main" id="{8176F341-DED7-5A47-9C57-CCB38EB1CD29}"/>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Tree>
    <p:extLst>
      <p:ext uri="{BB962C8B-B14F-4D97-AF65-F5344CB8AC3E}">
        <p14:creationId xmlns:p14="http://schemas.microsoft.com/office/powerpoint/2010/main" val="38254438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A57D9CE6-BA11-4596-A040-D8F2B5743053}"/>
              </a:ext>
            </a:extLst>
          </p:cNvPr>
          <p:cNvSpPr>
            <a:spLocks noGrp="1"/>
          </p:cNvSpPr>
          <p:nvPr/>
        </p:nvSpPr>
        <p:spPr>
          <a:xfrm>
            <a:off x="0" y="0"/>
            <a:ext cx="12192000" cy="838200"/>
          </a:xfrm>
          <a:prstGeom prst="rect">
            <a:avLst/>
          </a:prstGeom>
          <a:solidFill>
            <a:srgbClr val="FFD900"/>
          </a:solidFill>
          <a:ln w="0">
            <a:noFill/>
          </a:ln>
        </p:spPr>
        <p:txBody>
          <a:bodyPr/>
          <a:lstStyle/>
          <a:p>
            <a:endParaRPr lang="en-US"/>
          </a:p>
        </p:txBody>
      </p:sp>
      <p:sp>
        <p:nvSpPr>
          <p:cNvPr id="2" name="Rectangle 1">
            <a:extLst>
              <a:ext uri="{FF2B5EF4-FFF2-40B4-BE49-F238E27FC236}">
                <a16:creationId xmlns:a16="http://schemas.microsoft.com/office/drawing/2014/main" id="{215EAF6D-3B85-4F4A-A2AC-7EA7A0227C6C}"/>
              </a:ext>
            </a:extLst>
          </p:cNvPr>
          <p:cNvSpPr>
            <a:spLocks noGrp="1"/>
          </p:cNvSpPr>
          <p:nvPr/>
        </p:nvSpPr>
        <p:spPr>
          <a:xfrm>
            <a:off x="533400" y="171450"/>
            <a:ext cx="11049000" cy="523875"/>
          </a:xfrm>
          <a:prstGeom prst="rect">
            <a:avLst/>
          </a:prstGeom>
          <a:noFill/>
          <a:ln w="0">
            <a:noFill/>
          </a:ln>
        </p:spPr>
        <p:txBody>
          <a:bodyPr>
            <a:noAutofit/>
          </a:bodyPr>
          <a:lstStyle/>
          <a:p>
            <a:pPr>
              <a:defRPr sz="2400" b="1">
                <a:solidFill>
                  <a:srgbClr val="151515"/>
                </a:solidFill>
                <a:latin typeface="Arial"/>
                <a:ea typeface="Arial"/>
                <a:cs typeface="Arial"/>
              </a:defRPr>
            </a:pPr>
            <a:r>
              <a:rPr sz="2400" b="1">
                <a:solidFill>
                  <a:srgbClr val="151515"/>
                </a:solidFill>
                <a:latin typeface="Arial"/>
                <a:ea typeface="Arial"/>
                <a:cs typeface="Arial"/>
              </a:rPr>
              <a:t>K-means: the core idea</a:t>
            </a:r>
          </a:p>
        </p:txBody>
      </p:sp>
      <p:sp>
        <p:nvSpPr>
          <p:cNvPr id="3" name="Rectangle 2">
            <a:extLst>
              <a:ext uri="{FF2B5EF4-FFF2-40B4-BE49-F238E27FC236}">
                <a16:creationId xmlns:a16="http://schemas.microsoft.com/office/drawing/2014/main" id="{B8E8F426-F5A9-41DB-B074-0B42E9754261}"/>
              </a:ext>
            </a:extLst>
          </p:cNvPr>
          <p:cNvSpPr>
            <a:spLocks noGrp="1"/>
          </p:cNvSpPr>
          <p:nvPr/>
        </p:nvSpPr>
        <p:spPr>
          <a:xfrm>
            <a:off x="514350" y="6438900"/>
            <a:ext cx="5238750"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DAVE3625  |  Umair Mehmood Imam</a:t>
            </a:r>
          </a:p>
        </p:txBody>
      </p:sp>
      <p:sp>
        <p:nvSpPr>
          <p:cNvPr id="4" name="Rectangle 3">
            <a:extLst>
              <a:ext uri="{FF2B5EF4-FFF2-40B4-BE49-F238E27FC236}">
                <a16:creationId xmlns:a16="http://schemas.microsoft.com/office/drawing/2014/main" id="{4605C56F-1C88-4190-9BBA-E5D97D96AB74}"/>
              </a:ext>
            </a:extLst>
          </p:cNvPr>
          <p:cNvSpPr>
            <a:spLocks noGrp="1"/>
          </p:cNvSpPr>
          <p:nvPr/>
        </p:nvSpPr>
        <p:spPr>
          <a:xfrm>
            <a:off x="8524875" y="6438900"/>
            <a:ext cx="3095625"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MACHINE LEARNING III  |  19</a:t>
            </a:r>
          </a:p>
        </p:txBody>
      </p:sp>
      <p:sp>
        <p:nvSpPr>
          <p:cNvPr id="5" name="Rectangle 4">
            <a:extLst>
              <a:ext uri="{FF2B5EF4-FFF2-40B4-BE49-F238E27FC236}">
                <a16:creationId xmlns:a16="http://schemas.microsoft.com/office/drawing/2014/main" id="{65F22752-E708-4060-82B3-3A7E9DC5967A}"/>
              </a:ext>
            </a:extLst>
          </p:cNvPr>
          <p:cNvSpPr>
            <a:spLocks noGrp="1"/>
          </p:cNvSpPr>
          <p:nvPr/>
        </p:nvSpPr>
        <p:spPr>
          <a:xfrm>
            <a:off x="800100" y="142875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1. Choose K</a:t>
            </a:r>
          </a:p>
        </p:txBody>
      </p:sp>
      <p:sp>
        <p:nvSpPr>
          <p:cNvPr id="6" name="Rectangle 5">
            <a:extLst>
              <a:ext uri="{FF2B5EF4-FFF2-40B4-BE49-F238E27FC236}">
                <a16:creationId xmlns:a16="http://schemas.microsoft.com/office/drawing/2014/main" id="{68712EC0-075F-4E77-99F4-6D32468E2776}"/>
              </a:ext>
            </a:extLst>
          </p:cNvPr>
          <p:cNvSpPr>
            <a:spLocks noGrp="1"/>
          </p:cNvSpPr>
          <p:nvPr/>
        </p:nvSpPr>
        <p:spPr>
          <a:xfrm>
            <a:off x="3571875" y="142875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Decide how many groups to look for.</a:t>
            </a:r>
          </a:p>
        </p:txBody>
      </p:sp>
      <p:sp>
        <p:nvSpPr>
          <p:cNvPr id="7" name="Rectangle 6">
            <a:extLst>
              <a:ext uri="{FF2B5EF4-FFF2-40B4-BE49-F238E27FC236}">
                <a16:creationId xmlns:a16="http://schemas.microsoft.com/office/drawing/2014/main" id="{5B429002-9FAE-41D0-AD52-33F10420CB64}"/>
              </a:ext>
            </a:extLst>
          </p:cNvPr>
          <p:cNvSpPr>
            <a:spLocks noGrp="1"/>
          </p:cNvSpPr>
          <p:nvPr/>
        </p:nvSpPr>
        <p:spPr>
          <a:xfrm>
            <a:off x="800100" y="247650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2. Assign</a:t>
            </a:r>
          </a:p>
        </p:txBody>
      </p:sp>
      <p:sp>
        <p:nvSpPr>
          <p:cNvPr id="8" name="Rectangle 7">
            <a:extLst>
              <a:ext uri="{FF2B5EF4-FFF2-40B4-BE49-F238E27FC236}">
                <a16:creationId xmlns:a16="http://schemas.microsoft.com/office/drawing/2014/main" id="{8C1E0E25-5B2A-4E15-9C7E-4B22D8B43900}"/>
              </a:ext>
            </a:extLst>
          </p:cNvPr>
          <p:cNvSpPr>
            <a:spLocks noGrp="1"/>
          </p:cNvSpPr>
          <p:nvPr/>
        </p:nvSpPr>
        <p:spPr>
          <a:xfrm>
            <a:off x="3571875" y="247650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Place each point with its closest centre.</a:t>
            </a:r>
          </a:p>
        </p:txBody>
      </p:sp>
      <p:sp>
        <p:nvSpPr>
          <p:cNvPr id="9" name="Rectangle 8">
            <a:extLst>
              <a:ext uri="{FF2B5EF4-FFF2-40B4-BE49-F238E27FC236}">
                <a16:creationId xmlns:a16="http://schemas.microsoft.com/office/drawing/2014/main" id="{BE998B8E-9E9F-47B3-A2E2-3800BF7A008E}"/>
              </a:ext>
            </a:extLst>
          </p:cNvPr>
          <p:cNvSpPr>
            <a:spLocks noGrp="1"/>
          </p:cNvSpPr>
          <p:nvPr/>
        </p:nvSpPr>
        <p:spPr>
          <a:xfrm>
            <a:off x="800100" y="352425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3. Update</a:t>
            </a:r>
          </a:p>
        </p:txBody>
      </p:sp>
      <p:sp>
        <p:nvSpPr>
          <p:cNvPr id="10" name="Rectangle 9">
            <a:extLst>
              <a:ext uri="{FF2B5EF4-FFF2-40B4-BE49-F238E27FC236}">
                <a16:creationId xmlns:a16="http://schemas.microsoft.com/office/drawing/2014/main" id="{C7F64734-8117-4A7C-9E71-DB751CBD4B56}"/>
              </a:ext>
            </a:extLst>
          </p:cNvPr>
          <p:cNvSpPr>
            <a:spLocks noGrp="1"/>
          </p:cNvSpPr>
          <p:nvPr/>
        </p:nvSpPr>
        <p:spPr>
          <a:xfrm>
            <a:off x="3571875" y="352425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Move each centre to the mean of its assigned points.</a:t>
            </a:r>
          </a:p>
        </p:txBody>
      </p:sp>
      <p:sp>
        <p:nvSpPr>
          <p:cNvPr id="11" name="Rectangle 10">
            <a:extLst>
              <a:ext uri="{FF2B5EF4-FFF2-40B4-BE49-F238E27FC236}">
                <a16:creationId xmlns:a16="http://schemas.microsoft.com/office/drawing/2014/main" id="{31E95B4C-B02D-4BBD-964D-21CA7AB173C3}"/>
              </a:ext>
            </a:extLst>
          </p:cNvPr>
          <p:cNvSpPr>
            <a:spLocks noGrp="1"/>
          </p:cNvSpPr>
          <p:nvPr/>
        </p:nvSpPr>
        <p:spPr>
          <a:xfrm>
            <a:off x="800100" y="457200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4. Repeat</a:t>
            </a:r>
          </a:p>
        </p:txBody>
      </p:sp>
      <p:sp>
        <p:nvSpPr>
          <p:cNvPr id="12" name="Rectangle 11">
            <a:extLst>
              <a:ext uri="{FF2B5EF4-FFF2-40B4-BE49-F238E27FC236}">
                <a16:creationId xmlns:a16="http://schemas.microsoft.com/office/drawing/2014/main" id="{9EB10BEA-735F-4148-9085-92FE1AD567E5}"/>
              </a:ext>
            </a:extLst>
          </p:cNvPr>
          <p:cNvSpPr>
            <a:spLocks noGrp="1"/>
          </p:cNvSpPr>
          <p:nvPr/>
        </p:nvSpPr>
        <p:spPr>
          <a:xfrm>
            <a:off x="3571875" y="457200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Keep assigning and updating until the result stabilises.</a:t>
            </a:r>
          </a:p>
        </p:txBody>
      </p:sp>
    </p:spTree>
    <p:extLst>
      <p:ext uri="{BB962C8B-B14F-4D97-AF65-F5344CB8AC3E}">
        <p14:creationId xmlns:p14="http://schemas.microsoft.com/office/powerpoint/2010/main" val="97762100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88C9062-AA34-4670-A7CB-CE17A5279C50}"/>
              </a:ext>
            </a:extLst>
          </p:cNvPr>
          <p:cNvSpPr>
            <a:spLocks noGrp="1"/>
          </p:cNvSpPr>
          <p:nvPr/>
        </p:nvSpPr>
        <p:spPr>
          <a:xfrm>
            <a:off x="0" y="0"/>
            <a:ext cx="12192000" cy="838200"/>
          </a:xfrm>
          <a:prstGeom prst="rect">
            <a:avLst/>
          </a:prstGeom>
          <a:solidFill>
            <a:srgbClr val="FFD900"/>
          </a:solidFill>
          <a:ln w="0">
            <a:noFill/>
          </a:ln>
        </p:spPr>
        <p:txBody>
          <a:bodyPr/>
          <a:lstStyle/>
          <a:p>
            <a:endParaRPr lang="en-US"/>
          </a:p>
        </p:txBody>
      </p:sp>
      <p:sp>
        <p:nvSpPr>
          <p:cNvPr id="2" name="Rectangle 1">
            <a:extLst>
              <a:ext uri="{FF2B5EF4-FFF2-40B4-BE49-F238E27FC236}">
                <a16:creationId xmlns:a16="http://schemas.microsoft.com/office/drawing/2014/main" id="{1AF47399-174C-4EB1-B255-D71D1DBEA123}"/>
              </a:ext>
            </a:extLst>
          </p:cNvPr>
          <p:cNvSpPr>
            <a:spLocks noGrp="1"/>
          </p:cNvSpPr>
          <p:nvPr/>
        </p:nvSpPr>
        <p:spPr>
          <a:xfrm>
            <a:off x="533400" y="171450"/>
            <a:ext cx="11049000" cy="523875"/>
          </a:xfrm>
          <a:prstGeom prst="rect">
            <a:avLst/>
          </a:prstGeom>
          <a:noFill/>
          <a:ln w="0">
            <a:noFill/>
          </a:ln>
        </p:spPr>
        <p:txBody>
          <a:bodyPr>
            <a:noAutofit/>
          </a:bodyPr>
          <a:lstStyle/>
          <a:p>
            <a:pPr>
              <a:defRPr sz="2400" b="1">
                <a:solidFill>
                  <a:srgbClr val="151515"/>
                </a:solidFill>
                <a:latin typeface="Arial"/>
                <a:ea typeface="Arial"/>
                <a:cs typeface="Arial"/>
              </a:defRPr>
            </a:pPr>
            <a:r>
              <a:rPr sz="2400" b="1">
                <a:solidFill>
                  <a:srgbClr val="151515"/>
                </a:solidFill>
                <a:latin typeface="Arial"/>
                <a:ea typeface="Arial"/>
                <a:cs typeface="Arial"/>
              </a:rPr>
              <a:t>Clustering example: travel patterns</a:t>
            </a:r>
          </a:p>
        </p:txBody>
      </p:sp>
      <p:sp>
        <p:nvSpPr>
          <p:cNvPr id="3" name="Rectangle 2">
            <a:extLst>
              <a:ext uri="{FF2B5EF4-FFF2-40B4-BE49-F238E27FC236}">
                <a16:creationId xmlns:a16="http://schemas.microsoft.com/office/drawing/2014/main" id="{F27A0924-94E5-4BDF-B256-E776EFE214BE}"/>
              </a:ext>
            </a:extLst>
          </p:cNvPr>
          <p:cNvSpPr>
            <a:spLocks noGrp="1"/>
          </p:cNvSpPr>
          <p:nvPr/>
        </p:nvSpPr>
        <p:spPr>
          <a:xfrm>
            <a:off x="514350" y="6438900"/>
            <a:ext cx="5238750"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DAVE3625  |  Umair Mehmood Imam</a:t>
            </a:r>
          </a:p>
        </p:txBody>
      </p:sp>
      <p:sp>
        <p:nvSpPr>
          <p:cNvPr id="4" name="Rectangle 3">
            <a:extLst>
              <a:ext uri="{FF2B5EF4-FFF2-40B4-BE49-F238E27FC236}">
                <a16:creationId xmlns:a16="http://schemas.microsoft.com/office/drawing/2014/main" id="{58946A39-66B0-4399-85A6-E99684760EA3}"/>
              </a:ext>
            </a:extLst>
          </p:cNvPr>
          <p:cNvSpPr>
            <a:spLocks noGrp="1"/>
          </p:cNvSpPr>
          <p:nvPr/>
        </p:nvSpPr>
        <p:spPr>
          <a:xfrm>
            <a:off x="8524875" y="6438900"/>
            <a:ext cx="3095625" cy="209550"/>
          </a:xfrm>
          <a:prstGeom prst="rect">
            <a:avLst/>
          </a:prstGeom>
          <a:noFill/>
          <a:ln w="0">
            <a:noFill/>
          </a:ln>
        </p:spPr>
        <p:txBody>
          <a:bodyPr>
            <a:noAutofit/>
          </a:bodyPr>
          <a:lstStyle/>
          <a:p>
            <a:pPr>
              <a:defRPr sz="825" b="0">
                <a:solidFill>
                  <a:srgbClr val="555555"/>
                </a:solidFill>
                <a:latin typeface="Arial"/>
                <a:ea typeface="Arial"/>
                <a:cs typeface="Arial"/>
              </a:defRPr>
            </a:pPr>
            <a:r>
              <a:rPr sz="825" b="0">
                <a:solidFill>
                  <a:srgbClr val="555555"/>
                </a:solidFill>
                <a:latin typeface="Arial"/>
                <a:ea typeface="Arial"/>
                <a:cs typeface="Arial"/>
              </a:rPr>
              <a:t>MACHINE LEARNING III  |  21</a:t>
            </a:r>
          </a:p>
        </p:txBody>
      </p:sp>
      <p:sp>
        <p:nvSpPr>
          <p:cNvPr id="5" name="Rectangle 4">
            <a:extLst>
              <a:ext uri="{FF2B5EF4-FFF2-40B4-BE49-F238E27FC236}">
                <a16:creationId xmlns:a16="http://schemas.microsoft.com/office/drawing/2014/main" id="{85CFE15D-1791-4860-A0C2-9CEECAAEC08E}"/>
              </a:ext>
            </a:extLst>
          </p:cNvPr>
          <p:cNvSpPr>
            <a:spLocks noGrp="1"/>
          </p:cNvSpPr>
          <p:nvPr/>
        </p:nvSpPr>
        <p:spPr>
          <a:xfrm>
            <a:off x="800100" y="142875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Inputs</a:t>
            </a:r>
          </a:p>
        </p:txBody>
      </p:sp>
      <p:sp>
        <p:nvSpPr>
          <p:cNvPr id="6" name="Rectangle 5">
            <a:extLst>
              <a:ext uri="{FF2B5EF4-FFF2-40B4-BE49-F238E27FC236}">
                <a16:creationId xmlns:a16="http://schemas.microsoft.com/office/drawing/2014/main" id="{26C59D80-F715-4C2B-A7C1-AD4F4931D1CE}"/>
              </a:ext>
            </a:extLst>
          </p:cNvPr>
          <p:cNvSpPr>
            <a:spLocks noGrp="1"/>
          </p:cNvSpPr>
          <p:nvPr/>
        </p:nvSpPr>
        <p:spPr>
          <a:xfrm>
            <a:off x="3571875" y="142875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Trip distance and departure time; no group labels.</a:t>
            </a:r>
          </a:p>
        </p:txBody>
      </p:sp>
      <p:sp>
        <p:nvSpPr>
          <p:cNvPr id="7" name="Rectangle 6">
            <a:extLst>
              <a:ext uri="{FF2B5EF4-FFF2-40B4-BE49-F238E27FC236}">
                <a16:creationId xmlns:a16="http://schemas.microsoft.com/office/drawing/2014/main" id="{462E0483-A425-4DF0-8A52-B31BE12CB5A0}"/>
              </a:ext>
            </a:extLst>
          </p:cNvPr>
          <p:cNvSpPr>
            <a:spLocks noGrp="1"/>
          </p:cNvSpPr>
          <p:nvPr/>
        </p:nvSpPr>
        <p:spPr>
          <a:xfrm>
            <a:off x="800100" y="247650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Possible group A</a:t>
            </a:r>
          </a:p>
        </p:txBody>
      </p:sp>
      <p:sp>
        <p:nvSpPr>
          <p:cNvPr id="8" name="Rectangle 7">
            <a:extLst>
              <a:ext uri="{FF2B5EF4-FFF2-40B4-BE49-F238E27FC236}">
                <a16:creationId xmlns:a16="http://schemas.microsoft.com/office/drawing/2014/main" id="{9BB12CF1-DCC9-4A22-BF4D-C9483FFE581F}"/>
              </a:ext>
            </a:extLst>
          </p:cNvPr>
          <p:cNvSpPr>
            <a:spLocks noGrp="1"/>
          </p:cNvSpPr>
          <p:nvPr/>
        </p:nvSpPr>
        <p:spPr>
          <a:xfrm>
            <a:off x="3571875" y="247650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Short trips made early in the morning.</a:t>
            </a:r>
          </a:p>
        </p:txBody>
      </p:sp>
      <p:sp>
        <p:nvSpPr>
          <p:cNvPr id="9" name="Rectangle 8">
            <a:extLst>
              <a:ext uri="{FF2B5EF4-FFF2-40B4-BE49-F238E27FC236}">
                <a16:creationId xmlns:a16="http://schemas.microsoft.com/office/drawing/2014/main" id="{F93F7463-B50A-4DC1-AFFC-49F95B784994}"/>
              </a:ext>
            </a:extLst>
          </p:cNvPr>
          <p:cNvSpPr>
            <a:spLocks noGrp="1"/>
          </p:cNvSpPr>
          <p:nvPr/>
        </p:nvSpPr>
        <p:spPr>
          <a:xfrm>
            <a:off x="800100" y="352425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Possible group B</a:t>
            </a:r>
          </a:p>
        </p:txBody>
      </p:sp>
      <p:sp>
        <p:nvSpPr>
          <p:cNvPr id="10" name="Rectangle 9">
            <a:extLst>
              <a:ext uri="{FF2B5EF4-FFF2-40B4-BE49-F238E27FC236}">
                <a16:creationId xmlns:a16="http://schemas.microsoft.com/office/drawing/2014/main" id="{C2D54600-36D9-4E76-AB01-139DE35E4D79}"/>
              </a:ext>
            </a:extLst>
          </p:cNvPr>
          <p:cNvSpPr>
            <a:spLocks noGrp="1"/>
          </p:cNvSpPr>
          <p:nvPr/>
        </p:nvSpPr>
        <p:spPr>
          <a:xfrm>
            <a:off x="3571875" y="352425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Longer trips made later in the day.</a:t>
            </a:r>
          </a:p>
        </p:txBody>
      </p:sp>
      <p:sp>
        <p:nvSpPr>
          <p:cNvPr id="11" name="Rectangle 10">
            <a:extLst>
              <a:ext uri="{FF2B5EF4-FFF2-40B4-BE49-F238E27FC236}">
                <a16:creationId xmlns:a16="http://schemas.microsoft.com/office/drawing/2014/main" id="{25F76A67-6EA1-4548-A28E-D0EB1501AA14}"/>
              </a:ext>
            </a:extLst>
          </p:cNvPr>
          <p:cNvSpPr>
            <a:spLocks noGrp="1"/>
          </p:cNvSpPr>
          <p:nvPr/>
        </p:nvSpPr>
        <p:spPr>
          <a:xfrm>
            <a:off x="800100" y="4572000"/>
            <a:ext cx="2857500" cy="457200"/>
          </a:xfrm>
          <a:prstGeom prst="rect">
            <a:avLst/>
          </a:prstGeom>
          <a:noFill/>
          <a:ln w="0">
            <a:noFill/>
          </a:ln>
        </p:spPr>
        <p:txBody>
          <a:bodyPr>
            <a:noAutofit/>
          </a:bodyPr>
          <a:lstStyle/>
          <a:p>
            <a:pPr>
              <a:defRPr sz="1725" b="1">
                <a:solidFill>
                  <a:srgbClr val="246DA8"/>
                </a:solidFill>
                <a:latin typeface="Arial"/>
                <a:ea typeface="Arial"/>
                <a:cs typeface="Arial"/>
              </a:defRPr>
            </a:pPr>
            <a:r>
              <a:rPr sz="1725" b="1">
                <a:solidFill>
                  <a:srgbClr val="246DA8"/>
                </a:solidFill>
                <a:latin typeface="Arial"/>
                <a:ea typeface="Arial"/>
                <a:cs typeface="Arial"/>
              </a:rPr>
              <a:t>Discuss</a:t>
            </a:r>
          </a:p>
        </p:txBody>
      </p:sp>
      <p:sp>
        <p:nvSpPr>
          <p:cNvPr id="12" name="Rectangle 11">
            <a:extLst>
              <a:ext uri="{FF2B5EF4-FFF2-40B4-BE49-F238E27FC236}">
                <a16:creationId xmlns:a16="http://schemas.microsoft.com/office/drawing/2014/main" id="{A8FA6847-29FE-48B3-AFC6-9AF5AE5FA133}"/>
              </a:ext>
            </a:extLst>
          </p:cNvPr>
          <p:cNvSpPr>
            <a:spLocks noGrp="1"/>
          </p:cNvSpPr>
          <p:nvPr/>
        </p:nvSpPr>
        <p:spPr>
          <a:xfrm>
            <a:off x="3571875" y="4572000"/>
            <a:ext cx="7524750" cy="628650"/>
          </a:xfrm>
          <a:prstGeom prst="rect">
            <a:avLst/>
          </a:prstGeom>
          <a:noFill/>
          <a:ln w="0">
            <a:noFill/>
          </a:ln>
        </p:spPr>
        <p:txBody>
          <a:bodyPr>
            <a:noAutofit/>
          </a:bodyPr>
          <a:lstStyle/>
          <a:p>
            <a:pPr>
              <a:defRPr sz="1725" b="0">
                <a:solidFill>
                  <a:srgbClr val="151515"/>
                </a:solidFill>
                <a:latin typeface="Arial"/>
                <a:ea typeface="Arial"/>
                <a:cs typeface="Arial"/>
              </a:defRPr>
            </a:pPr>
            <a:r>
              <a:rPr sz="1725" b="0">
                <a:solidFill>
                  <a:srgbClr val="151515"/>
                </a:solidFill>
                <a:latin typeface="Arial"/>
                <a:ea typeface="Arial"/>
                <a:cs typeface="Arial"/>
              </a:rPr>
              <a:t>Would the same groups appear if we used fare instead of time?</a:t>
            </a:r>
          </a:p>
        </p:txBody>
      </p:sp>
    </p:spTree>
    <p:extLst>
      <p:ext uri="{BB962C8B-B14F-4D97-AF65-F5344CB8AC3E}">
        <p14:creationId xmlns:p14="http://schemas.microsoft.com/office/powerpoint/2010/main" val="146681997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100DA7-11C4-9A43-B7B0-E6E50BC0119F}"/>
              </a:ext>
            </a:extLst>
          </p:cNvPr>
          <p:cNvSpPr>
            <a:spLocks noGrp="1"/>
          </p:cNvSpPr>
          <p:nvPr>
            <p:ph type="title"/>
          </p:nvPr>
        </p:nvSpPr>
        <p:spPr/>
        <p:txBody>
          <a:bodyPr/>
          <a:lstStyle/>
          <a:p>
            <a:r>
              <a:rPr lang="en-NO" dirty="0"/>
              <a:t>Uses of K-means</a:t>
            </a:r>
          </a:p>
        </p:txBody>
      </p:sp>
      <p:sp>
        <p:nvSpPr>
          <p:cNvPr id="3" name="Content Placeholder 2">
            <a:extLst>
              <a:ext uri="{FF2B5EF4-FFF2-40B4-BE49-F238E27FC236}">
                <a16:creationId xmlns:a16="http://schemas.microsoft.com/office/drawing/2014/main" id="{696F11A8-6DE7-6449-9EEE-8431FB7424FF}"/>
              </a:ext>
            </a:extLst>
          </p:cNvPr>
          <p:cNvSpPr>
            <a:spLocks noGrp="1"/>
          </p:cNvSpPr>
          <p:nvPr>
            <p:ph idx="1"/>
          </p:nvPr>
        </p:nvSpPr>
        <p:spPr/>
        <p:txBody>
          <a:bodyPr/>
          <a:lstStyle/>
          <a:p>
            <a:r>
              <a:rPr lang="en-GB" dirty="0"/>
              <a:t>D</a:t>
            </a:r>
            <a:r>
              <a:rPr lang="en-NO" dirty="0"/>
              <a:t>ocument classification</a:t>
            </a:r>
          </a:p>
          <a:p>
            <a:r>
              <a:rPr lang="en-GB" dirty="0"/>
              <a:t>C</a:t>
            </a:r>
            <a:r>
              <a:rPr lang="en-NO" dirty="0"/>
              <a:t>ustomer segmentation</a:t>
            </a:r>
          </a:p>
          <a:p>
            <a:r>
              <a:rPr lang="en-GB" dirty="0"/>
              <a:t>Fraud detection (insurance n bank)</a:t>
            </a:r>
          </a:p>
          <a:p>
            <a:r>
              <a:rPr lang="en-GB" dirty="0"/>
              <a:t>Ride share data analysis (uber etc)</a:t>
            </a:r>
          </a:p>
          <a:p>
            <a:r>
              <a:rPr lang="en-GB" dirty="0"/>
              <a:t>Detection of anomalies</a:t>
            </a:r>
          </a:p>
          <a:p>
            <a:r>
              <a:rPr lang="en-GB" dirty="0"/>
              <a:t>Sorting sensor measurements</a:t>
            </a:r>
          </a:p>
          <a:p>
            <a:endParaRPr lang="en-NO" dirty="0"/>
          </a:p>
        </p:txBody>
      </p:sp>
      <p:sp>
        <p:nvSpPr>
          <p:cNvPr id="4" name="Footer Placeholder 3">
            <a:extLst>
              <a:ext uri="{FF2B5EF4-FFF2-40B4-BE49-F238E27FC236}">
                <a16:creationId xmlns:a16="http://schemas.microsoft.com/office/drawing/2014/main" id="{DE97C9A7-C9CB-D04F-9137-CF6E68EC8741}"/>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Tree>
    <p:extLst>
      <p:ext uri="{BB962C8B-B14F-4D97-AF65-F5344CB8AC3E}">
        <p14:creationId xmlns:p14="http://schemas.microsoft.com/office/powerpoint/2010/main" val="279903435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49DE92-0BFB-8242-87B8-0CC9ACDB609A}"/>
              </a:ext>
            </a:extLst>
          </p:cNvPr>
          <p:cNvSpPr>
            <a:spLocks noGrp="1"/>
          </p:cNvSpPr>
          <p:nvPr>
            <p:ph idx="1"/>
          </p:nvPr>
        </p:nvSpPr>
        <p:spPr>
          <a:xfrm>
            <a:off x="683316" y="1647650"/>
            <a:ext cx="4913238" cy="4098857"/>
          </a:xfrm>
        </p:spPr>
        <p:txBody>
          <a:bodyPr>
            <a:normAutofit fontScale="77500" lnSpcReduction="20000"/>
          </a:bodyPr>
          <a:lstStyle/>
          <a:p>
            <a:r>
              <a:rPr lang="en-NO"/>
              <a:t>It locates the heavy density clusters in a data</a:t>
            </a:r>
            <a:endParaRPr lang="nb-NO" dirty="0"/>
          </a:p>
          <a:p>
            <a:endParaRPr lang="en-US" dirty="0"/>
          </a:p>
          <a:p>
            <a:r>
              <a:rPr lang="en-US" dirty="0"/>
              <a:t>Imagine placing a circle around a point, finding the average position of the points inside it, and moving the circle there. Repeat until it stops moving. Points that end up at the same dense peak form a cluster.</a:t>
            </a:r>
            <a:endParaRPr lang="en-NO" dirty="0"/>
          </a:p>
          <a:p>
            <a:r>
              <a:rPr lang="en-US" dirty="0"/>
              <a:t>The circle’s size is called the bandwidth</a:t>
            </a:r>
          </a:p>
          <a:p>
            <a:endParaRPr lang="en-US" dirty="0"/>
          </a:p>
          <a:p>
            <a:r>
              <a:rPr lang="en-US" dirty="0"/>
              <a:t>You do not choose the number of clusters, but bandwidth strongly affects how many it finds.</a:t>
            </a:r>
            <a:endParaRPr lang="en-NO" dirty="0"/>
          </a:p>
        </p:txBody>
      </p:sp>
      <p:sp>
        <p:nvSpPr>
          <p:cNvPr id="4" name="Footer Placeholder 3">
            <a:extLst>
              <a:ext uri="{FF2B5EF4-FFF2-40B4-BE49-F238E27FC236}">
                <a16:creationId xmlns:a16="http://schemas.microsoft.com/office/drawing/2014/main" id="{06351E2B-DA1C-794C-8DC7-BFD484759667}"/>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38837B74-3347-8149-AF6D-1DD6355D89AE}"/>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a:solidFill>
                <a:prstClr val="white"/>
              </a:solidFill>
              <a:latin typeface="Arial" panose="020B0604020202020204"/>
            </a:endParaRPr>
          </a:p>
        </p:txBody>
      </p:sp>
      <p:sp>
        <p:nvSpPr>
          <p:cNvPr id="6" name="Title 1">
            <a:extLst>
              <a:ext uri="{FF2B5EF4-FFF2-40B4-BE49-F238E27FC236}">
                <a16:creationId xmlns:a16="http://schemas.microsoft.com/office/drawing/2014/main" id="{90B20422-BAF1-2843-995C-6FBE1D9E5F54}"/>
              </a:ext>
            </a:extLst>
          </p:cNvPr>
          <p:cNvSpPr>
            <a:spLocks noGrp="1"/>
          </p:cNvSpPr>
          <p:nvPr>
            <p:ph type="title"/>
          </p:nvPr>
        </p:nvSpPr>
        <p:spPr>
          <a:xfrm>
            <a:off x="356722" y="414788"/>
            <a:ext cx="10806491" cy="467293"/>
          </a:xfrm>
        </p:spPr>
        <p:txBody>
          <a:bodyPr/>
          <a:lstStyle/>
          <a:p>
            <a:r>
              <a:rPr lang="en-NO" dirty="0"/>
              <a:t>Mean shift clustering algorithm</a:t>
            </a:r>
          </a:p>
        </p:txBody>
      </p:sp>
      <p:pic>
        <p:nvPicPr>
          <p:cNvPr id="7" name="Picture 6">
            <a:extLst>
              <a:ext uri="{FF2B5EF4-FFF2-40B4-BE49-F238E27FC236}">
                <a16:creationId xmlns:a16="http://schemas.microsoft.com/office/drawing/2014/main" id="{6D443C49-CB78-B94B-E1C1-CEDFC1B9502B}"/>
              </a:ext>
              <a:ext uri="{C183D7F6-B498-43B3-948B-1728B52AA6E4}">
                <adec:decorative xmlns:adec="http://schemas.microsoft.com/office/drawing/2017/decorative" val="1"/>
              </a:ext>
            </a:extLst>
          </p:cNvPr>
          <p:cNvPicPr>
            <a:picLocks noChangeAspect="1"/>
          </p:cNvPicPr>
          <p:nvPr/>
        </p:nvPicPr>
        <p:blipFill>
          <a:blip r:embed="rId3"/>
          <a:stretch>
            <a:fillRect/>
          </a:stretch>
        </p:blipFill>
        <p:spPr>
          <a:xfrm>
            <a:off x="6595448" y="2031757"/>
            <a:ext cx="5262995" cy="3714750"/>
          </a:xfrm>
          <a:prstGeom prst="rect">
            <a:avLst/>
          </a:prstGeom>
        </p:spPr>
      </p:pic>
    </p:spTree>
    <p:extLst>
      <p:ext uri="{BB962C8B-B14F-4D97-AF65-F5344CB8AC3E}">
        <p14:creationId xmlns:p14="http://schemas.microsoft.com/office/powerpoint/2010/main" val="3115877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F0EACB-7BBB-7CB7-1AE4-C6AB1C092E0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D12C0A5-11DF-4F9C-11FD-5428A2C1574D}"/>
              </a:ext>
            </a:extLst>
          </p:cNvPr>
          <p:cNvSpPr>
            <a:spLocks noGrp="1"/>
          </p:cNvSpPr>
          <p:nvPr>
            <p:ph idx="1"/>
          </p:nvPr>
        </p:nvSpPr>
        <p:spPr>
          <a:xfrm>
            <a:off x="683316" y="1647650"/>
            <a:ext cx="4913238" cy="4098857"/>
          </a:xfrm>
        </p:spPr>
        <p:txBody>
          <a:bodyPr/>
          <a:lstStyle/>
          <a:p>
            <a:endParaRPr lang="en-NO" dirty="0"/>
          </a:p>
          <a:p>
            <a:r>
              <a:rPr lang="en-NO" dirty="0"/>
              <a:t>Uses:</a:t>
            </a:r>
          </a:p>
          <a:p>
            <a:r>
              <a:rPr lang="en-GB" dirty="0"/>
              <a:t>C</a:t>
            </a:r>
            <a:r>
              <a:rPr lang="en-NO" dirty="0"/>
              <a:t>omputer vision</a:t>
            </a:r>
          </a:p>
          <a:p>
            <a:r>
              <a:rPr lang="en-GB" dirty="0"/>
              <a:t>I</a:t>
            </a:r>
            <a:r>
              <a:rPr lang="en-NO" dirty="0"/>
              <a:t>mage processing</a:t>
            </a:r>
          </a:p>
        </p:txBody>
      </p:sp>
      <p:sp>
        <p:nvSpPr>
          <p:cNvPr id="4" name="Footer Placeholder 3">
            <a:extLst>
              <a:ext uri="{FF2B5EF4-FFF2-40B4-BE49-F238E27FC236}">
                <a16:creationId xmlns:a16="http://schemas.microsoft.com/office/drawing/2014/main" id="{3CA17B6E-DF21-A811-BB3E-6F7A6025D0CB}"/>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B0C7BF35-FCBA-BC68-6369-ACF7404B8A3A}"/>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a:solidFill>
                <a:prstClr val="white"/>
              </a:solidFill>
              <a:latin typeface="Arial" panose="020B0604020202020204"/>
            </a:endParaRPr>
          </a:p>
        </p:txBody>
      </p:sp>
      <p:sp>
        <p:nvSpPr>
          <p:cNvPr id="6" name="Title 1">
            <a:extLst>
              <a:ext uri="{FF2B5EF4-FFF2-40B4-BE49-F238E27FC236}">
                <a16:creationId xmlns:a16="http://schemas.microsoft.com/office/drawing/2014/main" id="{415F0A04-0E1D-72E8-BFEE-280153E57760}"/>
              </a:ext>
            </a:extLst>
          </p:cNvPr>
          <p:cNvSpPr>
            <a:spLocks noGrp="1"/>
          </p:cNvSpPr>
          <p:nvPr>
            <p:ph type="title"/>
          </p:nvPr>
        </p:nvSpPr>
        <p:spPr>
          <a:xfrm>
            <a:off x="356722" y="414788"/>
            <a:ext cx="10806491" cy="467293"/>
          </a:xfrm>
        </p:spPr>
        <p:txBody>
          <a:bodyPr/>
          <a:lstStyle/>
          <a:p>
            <a:r>
              <a:rPr lang="en-NO" dirty="0"/>
              <a:t>Mean shift clustering algorithm</a:t>
            </a:r>
          </a:p>
        </p:txBody>
      </p:sp>
      <p:pic>
        <p:nvPicPr>
          <p:cNvPr id="5126" name="Picture 6">
            <a:extLst>
              <a:ext uri="{FF2B5EF4-FFF2-40B4-BE49-F238E27FC236}">
                <a16:creationId xmlns:a16="http://schemas.microsoft.com/office/drawing/2014/main" id="{7967DF95-8E8E-D220-9BF4-8CB83D833BA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98018" y="1814292"/>
            <a:ext cx="4865195" cy="365112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826009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12ABCA-7CE2-1B43-974A-38A0DA23FE08}"/>
              </a:ext>
            </a:extLst>
          </p:cNvPr>
          <p:cNvSpPr>
            <a:spLocks noGrp="1"/>
          </p:cNvSpPr>
          <p:nvPr>
            <p:ph type="title"/>
          </p:nvPr>
        </p:nvSpPr>
        <p:spPr/>
        <p:txBody>
          <a:bodyPr/>
          <a:lstStyle/>
          <a:p>
            <a:endParaRPr lang="en-NO"/>
          </a:p>
        </p:txBody>
      </p:sp>
      <p:sp>
        <p:nvSpPr>
          <p:cNvPr id="3" name="Content Placeholder 2">
            <a:extLst>
              <a:ext uri="{FF2B5EF4-FFF2-40B4-BE49-F238E27FC236}">
                <a16:creationId xmlns:a16="http://schemas.microsoft.com/office/drawing/2014/main" id="{7FC8A849-3A63-FB48-ADE0-38643A67C2DE}"/>
              </a:ext>
            </a:extLst>
          </p:cNvPr>
          <p:cNvSpPr>
            <a:spLocks noGrp="1"/>
          </p:cNvSpPr>
          <p:nvPr>
            <p:ph idx="1"/>
          </p:nvPr>
        </p:nvSpPr>
        <p:spPr/>
        <p:txBody>
          <a:bodyPr/>
          <a:lstStyle/>
          <a:p>
            <a:endParaRPr lang="en-NO"/>
          </a:p>
        </p:txBody>
      </p:sp>
      <p:sp>
        <p:nvSpPr>
          <p:cNvPr id="4" name="Footer Placeholder 3">
            <a:extLst>
              <a:ext uri="{FF2B5EF4-FFF2-40B4-BE49-F238E27FC236}">
                <a16:creationId xmlns:a16="http://schemas.microsoft.com/office/drawing/2014/main" id="{FC1C6C27-A962-F64A-BA87-D08474B7F811}"/>
              </a:ext>
            </a:extLst>
          </p:cNvPr>
          <p:cNvSpPr>
            <a:spLocks noGrp="1"/>
          </p:cNvSpPr>
          <p:nvPr>
            <p:ph type="ftr" sz="quarter" idx="11"/>
          </p:nvPr>
        </p:nvSpPr>
        <p:spPr>
          <a:xfrm>
            <a:off x="5274861" y="6450153"/>
            <a:ext cx="6326985" cy="184579"/>
          </a:xfrm>
        </p:spPr>
        <p:txBody>
          <a:bodyPr/>
          <a:lstStyle/>
          <a:p>
            <a:pPr defTabSz="914222"/>
            <a:r>
              <a:rPr lang="nb-NO" dirty="0" err="1">
                <a:solidFill>
                  <a:prstClr val="black"/>
                </a:solidFill>
                <a:latin typeface="Arial" panose="020B0604020202020204"/>
              </a:rPr>
              <a:t>https</a:t>
            </a:r>
            <a:r>
              <a:rPr lang="nb-NO" dirty="0">
                <a:solidFill>
                  <a:prstClr val="black"/>
                </a:solidFill>
                <a:latin typeface="Arial" panose="020B0604020202020204"/>
              </a:rPr>
              <a:t>://</a:t>
            </a:r>
            <a:r>
              <a:rPr lang="nb-NO" dirty="0" err="1">
                <a:solidFill>
                  <a:prstClr val="black"/>
                </a:solidFill>
                <a:latin typeface="Arial" panose="020B0604020202020204"/>
              </a:rPr>
              <a:t>towardsdatascience.com</a:t>
            </a:r>
            <a:r>
              <a:rPr lang="nb-NO" dirty="0">
                <a:solidFill>
                  <a:prstClr val="black"/>
                </a:solidFill>
                <a:latin typeface="Arial" panose="020B0604020202020204"/>
              </a:rPr>
              <a:t>/the-5-clustering-algorithms-data-scientists-need-to-know-a36d136ef68</a:t>
            </a:r>
          </a:p>
        </p:txBody>
      </p:sp>
      <p:pic>
        <p:nvPicPr>
          <p:cNvPr id="6146" name="Picture 2" descr="Image for post">
            <a:extLst>
              <a:ext uri="{FF2B5EF4-FFF2-40B4-BE49-F238E27FC236}">
                <a16:creationId xmlns:a16="http://schemas.microsoft.com/office/drawing/2014/main" id="{04541BFD-6147-7341-917F-93D456A940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06377" y="1500776"/>
            <a:ext cx="4046882" cy="4046882"/>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Image for post">
            <a:extLst>
              <a:ext uri="{FF2B5EF4-FFF2-40B4-BE49-F238E27FC236}">
                <a16:creationId xmlns:a16="http://schemas.microsoft.com/office/drawing/2014/main" id="{6E0551A6-AEDD-CD49-872F-8DC703F5B89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3100" y="1500776"/>
            <a:ext cx="3856448" cy="3856448"/>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67B1954B-A96E-C94D-817F-EA5C4B21F253}"/>
              </a:ext>
            </a:extLst>
          </p:cNvPr>
          <p:cNvSpPr txBox="1"/>
          <p:nvPr/>
        </p:nvSpPr>
        <p:spPr>
          <a:xfrm>
            <a:off x="2022284" y="910848"/>
            <a:ext cx="2508259" cy="369204"/>
          </a:xfrm>
          <a:prstGeom prst="rect">
            <a:avLst/>
          </a:prstGeom>
          <a:noFill/>
        </p:spPr>
        <p:txBody>
          <a:bodyPr wrap="square" rtlCol="0">
            <a:spAutoFit/>
          </a:bodyPr>
          <a:lstStyle/>
          <a:p>
            <a:pPr defTabSz="914222"/>
            <a:r>
              <a:rPr lang="en-NO" sz="1799" dirty="0">
                <a:solidFill>
                  <a:prstClr val="black"/>
                </a:solidFill>
                <a:latin typeface="Arial" panose="020B0604020202020204"/>
              </a:rPr>
              <a:t>Example 1</a:t>
            </a:r>
          </a:p>
        </p:txBody>
      </p:sp>
      <p:sp>
        <p:nvSpPr>
          <p:cNvPr id="8" name="TextBox 7">
            <a:extLst>
              <a:ext uri="{FF2B5EF4-FFF2-40B4-BE49-F238E27FC236}">
                <a16:creationId xmlns:a16="http://schemas.microsoft.com/office/drawing/2014/main" id="{A66704D6-3DA6-9348-B0D0-ADCAF48EC7B0}"/>
              </a:ext>
            </a:extLst>
          </p:cNvPr>
          <p:cNvSpPr txBox="1"/>
          <p:nvPr/>
        </p:nvSpPr>
        <p:spPr>
          <a:xfrm>
            <a:off x="7977194" y="751984"/>
            <a:ext cx="2508259" cy="369204"/>
          </a:xfrm>
          <a:prstGeom prst="rect">
            <a:avLst/>
          </a:prstGeom>
          <a:noFill/>
        </p:spPr>
        <p:txBody>
          <a:bodyPr wrap="square" rtlCol="0">
            <a:spAutoFit/>
          </a:bodyPr>
          <a:lstStyle/>
          <a:p>
            <a:pPr defTabSz="914222"/>
            <a:r>
              <a:rPr lang="en-NO" sz="1799" dirty="0">
                <a:solidFill>
                  <a:prstClr val="black"/>
                </a:solidFill>
                <a:latin typeface="Arial" panose="020B0604020202020204"/>
              </a:rPr>
              <a:t>Example 2</a:t>
            </a:r>
          </a:p>
        </p:txBody>
      </p:sp>
    </p:spTree>
    <p:extLst>
      <p:ext uri="{BB962C8B-B14F-4D97-AF65-F5344CB8AC3E}">
        <p14:creationId xmlns:p14="http://schemas.microsoft.com/office/powerpoint/2010/main" val="17185999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1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BA574-94D9-7688-820D-859D596B44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9BCB27-C210-3753-80F6-0E48342AB7B0}"/>
              </a:ext>
            </a:extLst>
          </p:cNvPr>
          <p:cNvSpPr>
            <a:spLocks noGrp="1"/>
          </p:cNvSpPr>
          <p:nvPr>
            <p:ph idx="1"/>
          </p:nvPr>
        </p:nvSpPr>
        <p:spPr>
          <a:xfrm>
            <a:off x="683316" y="1647649"/>
            <a:ext cx="10009287" cy="4473295"/>
          </a:xfrm>
        </p:spPr>
        <p:txBody>
          <a:bodyPr>
            <a:normAutofit/>
          </a:bodyPr>
          <a:lstStyle/>
          <a:p>
            <a:r>
              <a:rPr lang="nb-NO" dirty="0" err="1"/>
              <a:t>Finds</a:t>
            </a:r>
            <a:r>
              <a:rPr lang="nb-NO" dirty="0"/>
              <a:t> </a:t>
            </a:r>
            <a:r>
              <a:rPr lang="nb-NO" dirty="0" err="1"/>
              <a:t>dense</a:t>
            </a:r>
            <a:r>
              <a:rPr lang="nb-NO" dirty="0"/>
              <a:t> </a:t>
            </a:r>
            <a:r>
              <a:rPr lang="nb-NO" dirty="0" err="1"/>
              <a:t>groups</a:t>
            </a:r>
            <a:r>
              <a:rPr lang="nb-NO" dirty="0"/>
              <a:t> </a:t>
            </a:r>
            <a:r>
              <a:rPr lang="nb-NO" dirty="0" err="1"/>
              <a:t>of</a:t>
            </a:r>
            <a:r>
              <a:rPr lang="nb-NO" dirty="0"/>
              <a:t> </a:t>
            </a:r>
            <a:r>
              <a:rPr lang="nb-NO" dirty="0" err="1"/>
              <a:t>nearby</a:t>
            </a:r>
            <a:r>
              <a:rPr lang="nb-NO" dirty="0"/>
              <a:t> </a:t>
            </a:r>
            <a:r>
              <a:rPr lang="nb-NO" dirty="0" err="1"/>
              <a:t>points</a:t>
            </a:r>
            <a:endParaRPr lang="nb-NO" dirty="0"/>
          </a:p>
          <a:p>
            <a:endParaRPr lang="nb-NO" dirty="0"/>
          </a:p>
        </p:txBody>
      </p:sp>
      <p:sp>
        <p:nvSpPr>
          <p:cNvPr id="4" name="Footer Placeholder 3">
            <a:extLst>
              <a:ext uri="{FF2B5EF4-FFF2-40B4-BE49-F238E27FC236}">
                <a16:creationId xmlns:a16="http://schemas.microsoft.com/office/drawing/2014/main" id="{97D40C9D-A242-4EEE-F43A-B3371D78A339}"/>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0B5B5281-AD0E-87E0-E2BA-3A7DA83A2636}"/>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a:solidFill>
                <a:prstClr val="white"/>
              </a:solidFill>
              <a:latin typeface="Arial" panose="020B0604020202020204"/>
            </a:endParaRPr>
          </a:p>
        </p:txBody>
      </p:sp>
      <p:sp>
        <p:nvSpPr>
          <p:cNvPr id="6" name="Title 1">
            <a:extLst>
              <a:ext uri="{FF2B5EF4-FFF2-40B4-BE49-F238E27FC236}">
                <a16:creationId xmlns:a16="http://schemas.microsoft.com/office/drawing/2014/main" id="{D9B683B7-27D7-94AC-A188-ECE85623628C}"/>
              </a:ext>
            </a:extLst>
          </p:cNvPr>
          <p:cNvSpPr>
            <a:spLocks noGrp="1"/>
          </p:cNvSpPr>
          <p:nvPr>
            <p:ph type="title"/>
          </p:nvPr>
        </p:nvSpPr>
        <p:spPr>
          <a:xfrm>
            <a:off x="356722" y="414788"/>
            <a:ext cx="10806491" cy="467293"/>
          </a:xfrm>
        </p:spPr>
        <p:txBody>
          <a:bodyPr>
            <a:normAutofit/>
          </a:bodyPr>
          <a:lstStyle/>
          <a:p>
            <a:r>
              <a:rPr lang="en-GB" dirty="0"/>
              <a:t>DBSCAN Algorithm</a:t>
            </a:r>
          </a:p>
        </p:txBody>
      </p:sp>
      <p:pic>
        <p:nvPicPr>
          <p:cNvPr id="2" name="Picture 2" descr="Image for post">
            <a:extLst>
              <a:ext uri="{FF2B5EF4-FFF2-40B4-BE49-F238E27FC236}">
                <a16:creationId xmlns:a16="http://schemas.microsoft.com/office/drawing/2014/main" id="{8EC7D440-C7FA-A4F7-48D0-F07367A18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97029" y="2640712"/>
            <a:ext cx="5177263" cy="3252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9613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E50D9F-2AFB-6931-C4F2-3FD4A7811C6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A5C5E32-B0E7-49AF-0D47-36F76054E990}"/>
              </a:ext>
            </a:extLst>
          </p:cNvPr>
          <p:cNvSpPr>
            <a:spLocks noGrp="1"/>
          </p:cNvSpPr>
          <p:nvPr>
            <p:ph idx="1"/>
          </p:nvPr>
        </p:nvSpPr>
        <p:spPr/>
        <p:txBody>
          <a:bodyPr/>
          <a:lstStyle/>
          <a:p>
            <a:endParaRPr lang="en-US"/>
          </a:p>
        </p:txBody>
      </p:sp>
      <p:sp>
        <p:nvSpPr>
          <p:cNvPr id="4" name="Footer Placeholder 3">
            <a:extLst>
              <a:ext uri="{FF2B5EF4-FFF2-40B4-BE49-F238E27FC236}">
                <a16:creationId xmlns:a16="http://schemas.microsoft.com/office/drawing/2014/main" id="{DF61D9B0-D846-2F15-99DD-3FEAB1DE11CB}"/>
              </a:ext>
            </a:extLst>
          </p:cNvPr>
          <p:cNvSpPr>
            <a:spLocks noGrp="1"/>
          </p:cNvSpPr>
          <p:nvPr>
            <p:ph type="ftr" sz="quarter" idx="11"/>
          </p:nvPr>
        </p:nvSpPr>
        <p:spPr/>
        <p:txBody>
          <a:bodyPr/>
          <a:lstStyle/>
          <a:p>
            <a:r>
              <a:rPr lang="nb-NO"/>
              <a:t>DAVE3625- Intro to A.I. by Umair M.I</a:t>
            </a:r>
          </a:p>
        </p:txBody>
      </p:sp>
      <p:pic>
        <p:nvPicPr>
          <p:cNvPr id="5" name="Picture 4" descr="Visualizing Clustering Algorithms: K-Means and DBSCAN | by Aydin Schwartz |  Level Up Coding">
            <a:extLst>
              <a:ext uri="{FF2B5EF4-FFF2-40B4-BE49-F238E27FC236}">
                <a16:creationId xmlns:a16="http://schemas.microsoft.com/office/drawing/2014/main" id="{C3E684EE-19C6-81D4-2362-743D0291AA14}"/>
              </a:ext>
            </a:extLst>
          </p:cNvPr>
          <p:cNvPicPr>
            <a:picLocks noChangeAspect="1"/>
          </p:cNvPicPr>
          <p:nvPr/>
        </p:nvPicPr>
        <p:blipFill>
          <a:blip r:embed="rId2"/>
          <a:stretch>
            <a:fillRect/>
          </a:stretch>
        </p:blipFill>
        <p:spPr>
          <a:xfrm>
            <a:off x="2667000" y="857250"/>
            <a:ext cx="6858000" cy="5143500"/>
          </a:xfrm>
          <a:prstGeom prst="rect">
            <a:avLst/>
          </a:prstGeom>
        </p:spPr>
      </p:pic>
    </p:spTree>
    <p:extLst>
      <p:ext uri="{BB962C8B-B14F-4D97-AF65-F5344CB8AC3E}">
        <p14:creationId xmlns:p14="http://schemas.microsoft.com/office/powerpoint/2010/main" val="228352017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A49DE92-0BFB-8242-87B8-0CC9ACDB609A}"/>
              </a:ext>
            </a:extLst>
          </p:cNvPr>
          <p:cNvSpPr>
            <a:spLocks noGrp="1"/>
          </p:cNvSpPr>
          <p:nvPr>
            <p:ph idx="1"/>
          </p:nvPr>
        </p:nvSpPr>
        <p:spPr>
          <a:xfrm>
            <a:off x="683316" y="1647649"/>
            <a:ext cx="10009287" cy="4473295"/>
          </a:xfrm>
        </p:spPr>
        <p:txBody>
          <a:bodyPr>
            <a:normAutofit fontScale="92500" lnSpcReduction="20000"/>
          </a:bodyPr>
          <a:lstStyle/>
          <a:p>
            <a:pPr marL="228491" lvl="1" indent="0">
              <a:buNone/>
            </a:pPr>
            <a:endParaRPr lang="nb-NO" dirty="0"/>
          </a:p>
          <a:p>
            <a:r>
              <a:rPr lang="nb-NO" dirty="0"/>
              <a:t>Stands for </a:t>
            </a:r>
            <a:r>
              <a:rPr lang="en-GB" dirty="0"/>
              <a:t>Density-Based Spatial Clustering of Applications with Noise </a:t>
            </a:r>
          </a:p>
          <a:p>
            <a:r>
              <a:rPr lang="en-GB" dirty="0"/>
              <a:t>This is also a density based algorithm</a:t>
            </a:r>
          </a:p>
          <a:p>
            <a:r>
              <a:rPr lang="en-GB" dirty="0"/>
              <a:t>It separates regions by areas of low-density so that it can detect outliers between the high-density clusters.</a:t>
            </a:r>
          </a:p>
          <a:p>
            <a:r>
              <a:rPr lang="en-NO" dirty="0"/>
              <a:t>Uses two parameters:</a:t>
            </a:r>
          </a:p>
          <a:p>
            <a:pPr lvl="1"/>
            <a:r>
              <a:rPr lang="en-US" b="1" dirty="0" err="1"/>
              <a:t>ε</a:t>
            </a:r>
            <a:r>
              <a:rPr lang="en-US" b="1" dirty="0"/>
              <a:t> (epsilon):</a:t>
            </a:r>
            <a:r>
              <a:rPr lang="en-US" dirty="0"/>
              <a:t> how close points must be to count as </a:t>
            </a:r>
            <a:r>
              <a:rPr lang="en-US" dirty="0" err="1"/>
              <a:t>neighbours</a:t>
            </a:r>
            <a:r>
              <a:rPr lang="en-US" dirty="0"/>
              <a:t>. </a:t>
            </a:r>
          </a:p>
          <a:p>
            <a:pPr lvl="1"/>
            <a:r>
              <a:rPr lang="en-US" b="1" dirty="0" err="1"/>
              <a:t>min_samples</a:t>
            </a:r>
            <a:r>
              <a:rPr lang="en-US" b="1" dirty="0"/>
              <a:t>:</a:t>
            </a:r>
            <a:r>
              <a:rPr lang="en-US" dirty="0"/>
              <a:t> how many nearby points are needed to start a dense area.</a:t>
            </a:r>
          </a:p>
          <a:p>
            <a:pPr lvl="1"/>
            <a:endParaRPr lang="en-US" dirty="0"/>
          </a:p>
          <a:p>
            <a:r>
              <a:rPr lang="en-US" dirty="0"/>
              <a:t>Compared with </a:t>
            </a:r>
            <a:r>
              <a:rPr lang="en-US" b="1" dirty="0"/>
              <a:t>K-means</a:t>
            </a:r>
            <a:r>
              <a:rPr lang="en-US" dirty="0"/>
              <a:t>, DBSCAN does not require you to choose the number of clusters in advance, and it can find irregularly shaped groups. Its results depend strongly on the distance scale and those two settings</a:t>
            </a:r>
          </a:p>
          <a:p>
            <a:r>
              <a:rPr lang="en-US" dirty="0"/>
              <a:t>Isolated dots are marked as </a:t>
            </a:r>
            <a:r>
              <a:rPr lang="en-US" b="1" dirty="0"/>
              <a:t>noise</a:t>
            </a:r>
            <a:r>
              <a:rPr lang="en-US" dirty="0"/>
              <a:t> rather than forced into a cluster.</a:t>
            </a:r>
            <a:endParaRPr lang="en-GB" dirty="0"/>
          </a:p>
        </p:txBody>
      </p:sp>
      <p:sp>
        <p:nvSpPr>
          <p:cNvPr id="4" name="Footer Placeholder 3">
            <a:extLst>
              <a:ext uri="{FF2B5EF4-FFF2-40B4-BE49-F238E27FC236}">
                <a16:creationId xmlns:a16="http://schemas.microsoft.com/office/drawing/2014/main" id="{06351E2B-DA1C-794C-8DC7-BFD484759667}"/>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38837B74-3347-8149-AF6D-1DD6355D89AE}"/>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a:solidFill>
                <a:prstClr val="white"/>
              </a:solidFill>
              <a:latin typeface="Arial" panose="020B0604020202020204"/>
            </a:endParaRPr>
          </a:p>
        </p:txBody>
      </p:sp>
      <p:sp>
        <p:nvSpPr>
          <p:cNvPr id="6" name="Title 1">
            <a:extLst>
              <a:ext uri="{FF2B5EF4-FFF2-40B4-BE49-F238E27FC236}">
                <a16:creationId xmlns:a16="http://schemas.microsoft.com/office/drawing/2014/main" id="{90B20422-BAF1-2843-995C-6FBE1D9E5F54}"/>
              </a:ext>
            </a:extLst>
          </p:cNvPr>
          <p:cNvSpPr>
            <a:spLocks noGrp="1"/>
          </p:cNvSpPr>
          <p:nvPr>
            <p:ph type="title"/>
          </p:nvPr>
        </p:nvSpPr>
        <p:spPr>
          <a:xfrm>
            <a:off x="356722" y="414788"/>
            <a:ext cx="10806491" cy="467293"/>
          </a:xfrm>
        </p:spPr>
        <p:txBody>
          <a:bodyPr>
            <a:normAutofit/>
          </a:bodyPr>
          <a:lstStyle/>
          <a:p>
            <a:r>
              <a:rPr lang="en-GB" dirty="0"/>
              <a:t>DBSCAN Algorithm</a:t>
            </a:r>
          </a:p>
        </p:txBody>
      </p:sp>
    </p:spTree>
    <p:extLst>
      <p:ext uri="{BB962C8B-B14F-4D97-AF65-F5344CB8AC3E}">
        <p14:creationId xmlns:p14="http://schemas.microsoft.com/office/powerpoint/2010/main" val="16047067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EB1F55-A51E-EA43-BF9B-31A3EB04BB81}"/>
              </a:ext>
            </a:extLst>
          </p:cNvPr>
          <p:cNvSpPr>
            <a:spLocks noGrp="1"/>
          </p:cNvSpPr>
          <p:nvPr>
            <p:ph idx="1"/>
          </p:nvPr>
        </p:nvSpPr>
        <p:spPr>
          <a:xfrm>
            <a:off x="2681506" y="1473826"/>
            <a:ext cx="6810109" cy="1555385"/>
          </a:xfrm>
        </p:spPr>
        <p:txBody>
          <a:bodyPr/>
          <a:lstStyle/>
          <a:p>
            <a:r>
              <a:rPr lang="en-NO" dirty="0"/>
              <a:t>Very similar to K-Means HOWEVER</a:t>
            </a:r>
          </a:p>
          <a:p>
            <a:pPr lvl="1"/>
            <a:r>
              <a:rPr lang="en-NO" dirty="0"/>
              <a:t>K-menas follows a circular format</a:t>
            </a:r>
          </a:p>
          <a:p>
            <a:pPr lvl="1"/>
            <a:r>
              <a:rPr lang="en-NO" dirty="0"/>
              <a:t>Gaussian can take on any format</a:t>
            </a:r>
          </a:p>
          <a:p>
            <a:endParaRPr lang="en-NO" dirty="0"/>
          </a:p>
        </p:txBody>
      </p:sp>
      <p:sp>
        <p:nvSpPr>
          <p:cNvPr id="4" name="Footer Placeholder 3">
            <a:extLst>
              <a:ext uri="{FF2B5EF4-FFF2-40B4-BE49-F238E27FC236}">
                <a16:creationId xmlns:a16="http://schemas.microsoft.com/office/drawing/2014/main" id="{3151BB27-7D78-594C-A00C-5072A24CE09E}"/>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5F15CEE7-318E-A949-BC32-D84688136BBD}"/>
              </a:ext>
            </a:extLst>
          </p:cNvPr>
          <p:cNvSpPr/>
          <p:nvPr/>
        </p:nvSpPr>
        <p:spPr>
          <a:xfrm>
            <a:off x="30128" y="138103"/>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a:solidFill>
                <a:prstClr val="white"/>
              </a:solidFill>
              <a:latin typeface="Arial" panose="020B0604020202020204"/>
            </a:endParaRPr>
          </a:p>
        </p:txBody>
      </p:sp>
      <p:sp>
        <p:nvSpPr>
          <p:cNvPr id="6" name="Title 1">
            <a:extLst>
              <a:ext uri="{FF2B5EF4-FFF2-40B4-BE49-F238E27FC236}">
                <a16:creationId xmlns:a16="http://schemas.microsoft.com/office/drawing/2014/main" id="{4234CE28-1995-4242-9DDB-5E5360839A28}"/>
              </a:ext>
            </a:extLst>
          </p:cNvPr>
          <p:cNvSpPr>
            <a:spLocks noGrp="1"/>
          </p:cNvSpPr>
          <p:nvPr>
            <p:ph type="title"/>
          </p:nvPr>
        </p:nvSpPr>
        <p:spPr>
          <a:xfrm>
            <a:off x="683315" y="414788"/>
            <a:ext cx="10806491" cy="467293"/>
          </a:xfrm>
        </p:spPr>
        <p:txBody>
          <a:bodyPr/>
          <a:lstStyle/>
          <a:p>
            <a:r>
              <a:rPr lang="en-NO" dirty="0"/>
              <a:t>Gaussian mixture model</a:t>
            </a:r>
          </a:p>
        </p:txBody>
      </p:sp>
      <p:pic>
        <p:nvPicPr>
          <p:cNvPr id="9218" name="Picture 2" descr="Image for post">
            <a:extLst>
              <a:ext uri="{FF2B5EF4-FFF2-40B4-BE49-F238E27FC236}">
                <a16:creationId xmlns:a16="http://schemas.microsoft.com/office/drawing/2014/main" id="{2FB07FE1-10D7-FB4C-9610-5A0489B671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129" y="3701499"/>
            <a:ext cx="3708105" cy="2639799"/>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Image for post">
            <a:extLst>
              <a:ext uri="{FF2B5EF4-FFF2-40B4-BE49-F238E27FC236}">
                <a16:creationId xmlns:a16="http://schemas.microsoft.com/office/drawing/2014/main" id="{5E5E62A2-DDE6-584A-8324-C324E6FA20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75921" y="3620957"/>
            <a:ext cx="3857571" cy="2746205"/>
          </a:xfrm>
          <a:prstGeom prst="rect">
            <a:avLst/>
          </a:prstGeom>
          <a:noFill/>
          <a:extLst>
            <a:ext uri="{909E8E84-426E-40DD-AFC4-6F175D3DCCD1}">
              <a14:hiddenFill xmlns:a14="http://schemas.microsoft.com/office/drawing/2010/main">
                <a:solidFill>
                  <a:srgbClr val="FFFFFF"/>
                </a:solidFill>
              </a14:hiddenFill>
            </a:ext>
          </a:extLst>
        </p:spPr>
      </p:pic>
      <p:pic>
        <p:nvPicPr>
          <p:cNvPr id="9222" name="Picture 6" descr="Image for post">
            <a:extLst>
              <a:ext uri="{FF2B5EF4-FFF2-40B4-BE49-F238E27FC236}">
                <a16:creationId xmlns:a16="http://schemas.microsoft.com/office/drawing/2014/main" id="{60DC23CE-4D03-6247-A7AE-00E314C14F8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77255" y="3620956"/>
            <a:ext cx="3857571" cy="2746205"/>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079070AB-903D-0641-8701-9D2086D4CE0B}"/>
              </a:ext>
            </a:extLst>
          </p:cNvPr>
          <p:cNvSpPr txBox="1"/>
          <p:nvPr/>
        </p:nvSpPr>
        <p:spPr>
          <a:xfrm>
            <a:off x="5647916" y="3066135"/>
            <a:ext cx="1881194" cy="369204"/>
          </a:xfrm>
          <a:prstGeom prst="rect">
            <a:avLst/>
          </a:prstGeom>
          <a:noFill/>
        </p:spPr>
        <p:txBody>
          <a:bodyPr wrap="square" rtlCol="0">
            <a:spAutoFit/>
          </a:bodyPr>
          <a:lstStyle/>
          <a:p>
            <a:pPr defTabSz="914222"/>
            <a:r>
              <a:rPr lang="en-NO" sz="1799" dirty="0">
                <a:solidFill>
                  <a:prstClr val="black"/>
                </a:solidFill>
                <a:latin typeface="Arial" panose="020B0604020202020204"/>
              </a:rPr>
              <a:t>K-means</a:t>
            </a:r>
          </a:p>
        </p:txBody>
      </p:sp>
      <p:sp>
        <p:nvSpPr>
          <p:cNvPr id="11" name="TextBox 10">
            <a:extLst>
              <a:ext uri="{FF2B5EF4-FFF2-40B4-BE49-F238E27FC236}">
                <a16:creationId xmlns:a16="http://schemas.microsoft.com/office/drawing/2014/main" id="{B279F5EC-3C61-FF49-AAA2-7B7A36140D41}"/>
              </a:ext>
            </a:extLst>
          </p:cNvPr>
          <p:cNvSpPr txBox="1"/>
          <p:nvPr/>
        </p:nvSpPr>
        <p:spPr>
          <a:xfrm>
            <a:off x="1326419" y="3064111"/>
            <a:ext cx="1881194" cy="369204"/>
          </a:xfrm>
          <a:prstGeom prst="rect">
            <a:avLst/>
          </a:prstGeom>
          <a:noFill/>
        </p:spPr>
        <p:txBody>
          <a:bodyPr wrap="square" rtlCol="0">
            <a:spAutoFit/>
          </a:bodyPr>
          <a:lstStyle/>
          <a:p>
            <a:pPr defTabSz="914222"/>
            <a:r>
              <a:rPr lang="en-NO" sz="1799" dirty="0">
                <a:solidFill>
                  <a:prstClr val="black"/>
                </a:solidFill>
                <a:latin typeface="Arial" panose="020B0604020202020204"/>
              </a:rPr>
              <a:t>K-means</a:t>
            </a:r>
          </a:p>
        </p:txBody>
      </p:sp>
      <p:sp>
        <p:nvSpPr>
          <p:cNvPr id="12" name="TextBox 11">
            <a:extLst>
              <a:ext uri="{FF2B5EF4-FFF2-40B4-BE49-F238E27FC236}">
                <a16:creationId xmlns:a16="http://schemas.microsoft.com/office/drawing/2014/main" id="{22839C18-9F95-FF4C-843E-DC6530E9982C}"/>
              </a:ext>
            </a:extLst>
          </p:cNvPr>
          <p:cNvSpPr txBox="1"/>
          <p:nvPr/>
        </p:nvSpPr>
        <p:spPr>
          <a:xfrm>
            <a:off x="9510494" y="3040679"/>
            <a:ext cx="1881194" cy="369204"/>
          </a:xfrm>
          <a:prstGeom prst="rect">
            <a:avLst/>
          </a:prstGeom>
          <a:noFill/>
        </p:spPr>
        <p:txBody>
          <a:bodyPr wrap="square" rtlCol="0">
            <a:spAutoFit/>
          </a:bodyPr>
          <a:lstStyle/>
          <a:p>
            <a:pPr defTabSz="914222"/>
            <a:r>
              <a:rPr lang="en-NO" sz="1799" dirty="0">
                <a:solidFill>
                  <a:prstClr val="black"/>
                </a:solidFill>
                <a:latin typeface="Arial" panose="020B0604020202020204"/>
              </a:rPr>
              <a:t>Gaussian</a:t>
            </a:r>
          </a:p>
        </p:txBody>
      </p:sp>
      <p:sp>
        <p:nvSpPr>
          <p:cNvPr id="8" name="Rectangle 7">
            <a:extLst>
              <a:ext uri="{FF2B5EF4-FFF2-40B4-BE49-F238E27FC236}">
                <a16:creationId xmlns:a16="http://schemas.microsoft.com/office/drawing/2014/main" id="{CA3F58D5-33EB-9141-B0BF-310AFBDC8C1F}"/>
              </a:ext>
            </a:extLst>
          </p:cNvPr>
          <p:cNvSpPr/>
          <p:nvPr/>
        </p:nvSpPr>
        <p:spPr>
          <a:xfrm>
            <a:off x="6147163" y="6494066"/>
            <a:ext cx="5987664" cy="308674"/>
          </a:xfrm>
          <a:prstGeom prst="rect">
            <a:avLst/>
          </a:prstGeom>
        </p:spPr>
        <p:txBody>
          <a:bodyPr wrap="square">
            <a:spAutoFit/>
          </a:bodyPr>
          <a:lstStyle/>
          <a:p>
            <a:pPr defTabSz="914222"/>
            <a:r>
              <a:rPr lang="en-NO" sz="1406" dirty="0">
                <a:solidFill>
                  <a:prstClr val="black"/>
                </a:solidFill>
                <a:latin typeface="Arial" panose="020B0604020202020204"/>
              </a:rPr>
              <a:t>https://towardsdatascience.com/gaussian-mixture-models-d13a5e915c8e</a:t>
            </a:r>
          </a:p>
        </p:txBody>
      </p:sp>
    </p:spTree>
    <p:extLst>
      <p:ext uri="{BB962C8B-B14F-4D97-AF65-F5344CB8AC3E}">
        <p14:creationId xmlns:p14="http://schemas.microsoft.com/office/powerpoint/2010/main" val="30757856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22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95DF5-11B8-7B41-912C-267E56CD354C}"/>
              </a:ext>
            </a:extLst>
          </p:cNvPr>
          <p:cNvSpPr>
            <a:spLocks noGrp="1"/>
          </p:cNvSpPr>
          <p:nvPr>
            <p:ph type="title"/>
          </p:nvPr>
        </p:nvSpPr>
        <p:spPr/>
        <p:txBody>
          <a:bodyPr/>
          <a:lstStyle/>
          <a:p>
            <a:r>
              <a:rPr lang="en-GB" dirty="0"/>
              <a:t>F</a:t>
            </a:r>
            <a:r>
              <a:rPr lang="en-NO" dirty="0"/>
              <a:t>ew more clusstering algorithms</a:t>
            </a:r>
          </a:p>
        </p:txBody>
      </p:sp>
      <p:sp>
        <p:nvSpPr>
          <p:cNvPr id="3" name="Content Placeholder 2">
            <a:extLst>
              <a:ext uri="{FF2B5EF4-FFF2-40B4-BE49-F238E27FC236}">
                <a16:creationId xmlns:a16="http://schemas.microsoft.com/office/drawing/2014/main" id="{05AE9F85-136B-BB42-8D99-CFCAF9A34715}"/>
              </a:ext>
            </a:extLst>
          </p:cNvPr>
          <p:cNvSpPr>
            <a:spLocks noGrp="1"/>
          </p:cNvSpPr>
          <p:nvPr>
            <p:ph idx="1"/>
          </p:nvPr>
        </p:nvSpPr>
        <p:spPr/>
        <p:txBody>
          <a:bodyPr/>
          <a:lstStyle/>
          <a:p>
            <a:r>
              <a:rPr lang="en-NO" dirty="0"/>
              <a:t>BIRCH algorithm</a:t>
            </a:r>
          </a:p>
          <a:p>
            <a:r>
              <a:rPr lang="en-GB" dirty="0"/>
              <a:t>Affinity Propagation clustering algorithm</a:t>
            </a:r>
          </a:p>
          <a:p>
            <a:r>
              <a:rPr lang="en-GB" dirty="0"/>
              <a:t>OPTICS algorithm</a:t>
            </a:r>
          </a:p>
          <a:p>
            <a:r>
              <a:rPr lang="en-GB" dirty="0"/>
              <a:t>Agglomerative Hierarchy clustering algorithm</a:t>
            </a:r>
          </a:p>
          <a:p>
            <a:r>
              <a:rPr lang="en-GB" dirty="0"/>
              <a:t>etc etc </a:t>
            </a:r>
          </a:p>
          <a:p>
            <a:endParaRPr lang="en-NO" dirty="0"/>
          </a:p>
          <a:p>
            <a:endParaRPr lang="en-NO" dirty="0"/>
          </a:p>
        </p:txBody>
      </p:sp>
      <p:sp>
        <p:nvSpPr>
          <p:cNvPr id="4" name="Footer Placeholder 3">
            <a:extLst>
              <a:ext uri="{FF2B5EF4-FFF2-40B4-BE49-F238E27FC236}">
                <a16:creationId xmlns:a16="http://schemas.microsoft.com/office/drawing/2014/main" id="{00BEB4AB-A20B-E44D-8312-28C627441B17}"/>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Tree>
    <p:extLst>
      <p:ext uri="{BB962C8B-B14F-4D97-AF65-F5344CB8AC3E}">
        <p14:creationId xmlns:p14="http://schemas.microsoft.com/office/powerpoint/2010/main" val="203401923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71AC4C-94B8-3746-B369-B2DEA94CE5B2}"/>
              </a:ext>
            </a:extLst>
          </p:cNvPr>
          <p:cNvSpPr>
            <a:spLocks noGrp="1"/>
          </p:cNvSpPr>
          <p:nvPr>
            <p:ph type="title"/>
          </p:nvPr>
        </p:nvSpPr>
        <p:spPr/>
        <p:txBody>
          <a:bodyPr/>
          <a:lstStyle/>
          <a:p>
            <a:r>
              <a:rPr lang="en-NO" dirty="0"/>
              <a:t>Types of unsupervised learning</a:t>
            </a:r>
          </a:p>
        </p:txBody>
      </p:sp>
      <p:sp>
        <p:nvSpPr>
          <p:cNvPr id="3" name="Content Placeholder 2">
            <a:extLst>
              <a:ext uri="{FF2B5EF4-FFF2-40B4-BE49-F238E27FC236}">
                <a16:creationId xmlns:a16="http://schemas.microsoft.com/office/drawing/2014/main" id="{18CDCB80-C61A-4749-8CC9-04DBD757F914}"/>
              </a:ext>
            </a:extLst>
          </p:cNvPr>
          <p:cNvSpPr>
            <a:spLocks noGrp="1"/>
          </p:cNvSpPr>
          <p:nvPr>
            <p:ph idx="1"/>
          </p:nvPr>
        </p:nvSpPr>
        <p:spPr/>
        <p:txBody>
          <a:bodyPr/>
          <a:lstStyle/>
          <a:p>
            <a:r>
              <a:rPr lang="en-NO" dirty="0"/>
              <a:t>Clustering</a:t>
            </a:r>
          </a:p>
          <a:p>
            <a:r>
              <a:rPr lang="en-NO" dirty="0"/>
              <a:t>Association</a:t>
            </a:r>
          </a:p>
        </p:txBody>
      </p:sp>
      <p:sp>
        <p:nvSpPr>
          <p:cNvPr id="4" name="Footer Placeholder 3">
            <a:extLst>
              <a:ext uri="{FF2B5EF4-FFF2-40B4-BE49-F238E27FC236}">
                <a16:creationId xmlns:a16="http://schemas.microsoft.com/office/drawing/2014/main" id="{CA1A2186-7F10-794D-8698-9FC93EBA7FFF}"/>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Tree>
    <p:extLst>
      <p:ext uri="{BB962C8B-B14F-4D97-AF65-F5344CB8AC3E}">
        <p14:creationId xmlns:p14="http://schemas.microsoft.com/office/powerpoint/2010/main" val="1683822282"/>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2D4140A5-A44B-AB45-9D21-6B9E354C3085}"/>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7C4DFD99-2417-E645-9ABF-0B6873D8AC83}"/>
              </a:ext>
            </a:extLst>
          </p:cNvPr>
          <p:cNvSpPr/>
          <p:nvPr/>
        </p:nvSpPr>
        <p:spPr>
          <a:xfrm>
            <a:off x="0" y="76895"/>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a:solidFill>
                <a:prstClr val="white"/>
              </a:solidFill>
              <a:latin typeface="Arial" panose="020B0604020202020204"/>
            </a:endParaRPr>
          </a:p>
        </p:txBody>
      </p:sp>
      <p:sp>
        <p:nvSpPr>
          <p:cNvPr id="6" name="Title 1">
            <a:extLst>
              <a:ext uri="{FF2B5EF4-FFF2-40B4-BE49-F238E27FC236}">
                <a16:creationId xmlns:a16="http://schemas.microsoft.com/office/drawing/2014/main" id="{F5A56C63-1CDC-CF44-B0EB-B2671AE187C2}"/>
              </a:ext>
            </a:extLst>
          </p:cNvPr>
          <p:cNvSpPr>
            <a:spLocks noGrp="1"/>
          </p:cNvSpPr>
          <p:nvPr>
            <p:ph type="title"/>
          </p:nvPr>
        </p:nvSpPr>
        <p:spPr>
          <a:xfrm>
            <a:off x="653187" y="269314"/>
            <a:ext cx="10806491" cy="467293"/>
          </a:xfrm>
        </p:spPr>
        <p:txBody>
          <a:bodyPr/>
          <a:lstStyle/>
          <a:p>
            <a:r>
              <a:rPr lang="en-NO" dirty="0"/>
              <a:t>Association algorithms</a:t>
            </a:r>
          </a:p>
        </p:txBody>
      </p:sp>
      <p:pic>
        <p:nvPicPr>
          <p:cNvPr id="10242" name="Picture 2" descr="Association Rules Network Graph">
            <a:extLst>
              <a:ext uri="{FF2B5EF4-FFF2-40B4-BE49-F238E27FC236}">
                <a16:creationId xmlns:a16="http://schemas.microsoft.com/office/drawing/2014/main" id="{79565305-5ED7-D445-8DD9-AEF2A7476CE2}"/>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2709851" y="1103698"/>
            <a:ext cx="6539355" cy="5513411"/>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6">
            <a:extLst>
              <a:ext uri="{FF2B5EF4-FFF2-40B4-BE49-F238E27FC236}">
                <a16:creationId xmlns:a16="http://schemas.microsoft.com/office/drawing/2014/main" id="{399C3739-7493-864F-AE59-BD14B7BD8F26}"/>
              </a:ext>
            </a:extLst>
          </p:cNvPr>
          <p:cNvSpPr/>
          <p:nvPr/>
        </p:nvSpPr>
        <p:spPr>
          <a:xfrm>
            <a:off x="5111804" y="6471299"/>
            <a:ext cx="7152511" cy="308674"/>
          </a:xfrm>
          <a:prstGeom prst="rect">
            <a:avLst/>
          </a:prstGeom>
        </p:spPr>
        <p:txBody>
          <a:bodyPr wrap="square">
            <a:spAutoFit/>
          </a:bodyPr>
          <a:lstStyle/>
          <a:p>
            <a:pPr defTabSz="914222"/>
            <a:r>
              <a:rPr lang="en-NO" sz="1406" dirty="0">
                <a:solidFill>
                  <a:prstClr val="black"/>
                </a:solidFill>
                <a:latin typeface="Arial" panose="020B0604020202020204"/>
              </a:rPr>
              <a:t>https://www.kdnuggets.com/2016/04/association-rules-apriori-algorithm-tutorial.html</a:t>
            </a:r>
          </a:p>
        </p:txBody>
      </p:sp>
    </p:spTree>
    <p:extLst>
      <p:ext uri="{BB962C8B-B14F-4D97-AF65-F5344CB8AC3E}">
        <p14:creationId xmlns:p14="http://schemas.microsoft.com/office/powerpoint/2010/main" val="124894537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6E79A08-98A1-0648-B636-BE81ACC16466}"/>
              </a:ext>
            </a:extLst>
          </p:cNvPr>
          <p:cNvSpPr>
            <a:spLocks noGrp="1"/>
          </p:cNvSpPr>
          <p:nvPr>
            <p:ph idx="1"/>
          </p:nvPr>
        </p:nvSpPr>
        <p:spPr>
          <a:xfrm>
            <a:off x="692755" y="1657871"/>
            <a:ext cx="10806491" cy="3290032"/>
          </a:xfrm>
        </p:spPr>
        <p:txBody>
          <a:bodyPr/>
          <a:lstStyle/>
          <a:p>
            <a:pPr marL="0" indent="0">
              <a:buNone/>
            </a:pPr>
            <a:r>
              <a:rPr lang="en-NO" dirty="0"/>
              <a:t>2. Association</a:t>
            </a:r>
          </a:p>
          <a:p>
            <a:pPr lvl="1"/>
            <a:r>
              <a:rPr lang="en-GB" dirty="0"/>
              <a:t>W</a:t>
            </a:r>
            <a:r>
              <a:rPr lang="en-NO" dirty="0"/>
              <a:t>hen we want to discover rules that describe our data. </a:t>
            </a:r>
          </a:p>
          <a:p>
            <a:endParaRPr lang="en-NO" dirty="0"/>
          </a:p>
        </p:txBody>
      </p:sp>
      <p:sp>
        <p:nvSpPr>
          <p:cNvPr id="4" name="Footer Placeholder 3">
            <a:extLst>
              <a:ext uri="{FF2B5EF4-FFF2-40B4-BE49-F238E27FC236}">
                <a16:creationId xmlns:a16="http://schemas.microsoft.com/office/drawing/2014/main" id="{431B6018-FE32-ED4E-997C-C99FAC4B249A}"/>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pic>
        <p:nvPicPr>
          <p:cNvPr id="8" name="Picture 7">
            <a:extLst>
              <a:ext uri="{FF2B5EF4-FFF2-40B4-BE49-F238E27FC236}">
                <a16:creationId xmlns:a16="http://schemas.microsoft.com/office/drawing/2014/main" id="{461F545E-44DD-F145-BD33-849C70837A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250166" y="2804179"/>
            <a:ext cx="5691669" cy="2914824"/>
          </a:xfrm>
          <a:prstGeom prst="rect">
            <a:avLst/>
          </a:prstGeom>
        </p:spPr>
      </p:pic>
      <p:sp>
        <p:nvSpPr>
          <p:cNvPr id="9" name="Rectangle 8">
            <a:extLst>
              <a:ext uri="{FF2B5EF4-FFF2-40B4-BE49-F238E27FC236}">
                <a16:creationId xmlns:a16="http://schemas.microsoft.com/office/drawing/2014/main" id="{66CEF010-7C0D-D74C-A957-5FFDF8F8FDF2}"/>
              </a:ext>
            </a:extLst>
          </p:cNvPr>
          <p:cNvSpPr/>
          <p:nvPr/>
        </p:nvSpPr>
        <p:spPr>
          <a:xfrm>
            <a:off x="5759629" y="6341636"/>
            <a:ext cx="6094884" cy="308674"/>
          </a:xfrm>
          <a:prstGeom prst="rect">
            <a:avLst/>
          </a:prstGeom>
        </p:spPr>
        <p:txBody>
          <a:bodyPr>
            <a:spAutoFit/>
          </a:bodyPr>
          <a:lstStyle/>
          <a:p>
            <a:pPr defTabSz="914222"/>
            <a:r>
              <a:rPr lang="en-NO" sz="1406" dirty="0">
                <a:solidFill>
                  <a:prstClr val="black"/>
                </a:solidFill>
                <a:latin typeface="Arial" panose="020B0604020202020204"/>
              </a:rPr>
              <a:t>https://miro.medium.com/max/1324/0*LHiIYYxuVUd4qYFW.jpeg</a:t>
            </a:r>
          </a:p>
        </p:txBody>
      </p:sp>
    </p:spTree>
    <p:extLst>
      <p:ext uri="{BB962C8B-B14F-4D97-AF65-F5344CB8AC3E}">
        <p14:creationId xmlns:p14="http://schemas.microsoft.com/office/powerpoint/2010/main" val="278520792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071E9B76-ABA6-4240-8D50-E4B833055E87}"/>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pic>
        <p:nvPicPr>
          <p:cNvPr id="2050" name="Picture 2">
            <a:extLst>
              <a:ext uri="{FF2B5EF4-FFF2-40B4-BE49-F238E27FC236}">
                <a16:creationId xmlns:a16="http://schemas.microsoft.com/office/drawing/2014/main" id="{C3AA768F-D79A-EE42-8E56-4CEFBEDFB26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52477" y="1904027"/>
            <a:ext cx="8068168" cy="225908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0262659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F7CB1B5-D814-A04A-9EE9-CA6E819F9706}"/>
              </a:ext>
            </a:extLst>
          </p:cNvPr>
          <p:cNvSpPr>
            <a:spLocks noGrp="1"/>
          </p:cNvSpPr>
          <p:nvPr>
            <p:ph idx="1"/>
          </p:nvPr>
        </p:nvSpPr>
        <p:spPr>
          <a:xfrm>
            <a:off x="683315" y="1961182"/>
            <a:ext cx="10806491" cy="3785325"/>
          </a:xfrm>
        </p:spPr>
        <p:txBody>
          <a:bodyPr/>
          <a:lstStyle/>
          <a:p>
            <a:r>
              <a:rPr lang="en-GB" dirty="0"/>
              <a:t>is used for mining frequent </a:t>
            </a:r>
            <a:r>
              <a:rPr lang="en-GB" dirty="0" err="1"/>
              <a:t>itemsets</a:t>
            </a:r>
            <a:r>
              <a:rPr lang="en-GB" dirty="0"/>
              <a:t> and devising association rules.</a:t>
            </a:r>
          </a:p>
          <a:p>
            <a:r>
              <a:rPr lang="en-GB" dirty="0"/>
              <a:t>It is created to operate on a database containing a lot of transactions, for instance, items brought by customers in a store.</a:t>
            </a:r>
          </a:p>
          <a:p>
            <a:endParaRPr lang="en-GB" dirty="0"/>
          </a:p>
          <a:p>
            <a:r>
              <a:rPr lang="en-GB" dirty="0"/>
              <a:t>This is the algorithm behind: “You may also like”</a:t>
            </a:r>
          </a:p>
          <a:p>
            <a:pPr marL="0" indent="0">
              <a:buNone/>
            </a:pPr>
            <a:endParaRPr lang="en-GB" dirty="0"/>
          </a:p>
        </p:txBody>
      </p:sp>
      <p:sp>
        <p:nvSpPr>
          <p:cNvPr id="4" name="Footer Placeholder 3">
            <a:extLst>
              <a:ext uri="{FF2B5EF4-FFF2-40B4-BE49-F238E27FC236}">
                <a16:creationId xmlns:a16="http://schemas.microsoft.com/office/drawing/2014/main" id="{B5BD9EFA-7E56-3B42-8105-9D7C0FECE258}"/>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sp>
        <p:nvSpPr>
          <p:cNvPr id="5" name="Rectangle 4">
            <a:extLst>
              <a:ext uri="{FF2B5EF4-FFF2-40B4-BE49-F238E27FC236}">
                <a16:creationId xmlns:a16="http://schemas.microsoft.com/office/drawing/2014/main" id="{4AD06E40-A4CA-894E-8902-9A9579104CC6}"/>
              </a:ext>
            </a:extLst>
          </p:cNvPr>
          <p:cNvSpPr/>
          <p:nvPr/>
        </p:nvSpPr>
        <p:spPr>
          <a:xfrm>
            <a:off x="0" y="76895"/>
            <a:ext cx="11459678" cy="10206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222"/>
            <a:endParaRPr lang="en-NO" sz="1799">
              <a:solidFill>
                <a:prstClr val="white"/>
              </a:solidFill>
              <a:latin typeface="Arial" panose="020B0604020202020204"/>
            </a:endParaRPr>
          </a:p>
        </p:txBody>
      </p:sp>
      <p:sp>
        <p:nvSpPr>
          <p:cNvPr id="6" name="Title 1">
            <a:extLst>
              <a:ext uri="{FF2B5EF4-FFF2-40B4-BE49-F238E27FC236}">
                <a16:creationId xmlns:a16="http://schemas.microsoft.com/office/drawing/2014/main" id="{BB387F09-559E-3945-877F-28E02E54A377}"/>
              </a:ext>
            </a:extLst>
          </p:cNvPr>
          <p:cNvSpPr>
            <a:spLocks noGrp="1"/>
          </p:cNvSpPr>
          <p:nvPr>
            <p:ph type="title"/>
          </p:nvPr>
        </p:nvSpPr>
        <p:spPr>
          <a:xfrm>
            <a:off x="653187" y="353580"/>
            <a:ext cx="10806491" cy="467293"/>
          </a:xfrm>
        </p:spPr>
        <p:txBody>
          <a:bodyPr/>
          <a:lstStyle/>
          <a:p>
            <a:r>
              <a:rPr lang="en-NO" dirty="0"/>
              <a:t>Apriori algorithm</a:t>
            </a:r>
          </a:p>
        </p:txBody>
      </p:sp>
      <p:pic>
        <p:nvPicPr>
          <p:cNvPr id="12292" name="Picture 4" descr="Data Science Apriori Algorithm in Python - Market Basket Analysis">
            <a:extLst>
              <a:ext uri="{FF2B5EF4-FFF2-40B4-BE49-F238E27FC236}">
                <a16:creationId xmlns:a16="http://schemas.microsoft.com/office/drawing/2014/main" id="{286A1BD3-F808-364F-B113-DAB1DE19AD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11111" y="5189653"/>
            <a:ext cx="3615420" cy="11158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1867210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065E1-81B5-7348-99D6-2982B84BAFE7}"/>
              </a:ext>
            </a:extLst>
          </p:cNvPr>
          <p:cNvSpPr>
            <a:spLocks noGrp="1"/>
          </p:cNvSpPr>
          <p:nvPr>
            <p:ph type="title"/>
          </p:nvPr>
        </p:nvSpPr>
        <p:spPr/>
        <p:txBody>
          <a:bodyPr/>
          <a:lstStyle/>
          <a:p>
            <a:endParaRPr lang="en-NO"/>
          </a:p>
        </p:txBody>
      </p:sp>
      <p:sp>
        <p:nvSpPr>
          <p:cNvPr id="3" name="Content Placeholder 2">
            <a:extLst>
              <a:ext uri="{FF2B5EF4-FFF2-40B4-BE49-F238E27FC236}">
                <a16:creationId xmlns:a16="http://schemas.microsoft.com/office/drawing/2014/main" id="{946E341C-951B-894B-9847-80A3C94C639A}"/>
              </a:ext>
            </a:extLst>
          </p:cNvPr>
          <p:cNvSpPr>
            <a:spLocks noGrp="1"/>
          </p:cNvSpPr>
          <p:nvPr>
            <p:ph idx="1"/>
          </p:nvPr>
        </p:nvSpPr>
        <p:spPr/>
        <p:txBody>
          <a:bodyPr/>
          <a:lstStyle/>
          <a:p>
            <a:endParaRPr lang="en-NO"/>
          </a:p>
        </p:txBody>
      </p:sp>
      <p:sp>
        <p:nvSpPr>
          <p:cNvPr id="4" name="Footer Placeholder 3">
            <a:extLst>
              <a:ext uri="{FF2B5EF4-FFF2-40B4-BE49-F238E27FC236}">
                <a16:creationId xmlns:a16="http://schemas.microsoft.com/office/drawing/2014/main" id="{DF856711-9BD5-7F4C-BCDA-154D80C552DC}"/>
              </a:ext>
            </a:extLst>
          </p:cNvPr>
          <p:cNvSpPr>
            <a:spLocks noGrp="1"/>
          </p:cNvSpPr>
          <p:nvPr>
            <p:ph type="ftr" sz="quarter" idx="11"/>
          </p:nvPr>
        </p:nvSpPr>
        <p:spPr/>
        <p:txBody>
          <a:bodyPr/>
          <a:lstStyle/>
          <a:p>
            <a:pPr defTabSz="914222"/>
            <a:r>
              <a:rPr lang="nb-NO">
                <a:solidFill>
                  <a:prstClr val="black"/>
                </a:solidFill>
                <a:latin typeface="Arial" panose="020B0604020202020204"/>
              </a:rPr>
              <a:t>DAVE3625- Intro to A.I. by Umair M.I</a:t>
            </a:r>
          </a:p>
        </p:txBody>
      </p:sp>
      <p:pic>
        <p:nvPicPr>
          <p:cNvPr id="11266" name="Picture 2" descr="Image for post">
            <a:extLst>
              <a:ext uri="{FF2B5EF4-FFF2-40B4-BE49-F238E27FC236}">
                <a16:creationId xmlns:a16="http://schemas.microsoft.com/office/drawing/2014/main" id="{D80A7E0E-1AA8-F740-A1C1-94F3B2E0ED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90962" y="1605"/>
            <a:ext cx="6010078" cy="6854792"/>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4">
            <a:extLst>
              <a:ext uri="{FF2B5EF4-FFF2-40B4-BE49-F238E27FC236}">
                <a16:creationId xmlns:a16="http://schemas.microsoft.com/office/drawing/2014/main" id="{51D8161A-2C52-0E40-8FA8-82DA33DB4D98}"/>
              </a:ext>
            </a:extLst>
          </p:cNvPr>
          <p:cNvSpPr/>
          <p:nvPr/>
        </p:nvSpPr>
        <p:spPr>
          <a:xfrm>
            <a:off x="9578414" y="6065306"/>
            <a:ext cx="2388844" cy="611706"/>
          </a:xfrm>
          <a:prstGeom prst="rect">
            <a:avLst/>
          </a:prstGeom>
        </p:spPr>
        <p:txBody>
          <a:bodyPr wrap="square">
            <a:spAutoFit/>
          </a:bodyPr>
          <a:lstStyle/>
          <a:p>
            <a:pPr defTabSz="914222"/>
            <a:r>
              <a:rPr lang="en-NO" sz="1125" dirty="0">
                <a:solidFill>
                  <a:prstClr val="black"/>
                </a:solidFill>
                <a:latin typeface="Arial" panose="020B0604020202020204"/>
              </a:rPr>
              <a:t>https://towardsdatascience.com/what-is-machine-learning-885aa35db58b</a:t>
            </a:r>
          </a:p>
        </p:txBody>
      </p:sp>
    </p:spTree>
    <p:extLst>
      <p:ext uri="{BB962C8B-B14F-4D97-AF65-F5344CB8AC3E}">
        <p14:creationId xmlns:p14="http://schemas.microsoft.com/office/powerpoint/2010/main" val="53234768"/>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tema">
  <a:themeElements>
    <a:clrScheme name="OsloMet">
      <a:dk1>
        <a:sysClr val="windowText" lastClr="000000"/>
      </a:dk1>
      <a:lt1>
        <a:sysClr val="window" lastClr="FFFFFF"/>
      </a:lt1>
      <a:dk2>
        <a:srgbClr val="000000"/>
      </a:dk2>
      <a:lt2>
        <a:srgbClr val="D7D7D7"/>
      </a:lt2>
      <a:accent1>
        <a:srgbClr val="FFDC00"/>
      </a:accent1>
      <a:accent2>
        <a:srgbClr val="E02D00"/>
      </a:accent2>
      <a:accent3>
        <a:srgbClr val="007ACC"/>
      </a:accent3>
      <a:accent4>
        <a:srgbClr val="99002B"/>
      </a:accent4>
      <a:accent5>
        <a:srgbClr val="000064"/>
      </a:accent5>
      <a:accent6>
        <a:srgbClr val="FF81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 OsloMet_english.pptx" id="{C20C4326-27AB-419E-A60B-DC7B0629D82C}" vid="{20D9E6D3-32F2-4C7A-B997-1D5DBD08A3A1}"/>
    </a:ext>
  </a:extLst>
</a:theme>
</file>

<file path=ppt/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141</TotalTime>
  <Words>4292</Words>
  <Application>Microsoft Macintosh PowerPoint</Application>
  <DocSecurity>0</DocSecurity>
  <PresentationFormat>Widescreen</PresentationFormat>
  <Paragraphs>492</Paragraphs>
  <Slides>66</Slides>
  <Notes>41</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66</vt:i4>
      </vt:variant>
    </vt:vector>
  </HeadingPairs>
  <TitlesOfParts>
    <vt:vector size="70" baseType="lpstr">
      <vt:lpstr>Arial</vt:lpstr>
      <vt:lpstr>Calibri</vt:lpstr>
      <vt:lpstr>ChatGPT</vt:lpstr>
      <vt:lpstr>Office-tema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Regression</vt:lpstr>
      <vt:lpstr>PowerPoint Presentation</vt:lpstr>
      <vt:lpstr>PowerPoint Presentation</vt:lpstr>
      <vt:lpstr>PowerPoint Presentation</vt:lpstr>
      <vt:lpstr>PowerPoint Presentation</vt:lpstr>
      <vt:lpstr>Regression algorithms</vt:lpstr>
      <vt:lpstr>1. Linear Regression</vt:lpstr>
      <vt:lpstr>PowerPoint Presentation</vt:lpstr>
      <vt:lpstr>PowerPoint Presentation</vt:lpstr>
      <vt:lpstr>PowerPoint Presentation</vt:lpstr>
      <vt:lpstr>PowerPoint Presentation</vt:lpstr>
      <vt:lpstr>Example of Coefficient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Polynomial Regression</vt:lpstr>
      <vt:lpstr>PowerPoint Presentation</vt:lpstr>
      <vt:lpstr>PowerPoint Presentation</vt:lpstr>
      <vt:lpstr>Unsupervised machine learning</vt:lpstr>
      <vt:lpstr>Unsupervised learning</vt:lpstr>
      <vt:lpstr>PowerPoint Presentation</vt:lpstr>
      <vt:lpstr>Clustering</vt:lpstr>
      <vt:lpstr>PowerPoint Presentation</vt:lpstr>
      <vt:lpstr>PowerPoint Presentation</vt:lpstr>
      <vt:lpstr>PowerPoint Presentation</vt:lpstr>
      <vt:lpstr>K-Means Clustering</vt:lpstr>
      <vt:lpstr>PowerPoint Presentation</vt:lpstr>
      <vt:lpstr>PowerPoint Presentation</vt:lpstr>
      <vt:lpstr>PowerPoint Presentation</vt:lpstr>
      <vt:lpstr>PowerPoint Presentation</vt:lpstr>
      <vt:lpstr>It will stop when</vt:lpstr>
      <vt:lpstr>Advantages of K-means</vt:lpstr>
      <vt:lpstr>PowerPoint Presentation</vt:lpstr>
      <vt:lpstr>PowerPoint Presentation</vt:lpstr>
      <vt:lpstr>Uses of K-means</vt:lpstr>
      <vt:lpstr>Mean shift clustering algorithm</vt:lpstr>
      <vt:lpstr>Mean shift clustering algorithm</vt:lpstr>
      <vt:lpstr>PowerPoint Presentation</vt:lpstr>
      <vt:lpstr>DBSCAN Algorithm</vt:lpstr>
      <vt:lpstr>PowerPoint Presentation</vt:lpstr>
      <vt:lpstr>DBSCAN Algorithm</vt:lpstr>
      <vt:lpstr>Gaussian mixture model</vt:lpstr>
      <vt:lpstr>Few more clusstering algorithms</vt:lpstr>
      <vt:lpstr>Types of unsupervised learning</vt:lpstr>
      <vt:lpstr>Association algorithms</vt:lpstr>
      <vt:lpstr>PowerPoint Presentation</vt:lpstr>
      <vt:lpstr>PowerPoint Presentation</vt:lpstr>
      <vt:lpstr>Apriori algorithm</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Umair M.Imam</cp:lastModifiedBy>
  <cp:revision>26</cp:revision>
  <dcterms:created xsi:type="dcterms:W3CDTF">2026-09-22T10:47:52Z</dcterms:created>
  <dcterms:modified xsi:type="dcterms:W3CDTF">2026-09-22T14:04:28Z</dcterms:modified>
</cp:coreProperties>
</file>