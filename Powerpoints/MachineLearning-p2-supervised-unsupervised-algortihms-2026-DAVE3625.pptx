
<file path=[Content_Types].xml><?xml version="1.0" encoding="utf-8"?>
<Types xmlns="http://schemas.openxmlformats.org/package/2006/content-types">
  <Default Extension="gif" ContentType="image/gif"/>
  <Default Extension="jpeg" ContentType="image/jpeg"/>
  <Default Extension="jpg" ContentType="image/jpeg"/>
  <Default Extension="org&amp;utm_campaign=index&amp;utm_content=thumbnail&amp;_=20240718130312"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3695" r:id="rId6"/>
  </p:sldMasterIdLst>
  <p:notesMasterIdLst>
    <p:notesMasterId r:id="rId65"/>
  </p:notesMasterIdLst>
  <p:sldIdLst>
    <p:sldId id="256" r:id="rId7"/>
    <p:sldId id="259" r:id="rId8"/>
    <p:sldId id="318" r:id="rId9"/>
    <p:sldId id="347" r:id="rId10"/>
    <p:sldId id="406" r:id="rId11"/>
    <p:sldId id="396" r:id="rId12"/>
    <p:sldId id="260" r:id="rId13"/>
    <p:sldId id="11593" r:id="rId14"/>
    <p:sldId id="11594" r:id="rId15"/>
    <p:sldId id="344" r:id="rId16"/>
    <p:sldId id="346" r:id="rId17"/>
    <p:sldId id="263" r:id="rId18"/>
    <p:sldId id="348" r:id="rId19"/>
    <p:sldId id="395" r:id="rId20"/>
    <p:sldId id="349" r:id="rId21"/>
    <p:sldId id="350" r:id="rId22"/>
    <p:sldId id="351" r:id="rId23"/>
    <p:sldId id="345" r:id="rId24"/>
    <p:sldId id="352" r:id="rId25"/>
    <p:sldId id="400" r:id="rId26"/>
    <p:sldId id="366" r:id="rId27"/>
    <p:sldId id="353" r:id="rId28"/>
    <p:sldId id="354" r:id="rId29"/>
    <p:sldId id="355" r:id="rId30"/>
    <p:sldId id="356" r:id="rId31"/>
    <p:sldId id="365" r:id="rId32"/>
    <p:sldId id="357" r:id="rId33"/>
    <p:sldId id="359" r:id="rId34"/>
    <p:sldId id="358" r:id="rId35"/>
    <p:sldId id="360" r:id="rId36"/>
    <p:sldId id="361" r:id="rId37"/>
    <p:sldId id="11610" r:id="rId38"/>
    <p:sldId id="389" r:id="rId39"/>
    <p:sldId id="391" r:id="rId40"/>
    <p:sldId id="11611" r:id="rId41"/>
    <p:sldId id="11612" r:id="rId42"/>
    <p:sldId id="11613" r:id="rId43"/>
    <p:sldId id="367" r:id="rId44"/>
    <p:sldId id="368" r:id="rId45"/>
    <p:sldId id="11616" r:id="rId46"/>
    <p:sldId id="369" r:id="rId47"/>
    <p:sldId id="11615" r:id="rId48"/>
    <p:sldId id="370" r:id="rId49"/>
    <p:sldId id="371" r:id="rId50"/>
    <p:sldId id="373" r:id="rId51"/>
    <p:sldId id="271" r:id="rId52"/>
    <p:sldId id="405" r:id="rId53"/>
    <p:sldId id="11614" r:id="rId54"/>
    <p:sldId id="11617" r:id="rId55"/>
    <p:sldId id="11618" r:id="rId56"/>
    <p:sldId id="272" r:id="rId57"/>
    <p:sldId id="273" r:id="rId58"/>
    <p:sldId id="274" r:id="rId59"/>
    <p:sldId id="275" r:id="rId60"/>
    <p:sldId id="276" r:id="rId61"/>
    <p:sldId id="277" r:id="rId62"/>
    <p:sldId id="402" r:id="rId63"/>
    <p:sldId id="401" r:id="rId64"/>
  </p:sldIdLst>
  <p:sldSz cx="17345025" cy="9752013"/>
  <p:notesSz cx="6858000" cy="1866900"/>
  <p:defaultTextStyle>
    <a:defPPr>
      <a:defRPr lang="nb-NO"/>
    </a:defPPr>
    <a:lvl1pPr marL="0" algn="l" defTabSz="1300643" rtl="0" eaLnBrk="1" latinLnBrk="0" hangingPunct="1">
      <a:defRPr sz="2560" kern="1200">
        <a:solidFill>
          <a:schemeClr val="tx1"/>
        </a:solidFill>
        <a:latin typeface="+mn-lt"/>
        <a:ea typeface="+mn-ea"/>
        <a:cs typeface="+mn-cs"/>
      </a:defRPr>
    </a:lvl1pPr>
    <a:lvl2pPr marL="650321" algn="l" defTabSz="1300643" rtl="0" eaLnBrk="1" latinLnBrk="0" hangingPunct="1">
      <a:defRPr sz="2560" kern="1200">
        <a:solidFill>
          <a:schemeClr val="tx1"/>
        </a:solidFill>
        <a:latin typeface="+mn-lt"/>
        <a:ea typeface="+mn-ea"/>
        <a:cs typeface="+mn-cs"/>
      </a:defRPr>
    </a:lvl2pPr>
    <a:lvl3pPr marL="1300643" algn="l" defTabSz="1300643" rtl="0" eaLnBrk="1" latinLnBrk="0" hangingPunct="1">
      <a:defRPr sz="2560" kern="1200">
        <a:solidFill>
          <a:schemeClr val="tx1"/>
        </a:solidFill>
        <a:latin typeface="+mn-lt"/>
        <a:ea typeface="+mn-ea"/>
        <a:cs typeface="+mn-cs"/>
      </a:defRPr>
    </a:lvl3pPr>
    <a:lvl4pPr marL="1950964" algn="l" defTabSz="1300643" rtl="0" eaLnBrk="1" latinLnBrk="0" hangingPunct="1">
      <a:defRPr sz="2560" kern="1200">
        <a:solidFill>
          <a:schemeClr val="tx1"/>
        </a:solidFill>
        <a:latin typeface="+mn-lt"/>
        <a:ea typeface="+mn-ea"/>
        <a:cs typeface="+mn-cs"/>
      </a:defRPr>
    </a:lvl4pPr>
    <a:lvl5pPr marL="2601285" algn="l" defTabSz="1300643" rtl="0" eaLnBrk="1" latinLnBrk="0" hangingPunct="1">
      <a:defRPr sz="2560" kern="1200">
        <a:solidFill>
          <a:schemeClr val="tx1"/>
        </a:solidFill>
        <a:latin typeface="+mn-lt"/>
        <a:ea typeface="+mn-ea"/>
        <a:cs typeface="+mn-cs"/>
      </a:defRPr>
    </a:lvl5pPr>
    <a:lvl6pPr marL="3251606" algn="l" defTabSz="1300643" rtl="0" eaLnBrk="1" latinLnBrk="0" hangingPunct="1">
      <a:defRPr sz="2560" kern="1200">
        <a:solidFill>
          <a:schemeClr val="tx1"/>
        </a:solidFill>
        <a:latin typeface="+mn-lt"/>
        <a:ea typeface="+mn-ea"/>
        <a:cs typeface="+mn-cs"/>
      </a:defRPr>
    </a:lvl6pPr>
    <a:lvl7pPr marL="3901928" algn="l" defTabSz="1300643" rtl="0" eaLnBrk="1" latinLnBrk="0" hangingPunct="1">
      <a:defRPr sz="2560" kern="1200">
        <a:solidFill>
          <a:schemeClr val="tx1"/>
        </a:solidFill>
        <a:latin typeface="+mn-lt"/>
        <a:ea typeface="+mn-ea"/>
        <a:cs typeface="+mn-cs"/>
      </a:defRPr>
    </a:lvl7pPr>
    <a:lvl8pPr marL="4552249" algn="l" defTabSz="1300643" rtl="0" eaLnBrk="1" latinLnBrk="0" hangingPunct="1">
      <a:defRPr sz="2560" kern="1200">
        <a:solidFill>
          <a:schemeClr val="tx1"/>
        </a:solidFill>
        <a:latin typeface="+mn-lt"/>
        <a:ea typeface="+mn-ea"/>
        <a:cs typeface="+mn-cs"/>
      </a:defRPr>
    </a:lvl8pPr>
    <a:lvl9pPr marL="5202570" algn="l" defTabSz="1300643"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0DDD49-8066-4352-B6B5-FC1A8E5854EA}">
  <a:tblStyle styleId="{5F0DDD49-8066-4352-B6B5-FC1A8E5854EA}" styleName="Oslo Met tabellstil">
    <a:wholeTbl>
      <a:tcTxStyle>
        <a:fontRef idx="minor">
          <a:prstClr val="black"/>
        </a:fontRef>
        <a:schemeClr val="dk1"/>
      </a:tcTxStyle>
      <a:tcStyle>
        <a:tcBdr>
          <a:left>
            <a:ln w="0" cmpd="sng">
              <a:solidFill>
                <a:schemeClr val="lt1"/>
              </a:solidFill>
            </a:ln>
          </a:left>
          <a:right>
            <a:ln w="0" cmpd="sng">
              <a:solidFill>
                <a:schemeClr val="lt1"/>
              </a:solidFill>
            </a:ln>
          </a:right>
          <a:top>
            <a:ln w="6350" cmpd="sng">
              <a:solidFill>
                <a:srgbClr val="D7D7D7"/>
              </a:solidFill>
            </a:ln>
          </a:top>
          <a:bottom>
            <a:ln w="6350" cmpd="sng">
              <a:solidFill>
                <a:srgbClr val="D7D7D7"/>
              </a:solidFill>
            </a:ln>
          </a:bottom>
          <a:insideH>
            <a:ln w="6350" cmpd="sng">
              <a:solidFill>
                <a:srgbClr val="D7D7D7"/>
              </a:solidFill>
            </a:ln>
          </a:insideH>
          <a:insideV>
            <a:ln w="0" cmpd="sng">
              <a:solidFill>
                <a:schemeClr val="lt1"/>
              </a:solidFill>
            </a:ln>
          </a:insideV>
        </a:tcBdr>
        <a:fill>
          <a:solidFill>
            <a:schemeClr val="lt1"/>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dk1"/>
      </a:tcTxStyle>
      <a:tcStyle>
        <a:tcBdr/>
        <a:fill>
          <a:solidFill>
            <a:schemeClr val="lt1"/>
          </a:solidFill>
        </a:fill>
      </a:tcStyle>
    </a:lastCol>
    <a:firstCol>
      <a:tcTxStyle b="on">
        <a:fontRef idx="minor">
          <a:prstClr val="black"/>
        </a:fontRef>
        <a:schemeClr val="dk1"/>
      </a:tcTxStyle>
      <a:tcStyle>
        <a:tcBdr/>
        <a:fill>
          <a:solidFill>
            <a:schemeClr val="lt1"/>
          </a:solidFill>
        </a:fill>
      </a:tcStyle>
    </a:firstCol>
    <a:lastRow>
      <a:tcTxStyle b="on">
        <a:fontRef idx="minor">
          <a:prstClr val="black"/>
        </a:fontRef>
        <a:schemeClr val="dk1"/>
      </a:tcTxStyle>
      <a:tcStyle>
        <a:tcBdr>
          <a:top>
            <a:ln w="19050" cmpd="sng">
              <a:solidFill>
                <a:schemeClr val="accent1"/>
              </a:solidFill>
            </a:ln>
          </a:top>
          <a:bottom>
            <a:ln w="19050" cmpd="sng">
              <a:solidFill>
                <a:schemeClr val="accent1"/>
              </a:solidFill>
            </a:ln>
          </a:bottom>
        </a:tcBdr>
        <a:fill>
          <a:noFill/>
        </a:fill>
      </a:tcStyle>
    </a:lastRow>
    <a:firstRow>
      <a:tcTxStyle b="on">
        <a:fontRef idx="minor">
          <a:prstClr val="black"/>
        </a:fontRef>
        <a:schemeClr val="dk1"/>
      </a:tcTxStyle>
      <a:tcStyle>
        <a:tcBdr>
          <a:bottom>
            <a:ln w="19050" cmpd="sng">
              <a:solidFill>
                <a:schemeClr val="accent1"/>
              </a:solidFill>
            </a:ln>
          </a:bottom>
        </a:tcBdr>
        <a:fill>
          <a:noFill/>
        </a:fill>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ys stil 1 – uthevin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ys stil 2 – uthevin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89" autoAdjust="0"/>
    <p:restoredTop sz="84195" autoAdjust="0"/>
  </p:normalViewPr>
  <p:slideViewPr>
    <p:cSldViewPr snapToGrid="0">
      <p:cViewPr varScale="1">
        <p:scale>
          <a:sx n="74" d="100"/>
          <a:sy n="74" d="100"/>
        </p:scale>
        <p:origin x="1312" y="6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diagrams/_rels/data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0D9396-8B5B-5944-B7CF-A827F10FEAE4}" type="doc">
      <dgm:prSet loTypeId="urn:microsoft.com/office/officeart/2018/2/layout/IconLabelDescriptionList" loCatId="icon" qsTypeId="urn:microsoft.com/office/officeart/2005/8/quickstyle/simple1#2" qsCatId="simple" csTypeId="urn:microsoft.com/office/officeart/2005/8/colors/accent2_2#2" csCatId="accent2" phldr="1"/>
      <dgm:spPr/>
      <dgm:t>
        <a:bodyPr/>
        <a:lstStyle/>
        <a:p>
          <a:endParaRPr lang="en-GB"/>
        </a:p>
      </dgm:t>
    </dgm:pt>
    <dgm:pt modelId="{F1659936-B9B1-AB4B-83F3-25CB3CE322CF}">
      <dgm:prSet phldrT="[Text]"/>
      <dgm:spPr/>
      <dgm:t>
        <a:bodyPr/>
        <a:lstStyle/>
        <a:p>
          <a:pPr>
            <a:lnSpc>
              <a:spcPct val="100000"/>
            </a:lnSpc>
            <a:defRPr b="1"/>
          </a:pPr>
          <a:r>
            <a:rPr lang="en-GB"/>
            <a:t>Regression</a:t>
          </a:r>
        </a:p>
      </dgm:t>
    </dgm:pt>
    <dgm:pt modelId="{A8200996-CCFF-8E49-96D8-298A8BF5EF9C}" type="parTrans" cxnId="{04F90322-E2BC-9349-9283-935365BFBED2}">
      <dgm:prSet/>
      <dgm:spPr/>
      <dgm:t>
        <a:bodyPr/>
        <a:lstStyle/>
        <a:p>
          <a:endParaRPr lang="en-GB"/>
        </a:p>
      </dgm:t>
    </dgm:pt>
    <dgm:pt modelId="{FF3CD0D6-2E37-7547-A92F-E14136A691E5}" type="sibTrans" cxnId="{04F90322-E2BC-9349-9283-935365BFBED2}">
      <dgm:prSet/>
      <dgm:spPr/>
      <dgm:t>
        <a:bodyPr/>
        <a:lstStyle/>
        <a:p>
          <a:endParaRPr lang="en-GB"/>
        </a:p>
      </dgm:t>
    </dgm:pt>
    <dgm:pt modelId="{28BCF087-65A5-E141-A604-416CDEB03B74}">
      <dgm:prSet phldrT="[Text]" custT="1"/>
      <dgm:spPr/>
      <dgm:t>
        <a:bodyPr/>
        <a:lstStyle/>
        <a:p>
          <a:pPr>
            <a:lnSpc>
              <a:spcPct val="100000"/>
            </a:lnSpc>
          </a:pPr>
          <a:r>
            <a:rPr lang="en-GB" sz="2000" dirty="0"/>
            <a:t>Support vector machines</a:t>
          </a:r>
        </a:p>
      </dgm:t>
    </dgm:pt>
    <dgm:pt modelId="{D1101D08-3EA2-184E-A9B2-F9272FA7DA52}" type="parTrans" cxnId="{92E66D6B-5107-0140-8DDB-F293EF4F9344}">
      <dgm:prSet/>
      <dgm:spPr/>
      <dgm:t>
        <a:bodyPr/>
        <a:lstStyle/>
        <a:p>
          <a:endParaRPr lang="en-GB"/>
        </a:p>
      </dgm:t>
    </dgm:pt>
    <dgm:pt modelId="{2F07C075-FD34-194F-8BE4-246FB7765A3B}" type="sibTrans" cxnId="{92E66D6B-5107-0140-8DDB-F293EF4F9344}">
      <dgm:prSet/>
      <dgm:spPr/>
      <dgm:t>
        <a:bodyPr/>
        <a:lstStyle/>
        <a:p>
          <a:endParaRPr lang="en-GB"/>
        </a:p>
      </dgm:t>
    </dgm:pt>
    <dgm:pt modelId="{9162A706-0E1F-EF40-9631-799B1D6BDF44}">
      <dgm:prSet phldrT="[Text]" custT="1"/>
      <dgm:spPr/>
      <dgm:t>
        <a:bodyPr/>
        <a:lstStyle/>
        <a:p>
          <a:pPr>
            <a:lnSpc>
              <a:spcPct val="100000"/>
            </a:lnSpc>
          </a:pPr>
          <a:r>
            <a:rPr lang="en-GB" sz="2000" dirty="0"/>
            <a:t>Decision Trees</a:t>
          </a:r>
        </a:p>
      </dgm:t>
    </dgm:pt>
    <dgm:pt modelId="{86B49A31-EAC4-B543-AAA3-90797EEE3017}" type="parTrans" cxnId="{0FE2803D-E97E-9D42-979C-95ECC5768E57}">
      <dgm:prSet/>
      <dgm:spPr/>
      <dgm:t>
        <a:bodyPr/>
        <a:lstStyle/>
        <a:p>
          <a:endParaRPr lang="en-GB"/>
        </a:p>
      </dgm:t>
    </dgm:pt>
    <dgm:pt modelId="{9D2E3113-D472-8741-8462-F08E233CEFA1}" type="sibTrans" cxnId="{0FE2803D-E97E-9D42-979C-95ECC5768E57}">
      <dgm:prSet/>
      <dgm:spPr/>
      <dgm:t>
        <a:bodyPr/>
        <a:lstStyle/>
        <a:p>
          <a:endParaRPr lang="en-GB"/>
        </a:p>
      </dgm:t>
    </dgm:pt>
    <dgm:pt modelId="{B4694A4B-6644-FF4B-8FC6-A53E80208019}">
      <dgm:prSet phldrT="[Text]" custT="1"/>
      <dgm:spPr/>
      <dgm:t>
        <a:bodyPr/>
        <a:lstStyle/>
        <a:p>
          <a:pPr>
            <a:lnSpc>
              <a:spcPct val="100000"/>
            </a:lnSpc>
          </a:pPr>
          <a:r>
            <a:rPr lang="en-GB" sz="2000" dirty="0"/>
            <a:t>K-Nearest Neighbour</a:t>
          </a:r>
        </a:p>
      </dgm:t>
    </dgm:pt>
    <dgm:pt modelId="{8E31CFA4-5460-F94A-BB18-148E95137FDF}" type="parTrans" cxnId="{02FCD346-ADB8-0149-812A-D709D162DD52}">
      <dgm:prSet/>
      <dgm:spPr/>
      <dgm:t>
        <a:bodyPr/>
        <a:lstStyle/>
        <a:p>
          <a:endParaRPr lang="en-GB"/>
        </a:p>
      </dgm:t>
    </dgm:pt>
    <dgm:pt modelId="{52527236-3BC9-E441-8DD8-50228B99BC66}" type="sibTrans" cxnId="{02FCD346-ADB8-0149-812A-D709D162DD52}">
      <dgm:prSet/>
      <dgm:spPr/>
      <dgm:t>
        <a:bodyPr/>
        <a:lstStyle/>
        <a:p>
          <a:endParaRPr lang="en-GB"/>
        </a:p>
      </dgm:t>
    </dgm:pt>
    <dgm:pt modelId="{F83E32B4-49EC-C34F-ACE0-33B6DE9BF8D7}">
      <dgm:prSet phldrT="[Text]" custT="1"/>
      <dgm:spPr/>
      <dgm:t>
        <a:bodyPr/>
        <a:lstStyle/>
        <a:p>
          <a:pPr>
            <a:lnSpc>
              <a:spcPct val="100000"/>
            </a:lnSpc>
          </a:pPr>
          <a:r>
            <a:rPr lang="en-GB" sz="2000"/>
            <a:t>Random Forest</a:t>
          </a:r>
        </a:p>
      </dgm:t>
    </dgm:pt>
    <dgm:pt modelId="{6CE91E56-E584-2F4A-8E8E-65C3EF33502F}" type="parTrans" cxnId="{A0331CC9-5A4A-3542-BA20-ED7DCB79B0A6}">
      <dgm:prSet/>
      <dgm:spPr/>
      <dgm:t>
        <a:bodyPr/>
        <a:lstStyle/>
        <a:p>
          <a:endParaRPr lang="en-GB"/>
        </a:p>
      </dgm:t>
    </dgm:pt>
    <dgm:pt modelId="{A043CADD-0DD1-A148-9061-049008C59FF9}" type="sibTrans" cxnId="{A0331CC9-5A4A-3542-BA20-ED7DCB79B0A6}">
      <dgm:prSet/>
      <dgm:spPr/>
      <dgm:t>
        <a:bodyPr/>
        <a:lstStyle/>
        <a:p>
          <a:endParaRPr lang="en-GB"/>
        </a:p>
      </dgm:t>
    </dgm:pt>
    <dgm:pt modelId="{227F1202-3900-8745-90CB-7A4407DBA723}">
      <dgm:prSet phldrT="[Text]"/>
      <dgm:spPr/>
      <dgm:t>
        <a:bodyPr/>
        <a:lstStyle/>
        <a:p>
          <a:pPr>
            <a:lnSpc>
              <a:spcPct val="100000"/>
            </a:lnSpc>
          </a:pPr>
          <a:r>
            <a:rPr lang="en-GB"/>
            <a:t>Linear Regression</a:t>
          </a:r>
        </a:p>
      </dgm:t>
    </dgm:pt>
    <dgm:pt modelId="{EEF881BE-D46A-7140-A6D7-3757451CE997}" type="parTrans" cxnId="{3A90FE3B-34F5-0848-A225-A6E6BAD35605}">
      <dgm:prSet/>
      <dgm:spPr/>
      <dgm:t>
        <a:bodyPr/>
        <a:lstStyle/>
        <a:p>
          <a:endParaRPr lang="en-GB"/>
        </a:p>
      </dgm:t>
    </dgm:pt>
    <dgm:pt modelId="{DEB5E526-13DB-C849-8DC5-102A8056FF28}" type="sibTrans" cxnId="{3A90FE3B-34F5-0848-A225-A6E6BAD35605}">
      <dgm:prSet/>
      <dgm:spPr/>
      <dgm:t>
        <a:bodyPr/>
        <a:lstStyle/>
        <a:p>
          <a:endParaRPr lang="en-GB"/>
        </a:p>
      </dgm:t>
    </dgm:pt>
    <dgm:pt modelId="{AC076227-F5DA-AE43-A476-2F2DA07F8A3F}">
      <dgm:prSet phldrT="[Text]"/>
      <dgm:spPr/>
      <dgm:t>
        <a:bodyPr/>
        <a:lstStyle/>
        <a:p>
          <a:pPr>
            <a:lnSpc>
              <a:spcPct val="100000"/>
            </a:lnSpc>
          </a:pPr>
          <a:r>
            <a:rPr lang="en-GB" dirty="0"/>
            <a:t>Polynomial Regression</a:t>
          </a:r>
        </a:p>
      </dgm:t>
    </dgm:pt>
    <dgm:pt modelId="{800B3BAC-7046-AD4C-9030-75A4CD5C385B}" type="parTrans" cxnId="{79DF8DFB-15B9-354D-97A8-DA58A1433907}">
      <dgm:prSet/>
      <dgm:spPr/>
      <dgm:t>
        <a:bodyPr/>
        <a:lstStyle/>
        <a:p>
          <a:endParaRPr lang="en-GB"/>
        </a:p>
      </dgm:t>
    </dgm:pt>
    <dgm:pt modelId="{8F2B288F-F2A7-C645-B0B9-7D60CE0716CE}" type="sibTrans" cxnId="{79DF8DFB-15B9-354D-97A8-DA58A1433907}">
      <dgm:prSet/>
      <dgm:spPr/>
      <dgm:t>
        <a:bodyPr/>
        <a:lstStyle/>
        <a:p>
          <a:endParaRPr lang="en-GB"/>
        </a:p>
      </dgm:t>
    </dgm:pt>
    <dgm:pt modelId="{8C494CCA-B850-3A4E-9A2B-E0E5734F2778}">
      <dgm:prSet phldrT="[Text]" custT="1"/>
      <dgm:spPr/>
      <dgm:t>
        <a:bodyPr/>
        <a:lstStyle/>
        <a:p>
          <a:pPr>
            <a:lnSpc>
              <a:spcPct val="100000"/>
            </a:lnSpc>
          </a:pPr>
          <a:r>
            <a:rPr lang="en-GB" sz="2000" dirty="0"/>
            <a:t>…</a:t>
          </a:r>
        </a:p>
      </dgm:t>
    </dgm:pt>
    <dgm:pt modelId="{02BDBC8B-D6DA-0F40-95FB-F2235F090707}" type="parTrans" cxnId="{FCD89EF9-78B9-2A42-92DD-6EA4050CA277}">
      <dgm:prSet/>
      <dgm:spPr/>
      <dgm:t>
        <a:bodyPr/>
        <a:lstStyle/>
        <a:p>
          <a:endParaRPr lang="en-GB"/>
        </a:p>
      </dgm:t>
    </dgm:pt>
    <dgm:pt modelId="{73D42CCA-B794-FE43-8EB2-4F1E841D05E0}" type="sibTrans" cxnId="{FCD89EF9-78B9-2A42-92DD-6EA4050CA277}">
      <dgm:prSet/>
      <dgm:spPr/>
      <dgm:t>
        <a:bodyPr/>
        <a:lstStyle/>
        <a:p>
          <a:endParaRPr lang="en-GB"/>
        </a:p>
      </dgm:t>
    </dgm:pt>
    <dgm:pt modelId="{B3815253-D04C-6941-9AC9-B571E6CDBB66}">
      <dgm:prSet phldrT="[Text]"/>
      <dgm:spPr/>
      <dgm:t>
        <a:bodyPr/>
        <a:lstStyle/>
        <a:p>
          <a:pPr>
            <a:lnSpc>
              <a:spcPct val="100000"/>
            </a:lnSpc>
          </a:pPr>
          <a:r>
            <a:rPr lang="en-GB"/>
            <a:t>…</a:t>
          </a:r>
        </a:p>
      </dgm:t>
    </dgm:pt>
    <dgm:pt modelId="{77AEB376-1A8A-F541-AFEC-22E7C01006F8}" type="parTrans" cxnId="{24A8364E-2406-C54D-BC62-4B07E4DF9639}">
      <dgm:prSet/>
      <dgm:spPr/>
      <dgm:t>
        <a:bodyPr/>
        <a:lstStyle/>
        <a:p>
          <a:endParaRPr lang="en-GB"/>
        </a:p>
      </dgm:t>
    </dgm:pt>
    <dgm:pt modelId="{BCDA004D-EB9F-C945-8FEE-0A36BD4E46D1}" type="sibTrans" cxnId="{24A8364E-2406-C54D-BC62-4B07E4DF9639}">
      <dgm:prSet/>
      <dgm:spPr/>
      <dgm:t>
        <a:bodyPr/>
        <a:lstStyle/>
        <a:p>
          <a:endParaRPr lang="en-GB"/>
        </a:p>
      </dgm:t>
    </dgm:pt>
    <dgm:pt modelId="{A75812FB-0831-CF45-AC2F-F0306B933850}">
      <dgm:prSet phldrT="[Text]"/>
      <dgm:spPr/>
      <dgm:t>
        <a:bodyPr/>
        <a:lstStyle/>
        <a:p>
          <a:pPr>
            <a:lnSpc>
              <a:spcPct val="100000"/>
            </a:lnSpc>
            <a:defRPr b="1"/>
          </a:pPr>
          <a:r>
            <a:rPr lang="en-GB"/>
            <a:t>Classification</a:t>
          </a:r>
        </a:p>
      </dgm:t>
    </dgm:pt>
    <dgm:pt modelId="{22BBD007-ABE5-ED43-BE9C-5BEDDA817D2D}" type="sibTrans" cxnId="{5CC98B0D-6457-3745-8599-C127BDDB696A}">
      <dgm:prSet/>
      <dgm:spPr/>
      <dgm:t>
        <a:bodyPr/>
        <a:lstStyle/>
        <a:p>
          <a:endParaRPr lang="en-GB"/>
        </a:p>
      </dgm:t>
    </dgm:pt>
    <dgm:pt modelId="{A955AD6D-69DC-E64C-A786-7EDC6AAFD7D2}" type="parTrans" cxnId="{5CC98B0D-6457-3745-8599-C127BDDB696A}">
      <dgm:prSet/>
      <dgm:spPr/>
      <dgm:t>
        <a:bodyPr/>
        <a:lstStyle/>
        <a:p>
          <a:endParaRPr lang="en-GB"/>
        </a:p>
      </dgm:t>
    </dgm:pt>
    <dgm:pt modelId="{CC70BB2B-4CB8-2E48-85F9-830AD6B8C4BD}">
      <dgm:prSet phldrT="[Text]" custT="1"/>
      <dgm:spPr/>
      <dgm:t>
        <a:bodyPr/>
        <a:lstStyle/>
        <a:p>
          <a:pPr>
            <a:lnSpc>
              <a:spcPct val="100000"/>
            </a:lnSpc>
          </a:pPr>
          <a:r>
            <a:rPr lang="en-GB" sz="2000" dirty="0"/>
            <a:t>Logistic regression</a:t>
          </a:r>
        </a:p>
      </dgm:t>
    </dgm:pt>
    <dgm:pt modelId="{BECDEE85-3556-8348-8CCD-DEF8513F5CD5}" type="parTrans" cxnId="{A315DD8A-65DA-914A-8E08-8EA521CEC9C1}">
      <dgm:prSet/>
      <dgm:spPr/>
      <dgm:t>
        <a:bodyPr/>
        <a:lstStyle/>
        <a:p>
          <a:endParaRPr lang="en-GB"/>
        </a:p>
      </dgm:t>
    </dgm:pt>
    <dgm:pt modelId="{67F0571C-0426-484B-A14C-1D67736E8D79}" type="sibTrans" cxnId="{A315DD8A-65DA-914A-8E08-8EA521CEC9C1}">
      <dgm:prSet/>
      <dgm:spPr/>
      <dgm:t>
        <a:bodyPr/>
        <a:lstStyle/>
        <a:p>
          <a:endParaRPr lang="en-GB"/>
        </a:p>
      </dgm:t>
    </dgm:pt>
    <dgm:pt modelId="{A9741D20-F470-C34E-9C05-612E3B1AB21C}">
      <dgm:prSet phldrT="[Text]" custT="1"/>
      <dgm:spPr/>
      <dgm:t>
        <a:bodyPr/>
        <a:lstStyle/>
        <a:p>
          <a:pPr>
            <a:lnSpc>
              <a:spcPct val="100000"/>
            </a:lnSpc>
          </a:pPr>
          <a:r>
            <a:rPr lang="en-GB" sz="2000"/>
            <a:t>Naïve Bayes classifier</a:t>
          </a:r>
        </a:p>
      </dgm:t>
    </dgm:pt>
    <dgm:pt modelId="{CB7683A8-70B7-E04D-A5F4-06D3C2A25FE3}" type="parTrans" cxnId="{84AF160D-527D-8545-A500-0203008710B3}">
      <dgm:prSet/>
      <dgm:spPr/>
      <dgm:t>
        <a:bodyPr/>
        <a:lstStyle/>
        <a:p>
          <a:endParaRPr lang="en-GB"/>
        </a:p>
      </dgm:t>
    </dgm:pt>
    <dgm:pt modelId="{C28D0CCE-13FB-514B-81C7-02D4A1669304}" type="sibTrans" cxnId="{84AF160D-527D-8545-A500-0203008710B3}">
      <dgm:prSet/>
      <dgm:spPr/>
      <dgm:t>
        <a:bodyPr/>
        <a:lstStyle/>
        <a:p>
          <a:endParaRPr lang="en-GB"/>
        </a:p>
      </dgm:t>
    </dgm:pt>
    <dgm:pt modelId="{64D42241-E6EA-4803-BBF0-C209D27CC57C}" type="pres">
      <dgm:prSet presAssocID="{A40D9396-8B5B-5944-B7CF-A827F10FEAE4}" presName="root" presStyleCnt="0">
        <dgm:presLayoutVars>
          <dgm:dir/>
          <dgm:resizeHandles val="exact"/>
        </dgm:presLayoutVars>
      </dgm:prSet>
      <dgm:spPr/>
    </dgm:pt>
    <dgm:pt modelId="{7DEF9ACC-3EA7-4E83-BCFD-E98B6818E606}" type="pres">
      <dgm:prSet presAssocID="{A75812FB-0831-CF45-AC2F-F0306B933850}" presName="compNode" presStyleCnt="0"/>
      <dgm:spPr/>
    </dgm:pt>
    <dgm:pt modelId="{1E64CC45-F8F6-47B3-AC33-9E2260F0AF17}" type="pres">
      <dgm:prSet presAssocID="{A75812FB-0831-CF45-AC2F-F0306B93385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D429E549-20D2-4FE1-9974-5E0E1ACADB93}" type="pres">
      <dgm:prSet presAssocID="{A75812FB-0831-CF45-AC2F-F0306B933850}" presName="iconSpace" presStyleCnt="0"/>
      <dgm:spPr/>
    </dgm:pt>
    <dgm:pt modelId="{831A5224-12E1-40D1-88E1-854284300F96}" type="pres">
      <dgm:prSet presAssocID="{A75812FB-0831-CF45-AC2F-F0306B933850}" presName="parTx" presStyleLbl="revTx" presStyleIdx="0" presStyleCnt="4">
        <dgm:presLayoutVars>
          <dgm:chMax val="0"/>
          <dgm:chPref val="0"/>
        </dgm:presLayoutVars>
      </dgm:prSet>
      <dgm:spPr/>
    </dgm:pt>
    <dgm:pt modelId="{373754C9-CD57-48BC-8E87-B22632C7E89B}" type="pres">
      <dgm:prSet presAssocID="{A75812FB-0831-CF45-AC2F-F0306B933850}" presName="txSpace" presStyleCnt="0"/>
      <dgm:spPr/>
    </dgm:pt>
    <dgm:pt modelId="{8A41304C-4C8C-43F3-AE98-19BDCCCD59EE}" type="pres">
      <dgm:prSet presAssocID="{A75812FB-0831-CF45-AC2F-F0306B933850}" presName="desTx" presStyleLbl="revTx" presStyleIdx="1" presStyleCnt="4">
        <dgm:presLayoutVars/>
      </dgm:prSet>
      <dgm:spPr/>
    </dgm:pt>
    <dgm:pt modelId="{9EA1F2AD-76FA-4A39-87B4-CEB6430DE7AE}" type="pres">
      <dgm:prSet presAssocID="{22BBD007-ABE5-ED43-BE9C-5BEDDA817D2D}" presName="sibTrans" presStyleCnt="0"/>
      <dgm:spPr/>
    </dgm:pt>
    <dgm:pt modelId="{08FD317B-26EF-40C7-9648-433A6A4EBD80}" type="pres">
      <dgm:prSet presAssocID="{F1659936-B9B1-AB4B-83F3-25CB3CE322CF}" presName="compNode" presStyleCnt="0"/>
      <dgm:spPr/>
    </dgm:pt>
    <dgm:pt modelId="{EBE63C2C-4385-4313-A2F0-07D3BC7F2AE7}" type="pres">
      <dgm:prSet presAssocID="{F1659936-B9B1-AB4B-83F3-25CB3CE322C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F615340B-F3FC-4C38-9B94-50A521CA6978}" type="pres">
      <dgm:prSet presAssocID="{F1659936-B9B1-AB4B-83F3-25CB3CE322CF}" presName="iconSpace" presStyleCnt="0"/>
      <dgm:spPr/>
    </dgm:pt>
    <dgm:pt modelId="{78DA0EFF-3392-410D-A69D-BD5E50E89AF3}" type="pres">
      <dgm:prSet presAssocID="{F1659936-B9B1-AB4B-83F3-25CB3CE322CF}" presName="parTx" presStyleLbl="revTx" presStyleIdx="2" presStyleCnt="4">
        <dgm:presLayoutVars>
          <dgm:chMax val="0"/>
          <dgm:chPref val="0"/>
        </dgm:presLayoutVars>
      </dgm:prSet>
      <dgm:spPr/>
    </dgm:pt>
    <dgm:pt modelId="{01D114AC-04B3-48B4-A16A-44765E95F353}" type="pres">
      <dgm:prSet presAssocID="{F1659936-B9B1-AB4B-83F3-25CB3CE322CF}" presName="txSpace" presStyleCnt="0"/>
      <dgm:spPr/>
    </dgm:pt>
    <dgm:pt modelId="{A5CE285A-FB03-476F-B72D-EB572208BBD8}" type="pres">
      <dgm:prSet presAssocID="{F1659936-B9B1-AB4B-83F3-25CB3CE322CF}" presName="desTx" presStyleLbl="revTx" presStyleIdx="3" presStyleCnt="4">
        <dgm:presLayoutVars/>
      </dgm:prSet>
      <dgm:spPr/>
    </dgm:pt>
  </dgm:ptLst>
  <dgm:cxnLst>
    <dgm:cxn modelId="{4FE4B90A-80D9-B546-98D9-3C9C173814FC}" type="presOf" srcId="{CC70BB2B-4CB8-2E48-85F9-830AD6B8C4BD}" destId="{8A41304C-4C8C-43F3-AE98-19BDCCCD59EE}" srcOrd="0" destOrd="4" presId="urn:microsoft.com/office/officeart/2018/2/layout/IconLabelDescriptionList"/>
    <dgm:cxn modelId="{84AF160D-527D-8545-A500-0203008710B3}" srcId="{A75812FB-0831-CF45-AC2F-F0306B933850}" destId="{A9741D20-F470-C34E-9C05-612E3B1AB21C}" srcOrd="5" destOrd="0" parTransId="{CB7683A8-70B7-E04D-A5F4-06D3C2A25FE3}" sibTransId="{C28D0CCE-13FB-514B-81C7-02D4A1669304}"/>
    <dgm:cxn modelId="{5CC98B0D-6457-3745-8599-C127BDDB696A}" srcId="{A40D9396-8B5B-5944-B7CF-A827F10FEAE4}" destId="{A75812FB-0831-CF45-AC2F-F0306B933850}" srcOrd="0" destOrd="0" parTransId="{A955AD6D-69DC-E64C-A786-7EDC6AAFD7D2}" sibTransId="{22BBD007-ABE5-ED43-BE9C-5BEDDA817D2D}"/>
    <dgm:cxn modelId="{929BD013-B501-2444-BB8E-2169D71BC3C5}" type="presOf" srcId="{A40D9396-8B5B-5944-B7CF-A827F10FEAE4}" destId="{64D42241-E6EA-4803-BBF0-C209D27CC57C}" srcOrd="0" destOrd="0" presId="urn:microsoft.com/office/officeart/2018/2/layout/IconLabelDescriptionList"/>
    <dgm:cxn modelId="{97F7CA14-0579-0A4A-BC96-CCFF7E7CB913}" type="presOf" srcId="{B4694A4B-6644-FF4B-8FC6-A53E80208019}" destId="{8A41304C-4C8C-43F3-AE98-19BDCCCD59EE}" srcOrd="0" destOrd="2" presId="urn:microsoft.com/office/officeart/2018/2/layout/IconLabelDescriptionList"/>
    <dgm:cxn modelId="{04F90322-E2BC-9349-9283-935365BFBED2}" srcId="{A40D9396-8B5B-5944-B7CF-A827F10FEAE4}" destId="{F1659936-B9B1-AB4B-83F3-25CB3CE322CF}" srcOrd="1" destOrd="0" parTransId="{A8200996-CCFF-8E49-96D8-298A8BF5EF9C}" sibTransId="{FF3CD0D6-2E37-7547-A92F-E14136A691E5}"/>
    <dgm:cxn modelId="{3A90FE3B-34F5-0848-A225-A6E6BAD35605}" srcId="{F1659936-B9B1-AB4B-83F3-25CB3CE322CF}" destId="{227F1202-3900-8745-90CB-7A4407DBA723}" srcOrd="0" destOrd="0" parTransId="{EEF881BE-D46A-7140-A6D7-3757451CE997}" sibTransId="{DEB5E526-13DB-C849-8DC5-102A8056FF28}"/>
    <dgm:cxn modelId="{0FE2803D-E97E-9D42-979C-95ECC5768E57}" srcId="{A75812FB-0831-CF45-AC2F-F0306B933850}" destId="{9162A706-0E1F-EF40-9631-799B1D6BDF44}" srcOrd="1" destOrd="0" parTransId="{86B49A31-EAC4-B543-AAA3-90797EEE3017}" sibTransId="{9D2E3113-D472-8741-8462-F08E233CEFA1}"/>
    <dgm:cxn modelId="{99F0FC42-13B7-7B42-A471-38FFCEAD37F4}" type="presOf" srcId="{B3815253-D04C-6941-9AC9-B571E6CDBB66}" destId="{A5CE285A-FB03-476F-B72D-EB572208BBD8}" srcOrd="0" destOrd="2" presId="urn:microsoft.com/office/officeart/2018/2/layout/IconLabelDescriptionList"/>
    <dgm:cxn modelId="{02FCD346-ADB8-0149-812A-D709D162DD52}" srcId="{A75812FB-0831-CF45-AC2F-F0306B933850}" destId="{B4694A4B-6644-FF4B-8FC6-A53E80208019}" srcOrd="2" destOrd="0" parTransId="{8E31CFA4-5460-F94A-BB18-148E95137FDF}" sibTransId="{52527236-3BC9-E441-8DD8-50228B99BC66}"/>
    <dgm:cxn modelId="{24A8364E-2406-C54D-BC62-4B07E4DF9639}" srcId="{F1659936-B9B1-AB4B-83F3-25CB3CE322CF}" destId="{B3815253-D04C-6941-9AC9-B571E6CDBB66}" srcOrd="2" destOrd="0" parTransId="{77AEB376-1A8A-F541-AFEC-22E7C01006F8}" sibTransId="{BCDA004D-EB9F-C945-8FEE-0A36BD4E46D1}"/>
    <dgm:cxn modelId="{0783F860-8C7C-C44C-8EFB-1EEAA6F49035}" type="presOf" srcId="{F1659936-B9B1-AB4B-83F3-25CB3CE322CF}" destId="{78DA0EFF-3392-410D-A69D-BD5E50E89AF3}" srcOrd="0" destOrd="0" presId="urn:microsoft.com/office/officeart/2018/2/layout/IconLabelDescriptionList"/>
    <dgm:cxn modelId="{AF65B566-99B5-434E-965B-B87DC6452240}" type="presOf" srcId="{F83E32B4-49EC-C34F-ACE0-33B6DE9BF8D7}" destId="{8A41304C-4C8C-43F3-AE98-19BDCCCD59EE}" srcOrd="0" destOrd="3" presId="urn:microsoft.com/office/officeart/2018/2/layout/IconLabelDescriptionList"/>
    <dgm:cxn modelId="{0A8B0D68-85F6-7846-BE4F-1650778409A7}" type="presOf" srcId="{8C494CCA-B850-3A4E-9A2B-E0E5734F2778}" destId="{8A41304C-4C8C-43F3-AE98-19BDCCCD59EE}" srcOrd="0" destOrd="6" presId="urn:microsoft.com/office/officeart/2018/2/layout/IconLabelDescriptionList"/>
    <dgm:cxn modelId="{E04B396A-F339-714D-A7C4-C1AF3F710DBC}" type="presOf" srcId="{A75812FB-0831-CF45-AC2F-F0306B933850}" destId="{831A5224-12E1-40D1-88E1-854284300F96}" srcOrd="0" destOrd="0" presId="urn:microsoft.com/office/officeart/2018/2/layout/IconLabelDescriptionList"/>
    <dgm:cxn modelId="{92E66D6B-5107-0140-8DDB-F293EF4F9344}" srcId="{A75812FB-0831-CF45-AC2F-F0306B933850}" destId="{28BCF087-65A5-E141-A604-416CDEB03B74}" srcOrd="0" destOrd="0" parTransId="{D1101D08-3EA2-184E-A9B2-F9272FA7DA52}" sibTransId="{2F07C075-FD34-194F-8BE4-246FB7765A3B}"/>
    <dgm:cxn modelId="{00BF637D-AAEA-1646-A542-7A30FE779975}" type="presOf" srcId="{A9741D20-F470-C34E-9C05-612E3B1AB21C}" destId="{8A41304C-4C8C-43F3-AE98-19BDCCCD59EE}" srcOrd="0" destOrd="5" presId="urn:microsoft.com/office/officeart/2018/2/layout/IconLabelDescriptionList"/>
    <dgm:cxn modelId="{A315DD8A-65DA-914A-8E08-8EA521CEC9C1}" srcId="{A75812FB-0831-CF45-AC2F-F0306B933850}" destId="{CC70BB2B-4CB8-2E48-85F9-830AD6B8C4BD}" srcOrd="4" destOrd="0" parTransId="{BECDEE85-3556-8348-8CCD-DEF8513F5CD5}" sibTransId="{67F0571C-0426-484B-A14C-1D67736E8D79}"/>
    <dgm:cxn modelId="{11B9DB99-DFF8-A344-B526-0690D1CD3078}" type="presOf" srcId="{9162A706-0E1F-EF40-9631-799B1D6BDF44}" destId="{8A41304C-4C8C-43F3-AE98-19BDCCCD59EE}" srcOrd="0" destOrd="1" presId="urn:microsoft.com/office/officeart/2018/2/layout/IconLabelDescriptionList"/>
    <dgm:cxn modelId="{A0331CC9-5A4A-3542-BA20-ED7DCB79B0A6}" srcId="{A75812FB-0831-CF45-AC2F-F0306B933850}" destId="{F83E32B4-49EC-C34F-ACE0-33B6DE9BF8D7}" srcOrd="3" destOrd="0" parTransId="{6CE91E56-E584-2F4A-8E8E-65C3EF33502F}" sibTransId="{A043CADD-0DD1-A148-9061-049008C59FF9}"/>
    <dgm:cxn modelId="{8D8DA6DA-8CE2-1241-8510-43C267ABFA70}" type="presOf" srcId="{28BCF087-65A5-E141-A604-416CDEB03B74}" destId="{8A41304C-4C8C-43F3-AE98-19BDCCCD59EE}" srcOrd="0" destOrd="0" presId="urn:microsoft.com/office/officeart/2018/2/layout/IconLabelDescriptionList"/>
    <dgm:cxn modelId="{ACF0EEDC-1C9B-B245-8C1D-02970B97FA0C}" type="presOf" srcId="{AC076227-F5DA-AE43-A476-2F2DA07F8A3F}" destId="{A5CE285A-FB03-476F-B72D-EB572208BBD8}" srcOrd="0" destOrd="1" presId="urn:microsoft.com/office/officeart/2018/2/layout/IconLabelDescriptionList"/>
    <dgm:cxn modelId="{8D3F22DE-9B36-CF4F-9B30-0B2A41171FD0}" type="presOf" srcId="{227F1202-3900-8745-90CB-7A4407DBA723}" destId="{A5CE285A-FB03-476F-B72D-EB572208BBD8}" srcOrd="0" destOrd="0" presId="urn:microsoft.com/office/officeart/2018/2/layout/IconLabelDescriptionList"/>
    <dgm:cxn modelId="{FCD89EF9-78B9-2A42-92DD-6EA4050CA277}" srcId="{A75812FB-0831-CF45-AC2F-F0306B933850}" destId="{8C494CCA-B850-3A4E-9A2B-E0E5734F2778}" srcOrd="6" destOrd="0" parTransId="{02BDBC8B-D6DA-0F40-95FB-F2235F090707}" sibTransId="{73D42CCA-B794-FE43-8EB2-4F1E841D05E0}"/>
    <dgm:cxn modelId="{79DF8DFB-15B9-354D-97A8-DA58A1433907}" srcId="{F1659936-B9B1-AB4B-83F3-25CB3CE322CF}" destId="{AC076227-F5DA-AE43-A476-2F2DA07F8A3F}" srcOrd="1" destOrd="0" parTransId="{800B3BAC-7046-AD4C-9030-75A4CD5C385B}" sibTransId="{8F2B288F-F2A7-C645-B0B9-7D60CE0716CE}"/>
    <dgm:cxn modelId="{54E81494-98C1-FC4D-AB00-247D4B3E7AF3}" type="presParOf" srcId="{64D42241-E6EA-4803-BBF0-C209D27CC57C}" destId="{7DEF9ACC-3EA7-4E83-BCFD-E98B6818E606}" srcOrd="0" destOrd="0" presId="urn:microsoft.com/office/officeart/2018/2/layout/IconLabelDescriptionList"/>
    <dgm:cxn modelId="{0F48DBFB-DF0C-4C42-84FE-7C818F44F969}" type="presParOf" srcId="{7DEF9ACC-3EA7-4E83-BCFD-E98B6818E606}" destId="{1E64CC45-F8F6-47B3-AC33-9E2260F0AF17}" srcOrd="0" destOrd="0" presId="urn:microsoft.com/office/officeart/2018/2/layout/IconLabelDescriptionList"/>
    <dgm:cxn modelId="{3D575F29-AC37-0044-B625-20BBADEF5D6B}" type="presParOf" srcId="{7DEF9ACC-3EA7-4E83-BCFD-E98B6818E606}" destId="{D429E549-20D2-4FE1-9974-5E0E1ACADB93}" srcOrd="1" destOrd="0" presId="urn:microsoft.com/office/officeart/2018/2/layout/IconLabelDescriptionList"/>
    <dgm:cxn modelId="{5F77731E-0EF0-8147-B497-EA5FB6CD7B98}" type="presParOf" srcId="{7DEF9ACC-3EA7-4E83-BCFD-E98B6818E606}" destId="{831A5224-12E1-40D1-88E1-854284300F96}" srcOrd="2" destOrd="0" presId="urn:microsoft.com/office/officeart/2018/2/layout/IconLabelDescriptionList"/>
    <dgm:cxn modelId="{BEA758B9-9848-C14A-878A-18B349C78430}" type="presParOf" srcId="{7DEF9ACC-3EA7-4E83-BCFD-E98B6818E606}" destId="{373754C9-CD57-48BC-8E87-B22632C7E89B}" srcOrd="3" destOrd="0" presId="urn:microsoft.com/office/officeart/2018/2/layout/IconLabelDescriptionList"/>
    <dgm:cxn modelId="{65113CE7-AB4A-9946-BF7E-75AC86640E99}" type="presParOf" srcId="{7DEF9ACC-3EA7-4E83-BCFD-E98B6818E606}" destId="{8A41304C-4C8C-43F3-AE98-19BDCCCD59EE}" srcOrd="4" destOrd="0" presId="urn:microsoft.com/office/officeart/2018/2/layout/IconLabelDescriptionList"/>
    <dgm:cxn modelId="{D28E7D85-6915-6D41-A875-EBED4D6F533A}" type="presParOf" srcId="{64D42241-E6EA-4803-BBF0-C209D27CC57C}" destId="{9EA1F2AD-76FA-4A39-87B4-CEB6430DE7AE}" srcOrd="1" destOrd="0" presId="urn:microsoft.com/office/officeart/2018/2/layout/IconLabelDescriptionList"/>
    <dgm:cxn modelId="{50044F04-B460-4748-B578-5713CFD689DD}" type="presParOf" srcId="{64D42241-E6EA-4803-BBF0-C209D27CC57C}" destId="{08FD317B-26EF-40C7-9648-433A6A4EBD80}" srcOrd="2" destOrd="0" presId="urn:microsoft.com/office/officeart/2018/2/layout/IconLabelDescriptionList"/>
    <dgm:cxn modelId="{42E2AF7C-6906-F248-87A1-8EFC35671D7D}" type="presParOf" srcId="{08FD317B-26EF-40C7-9648-433A6A4EBD80}" destId="{EBE63C2C-4385-4313-A2F0-07D3BC7F2AE7}" srcOrd="0" destOrd="0" presId="urn:microsoft.com/office/officeart/2018/2/layout/IconLabelDescriptionList"/>
    <dgm:cxn modelId="{6E74D597-560F-5644-9D85-47E703368E50}" type="presParOf" srcId="{08FD317B-26EF-40C7-9648-433A6A4EBD80}" destId="{F615340B-F3FC-4C38-9B94-50A521CA6978}" srcOrd="1" destOrd="0" presId="urn:microsoft.com/office/officeart/2018/2/layout/IconLabelDescriptionList"/>
    <dgm:cxn modelId="{4D210946-2068-354D-A544-9DF5417171A0}" type="presParOf" srcId="{08FD317B-26EF-40C7-9648-433A6A4EBD80}" destId="{78DA0EFF-3392-410D-A69D-BD5E50E89AF3}" srcOrd="2" destOrd="0" presId="urn:microsoft.com/office/officeart/2018/2/layout/IconLabelDescriptionList"/>
    <dgm:cxn modelId="{B9A743F6-B592-6343-8FE8-455FC78A9150}" type="presParOf" srcId="{08FD317B-26EF-40C7-9648-433A6A4EBD80}" destId="{01D114AC-04B3-48B4-A16A-44765E95F353}" srcOrd="3" destOrd="0" presId="urn:microsoft.com/office/officeart/2018/2/layout/IconLabelDescriptionList"/>
    <dgm:cxn modelId="{9B62F20B-473D-6846-A90D-F3C2856E2346}" type="presParOf" srcId="{08FD317B-26EF-40C7-9648-433A6A4EBD80}" destId="{A5CE285A-FB03-476F-B72D-EB572208BBD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64CC45-F8F6-47B3-AC33-9E2260F0AF17}">
      <dsp:nvSpPr>
        <dsp:cNvPr id="0" name=""/>
        <dsp:cNvSpPr/>
      </dsp:nvSpPr>
      <dsp:spPr>
        <a:xfrm>
          <a:off x="2988961" y="1218332"/>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1A5224-12E1-40D1-88E1-854284300F96}">
      <dsp:nvSpPr>
        <dsp:cNvPr id="0" name=""/>
        <dsp:cNvSpPr/>
      </dsp:nvSpPr>
      <dsp:spPr>
        <a:xfrm>
          <a:off x="2988961" y="295191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GB" sz="3600" kern="1200"/>
            <a:t>Classification</a:t>
          </a:r>
        </a:p>
      </dsp:txBody>
      <dsp:txXfrm>
        <a:off x="2988961" y="2951916"/>
        <a:ext cx="4320000" cy="648000"/>
      </dsp:txXfrm>
    </dsp:sp>
    <dsp:sp modelId="{8A41304C-4C8C-43F3-AE98-19BDCCCD59EE}">
      <dsp:nvSpPr>
        <dsp:cNvPr id="0" name=""/>
        <dsp:cNvSpPr/>
      </dsp:nvSpPr>
      <dsp:spPr>
        <a:xfrm>
          <a:off x="2988961" y="3702979"/>
          <a:ext cx="4320000" cy="266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pPr>
          <a:r>
            <a:rPr lang="en-GB" sz="2000" kern="1200" dirty="0"/>
            <a:t>Support vector machines</a:t>
          </a:r>
        </a:p>
        <a:p>
          <a:pPr marL="0" lvl="0" indent="0" algn="l" defTabSz="889000">
            <a:lnSpc>
              <a:spcPct val="100000"/>
            </a:lnSpc>
            <a:spcBef>
              <a:spcPct val="0"/>
            </a:spcBef>
            <a:spcAft>
              <a:spcPct val="35000"/>
            </a:spcAft>
            <a:buNone/>
          </a:pPr>
          <a:r>
            <a:rPr lang="en-GB" sz="2000" kern="1200" dirty="0"/>
            <a:t>Decision Trees</a:t>
          </a:r>
        </a:p>
        <a:p>
          <a:pPr marL="0" lvl="0" indent="0" algn="l" defTabSz="889000">
            <a:lnSpc>
              <a:spcPct val="100000"/>
            </a:lnSpc>
            <a:spcBef>
              <a:spcPct val="0"/>
            </a:spcBef>
            <a:spcAft>
              <a:spcPct val="35000"/>
            </a:spcAft>
            <a:buNone/>
          </a:pPr>
          <a:r>
            <a:rPr lang="en-GB" sz="2000" kern="1200" dirty="0"/>
            <a:t>K-Nearest Neighbour</a:t>
          </a:r>
        </a:p>
        <a:p>
          <a:pPr marL="0" lvl="0" indent="0" algn="l" defTabSz="889000">
            <a:lnSpc>
              <a:spcPct val="100000"/>
            </a:lnSpc>
            <a:spcBef>
              <a:spcPct val="0"/>
            </a:spcBef>
            <a:spcAft>
              <a:spcPct val="35000"/>
            </a:spcAft>
            <a:buNone/>
          </a:pPr>
          <a:r>
            <a:rPr lang="en-GB" sz="2000" kern="1200"/>
            <a:t>Random Forest</a:t>
          </a:r>
        </a:p>
        <a:p>
          <a:pPr marL="0" lvl="0" indent="0" algn="l" defTabSz="889000">
            <a:lnSpc>
              <a:spcPct val="100000"/>
            </a:lnSpc>
            <a:spcBef>
              <a:spcPct val="0"/>
            </a:spcBef>
            <a:spcAft>
              <a:spcPct val="35000"/>
            </a:spcAft>
            <a:buNone/>
          </a:pPr>
          <a:r>
            <a:rPr lang="en-GB" sz="2000" kern="1200" dirty="0"/>
            <a:t>Logistic regression</a:t>
          </a:r>
        </a:p>
        <a:p>
          <a:pPr marL="0" lvl="0" indent="0" algn="l" defTabSz="889000">
            <a:lnSpc>
              <a:spcPct val="100000"/>
            </a:lnSpc>
            <a:spcBef>
              <a:spcPct val="0"/>
            </a:spcBef>
            <a:spcAft>
              <a:spcPct val="35000"/>
            </a:spcAft>
            <a:buNone/>
          </a:pPr>
          <a:r>
            <a:rPr lang="en-GB" sz="2000" kern="1200"/>
            <a:t>Naïve Bayes classifier</a:t>
          </a:r>
        </a:p>
        <a:p>
          <a:pPr marL="0" lvl="0" indent="0" algn="l" defTabSz="889000">
            <a:lnSpc>
              <a:spcPct val="100000"/>
            </a:lnSpc>
            <a:spcBef>
              <a:spcPct val="0"/>
            </a:spcBef>
            <a:spcAft>
              <a:spcPct val="35000"/>
            </a:spcAft>
            <a:buNone/>
          </a:pPr>
          <a:r>
            <a:rPr lang="en-GB" sz="2000" kern="1200" dirty="0"/>
            <a:t>…</a:t>
          </a:r>
        </a:p>
      </dsp:txBody>
      <dsp:txXfrm>
        <a:off x="2988961" y="3702979"/>
        <a:ext cx="4320000" cy="2668482"/>
      </dsp:txXfrm>
    </dsp:sp>
    <dsp:sp modelId="{EBE63C2C-4385-4313-A2F0-07D3BC7F2AE7}">
      <dsp:nvSpPr>
        <dsp:cNvPr id="0" name=""/>
        <dsp:cNvSpPr/>
      </dsp:nvSpPr>
      <dsp:spPr>
        <a:xfrm>
          <a:off x="8064961" y="1218332"/>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DA0EFF-3392-410D-A69D-BD5E50E89AF3}">
      <dsp:nvSpPr>
        <dsp:cNvPr id="0" name=""/>
        <dsp:cNvSpPr/>
      </dsp:nvSpPr>
      <dsp:spPr>
        <a:xfrm>
          <a:off x="8064961" y="295191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GB" sz="3600" kern="1200"/>
            <a:t>Regression</a:t>
          </a:r>
        </a:p>
      </dsp:txBody>
      <dsp:txXfrm>
        <a:off x="8064961" y="2951916"/>
        <a:ext cx="4320000" cy="648000"/>
      </dsp:txXfrm>
    </dsp:sp>
    <dsp:sp modelId="{A5CE285A-FB03-476F-B72D-EB572208BBD8}">
      <dsp:nvSpPr>
        <dsp:cNvPr id="0" name=""/>
        <dsp:cNvSpPr/>
      </dsp:nvSpPr>
      <dsp:spPr>
        <a:xfrm>
          <a:off x="8064961" y="3702979"/>
          <a:ext cx="4320000" cy="2668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pPr>
          <a:r>
            <a:rPr lang="en-GB" sz="3600" kern="1200"/>
            <a:t>Linear Regression</a:t>
          </a:r>
        </a:p>
        <a:p>
          <a:pPr marL="0" lvl="0" indent="0" algn="l" defTabSz="1600200">
            <a:lnSpc>
              <a:spcPct val="100000"/>
            </a:lnSpc>
            <a:spcBef>
              <a:spcPct val="0"/>
            </a:spcBef>
            <a:spcAft>
              <a:spcPct val="35000"/>
            </a:spcAft>
            <a:buNone/>
          </a:pPr>
          <a:r>
            <a:rPr lang="en-GB" sz="3600" kern="1200" dirty="0"/>
            <a:t>Polynomial Regression</a:t>
          </a:r>
        </a:p>
        <a:p>
          <a:pPr marL="0" lvl="0" indent="0" algn="l" defTabSz="1600200">
            <a:lnSpc>
              <a:spcPct val="100000"/>
            </a:lnSpc>
            <a:spcBef>
              <a:spcPct val="0"/>
            </a:spcBef>
            <a:spcAft>
              <a:spcPct val="35000"/>
            </a:spcAft>
            <a:buNone/>
          </a:pPr>
          <a:r>
            <a:rPr lang="en-GB" sz="3600" kern="1200"/>
            <a:t>…</a:t>
          </a:r>
        </a:p>
      </dsp:txBody>
      <dsp:txXfrm>
        <a:off x="8064961" y="3702979"/>
        <a:ext cx="4320000" cy="266848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7B040-7AAC-4A31-805D-A772300221D6}" type="datetimeFigureOut">
              <a:rPr lang="en-US" smtClean="0"/>
              <a:t>9/15/26</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C6333F-E368-4746-A020-FE91A90E005B}" type="slidenum">
              <a:rPr lang="en-US" smtClean="0"/>
              <a:t>‹#›</a:t>
            </a:fld>
            <a:endParaRPr lang="en-US"/>
          </a:p>
        </p:txBody>
      </p:sp>
    </p:spTree>
    <p:extLst>
      <p:ext uri="{BB962C8B-B14F-4D97-AF65-F5344CB8AC3E}">
        <p14:creationId xmlns:p14="http://schemas.microsoft.com/office/powerpoint/2010/main" val="1894998186"/>
      </p:ext>
    </p:extLst>
  </p:cSld>
  <p:clrMap bg1="lt1" tx1="dk1" bg2="lt2" tx2="dk2" accent1="accent1" accent2="accent2" accent3="accent3" accent4="accent4" accent5="accent5" accent6="accent6" hlink="hlink" folHlink="folHlink"/>
  <p:notesStyle>
    <a:lvl1pPr marL="0" algn="l" defTabSz="1300643" rtl="0" eaLnBrk="1" latinLnBrk="0" hangingPunct="1">
      <a:defRPr sz="1707" kern="1200">
        <a:solidFill>
          <a:schemeClr val="tx1"/>
        </a:solidFill>
        <a:latin typeface="+mn-lt"/>
        <a:ea typeface="+mn-ea"/>
        <a:cs typeface="+mn-cs"/>
      </a:defRPr>
    </a:lvl1pPr>
    <a:lvl2pPr marL="650321" algn="l" defTabSz="1300643" rtl="0" eaLnBrk="1" latinLnBrk="0" hangingPunct="1">
      <a:defRPr sz="1707" kern="1200">
        <a:solidFill>
          <a:schemeClr val="tx1"/>
        </a:solidFill>
        <a:latin typeface="+mn-lt"/>
        <a:ea typeface="+mn-ea"/>
        <a:cs typeface="+mn-cs"/>
      </a:defRPr>
    </a:lvl2pPr>
    <a:lvl3pPr marL="1300643" algn="l" defTabSz="1300643" rtl="0" eaLnBrk="1" latinLnBrk="0" hangingPunct="1">
      <a:defRPr sz="1707" kern="1200">
        <a:solidFill>
          <a:schemeClr val="tx1"/>
        </a:solidFill>
        <a:latin typeface="+mn-lt"/>
        <a:ea typeface="+mn-ea"/>
        <a:cs typeface="+mn-cs"/>
      </a:defRPr>
    </a:lvl3pPr>
    <a:lvl4pPr marL="1950964" algn="l" defTabSz="1300643" rtl="0" eaLnBrk="1" latinLnBrk="0" hangingPunct="1">
      <a:defRPr sz="1707" kern="1200">
        <a:solidFill>
          <a:schemeClr val="tx1"/>
        </a:solidFill>
        <a:latin typeface="+mn-lt"/>
        <a:ea typeface="+mn-ea"/>
        <a:cs typeface="+mn-cs"/>
      </a:defRPr>
    </a:lvl4pPr>
    <a:lvl5pPr marL="2601285" algn="l" defTabSz="1300643" rtl="0" eaLnBrk="1" latinLnBrk="0" hangingPunct="1">
      <a:defRPr sz="1707" kern="1200">
        <a:solidFill>
          <a:schemeClr val="tx1"/>
        </a:solidFill>
        <a:latin typeface="+mn-lt"/>
        <a:ea typeface="+mn-ea"/>
        <a:cs typeface="+mn-cs"/>
      </a:defRPr>
    </a:lvl5pPr>
    <a:lvl6pPr marL="3251606" algn="l" defTabSz="1300643" rtl="0" eaLnBrk="1" latinLnBrk="0" hangingPunct="1">
      <a:defRPr sz="1707" kern="1200">
        <a:solidFill>
          <a:schemeClr val="tx1"/>
        </a:solidFill>
        <a:latin typeface="+mn-lt"/>
        <a:ea typeface="+mn-ea"/>
        <a:cs typeface="+mn-cs"/>
      </a:defRPr>
    </a:lvl6pPr>
    <a:lvl7pPr marL="3901928" algn="l" defTabSz="1300643" rtl="0" eaLnBrk="1" latinLnBrk="0" hangingPunct="1">
      <a:defRPr sz="1707" kern="1200">
        <a:solidFill>
          <a:schemeClr val="tx1"/>
        </a:solidFill>
        <a:latin typeface="+mn-lt"/>
        <a:ea typeface="+mn-ea"/>
        <a:cs typeface="+mn-cs"/>
      </a:defRPr>
    </a:lvl7pPr>
    <a:lvl8pPr marL="4552249" algn="l" defTabSz="1300643" rtl="0" eaLnBrk="1" latinLnBrk="0" hangingPunct="1">
      <a:defRPr sz="1707" kern="1200">
        <a:solidFill>
          <a:schemeClr val="tx1"/>
        </a:solidFill>
        <a:latin typeface="+mn-lt"/>
        <a:ea typeface="+mn-ea"/>
        <a:cs typeface="+mn-cs"/>
      </a:defRPr>
    </a:lvl8pPr>
    <a:lvl9pPr marL="5202570" algn="l" defTabSz="1300643" rtl="0" eaLnBrk="1" latinLnBrk="0" hangingPunct="1">
      <a:defRPr sz="170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Supervised learning means the algorithm is given the answers along with the questions: each example in the training data carries the correct label.</a:t>
            </a:r>
          </a:p>
          <a:p>
            <a:endParaRPr dirty="0"/>
          </a:p>
          <a:p>
            <a:r>
              <a:rPr dirty="0"/>
              <a:t>That is what makes it possible to measure how wrong the model is, which is what training uses to improve.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 a supervised learning</a:t>
            </a:r>
            <a:r>
              <a:rPr lang="en-GB" dirty="0"/>
              <a:t> model, the algorithm learns on a </a:t>
            </a:r>
            <a:r>
              <a:rPr lang="en-GB" dirty="0" err="1"/>
              <a:t>labeled</a:t>
            </a:r>
            <a:r>
              <a:rPr lang="en-GB" dirty="0"/>
              <a:t> dataset, providing an answer key that the algorithm can use to evaluate its accuracy on </a:t>
            </a:r>
            <a:r>
              <a:rPr lang="en-GB" b="1" dirty="0"/>
              <a:t>training</a:t>
            </a:r>
            <a:r>
              <a:rPr lang="en-GB" dirty="0"/>
              <a:t> data. </a:t>
            </a:r>
          </a:p>
          <a:p>
            <a:endParaRPr lang="en-GB" dirty="0"/>
          </a:p>
          <a:p>
            <a:r>
              <a:rPr lang="en-GB" dirty="0"/>
              <a:t>Ref: https://</a:t>
            </a:r>
            <a:r>
              <a:rPr lang="en-GB" dirty="0" err="1"/>
              <a:t>blogs.nvidia.com</a:t>
            </a:r>
            <a:r>
              <a:rPr lang="en-GB" dirty="0"/>
              <a:t>/blog/2018/08/02/supervised-unsupervised-learning/</a:t>
            </a:r>
          </a:p>
          <a:p>
            <a:pPr marL="0" marR="0" lvl="0" indent="0" algn="l" defTabSz="1300643" rtl="0" eaLnBrk="1" fontAlgn="auto" latinLnBrk="0" hangingPunct="1">
              <a:lnSpc>
                <a:spcPct val="100000"/>
              </a:lnSpc>
              <a:spcBef>
                <a:spcPts val="0"/>
              </a:spcBef>
              <a:spcAft>
                <a:spcPts val="0"/>
              </a:spcAft>
              <a:buClrTx/>
              <a:buSzTx/>
              <a:buFontTx/>
              <a:buNone/>
              <a:tabLst/>
              <a:defRPr/>
            </a:pPr>
            <a:endParaRPr lang="en-GB" dirty="0"/>
          </a:p>
          <a:p>
            <a:pPr marL="0" marR="0" lvl="0" indent="0" algn="l" defTabSz="1300643" rtl="0" eaLnBrk="1" fontAlgn="auto" latinLnBrk="0" hangingPunct="1">
              <a:lnSpc>
                <a:spcPct val="100000"/>
              </a:lnSpc>
              <a:spcBef>
                <a:spcPts val="0"/>
              </a:spcBef>
              <a:spcAft>
                <a:spcPts val="0"/>
              </a:spcAft>
              <a:buClrTx/>
              <a:buSzTx/>
              <a:buFontTx/>
              <a:buNone/>
              <a:tabLst/>
              <a:defRPr/>
            </a:pPr>
            <a:r>
              <a:rPr lang="en-GB" dirty="0"/>
              <a:t>Image ref: </a:t>
            </a:r>
            <a:r>
              <a:rPr lang="en-NO" sz="1600" dirty="0"/>
              <a:t>https://www.verzeo.in/blog-what-is-machine-learning</a:t>
            </a:r>
          </a:p>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4</a:t>
            </a:fld>
            <a:endParaRPr lang="en-US"/>
          </a:p>
        </p:txBody>
      </p:sp>
    </p:spTree>
    <p:extLst>
      <p:ext uri="{BB962C8B-B14F-4D97-AF65-F5344CB8AC3E}">
        <p14:creationId xmlns:p14="http://schemas.microsoft.com/office/powerpoint/2010/main" val="916135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Remind students that preprocessing should be fitted using training data only.</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Supervised machine learning involves training a model on a set of data where the "answers" (labels) are known, so the model can make predictions on new, unseen data. Here's a step-by-step breakdown of the process:</a:t>
            </a:r>
          </a:p>
          <a:p>
            <a:pPr>
              <a:buFont typeface="+mj-lt"/>
              <a:buAutoNum type="arabicPeriod"/>
            </a:pPr>
            <a:r>
              <a:rPr lang="en-GB" b="1" dirty="0"/>
              <a:t>Problem Definition</a:t>
            </a:r>
            <a:r>
              <a:rPr lang="en-GB" dirty="0"/>
              <a:t>:</a:t>
            </a:r>
          </a:p>
          <a:p>
            <a:pPr marL="742950" lvl="1" indent="-285750">
              <a:buFont typeface="+mj-lt"/>
              <a:buAutoNum type="arabicPeriod"/>
            </a:pPr>
            <a:r>
              <a:rPr lang="en-GB" dirty="0"/>
              <a:t>Clearly define the problem you want to solve.</a:t>
            </a:r>
          </a:p>
          <a:p>
            <a:pPr marL="742950" lvl="1" indent="-285750">
              <a:buFont typeface="+mj-lt"/>
              <a:buAutoNum type="arabicPeriod"/>
            </a:pPr>
            <a:r>
              <a:rPr lang="en-GB" dirty="0"/>
              <a:t>Decide if it's a regression (predicting a continuous value) or classification (predicting discrete categories) problem.</a:t>
            </a:r>
          </a:p>
          <a:p>
            <a:pPr>
              <a:buFont typeface="+mj-lt"/>
              <a:buAutoNum type="arabicPeriod"/>
            </a:pPr>
            <a:r>
              <a:rPr lang="en-GB" b="1" dirty="0"/>
              <a:t>Data Collection</a:t>
            </a:r>
            <a:r>
              <a:rPr lang="en-GB" dirty="0"/>
              <a:t>:</a:t>
            </a:r>
          </a:p>
          <a:p>
            <a:pPr marL="742950" lvl="1" indent="-285750">
              <a:buFont typeface="+mj-lt"/>
              <a:buAutoNum type="arabicPeriod"/>
            </a:pPr>
            <a:r>
              <a:rPr lang="en-GB" dirty="0"/>
              <a:t>Gather data relevant to your problem. This could involve using existing datasets or collecting your own data.</a:t>
            </a:r>
          </a:p>
          <a:p>
            <a:pPr>
              <a:buFont typeface="+mj-lt"/>
              <a:buAutoNum type="arabicPeriod"/>
            </a:pPr>
            <a:r>
              <a:rPr lang="en-GB" b="1" dirty="0"/>
              <a:t>Data processing</a:t>
            </a:r>
            <a:r>
              <a:rPr lang="en-GB" dirty="0"/>
              <a:t>:</a:t>
            </a:r>
          </a:p>
          <a:p>
            <a:pPr marL="742950" lvl="1" indent="-285750">
              <a:buFont typeface="+mj-lt"/>
              <a:buAutoNum type="arabicPeriod"/>
            </a:pPr>
            <a:r>
              <a:rPr lang="en-GB" b="1" dirty="0"/>
              <a:t>Data Cleaning</a:t>
            </a:r>
            <a:r>
              <a:rPr lang="en-GB" dirty="0"/>
              <a:t>: Handle missing values, outliers, and any noise in the data.</a:t>
            </a:r>
          </a:p>
          <a:p>
            <a:pPr marL="742950" lvl="1" indent="-285750">
              <a:buFont typeface="+mj-lt"/>
              <a:buAutoNum type="arabicPeriod"/>
            </a:pPr>
            <a:r>
              <a:rPr lang="en-GB" b="1" dirty="0"/>
              <a:t>Feature Engineering</a:t>
            </a:r>
            <a:r>
              <a:rPr lang="en-GB" dirty="0"/>
              <a:t>: Extract, transform, or combine features to better represent the underlying patterns in the data.</a:t>
            </a:r>
          </a:p>
          <a:p>
            <a:pPr marL="742950" lvl="1" indent="-285750">
              <a:buFont typeface="+mj-lt"/>
              <a:buAutoNum type="arabicPeriod"/>
            </a:pPr>
            <a:r>
              <a:rPr lang="en-GB" b="1" dirty="0"/>
              <a:t>Feature Scaling</a:t>
            </a:r>
            <a:r>
              <a:rPr lang="en-GB" dirty="0"/>
              <a:t>: Normalize or standardize features so they have similar scales. Common methods include Min-Max scaling and Z-score normalization.</a:t>
            </a:r>
          </a:p>
          <a:p>
            <a:pPr marL="742950" lvl="1" indent="-285750">
              <a:buFont typeface="+mj-lt"/>
              <a:buAutoNum type="arabicPeriod"/>
            </a:pPr>
            <a:r>
              <a:rPr lang="en-GB" b="1" dirty="0"/>
              <a:t>Data Splitting</a:t>
            </a:r>
            <a:r>
              <a:rPr lang="en-GB" dirty="0"/>
              <a:t>: Divide your data into training, validation (optional), and test sets. The training set is used to train the model, the validation set to tune hyperparameters, and the test set to evaluate the model's performance.</a:t>
            </a:r>
          </a:p>
          <a:p>
            <a:pPr>
              <a:buFont typeface="+mj-lt"/>
              <a:buAutoNum type="arabicPeriod"/>
            </a:pPr>
            <a:r>
              <a:rPr lang="en-GB" b="1" dirty="0"/>
              <a:t>Model Selection</a:t>
            </a:r>
            <a:r>
              <a:rPr lang="en-GB" dirty="0"/>
              <a:t>:</a:t>
            </a:r>
          </a:p>
          <a:p>
            <a:pPr marL="742950" lvl="1" indent="-285750">
              <a:buFont typeface="+mj-lt"/>
              <a:buAutoNum type="arabicPeriod"/>
            </a:pPr>
            <a:r>
              <a:rPr lang="en-GB" dirty="0"/>
              <a:t>Choose one or more machine learning algorithms suitable for your problem. For instance, you might choose decision trees, linear regression, or neural networks.</a:t>
            </a:r>
          </a:p>
          <a:p>
            <a:pPr>
              <a:buFont typeface="+mj-lt"/>
              <a:buAutoNum type="arabicPeriod"/>
            </a:pPr>
            <a:r>
              <a:rPr lang="en-GB" b="1" dirty="0"/>
              <a:t>Training</a:t>
            </a:r>
            <a:r>
              <a:rPr lang="en-GB" dirty="0"/>
              <a:t>:</a:t>
            </a:r>
          </a:p>
          <a:p>
            <a:pPr marL="742950" lvl="1" indent="-285750">
              <a:buFont typeface="+mj-lt"/>
              <a:buAutoNum type="arabicPeriod"/>
            </a:pPr>
            <a:r>
              <a:rPr lang="en-GB" dirty="0"/>
              <a:t>Feed your training data (both the features and labels) into the chosen algorithm. The model will "learn" from this data.</a:t>
            </a:r>
          </a:p>
          <a:p>
            <a:pPr marL="742950" lvl="1" indent="-285750">
              <a:buFont typeface="+mj-lt"/>
              <a:buAutoNum type="arabicPeriod"/>
            </a:pPr>
            <a:r>
              <a:rPr lang="en-GB" dirty="0"/>
              <a:t>Adjust the model's internal parameters to minimize the difference between its predictions and the actual labels in the training data. This difference is often called "error" or "loss".</a:t>
            </a:r>
          </a:p>
          <a:p>
            <a:pPr>
              <a:buFont typeface="+mj-lt"/>
              <a:buAutoNum type="arabicPeriod"/>
            </a:pPr>
            <a:r>
              <a:rPr lang="en-GB" b="1" dirty="0"/>
              <a:t>Validation and Hyperparameter Tuning</a:t>
            </a:r>
            <a:r>
              <a:rPr lang="en-GB" dirty="0"/>
              <a:t> (if you have a validation set):</a:t>
            </a:r>
          </a:p>
          <a:p>
            <a:pPr marL="742950" lvl="1" indent="-285750">
              <a:buFont typeface="+mj-lt"/>
              <a:buAutoNum type="arabicPeriod"/>
            </a:pPr>
            <a:r>
              <a:rPr lang="en-GB" dirty="0"/>
              <a:t>Test the trained model on the validation set to see how it performs.</a:t>
            </a:r>
          </a:p>
          <a:p>
            <a:pPr marL="742950" lvl="1" indent="-285750">
              <a:buFont typeface="+mj-lt"/>
              <a:buAutoNum type="arabicPeriod"/>
            </a:pPr>
            <a:r>
              <a:rPr lang="en-GB" dirty="0"/>
              <a:t>Adjust hyperparameters (settings of the algorithm that aren't learned from the data) based on validation set performance to find the best model.</a:t>
            </a:r>
          </a:p>
          <a:p>
            <a:pPr marL="742950" lvl="1" indent="-285750">
              <a:buFont typeface="+mj-lt"/>
              <a:buAutoNum type="arabicPeriod"/>
            </a:pPr>
            <a:r>
              <a:rPr lang="en-GB" dirty="0"/>
              <a:t>Iterate between training and validation until you get the best performance.</a:t>
            </a:r>
          </a:p>
          <a:p>
            <a:pPr>
              <a:buFont typeface="+mj-lt"/>
              <a:buAutoNum type="arabicPeriod"/>
            </a:pPr>
            <a:r>
              <a:rPr lang="en-GB" b="1" dirty="0"/>
              <a:t>Evaluation</a:t>
            </a:r>
            <a:r>
              <a:rPr lang="en-GB" dirty="0"/>
              <a:t>:</a:t>
            </a:r>
          </a:p>
          <a:p>
            <a:pPr marL="742950" lvl="1" indent="-285750">
              <a:buFont typeface="+mj-lt"/>
              <a:buAutoNum type="arabicPeriod"/>
            </a:pPr>
            <a:r>
              <a:rPr lang="en-GB" dirty="0"/>
              <a:t>Once the model is trained and tuned, test it on the separate test set to evaluate its performance.</a:t>
            </a:r>
          </a:p>
          <a:p>
            <a:pPr marL="742950" lvl="1" indent="-285750">
              <a:buFont typeface="+mj-lt"/>
              <a:buAutoNum type="arabicPeriod"/>
            </a:pPr>
            <a:r>
              <a:rPr lang="en-GB" dirty="0"/>
              <a:t>Use relevant metrics like accuracy, precision, recall, F1-score (for classification), or mean squared error, R^2 score (for regression).</a:t>
            </a:r>
          </a:p>
          <a:p>
            <a:pPr>
              <a:buFont typeface="+mj-lt"/>
              <a:buAutoNum type="arabicPeriod"/>
            </a:pPr>
            <a:r>
              <a:rPr lang="en-GB" b="1" dirty="0"/>
              <a:t>Deployment</a:t>
            </a:r>
            <a:r>
              <a:rPr lang="en-GB" dirty="0"/>
              <a:t>:</a:t>
            </a:r>
          </a:p>
          <a:p>
            <a:pPr marL="742950" lvl="1" indent="-285750">
              <a:buFont typeface="+mj-lt"/>
              <a:buAutoNum type="arabicPeriod"/>
            </a:pPr>
            <a:r>
              <a:rPr lang="en-GB" dirty="0"/>
              <a:t>If the model's performance is satisfactory, deploy the model to a production environment where it can start taking in new data and making predictions in real-time.</a:t>
            </a:r>
          </a:p>
          <a:p>
            <a:pPr>
              <a:buFont typeface="+mj-lt"/>
              <a:buAutoNum type="arabicPeriod"/>
            </a:pPr>
            <a:r>
              <a:rPr lang="en-GB" b="1" dirty="0"/>
              <a:t>Monitoring and Maintenance</a:t>
            </a:r>
            <a:r>
              <a:rPr lang="en-GB" dirty="0"/>
              <a:t>:</a:t>
            </a:r>
          </a:p>
          <a:p>
            <a:pPr marL="742950" lvl="1" indent="-285750">
              <a:buFont typeface="+mj-lt"/>
              <a:buAutoNum type="arabicPeriod"/>
            </a:pPr>
            <a:r>
              <a:rPr lang="en-GB" dirty="0"/>
              <a:t>Continuously monitor the model's performance in the real world. Models might need retraining or fine-tuning if the data they encounter in the wild is different from the training data or if the underlying patterns in the data change over time.</a:t>
            </a:r>
          </a:p>
          <a:p>
            <a:pPr>
              <a:buFont typeface="+mj-lt"/>
              <a:buAutoNum type="arabicPeriod"/>
            </a:pPr>
            <a:r>
              <a:rPr lang="en-GB" b="1" dirty="0"/>
              <a:t>Feedback Loop</a:t>
            </a:r>
            <a:r>
              <a:rPr lang="en-GB" dirty="0"/>
              <a:t>:</a:t>
            </a:r>
          </a:p>
          <a:p>
            <a:pPr>
              <a:buFont typeface="Arial" panose="020B0604020202020204" pitchFamily="34" charset="0"/>
              <a:buChar char="•"/>
            </a:pPr>
            <a:r>
              <a:rPr lang="en-GB" dirty="0"/>
              <a:t>Incorporate feedback from the model's predictions in the real world to improve and retrain the model.</a:t>
            </a:r>
          </a:p>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6</a:t>
            </a:fld>
            <a:endParaRPr lang="en-US"/>
          </a:p>
        </p:txBody>
      </p:sp>
    </p:spTree>
    <p:extLst>
      <p:ext uri="{BB962C8B-B14F-4D97-AF65-F5344CB8AC3E}">
        <p14:creationId xmlns:p14="http://schemas.microsoft.com/office/powerpoint/2010/main" val="2275062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Work through the list before looking at the next slide. The test is simply whether the answer is a number on a scale or one of a set of categories.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Stock market prediction is the interesting case. Asking what the price will be tomorrow gives you a number, so it is regression. Asking whether the price will go up or down gives you two categories, so it is classification. Both are legitimate; they are different problems with different models and different measures of success.</a:t>
            </a:r>
          </a:p>
          <a:p>
            <a:endParaRPr dirty="0"/>
          </a:p>
          <a:p>
            <a:r>
              <a:rPr dirty="0"/>
              <a:t>The general lesson: the type of task is decided by how you frame the target, not by the subject matter. That is why framing the question is the first step of any machine learning project.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Supervised learning splits in two, according to what kind of answer you want.</a:t>
            </a:r>
          </a:p>
          <a:p>
            <a:endParaRPr dirty="0"/>
          </a:p>
          <a:p>
            <a:r>
              <a:rPr dirty="0"/>
              <a:t>Classification predicts a category — spam or not spam, survived or died. Regression predicts a number — a price, a salary, a delay in minutes.</a:t>
            </a:r>
          </a:p>
          <a:p>
            <a:endParaRPr dirty="0"/>
          </a:p>
          <a:p>
            <a:r>
              <a:rPr dirty="0"/>
              <a:t>Regression was Week 37's lecture. Everything in this one is classification.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https://</a:t>
            </a:r>
            <a:r>
              <a:rPr lang="en-GB" dirty="0" err="1"/>
              <a:t>towardsdatascience.com</a:t>
            </a:r>
            <a:r>
              <a:rPr lang="en-GB" dirty="0"/>
              <a:t>/a-brief-introduction-to-supervised-learning-54a3e3932590</a:t>
            </a:r>
          </a:p>
          <a:p>
            <a:endParaRPr lang="en-GB" dirty="0"/>
          </a:p>
          <a:p>
            <a:r>
              <a:rPr lang="en-GB" dirty="0"/>
              <a:t>The job of a classification algorithm is to then take an input value and assign it a class, or category, that it fits into based on the training data provided.</a:t>
            </a:r>
          </a:p>
          <a:p>
            <a:endParaRPr lang="en-GB" dirty="0"/>
          </a:p>
          <a:p>
            <a:r>
              <a:rPr lang="en-GB" dirty="0"/>
              <a:t>The most common example of classification is determining if an email is spam or not. With two classes to choose from (spam, or not spam), this problem is called a binary classification problem. The algorithm will be given training data with emails that are both spam and not spam. The model will find the features within the data that correlate to either class and create the mapping function mentioned earlier: </a:t>
            </a:r>
            <a:r>
              <a:rPr lang="en-GB" i="1" dirty="0"/>
              <a:t>Y=f(x)</a:t>
            </a:r>
            <a:r>
              <a:rPr lang="en-GB" dirty="0"/>
              <a:t>. Then, when provided with an unseen email, the model will use this function to determine whether or not the email is spam.</a:t>
            </a:r>
          </a:p>
          <a:p>
            <a:r>
              <a:rPr lang="en-NO" dirty="0"/>
              <a:t>	</a:t>
            </a:r>
          </a:p>
        </p:txBody>
      </p:sp>
      <p:sp>
        <p:nvSpPr>
          <p:cNvPr id="4" name="Slide Number Placeholder 3"/>
          <p:cNvSpPr>
            <a:spLocks noGrp="1"/>
          </p:cNvSpPr>
          <p:nvPr>
            <p:ph type="sldNum" sz="quarter" idx="5"/>
          </p:nvPr>
        </p:nvSpPr>
        <p:spPr/>
        <p:txBody>
          <a:bodyPr/>
          <a:lstStyle/>
          <a:p>
            <a:fld id="{61C6333F-E368-4746-A020-FE91A90E005B}" type="slidenum">
              <a:rPr lang="en-US" smtClean="0"/>
              <a:t>11</a:t>
            </a:fld>
            <a:endParaRPr lang="en-US"/>
          </a:p>
        </p:txBody>
      </p:sp>
    </p:spTree>
    <p:extLst>
      <p:ext uri="{BB962C8B-B14F-4D97-AF65-F5344CB8AC3E}">
        <p14:creationId xmlns:p14="http://schemas.microsoft.com/office/powerpoint/2010/main" val="2659311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All of these are questions with a fixed set of possible answers, which is what makes them classification problems.</a:t>
            </a:r>
          </a:p>
          <a:p>
            <a:endParaRPr dirty="0"/>
          </a:p>
          <a:p>
            <a:r>
              <a:rPr dirty="0"/>
              <a:t>The hair-length example is worth pausing on, because it shows how a model picks up a stereotype rather than a fact. Hair length and gender are correlated in some populations, so a model can score well on that data — while having learned nothing about gender and being wrong for anybody who does not fit the pattern. A model reproduces whatever regularity exists in its training data, including regularities we would not want to act on. That theme returns in the Responsible AI lecture.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effectLst/>
              </a:rPr>
              <a:t>Rather than defining groups before looking at the data, clustering allows you to find and </a:t>
            </a:r>
            <a:r>
              <a:rPr lang="en-GB" b="0" dirty="0" err="1">
                <a:effectLst/>
              </a:rPr>
              <a:t>analyze</a:t>
            </a:r>
            <a:r>
              <a:rPr lang="en-GB" b="0" dirty="0">
                <a:effectLst/>
              </a:rPr>
              <a:t> the groups that have formed organically. </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14</a:t>
            </a:fld>
            <a:endParaRPr lang="en-US"/>
          </a:p>
        </p:txBody>
      </p:sp>
    </p:spTree>
    <p:extLst>
      <p:ext uri="{BB962C8B-B14F-4D97-AF65-F5344CB8AC3E}">
        <p14:creationId xmlns:p14="http://schemas.microsoft.com/office/powerpoint/2010/main" val="1122445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distinction in one line: classification puts a label on each row, clustering puts rows into groups.</a:t>
            </a:r>
          </a:p>
          <a:p>
            <a:endParaRPr/>
          </a:p>
          <a:p>
            <a:r>
              <a:t>The deeper difference is what you have to start with. Classification needs somebody to have labelled examples in advance — it is supervised. Clustering invents the groups from the data itself — it is unsupervised, and there is no correct answer to compare against.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a:t>
            </a:r>
            <a:r>
              <a:rPr lang="en-GB" dirty="0" err="1"/>
              <a:t>primo.ai</a:t>
            </a:r>
            <a:r>
              <a:rPr lang="en-GB" dirty="0"/>
              <a:t>/</a:t>
            </a:r>
            <a:r>
              <a:rPr lang="en-GB" dirty="0" err="1"/>
              <a:t>index.php?title</a:t>
            </a:r>
            <a:r>
              <a:rPr lang="en-GB" dirty="0"/>
              <a:t>=</a:t>
            </a:r>
            <a:r>
              <a:rPr lang="en-GB" dirty="0" err="1"/>
              <a:t>Logistic_Regression</a:t>
            </a:r>
            <a:r>
              <a:rPr lang="en-GB" dirty="0"/>
              <a:t>_(LR)</a:t>
            </a:r>
          </a:p>
          <a:p>
            <a:endParaRPr lang="en-GB" dirty="0"/>
          </a:p>
          <a:p>
            <a:r>
              <a:rPr lang="en-US" dirty="0"/>
              <a:t>Logistic regression has “regression” in its name because it estimates a continuous probability by modelling the log-odds. When we apply a threshold to that probability, it becomes a classification algorithm.</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16</a:t>
            </a:fld>
            <a:endParaRPr lang="en-US"/>
          </a:p>
        </p:txBody>
      </p:sp>
    </p:spTree>
    <p:extLst>
      <p:ext uri="{BB962C8B-B14F-4D97-AF65-F5344CB8AC3E}">
        <p14:creationId xmlns:p14="http://schemas.microsoft.com/office/powerpoint/2010/main" val="2655845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S-shaped curve is what turns a classifier into a probability.</a:t>
            </a:r>
          </a:p>
          <a:p>
            <a:endParaRPr dirty="0"/>
          </a:p>
          <a:p>
            <a:r>
              <a:rPr dirty="0"/>
              <a:t>Whatever number the underlying straight-line model produces — large and positive, large and negative, anything — the sigmoid squashes it into the range 0 to 1, so it can be read as a probability. A prediction far from the boundary lands near 0 or near 1; a prediction close to the boundary lands near 0.5.</a:t>
            </a:r>
          </a:p>
          <a:p>
            <a:endParaRPr dirty="0"/>
          </a:p>
          <a:p>
            <a:r>
              <a:rPr dirty="0"/>
              <a:t>The threshold is then a separate decision, and 0.5 is a convention, not a law. For a cancer screening test you would set it far lower and accept more false alarms, because missing a case is much worse than checking an extra patient.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1205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 use on this list is a yes-or-no question: will it rain, is this spam, does this patient have diabetes.</a:t>
            </a:r>
          </a:p>
          <a:p>
            <a:endParaRPr dirty="0"/>
          </a:p>
          <a:p>
            <a:r>
              <a:rPr dirty="0"/>
              <a:t>Logistic regression is the standard first choice for that kind of problem because it is fast, it gives a probability rather than a bare answer, and its coefficients can be read to see which features pushed the decision.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2920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variants, depending on how many categories there are and whether they have an order.</a:t>
            </a:r>
          </a:p>
          <a:p>
            <a:endParaRPr dirty="0"/>
          </a:p>
          <a:p>
            <a:r>
              <a:rPr dirty="0"/>
              <a:t>Binary is two categories with no order — pass or fail. Multiclass is several categories with no order — cat, dog, sheep; the model effectively answers "which one" by comparing all of them. Ordinal is several categories that do have an order — low, medium, high — where getting it wrong by one step is less bad than getting it wrong by two.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79379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take away, in four points. Despite its name, logistic regression is a classifier, not a regression model. Its output is a probability rather than a bare yes or no. The threshold is your decision, not the model's. And the boundary it can draw is a straight one, which is its main limitation — for data that needs a curved boundary you need a different model, or extra engineered features.</a:t>
            </a:r>
          </a:p>
          <a:p>
            <a:endParaRPr dirty="0"/>
          </a:p>
          <a:p>
            <a:r>
              <a:rPr dirty="0"/>
              <a:t>The slides that follow show how the adjustment in the third point actually happens: an error measure (the cost function) and a method for reducing it (gradient descent). Understanding the shape of that process matters more than reproducing the formulas.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97396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stages, and both matter. First build something that makes predictions; then find out how good it actually is.</a:t>
            </a:r>
          </a:p>
          <a:p>
            <a:endParaRPr dirty="0"/>
          </a:p>
          <a:p>
            <a:r>
              <a:rPr dirty="0"/>
              <a:t>The slides that follow work through the first stage in detail. Judging a classifier properly — accuracy, precision, recall, and why accuracy alone can be misleading — is the subject of the Model Evaluation lecture in Week 41.</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27387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O" dirty="0"/>
              <a:t>1. </a:t>
            </a:r>
            <a:r>
              <a:rPr lang="en-GB" dirty="0"/>
              <a:t>Say we’re given data on student exam results and our goal is to predict whether a student will pass or fail based on number of hours slept and hours spent studying. We have two features (hours slept, hours studied) and two classes: passed (1) and failed (0).</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22</a:t>
            </a:fld>
            <a:endParaRPr lang="en-US"/>
          </a:p>
        </p:txBody>
      </p:sp>
    </p:spTree>
    <p:extLst>
      <p:ext uri="{BB962C8B-B14F-4D97-AF65-F5344CB8AC3E}">
        <p14:creationId xmlns:p14="http://schemas.microsoft.com/office/powerpoint/2010/main" val="28874615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order to map predicted values to probabilities, we use the sigmoid  function. The function maps any real value into another value between 0 and 1. In machine learning, we use sigmoid to map predictions to probabilities.</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23</a:t>
            </a:fld>
            <a:endParaRPr lang="en-US"/>
          </a:p>
        </p:txBody>
      </p:sp>
    </p:spTree>
    <p:extLst>
      <p:ext uri="{BB962C8B-B14F-4D97-AF65-F5344CB8AC3E}">
        <p14:creationId xmlns:p14="http://schemas.microsoft.com/office/powerpoint/2010/main" val="1871330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current prediction function returns a probability score between 0 and 1. In order to map this to a discrete class (true/false, cat/dog), we select a threshold value or tipping point above which we will classify values into class 1 and below which we classify values into class 2.</a:t>
            </a:r>
          </a:p>
          <a:p>
            <a:endParaRPr lang="en-GB" dirty="0"/>
          </a:p>
          <a:p>
            <a:pPr marL="0" marR="0" lvl="0" indent="0" algn="l" defTabSz="1300643" rtl="0" eaLnBrk="1" fontAlgn="auto" latinLnBrk="0" hangingPunct="1">
              <a:lnSpc>
                <a:spcPct val="100000"/>
              </a:lnSpc>
              <a:spcBef>
                <a:spcPts val="0"/>
              </a:spcBef>
              <a:spcAft>
                <a:spcPts val="0"/>
              </a:spcAft>
              <a:buClrTx/>
              <a:buSzTx/>
              <a:buFontTx/>
              <a:buNone/>
              <a:tabLst/>
              <a:defRPr/>
            </a:pPr>
            <a:r>
              <a:rPr lang="en-GB" dirty="0"/>
              <a:t>For example, if our threshold was .5 and our prediction function returned .7, we would classify this observation as positive. If our prediction was .2 we would classify the observation as negative. For logistic regression with multiple classes we could select the class with the highest predicted probability.</a:t>
            </a:r>
            <a:endParaRPr lang="en-NO" dirty="0"/>
          </a:p>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24</a:t>
            </a:fld>
            <a:endParaRPr lang="en-US"/>
          </a:p>
        </p:txBody>
      </p:sp>
    </p:spTree>
    <p:extLst>
      <p:ext uri="{BB962C8B-B14F-4D97-AF65-F5344CB8AC3E}">
        <p14:creationId xmlns:p14="http://schemas.microsoft.com/office/powerpoint/2010/main" val="40474606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prediction function returns the probability that this observation belongs to class 1 — the "yes" class.</a:t>
            </a:r>
          </a:p>
          <a:p>
            <a:endParaRPr dirty="0"/>
          </a:p>
          <a:p>
            <a:r>
              <a:rPr dirty="0"/>
              <a:t>The example on the slide is worth reading carefully: an output of 0.4 with a threshold of 0.5 is recorded as a fail, even though the model considers a 40% chance of passing. The single label thrown back to the user hides how uncertain the model was, which is why the probability is often more useful than the label.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74105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Having built something that predicts, the second question is how wrong it is — because a model that is confidently wrong looks exactly like a model that is right until you measure 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62105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https://</a:t>
            </a:r>
            <a:r>
              <a:rPr lang="en-GB" dirty="0" err="1"/>
              <a:t>towardsdatascience.com</a:t>
            </a:r>
            <a:r>
              <a:rPr lang="en-GB" dirty="0"/>
              <a:t>/machine-learning-fundamentals-via-linear-regression-41a5d11f5220</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27</a:t>
            </a:fld>
            <a:endParaRPr lang="en-US"/>
          </a:p>
        </p:txBody>
      </p:sp>
    </p:spTree>
    <p:extLst>
      <p:ext uri="{BB962C8B-B14F-4D97-AF65-F5344CB8AC3E}">
        <p14:creationId xmlns:p14="http://schemas.microsoft.com/office/powerpoint/2010/main" val="4072370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same process, seen from outside: the line is being fitted to the data one step at a time.</a:t>
            </a:r>
          </a:p>
          <a:p>
            <a:endParaRPr dirty="0"/>
          </a:p>
          <a:p>
            <a:r>
              <a:rPr dirty="0"/>
              <a:t>It begins at a bad angle with a large error, and each frame moves it in the direction that reduces the total squared error. The </a:t>
            </a:r>
            <a:r>
              <a:rPr dirty="0" err="1"/>
              <a:t>colour</a:t>
            </a:r>
            <a:r>
              <a:rPr dirty="0"/>
              <a:t> scale on the right is that error shrinking. When the line stops moving, the model has finished training.</a:t>
            </a:r>
          </a:p>
          <a:p>
            <a:endParaRPr dirty="0"/>
          </a:p>
          <a:p>
            <a:r>
              <a:rPr dirty="0"/>
              <a:t>This is what "the model learns" actually means in practice — a number being nudged repeatedly in whichever direction makes the mistakes smaller.</a:t>
            </a:r>
          </a:p>
          <a:p>
            <a:endParaRPr dirty="0"/>
          </a:p>
          <a:p>
            <a:r>
              <a:rPr dirty="0"/>
              <a:t>https://</a:t>
            </a:r>
            <a:r>
              <a:rPr dirty="0" err="1"/>
              <a:t>towardsdatascience.com</a:t>
            </a:r>
            <a:r>
              <a:rPr dirty="0"/>
              <a:t>/machine-learning-fundamentals-via-linear-regression-41a5d11f5220</a:t>
            </a:r>
          </a:p>
        </p:txBody>
      </p:sp>
      <p:sp>
        <p:nvSpPr>
          <p:cNvPr id="4" name="Slide Number Placeholder 3"/>
          <p:cNvSpPr>
            <a:spLocks noGrp="1"/>
          </p:cNvSpPr>
          <p:nvPr>
            <p:ph type="sldNum" sz="quarter" idx="5"/>
          </p:nvPr>
        </p:nvSpPr>
        <p:spPr/>
        <p:txBody>
          <a:bodyPr/>
          <a:lstStyle/>
          <a:p>
            <a:fld id="{61C6333F-E368-4746-A020-FE91A90E005B}" type="slidenum">
              <a:rPr lang="en-US" smtClean="0"/>
              <a:t>28</a:t>
            </a:fld>
            <a:endParaRPr lang="en-US"/>
          </a:p>
        </p:txBody>
      </p:sp>
    </p:spTree>
    <p:extLst>
      <p:ext uri="{BB962C8B-B14F-4D97-AF65-F5344CB8AC3E}">
        <p14:creationId xmlns:p14="http://schemas.microsoft.com/office/powerpoint/2010/main" val="15796094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curve is the error, drawn against the value of one of the model's parameters. High on the curve means a badly wrong model; the bottom of the curve is the best the model can do.</a:t>
            </a:r>
          </a:p>
          <a:p>
            <a:endParaRPr dirty="0"/>
          </a:p>
          <a:p>
            <a:r>
              <a:rPr dirty="0"/>
              <a:t>Gradient descent starts somewhere on the curve and repeatedly steps downhill. Notice that the steps get smaller as it approaches the bottom, because the slope is shallower there — and that it stops when further steps stop improving anything. That point is called convergence.</a:t>
            </a:r>
          </a:p>
          <a:p>
            <a:endParaRPr dirty="0"/>
          </a:p>
          <a:p>
            <a:r>
              <a:rPr dirty="0"/>
              <a:t>How big each step is is a setting called the learning rate. Too small and training takes forever; too large and it jumps over the bottom and never settles.</a:t>
            </a:r>
          </a:p>
          <a:p>
            <a:endParaRPr dirty="0"/>
          </a:p>
          <a:p>
            <a:r>
              <a:rPr dirty="0"/>
              <a:t>ref: https://</a:t>
            </a:r>
            <a:r>
              <a:rPr dirty="0" err="1"/>
              <a:t>towardsdatascience.com</a:t>
            </a:r>
            <a:r>
              <a:rPr dirty="0"/>
              <a:t>/machine-learning-fundamentals-via-linear-regression-41a5d11f5220</a:t>
            </a:r>
          </a:p>
        </p:txBody>
      </p:sp>
      <p:sp>
        <p:nvSpPr>
          <p:cNvPr id="4" name="Slide Number Placeholder 3"/>
          <p:cNvSpPr>
            <a:spLocks noGrp="1"/>
          </p:cNvSpPr>
          <p:nvPr>
            <p:ph type="sldNum" sz="quarter" idx="5"/>
          </p:nvPr>
        </p:nvSpPr>
        <p:spPr/>
        <p:txBody>
          <a:bodyPr/>
          <a:lstStyle/>
          <a:p>
            <a:fld id="{61C6333F-E368-4746-A020-FE91A90E005B}" type="slidenum">
              <a:rPr lang="en-US" smtClean="0"/>
              <a:t>29</a:t>
            </a:fld>
            <a:endParaRPr lang="en-US"/>
          </a:p>
        </p:txBody>
      </p:sp>
    </p:spTree>
    <p:extLst>
      <p:ext uri="{BB962C8B-B14F-4D97-AF65-F5344CB8AC3E}">
        <p14:creationId xmlns:p14="http://schemas.microsoft.com/office/powerpoint/2010/main" val="308149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https://ml-</a:t>
            </a:r>
            <a:r>
              <a:rPr lang="en-GB" dirty="0" err="1"/>
              <a:t>cheatsheet.readthedocs.io</a:t>
            </a:r>
            <a:r>
              <a:rPr lang="en-GB" dirty="0"/>
              <a:t>/</a:t>
            </a:r>
            <a:r>
              <a:rPr lang="en-GB" dirty="0" err="1"/>
              <a:t>en</a:t>
            </a:r>
            <a:r>
              <a:rPr lang="en-GB" dirty="0"/>
              <a:t>/latest/logistic_regression.html#id8</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30</a:t>
            </a:fld>
            <a:endParaRPr lang="en-US"/>
          </a:p>
        </p:txBody>
      </p:sp>
    </p:spTree>
    <p:extLst>
      <p:ext uri="{BB962C8B-B14F-4D97-AF65-F5344CB8AC3E}">
        <p14:creationId xmlns:p14="http://schemas.microsoft.com/office/powerpoint/2010/main" val="42754265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loop in four steps: train, evaluate, reduce the error, and measure the result — then repeat.</a:t>
            </a:r>
          </a:p>
          <a:p>
            <a:endParaRPr dirty="0"/>
          </a:p>
          <a:p>
            <a:r>
              <a:rPr dirty="0"/>
              <a:t>Note the last two lines. Accuracy and probability scores are how you decide whether the model is good enough, and they turn out to be a bigger subject than they look: accuracy alone can be badly misleading when one class is much more common than the other. That is Week 41.</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387061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32</a:t>
            </a:fld>
            <a:endParaRPr lang="en-US"/>
          </a:p>
        </p:txBody>
      </p:sp>
    </p:spTree>
    <p:extLst>
      <p:ext uri="{BB962C8B-B14F-4D97-AF65-F5344CB8AC3E}">
        <p14:creationId xmlns:p14="http://schemas.microsoft.com/office/powerpoint/2010/main" val="973111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Using Bayes theorem, we can find the probability of </a:t>
            </a:r>
            <a:r>
              <a:rPr lang="en-GB" b="1" dirty="0"/>
              <a:t>A</a:t>
            </a:r>
            <a:r>
              <a:rPr lang="en-GB" dirty="0"/>
              <a:t> happening, given that </a:t>
            </a:r>
            <a:r>
              <a:rPr lang="en-GB" b="1" dirty="0"/>
              <a:t>B</a:t>
            </a:r>
            <a:r>
              <a:rPr lang="en-GB" dirty="0"/>
              <a:t> has occurred. Here, </a:t>
            </a:r>
            <a:r>
              <a:rPr lang="en-GB" b="1" dirty="0"/>
              <a:t>B</a:t>
            </a:r>
            <a:r>
              <a:rPr lang="en-GB" dirty="0"/>
              <a:t> is the evidence and </a:t>
            </a:r>
            <a:r>
              <a:rPr lang="en-GB" b="1" dirty="0"/>
              <a:t>A</a:t>
            </a:r>
            <a:r>
              <a:rPr lang="en-GB" dirty="0"/>
              <a:t> is the hypothesis. The assumption made here is that the predictors/features are independent. That is presence of one particular feature does not affect the other. Hence it is called naive.</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35</a:t>
            </a:fld>
            <a:endParaRPr lang="en-US"/>
          </a:p>
        </p:txBody>
      </p:sp>
    </p:spTree>
    <p:extLst>
      <p:ext uri="{BB962C8B-B14F-4D97-AF65-F5344CB8AC3E}">
        <p14:creationId xmlns:p14="http://schemas.microsoft.com/office/powerpoint/2010/main" val="26527210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www.datasciencecentral.com</a:t>
            </a:r>
            <a:r>
              <a:rPr lang="en-GB" dirty="0"/>
              <a:t>/profiles/blogs/naive-bayes-for-dummies-a-simple-explanation</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36</a:t>
            </a:fld>
            <a:endParaRPr lang="en-US"/>
          </a:p>
        </p:txBody>
      </p:sp>
    </p:spTree>
    <p:extLst>
      <p:ext uri="{BB962C8B-B14F-4D97-AF65-F5344CB8AC3E}">
        <p14:creationId xmlns:p14="http://schemas.microsoft.com/office/powerpoint/2010/main" val="1747276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So let’s say we’re given the features of a piece of fruit and we need to predict the class. If we’re told that the additional fruit is Long, Sweet and Yellow, we can classify it using the following formula and subbing in the values for each outcome, whether it’s a Banana, an Orange or Other Fruit. The one with the highest probability (score) being the winner.</a:t>
            </a:r>
          </a:p>
          <a:p>
            <a:r>
              <a:rPr lang="en-GB" dirty="0"/>
              <a:t>In this case, based on the higher score </a:t>
            </a:r>
            <a:r>
              <a:rPr lang="en-GB" b="1" dirty="0"/>
              <a:t>0.01875 &lt; 0.252</a:t>
            </a:r>
            <a:r>
              <a:rPr lang="en-GB" dirty="0"/>
              <a:t> we can assume this Long, Sweet and Yellow fruit is, in fact, a Banana.</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37</a:t>
            </a:fld>
            <a:endParaRPr lang="en-US"/>
          </a:p>
        </p:txBody>
      </p:sp>
    </p:spTree>
    <p:extLst>
      <p:ext uri="{BB962C8B-B14F-4D97-AF65-F5344CB8AC3E}">
        <p14:creationId xmlns:p14="http://schemas.microsoft.com/office/powerpoint/2010/main" val="29067256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t>
            </a:r>
            <a:r>
              <a:rPr lang="en-NO" dirty="0"/>
              <a:t>ef: </a:t>
            </a:r>
            <a:r>
              <a:rPr lang="en-GB" dirty="0"/>
              <a:t>https://</a:t>
            </a:r>
            <a:r>
              <a:rPr lang="en-GB" dirty="0" err="1"/>
              <a:t>medium.com</a:t>
            </a:r>
            <a:r>
              <a:rPr lang="en-GB" dirty="0"/>
              <a:t>/@</a:t>
            </a:r>
            <a:r>
              <a:rPr lang="en-GB" dirty="0" err="1"/>
              <a:t>montjoile</a:t>
            </a:r>
            <a:r>
              <a:rPr lang="en-GB" dirty="0"/>
              <a:t>/easy-and-quick-explanation-naive-bayes-algorithm-99cb5f3f4e9c</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38</a:t>
            </a:fld>
            <a:endParaRPr lang="en-US"/>
          </a:p>
        </p:txBody>
      </p:sp>
    </p:spTree>
    <p:extLst>
      <p:ext uri="{BB962C8B-B14F-4D97-AF65-F5344CB8AC3E}">
        <p14:creationId xmlns:p14="http://schemas.microsoft.com/office/powerpoint/2010/main" val="4108915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towardsdatascience.com</a:t>
            </a:r>
            <a:r>
              <a:rPr lang="en-GB" dirty="0"/>
              <a:t>/support-vector-machine-introduction-to-machine-learning-algorithms-934a444fca47</a:t>
            </a:r>
          </a:p>
          <a:p>
            <a:endParaRPr lang="en-GB" dirty="0"/>
          </a:p>
          <a:p>
            <a:r>
              <a:rPr lang="en-GB" dirty="0"/>
              <a:t>To separate the two classes of data points, there are many possible hyperplanes that could be chosen. Our objective is to find a plane that has the maximum margin, </a:t>
            </a:r>
            <a:r>
              <a:rPr lang="en-GB" dirty="0" err="1"/>
              <a:t>i.e</a:t>
            </a:r>
            <a:r>
              <a:rPr lang="en-GB" dirty="0"/>
              <a:t> the maximum distance between data points of both classes. Maximizing the margin distance provides some reinforcement so that future data points can be classified with more confidence.</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39</a:t>
            </a:fld>
            <a:endParaRPr lang="en-US"/>
          </a:p>
        </p:txBody>
      </p:sp>
    </p:spTree>
    <p:extLst>
      <p:ext uri="{BB962C8B-B14F-4D97-AF65-F5344CB8AC3E}">
        <p14:creationId xmlns:p14="http://schemas.microsoft.com/office/powerpoint/2010/main" val="19190612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reason we use SVMs is because they can find complex relationships between your data without you needing to do a lot of transformations on your own.</a:t>
            </a:r>
          </a:p>
          <a:p>
            <a:endParaRPr lang="en-GB" dirty="0"/>
          </a:p>
          <a:p>
            <a:r>
              <a:rPr lang="en-GB" dirty="0"/>
              <a:t>t's a great option when you are working with smaller datasets that have tens to hundreds of thousands of features. </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41</a:t>
            </a:fld>
            <a:endParaRPr lang="en-US"/>
          </a:p>
        </p:txBody>
      </p:sp>
    </p:spTree>
    <p:extLst>
      <p:ext uri="{BB962C8B-B14F-4D97-AF65-F5344CB8AC3E}">
        <p14:creationId xmlns:p14="http://schemas.microsoft.com/office/powerpoint/2010/main" val="32834164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www.freecodecamp.org</a:t>
            </a:r>
            <a:r>
              <a:rPr lang="en-GB" dirty="0"/>
              <a:t>/news/svm-machine-learning-tutorial-what-is-the-support-vector-machine-algorithm-explained-with-code-examples/</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44</a:t>
            </a:fld>
            <a:endParaRPr lang="en-US"/>
          </a:p>
        </p:txBody>
      </p:sp>
    </p:spTree>
    <p:extLst>
      <p:ext uri="{BB962C8B-B14F-4D97-AF65-F5344CB8AC3E}">
        <p14:creationId xmlns:p14="http://schemas.microsoft.com/office/powerpoint/2010/main" val="3891918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classifier Elements of AI introduces first, and it is the reading for this week — Chapter 4, the nearest </a:t>
            </a:r>
            <a:r>
              <a:rPr dirty="0" err="1"/>
              <a:t>neighbour</a:t>
            </a:r>
            <a:r>
              <a:rPr dirty="0"/>
              <a:t> classifier.</a:t>
            </a:r>
          </a:p>
          <a:p>
            <a:endParaRPr dirty="0"/>
          </a:p>
          <a:p>
            <a:r>
              <a:rPr dirty="0"/>
              <a:t>It is sometimes called a lazy learner, because it postpones all the work: nothing is computed until you ask it a question, and then it measures the distance to every stored example. That makes it fast to set up and slow to use, which is the opposite trade-off from most other models.</a:t>
            </a:r>
          </a:p>
          <a:p>
            <a:endParaRPr dirty="0"/>
          </a:p>
          <a:p>
            <a:r>
              <a:rPr dirty="0"/>
              <a:t>Closeness is normally straight-line (Euclidean) distance across all the features at once.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277645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schematic tree of the kind that can be learned from the Titanic passenger list. Each internal node asks one question about one feature, and each leaf gives an answer.</a:t>
            </a:r>
          </a:p>
          <a:p>
            <a:endParaRPr dirty="0"/>
          </a:p>
          <a:p>
            <a:r>
              <a:rPr dirty="0"/>
              <a:t>The reason trees matter out of proportion to their accuracy is the last two lines: the model can be read aloud in ordinary language and argued with. That is why they are used where a decision affecting a person has to be explained and defended — credit, insurance, public administration — even when a less interpretable model would score slightly better.</a:t>
            </a:r>
          </a:p>
          <a:p>
            <a:endParaRPr dirty="0"/>
          </a:p>
          <a:p>
            <a:r>
              <a:rPr dirty="0"/>
              <a:t>Note also that no scaling is needed. "Is the fare above 30" gives the same answer whatever units the fare is recorded in.</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Purity is the whole idea. A split that leaves 50/50 on both sides has taught you nothing; a split that leaves all the survivors on one side and all the non-survivors on the other has taught you everything. Gini impurity and entropy are two ways of putting a number on that, and in practice they give very similar trees.</a:t>
            </a:r>
          </a:p>
          <a:p>
            <a:endParaRPr dirty="0"/>
          </a:p>
          <a:p>
            <a:r>
              <a:rPr dirty="0"/>
              <a:t>The overfitting </a:t>
            </a:r>
            <a:r>
              <a:rPr dirty="0" err="1"/>
              <a:t>behaviour</a:t>
            </a:r>
            <a:r>
              <a:rPr dirty="0"/>
              <a:t> is worth remembering because it is so easy to demonstrate: an unrestricted tree will reach 100% accuracy on its training data every time, which tells you nothing whatsoever about how it will perform. In scikit-learn the settings that stop it are </a:t>
            </a:r>
            <a:r>
              <a:rPr dirty="0" err="1"/>
              <a:t>max_depth</a:t>
            </a:r>
            <a:r>
              <a:rPr dirty="0"/>
              <a:t> and </a:t>
            </a:r>
            <a:r>
              <a:rPr dirty="0" err="1"/>
              <a:t>min_samples_leaf</a:t>
            </a:r>
            <a:r>
              <a:rPr dirty="0"/>
              <a:t>.</a:t>
            </a:r>
          </a:p>
          <a:p>
            <a:endParaRPr dirty="0"/>
          </a:p>
          <a:p>
            <a:r>
              <a:rPr dirty="0"/>
              <a:t>Random forests trade the readability of a single tree for accuracy — you can no longer read the rule, because there are hundreds of them.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72623479-E8CA-0D42-8E18-5ABC3E919714}" type="datetime1">
              <a:rPr lang="nb-NO" smtClean="0"/>
              <a:t>15.09.2026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14240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D7F5E9D1-9800-D24D-BC52-FD0BBB1E0A9C}" type="datetime1">
              <a:rPr lang="nb-NO" smtClean="0"/>
              <a:t>15.09.2026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49029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BB236F63-A279-D541-B1F2-EB8F050A160F}" type="datetime1">
              <a:rPr lang="nb-NO" smtClean="0"/>
              <a:t>15.09.2026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51411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A0BA136-A7EE-D749-8CBD-D1EEEBC2FF9C}" type="datetime1">
              <a:rPr lang="nb-NO" smtClean="0"/>
              <a:t>15.09.2026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69910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A740944C-380E-824F-84B0-A997B25A652A}" type="datetime1">
              <a:rPr lang="nb-NO" smtClean="0"/>
              <a:t>15.09.2026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838673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16BBAB6F-04B8-5C4E-B1C8-0FDA653A0EF8}" type="datetime1">
              <a:rPr lang="nb-NO" smtClean="0"/>
              <a:t>15.09.2026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87963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B7321CCC-3273-4642-8929-189E178DA97A}" type="datetime1">
              <a:rPr lang="nb-NO" smtClean="0"/>
              <a:t>15.09.2026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473004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5AE6739E-6E3E-AC48-A2BB-172B20FCB366}" type="datetime1">
              <a:rPr lang="nb-NO" smtClean="0"/>
              <a:t>15.09.2026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78474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D140523B-80AB-E544-A6BA-C2309CA59130}"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21255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B6221054-38F0-AE47-81A4-66CD8155A783}"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58411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C6EBBC40-60EA-744C-ACBA-7B246C281866}"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303826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6A1C65C-1B95-7046-A0F3-75D50F4A61FD}"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937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560B2D32-1CC6-4041-9F1A-CDF2228AD2F3}"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29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FF08D645-E4A5-374D-A682-B70E4C4922B2}"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250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E0E1F61F-A745-894B-B094-425AFCC38AFA}" type="datetime1">
              <a:rPr lang="nb-NO" smtClean="0"/>
              <a:t>15.09.2026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2639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5057FFEC-F8CD-5648-B59A-F182A70B4ACC}" type="datetime1">
              <a:rPr lang="nb-NO" smtClean="0"/>
              <a:t>15.09.2026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1304279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83B7EFA6-D0C6-A546-917F-269E8A647E2B}"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907710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717D5A58-49EE-AE4D-91F8-B0EFC76277DA}" type="datetime1">
              <a:rPr lang="nb-NO" smtClean="0"/>
              <a:t>15.09.2026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372570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CF51ADE7-B66C-644D-B9FB-CF2371A307CE}" type="datetime1">
              <a:rPr lang="nb-NO" smtClean="0"/>
              <a:t>15.09.2026</a:t>
            </a:fld>
            <a:endParaRPr lang="nb-NO"/>
          </a:p>
        </p:txBody>
      </p:sp>
      <p:sp>
        <p:nvSpPr>
          <p:cNvPr id="6" name="Plassholder for bunntekst 5"/>
          <p:cNvSpPr>
            <a:spLocks noGrp="1"/>
          </p:cNvSpPr>
          <p:nvPr>
            <p:ph type="ftr" sz="quarter" idx="11"/>
          </p:nvPr>
        </p:nvSpPr>
        <p:spPr/>
        <p:txBody>
          <a:bodyPr/>
          <a:lstStyle/>
          <a:p>
            <a:r>
              <a:rPr lang="nb-NO"/>
              <a:t>DAVE3625- Intro to A.I. by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13274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1C7409FD-3FD2-3C4B-8A3C-39D93513BF3C}" type="datetime1">
              <a:rPr lang="nb-NO" smtClean="0"/>
              <a:t>15.09.2026</a:t>
            </a:fld>
            <a:endParaRPr lang="nb-NO"/>
          </a:p>
        </p:txBody>
      </p:sp>
      <p:sp>
        <p:nvSpPr>
          <p:cNvPr id="8" name="Plassholder for bunntekst 7"/>
          <p:cNvSpPr>
            <a:spLocks noGrp="1"/>
          </p:cNvSpPr>
          <p:nvPr>
            <p:ph type="ftr" sz="quarter" idx="11"/>
          </p:nvPr>
        </p:nvSpPr>
        <p:spPr/>
        <p:txBody>
          <a:bodyPr/>
          <a:lstStyle/>
          <a:p>
            <a:r>
              <a:rPr lang="nb-NO"/>
              <a:t>DAVE3625- Intro to A.I. by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46632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AC54932A-435C-2141-AA75-F89DDE44A7A7}" type="datetime1">
              <a:rPr lang="nb-NO" smtClean="0"/>
              <a:t>15.09.2026</a:t>
            </a:fld>
            <a:endParaRPr lang="nb-NO"/>
          </a:p>
        </p:txBody>
      </p:sp>
      <p:sp>
        <p:nvSpPr>
          <p:cNvPr id="4" name="Plassholder for bunntekst 3"/>
          <p:cNvSpPr>
            <a:spLocks noGrp="1"/>
          </p:cNvSpPr>
          <p:nvPr>
            <p:ph type="ftr" sz="quarter" idx="11"/>
          </p:nvPr>
        </p:nvSpPr>
        <p:spPr/>
        <p:txBody>
          <a:bodyPr/>
          <a:lstStyle/>
          <a:p>
            <a:r>
              <a:rPr lang="nb-NO"/>
              <a:t>DAVE3625- Intro to A.I. by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098047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7D66F95F-571D-9C4C-BA1E-40FBBA42C7E9}" type="datetime1">
              <a:rPr lang="nb-NO" smtClean="0"/>
              <a:t>15.09.2026</a:t>
            </a:fld>
            <a:endParaRPr lang="nb-NO"/>
          </a:p>
        </p:txBody>
      </p:sp>
      <p:sp>
        <p:nvSpPr>
          <p:cNvPr id="3" name="Plassholder for bunntekst 2"/>
          <p:cNvSpPr>
            <a:spLocks noGrp="1"/>
          </p:cNvSpPr>
          <p:nvPr>
            <p:ph type="ftr" sz="quarter" idx="11"/>
          </p:nvPr>
        </p:nvSpPr>
        <p:spPr/>
        <p:txBody>
          <a:bodyPr/>
          <a:lstStyle/>
          <a:p>
            <a:r>
              <a:rPr lang="nb-NO"/>
              <a:t>DAVE3625- Intro to A.I. by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943840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45929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AB5FD3A5-9664-D748-972C-19F95BA3C393}" type="datetime1">
              <a:rPr lang="nb-NO" smtClean="0"/>
              <a:t>15.09.2026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7169284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2057005A-1C7E-CA47-A195-82BA3A522E4E}" type="datetime1">
              <a:rPr lang="nb-NO" smtClean="0"/>
              <a:t>15.09.2026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48588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4D405009-CE4A-344B-9712-45A3DD6AECA7}" type="datetime1">
              <a:rPr lang="nb-NO" smtClean="0"/>
              <a:t>15.09.2026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767858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858EE03-BCF6-564A-8B33-302197A1BB16}" type="datetime1">
              <a:rPr lang="nb-NO" smtClean="0"/>
              <a:t>15.09.2026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688901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5BB0C57D-B2FA-4C4C-9173-DAE3559B723F}" type="datetime1">
              <a:rPr lang="nb-NO" smtClean="0"/>
              <a:t>15.09.2026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81145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804041E3-DE8C-ED4E-8875-4D964039AE99}" type="datetime1">
              <a:rPr lang="nb-NO" smtClean="0"/>
              <a:t>15.09.2026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39180391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6377E8C6-53F3-034E-8772-931A4B05526C}" type="datetime1">
              <a:rPr lang="nb-NO" smtClean="0"/>
              <a:t>15.09.2026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2103541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B671DC47-2562-B54B-AC71-8B3032B43A86}" type="datetime1">
              <a:rPr lang="nb-NO" smtClean="0"/>
              <a:t>15.09.2026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324423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FD2B554A-D1E1-B246-8A1F-2ABBCC20AB6D}"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869250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867E511-A6E5-D744-8A8B-1BCCAA832FBA}"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4844641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8032840-EA62-D74B-8C25-75DF4B794485}"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057047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83F52445-04DA-F948-A09D-77375E698062}"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9844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BDF663F1-539E-8548-866B-61A244FCECBB}"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27098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8F7164F9-B6F9-3041-A528-65F839CB90CD}"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509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09CFC784-8590-594D-9CEE-7B6FCCD754BC}" type="datetime1">
              <a:rPr lang="nb-NO" smtClean="0"/>
              <a:t>15.09.2026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60424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3237FBC2-F254-E440-8307-3F29EC8C348E}" type="datetime1">
              <a:rPr lang="nb-NO" smtClean="0"/>
              <a:t>15.09.2026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40847756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46038089-D00E-194D-A8E9-F0C50814D13C}" type="datetime1">
              <a:rPr lang="nb-NO" smtClean="0"/>
              <a:t>15.09.2026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660706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94CDCFE1-2630-7A42-8500-EBF29F76AC40}" type="datetime1">
              <a:rPr lang="nb-NO" smtClean="0"/>
              <a:t>15.09.2026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6337445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D5D597C9-C994-F046-BC95-097EF74890E7}" type="datetime1">
              <a:rPr lang="nb-NO" smtClean="0"/>
              <a:t>15.09.2026</a:t>
            </a:fld>
            <a:endParaRPr lang="nb-NO"/>
          </a:p>
        </p:txBody>
      </p:sp>
      <p:sp>
        <p:nvSpPr>
          <p:cNvPr id="6" name="Plassholder for bunntekst 5"/>
          <p:cNvSpPr>
            <a:spLocks noGrp="1"/>
          </p:cNvSpPr>
          <p:nvPr>
            <p:ph type="ftr" sz="quarter" idx="11"/>
          </p:nvPr>
        </p:nvSpPr>
        <p:spPr/>
        <p:txBody>
          <a:bodyPr/>
          <a:lstStyle/>
          <a:p>
            <a:r>
              <a:rPr lang="nb-NO"/>
              <a:t>DAVE3625- Intro to A.I. by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4166280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478F014A-0650-2F46-8017-65804110EF33}" type="datetime1">
              <a:rPr lang="nb-NO" smtClean="0"/>
              <a:t>15.09.2026</a:t>
            </a:fld>
            <a:endParaRPr lang="nb-NO"/>
          </a:p>
        </p:txBody>
      </p:sp>
      <p:sp>
        <p:nvSpPr>
          <p:cNvPr id="8" name="Plassholder for bunntekst 7"/>
          <p:cNvSpPr>
            <a:spLocks noGrp="1"/>
          </p:cNvSpPr>
          <p:nvPr>
            <p:ph type="ftr" sz="quarter" idx="11"/>
          </p:nvPr>
        </p:nvSpPr>
        <p:spPr/>
        <p:txBody>
          <a:bodyPr/>
          <a:lstStyle/>
          <a:p>
            <a:r>
              <a:rPr lang="nb-NO"/>
              <a:t>DAVE3625- Intro to A.I. by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81959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3FEF5241-E11D-9446-90EA-9CB3266B0EC6}" type="datetime1">
              <a:rPr lang="nb-NO" smtClean="0"/>
              <a:t>15.09.2026</a:t>
            </a:fld>
            <a:endParaRPr lang="nb-NO"/>
          </a:p>
        </p:txBody>
      </p:sp>
      <p:sp>
        <p:nvSpPr>
          <p:cNvPr id="4" name="Plassholder for bunntekst 3"/>
          <p:cNvSpPr>
            <a:spLocks noGrp="1"/>
          </p:cNvSpPr>
          <p:nvPr>
            <p:ph type="ftr" sz="quarter" idx="11"/>
          </p:nvPr>
        </p:nvSpPr>
        <p:spPr/>
        <p:txBody>
          <a:bodyPr/>
          <a:lstStyle/>
          <a:p>
            <a:r>
              <a:rPr lang="nb-NO"/>
              <a:t>DAVE3625- Intro to A.I. by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6109871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6D2E24B-D850-DB4E-8F8F-C67A1ADD6EF6}" type="datetime1">
              <a:rPr lang="nb-NO" smtClean="0"/>
              <a:t>15.09.2026</a:t>
            </a:fld>
            <a:endParaRPr lang="nb-NO"/>
          </a:p>
        </p:txBody>
      </p:sp>
      <p:sp>
        <p:nvSpPr>
          <p:cNvPr id="3" name="Plassholder for bunntekst 2"/>
          <p:cNvSpPr>
            <a:spLocks noGrp="1"/>
          </p:cNvSpPr>
          <p:nvPr>
            <p:ph type="ftr" sz="quarter" idx="11"/>
          </p:nvPr>
        </p:nvSpPr>
        <p:spPr/>
        <p:txBody>
          <a:bodyPr/>
          <a:lstStyle/>
          <a:p>
            <a:r>
              <a:rPr lang="nb-NO"/>
              <a:t>DAVE3625- Intro to A.I. by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7598631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6950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7D66F95F-571D-9C4C-BA1E-40FBBA42C7E9}" type="datetime1">
              <a:rPr lang="nb-NO" smtClean="0"/>
              <a:t>15.09.2026</a:t>
            </a:fld>
            <a:endParaRPr lang="nb-NO"/>
          </a:p>
        </p:txBody>
      </p:sp>
      <p:sp>
        <p:nvSpPr>
          <p:cNvPr id="3" name="Plassholder for bunntekst 2"/>
          <p:cNvSpPr>
            <a:spLocks noGrp="1"/>
          </p:cNvSpPr>
          <p:nvPr>
            <p:ph type="ftr" sz="quarter" idx="11"/>
          </p:nvPr>
        </p:nvSpPr>
        <p:spPr/>
        <p:txBody>
          <a:bodyPr/>
          <a:lstStyle/>
          <a:p>
            <a:r>
              <a:rPr lang="nb-NO"/>
              <a:t>DAVE3625- Intro to A.I. by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06207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image" Target="../media/image2.png"/><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image" Target="../media/image1.png"/><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heme" Target="../theme/theme2.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4CB3F13C-F71E-B845-B734-ECB977509381}" type="datetime1">
              <a:rPr lang="nb-NO" smtClean="0"/>
              <a:t>15.09.2026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DAVE3625- Intro to A.I. by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643857197"/>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2" r:id="rId5"/>
    <p:sldLayoutId id="2147483666" r:id="rId6"/>
    <p:sldLayoutId id="2147483667" r:id="rId7"/>
    <p:sldLayoutId id="2147483668" r:id="rId8"/>
    <p:sldLayoutId id="2147483650" r:id="rId9"/>
    <p:sldLayoutId id="2147483651" r:id="rId10"/>
    <p:sldLayoutId id="2147483656" r:id="rId11"/>
    <p:sldLayoutId id="2147483658" r:id="rId12"/>
    <p:sldLayoutId id="2147483659" r:id="rId13"/>
    <p:sldLayoutId id="2147483660" r:id="rId14"/>
    <p:sldLayoutId id="2147483661" r:id="rId15"/>
    <p:sldLayoutId id="2147483657" r:id="rId16"/>
    <p:sldLayoutId id="2147483670" r:id="rId17"/>
    <p:sldLayoutId id="2147483671" r:id="rId18"/>
    <p:sldLayoutId id="2147483652" r:id="rId19"/>
    <p:sldLayoutId id="2147483653" r:id="rId20"/>
    <p:sldLayoutId id="2147483654" r:id="rId21"/>
    <p:sldLayoutId id="2147483655" r:id="rId22"/>
    <p:sldLayoutId id="2147483698" r:id="rId23"/>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D6835584-C816-674E-98F0-3936CCF19CA3}" type="datetime1">
              <a:rPr lang="nb-NO" smtClean="0"/>
              <a:t>15.09.2026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DAVE3625- Intro to A.I. by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533868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
          <a:schemeClr val="accent1"/>
        </a:buClr>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
          <a:schemeClr val="accent1"/>
        </a:buClr>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381751"/>
      </p:ext>
    </p:extLst>
  </p:cSld>
  <p:clrMap bg1="lt1" tx1="dk1" bg2="lt2" tx2="dk2" accent1="accent1" accent2="accent2" accent3="accent3" accent4="accent4" accent5="accent5" accent6="accent6" hlink="hlink" folHlink="folHlink"/>
  <p:sldLayoutIdLst>
    <p:sldLayoutId id="2147483696" r:id="rId1"/>
    <p:sldLayoutId id="2147483697" r:id="rId2"/>
  </p:sldLayoutIdLst>
  <p:txStyles>
    <p:titleStyle>
      <a:lvl1pPr algn="l">
        <a:lnSpc>
          <a:spcPct val="90000"/>
        </a:lnSpc>
        <a:spcBef>
          <a:spcPts val="0"/>
        </a:spcBef>
        <a:buNone/>
        <a:defRPr sz="6257">
          <a:solidFill>
            <a:schemeClr val="tx1"/>
          </a:solidFill>
          <a:latin typeface="+mj-lt"/>
          <a:ea typeface="+mj-lt"/>
          <a:cs typeface="+mj-lt"/>
        </a:defRPr>
      </a:lvl1pPr>
    </p:titleStyle>
    <p:bodyStyle>
      <a:lvl1pPr marL="325069" indent="-325069" algn="l">
        <a:lnSpc>
          <a:spcPct val="90000"/>
        </a:lnSpc>
        <a:spcBef>
          <a:spcPts val="1422"/>
        </a:spcBef>
        <a:buChar char="•"/>
        <a:defRPr sz="3982">
          <a:solidFill>
            <a:schemeClr val="tx1"/>
          </a:solidFill>
          <a:latin typeface="+mn-lt"/>
          <a:ea typeface="+mn-lt"/>
          <a:cs typeface="+mn-lt"/>
        </a:defRPr>
      </a:lvl1pPr>
      <a:lvl2pPr marL="975208" indent="-325069" algn="l">
        <a:lnSpc>
          <a:spcPct val="90000"/>
        </a:lnSpc>
        <a:spcBef>
          <a:spcPts val="711"/>
        </a:spcBef>
        <a:buChar char="•"/>
        <a:defRPr sz="3413">
          <a:solidFill>
            <a:schemeClr val="tx1"/>
          </a:solidFill>
          <a:latin typeface="+mn-lt"/>
          <a:ea typeface="+mn-lt"/>
          <a:cs typeface="+mn-lt"/>
        </a:defRPr>
      </a:lvl2pPr>
      <a:lvl3pPr marL="1625346" indent="-325069" algn="l">
        <a:lnSpc>
          <a:spcPct val="90000"/>
        </a:lnSpc>
        <a:spcBef>
          <a:spcPts val="711"/>
        </a:spcBef>
        <a:buChar char="•"/>
        <a:defRPr sz="2844">
          <a:solidFill>
            <a:schemeClr val="tx1"/>
          </a:solidFill>
          <a:latin typeface="+mn-lt"/>
          <a:ea typeface="+mn-lt"/>
          <a:cs typeface="+mn-lt"/>
        </a:defRPr>
      </a:lvl3pPr>
      <a:lvl4pPr marL="2275484" indent="-325069" algn="l">
        <a:lnSpc>
          <a:spcPct val="90000"/>
        </a:lnSpc>
        <a:spcBef>
          <a:spcPts val="711"/>
        </a:spcBef>
        <a:buChar char="•"/>
        <a:defRPr sz="2560">
          <a:solidFill>
            <a:schemeClr val="tx1"/>
          </a:solidFill>
          <a:latin typeface="+mn-lt"/>
          <a:ea typeface="+mn-lt"/>
          <a:cs typeface="+mn-lt"/>
        </a:defRPr>
      </a:lvl4pPr>
      <a:lvl5pPr marL="2925623" indent="-325069" algn="l">
        <a:lnSpc>
          <a:spcPct val="90000"/>
        </a:lnSpc>
        <a:spcBef>
          <a:spcPts val="711"/>
        </a:spcBef>
        <a:buChar char="•"/>
        <a:defRPr sz="2560">
          <a:solidFill>
            <a:schemeClr val="tx1"/>
          </a:solidFill>
          <a:latin typeface="+mn-lt"/>
          <a:ea typeface="+mn-lt"/>
          <a:cs typeface="+mn-lt"/>
        </a:defRPr>
      </a:lvl5pPr>
      <a:lvl6pPr marL="3575761" indent="-325069" algn="l">
        <a:lnSpc>
          <a:spcPct val="90000"/>
        </a:lnSpc>
        <a:spcBef>
          <a:spcPts val="711"/>
        </a:spcBef>
        <a:buChar char="•"/>
        <a:defRPr sz="2560">
          <a:solidFill>
            <a:schemeClr val="tx1"/>
          </a:solidFill>
          <a:latin typeface="+mn-lt"/>
          <a:ea typeface="+mn-lt"/>
          <a:cs typeface="+mn-lt"/>
        </a:defRPr>
      </a:lvl6pPr>
      <a:lvl7pPr marL="4225900" indent="-325069" algn="l">
        <a:lnSpc>
          <a:spcPct val="90000"/>
        </a:lnSpc>
        <a:spcBef>
          <a:spcPts val="711"/>
        </a:spcBef>
        <a:buChar char="•"/>
        <a:defRPr sz="2560">
          <a:solidFill>
            <a:schemeClr val="tx1"/>
          </a:solidFill>
          <a:latin typeface="+mn-lt"/>
          <a:ea typeface="+mn-lt"/>
          <a:cs typeface="+mn-lt"/>
        </a:defRPr>
      </a:lvl7pPr>
      <a:lvl8pPr marL="4876038" indent="-325069" algn="l">
        <a:lnSpc>
          <a:spcPct val="90000"/>
        </a:lnSpc>
        <a:spcBef>
          <a:spcPts val="711"/>
        </a:spcBef>
        <a:buChar char="•"/>
        <a:defRPr sz="2560">
          <a:solidFill>
            <a:schemeClr val="tx1"/>
          </a:solidFill>
          <a:latin typeface="+mn-lt"/>
          <a:ea typeface="+mn-lt"/>
          <a:cs typeface="+mn-lt"/>
        </a:defRPr>
      </a:lvl8pPr>
      <a:lvl9pPr marL="5526176" indent="-325069" algn="l">
        <a:lnSpc>
          <a:spcPct val="90000"/>
        </a:lnSpc>
        <a:spcBef>
          <a:spcPts val="711"/>
        </a:spcBef>
        <a:buChar char="•"/>
        <a:defRPr sz="2560">
          <a:solidFill>
            <a:schemeClr val="tx1"/>
          </a:solidFill>
          <a:latin typeface="+mn-lt"/>
          <a:ea typeface="+mn-lt"/>
          <a:cs typeface="+mn-lt"/>
        </a:defRPr>
      </a:lvl9pPr>
    </p:bodyStyle>
    <p:otherStyle>
      <a:lvl1pPr marL="0" algn="l">
        <a:buNone/>
        <a:defRPr sz="2560">
          <a:solidFill>
            <a:schemeClr val="tx1"/>
          </a:solidFill>
          <a:latin typeface="+mn-lt"/>
          <a:ea typeface="+mn-lt"/>
          <a:cs typeface="+mn-lt"/>
        </a:defRPr>
      </a:lvl1pPr>
      <a:lvl2pPr marL="650138" algn="l">
        <a:buNone/>
        <a:defRPr sz="2560">
          <a:solidFill>
            <a:schemeClr val="tx1"/>
          </a:solidFill>
          <a:latin typeface="+mn-lt"/>
          <a:ea typeface="+mn-lt"/>
          <a:cs typeface="+mn-lt"/>
        </a:defRPr>
      </a:lvl2pPr>
      <a:lvl3pPr marL="1300277" algn="l">
        <a:buNone/>
        <a:defRPr sz="2560">
          <a:solidFill>
            <a:schemeClr val="tx1"/>
          </a:solidFill>
          <a:latin typeface="+mn-lt"/>
          <a:ea typeface="+mn-lt"/>
          <a:cs typeface="+mn-lt"/>
        </a:defRPr>
      </a:lvl3pPr>
      <a:lvl4pPr marL="1950415" algn="l">
        <a:buNone/>
        <a:defRPr sz="2560">
          <a:solidFill>
            <a:schemeClr val="tx1"/>
          </a:solidFill>
          <a:latin typeface="+mn-lt"/>
          <a:ea typeface="+mn-lt"/>
          <a:cs typeface="+mn-lt"/>
        </a:defRPr>
      </a:lvl4pPr>
      <a:lvl5pPr marL="2600554" algn="l">
        <a:buNone/>
        <a:defRPr sz="2560">
          <a:solidFill>
            <a:schemeClr val="tx1"/>
          </a:solidFill>
          <a:latin typeface="+mn-lt"/>
          <a:ea typeface="+mn-lt"/>
          <a:cs typeface="+mn-lt"/>
        </a:defRPr>
      </a:lvl5pPr>
      <a:lvl6pPr marL="3250692" algn="l">
        <a:buNone/>
        <a:defRPr sz="2560">
          <a:solidFill>
            <a:schemeClr val="tx1"/>
          </a:solidFill>
          <a:latin typeface="+mn-lt"/>
          <a:ea typeface="+mn-lt"/>
          <a:cs typeface="+mn-lt"/>
        </a:defRPr>
      </a:lvl6pPr>
      <a:lvl7pPr marL="3900830" algn="l">
        <a:buNone/>
        <a:defRPr sz="2560">
          <a:solidFill>
            <a:schemeClr val="tx1"/>
          </a:solidFill>
          <a:latin typeface="+mn-lt"/>
          <a:ea typeface="+mn-lt"/>
          <a:cs typeface="+mn-lt"/>
        </a:defRPr>
      </a:lvl7pPr>
      <a:lvl8pPr marL="4550969" algn="l">
        <a:buNone/>
        <a:defRPr sz="2560">
          <a:solidFill>
            <a:schemeClr val="tx1"/>
          </a:solidFill>
          <a:latin typeface="+mn-lt"/>
          <a:ea typeface="+mn-lt"/>
          <a:cs typeface="+mn-lt"/>
        </a:defRPr>
      </a:lvl8pPr>
      <a:lvl9pPr marL="5201107" algn="l">
        <a:buNone/>
        <a:defRPr sz="256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9.xml"/><Relationship Id="rId5" Type="http://schemas.openxmlformats.org/officeDocument/2006/relationships/image" Target="../media/image34.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image" Target="../media/image42.org&amp;utm_campaign=index&amp;utm_content=thumbnail&amp;_=20240718130312"/><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image" Target="../media/image44.gif"/><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D900"/>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A4D8581-9A79-4188-BBFF-12A21009A1C2}"/>
              </a:ext>
            </a:extLst>
          </p:cNvPr>
          <p:cNvSpPr>
            <a:spLocks noGrp="1"/>
          </p:cNvSpPr>
          <p:nvPr/>
        </p:nvSpPr>
        <p:spPr>
          <a:xfrm>
            <a:off x="816724" y="2383825"/>
            <a:ext cx="9887457" cy="1002290"/>
          </a:xfrm>
          <a:prstGeom prst="rect">
            <a:avLst/>
          </a:prstGeom>
          <a:noFill/>
          <a:ln w="0">
            <a:noFill/>
          </a:ln>
        </p:spPr>
        <p:txBody>
          <a:bodyPr>
            <a:noAutofit/>
          </a:bodyPr>
          <a:lstStyle/>
          <a:p>
            <a:pPr defTabSz="1300277">
              <a:defRPr sz="3600" b="1">
                <a:solidFill>
                  <a:srgbClr val="111111"/>
                </a:solidFill>
                <a:latin typeface="Arial"/>
                <a:ea typeface="Arial"/>
                <a:cs typeface="Arial"/>
              </a:defRPr>
            </a:pPr>
            <a:r>
              <a:rPr sz="5119" b="1" dirty="0">
                <a:solidFill>
                  <a:srgbClr val="111111"/>
                </a:solidFill>
                <a:latin typeface="Arial"/>
                <a:ea typeface="Arial"/>
                <a:cs typeface="Arial"/>
              </a:rPr>
              <a:t>Machine Learning II</a:t>
            </a:r>
          </a:p>
        </p:txBody>
      </p:sp>
      <p:sp>
        <p:nvSpPr>
          <p:cNvPr id="2" name="Rectangle 1">
            <a:extLst>
              <a:ext uri="{FF2B5EF4-FFF2-40B4-BE49-F238E27FC236}">
                <a16:creationId xmlns:a16="http://schemas.microsoft.com/office/drawing/2014/main" id="{766E20BC-0AB7-4A36-9651-D76D6FFD2765}"/>
              </a:ext>
            </a:extLst>
          </p:cNvPr>
          <p:cNvSpPr>
            <a:spLocks noGrp="1"/>
          </p:cNvSpPr>
          <p:nvPr/>
        </p:nvSpPr>
        <p:spPr>
          <a:xfrm>
            <a:off x="816724" y="3480928"/>
            <a:ext cx="10293791" cy="1002289"/>
          </a:xfrm>
          <a:prstGeom prst="rect">
            <a:avLst/>
          </a:prstGeom>
          <a:noFill/>
          <a:ln w="0">
            <a:noFill/>
          </a:ln>
        </p:spPr>
        <p:txBody>
          <a:bodyPr>
            <a:noAutofit/>
          </a:bodyPr>
          <a:lstStyle/>
          <a:p>
            <a:pPr defTabSz="1300277">
              <a:defRPr sz="2025" b="0">
                <a:solidFill>
                  <a:srgbClr val="111111"/>
                </a:solidFill>
                <a:latin typeface="Arial"/>
                <a:ea typeface="Arial"/>
                <a:cs typeface="Arial"/>
              </a:defRPr>
            </a:pPr>
            <a:r>
              <a:rPr sz="2880" dirty="0">
                <a:solidFill>
                  <a:srgbClr val="111111"/>
                </a:solidFill>
                <a:latin typeface="Arial"/>
                <a:ea typeface="Arial"/>
                <a:cs typeface="Arial"/>
              </a:rPr>
              <a:t>Supervised </a:t>
            </a:r>
            <a:r>
              <a:rPr lang="nb-NO" sz="2880" dirty="0">
                <a:solidFill>
                  <a:srgbClr val="111111"/>
                </a:solidFill>
                <a:latin typeface="Arial"/>
                <a:ea typeface="Arial"/>
                <a:cs typeface="Arial"/>
              </a:rPr>
              <a:t>(</a:t>
            </a:r>
            <a:r>
              <a:rPr lang="nb-NO" sz="2880" dirty="0" err="1">
                <a:solidFill>
                  <a:srgbClr val="111111"/>
                </a:solidFill>
                <a:latin typeface="Arial"/>
                <a:ea typeface="Arial"/>
                <a:cs typeface="Arial"/>
              </a:rPr>
              <a:t>classification</a:t>
            </a:r>
            <a:r>
              <a:rPr lang="nb-NO" sz="2880" dirty="0">
                <a:solidFill>
                  <a:srgbClr val="111111"/>
                </a:solidFill>
                <a:latin typeface="Arial"/>
                <a:ea typeface="Arial"/>
                <a:cs typeface="Arial"/>
              </a:rPr>
              <a:t>, </a:t>
            </a:r>
            <a:r>
              <a:rPr lang="nb-NO" sz="2880" dirty="0" err="1">
                <a:solidFill>
                  <a:srgbClr val="111111"/>
                </a:solidFill>
                <a:latin typeface="Arial"/>
                <a:ea typeface="Arial"/>
                <a:cs typeface="Arial"/>
              </a:rPr>
              <a:t>regression</a:t>
            </a:r>
            <a:r>
              <a:rPr lang="nb-NO" sz="2880" dirty="0">
                <a:solidFill>
                  <a:srgbClr val="111111"/>
                </a:solidFill>
                <a:latin typeface="Arial"/>
                <a:ea typeface="Arial"/>
                <a:cs typeface="Arial"/>
              </a:rPr>
              <a:t>) </a:t>
            </a:r>
            <a:r>
              <a:rPr sz="2880" dirty="0">
                <a:solidFill>
                  <a:srgbClr val="111111"/>
                </a:solidFill>
                <a:latin typeface="Arial"/>
                <a:ea typeface="Arial"/>
                <a:cs typeface="Arial"/>
              </a:rPr>
              <a:t>and </a:t>
            </a:r>
            <a:endParaRPr lang="nb-NO" sz="2880" dirty="0">
              <a:solidFill>
                <a:srgbClr val="111111"/>
              </a:solidFill>
              <a:latin typeface="Arial"/>
              <a:ea typeface="Arial"/>
              <a:cs typeface="Arial"/>
            </a:endParaRPr>
          </a:p>
          <a:p>
            <a:pPr defTabSz="1300277">
              <a:defRPr sz="2025" b="0">
                <a:solidFill>
                  <a:srgbClr val="111111"/>
                </a:solidFill>
                <a:latin typeface="Arial"/>
                <a:ea typeface="Arial"/>
                <a:cs typeface="Arial"/>
              </a:defRPr>
            </a:pPr>
            <a:r>
              <a:rPr sz="2880" dirty="0">
                <a:solidFill>
                  <a:srgbClr val="111111"/>
                </a:solidFill>
                <a:latin typeface="Arial"/>
                <a:ea typeface="Arial"/>
                <a:cs typeface="Arial"/>
              </a:rPr>
              <a:t>unsupervised learning</a:t>
            </a:r>
          </a:p>
        </p:txBody>
      </p:sp>
      <p:sp>
        <p:nvSpPr>
          <p:cNvPr id="3" name="Rectangle 2">
            <a:extLst>
              <a:ext uri="{FF2B5EF4-FFF2-40B4-BE49-F238E27FC236}">
                <a16:creationId xmlns:a16="http://schemas.microsoft.com/office/drawing/2014/main" id="{491BDE68-F80B-4BAD-9766-4CC7DAD0733A}"/>
              </a:ext>
            </a:extLst>
          </p:cNvPr>
          <p:cNvSpPr>
            <a:spLocks noGrp="1"/>
          </p:cNvSpPr>
          <p:nvPr/>
        </p:nvSpPr>
        <p:spPr>
          <a:xfrm>
            <a:off x="816724" y="4943728"/>
            <a:ext cx="3386115" cy="406334"/>
          </a:xfrm>
          <a:prstGeom prst="rect">
            <a:avLst/>
          </a:prstGeom>
          <a:noFill/>
          <a:ln w="0">
            <a:noFill/>
          </a:ln>
        </p:spPr>
        <p:txBody>
          <a:bodyPr>
            <a:noAutofit/>
          </a:bodyPr>
          <a:lstStyle/>
          <a:p>
            <a:pPr defTabSz="1300277">
              <a:defRPr sz="1275" b="1">
                <a:solidFill>
                  <a:srgbClr val="111111"/>
                </a:solidFill>
                <a:latin typeface="Arial"/>
                <a:ea typeface="Arial"/>
                <a:cs typeface="Arial"/>
              </a:defRPr>
            </a:pPr>
            <a:r>
              <a:rPr sz="1813" b="1">
                <a:solidFill>
                  <a:srgbClr val="111111"/>
                </a:solidFill>
                <a:latin typeface="Arial"/>
                <a:ea typeface="Arial"/>
                <a:cs typeface="Arial"/>
              </a:rPr>
              <a:t>DAVE3625</a:t>
            </a:r>
          </a:p>
        </p:txBody>
      </p:sp>
      <p:sp>
        <p:nvSpPr>
          <p:cNvPr id="4" name="Rectangle 3">
            <a:extLst>
              <a:ext uri="{FF2B5EF4-FFF2-40B4-BE49-F238E27FC236}">
                <a16:creationId xmlns:a16="http://schemas.microsoft.com/office/drawing/2014/main" id="{83C3F8F5-BDB6-4612-B730-513FED81DC55}"/>
              </a:ext>
            </a:extLst>
          </p:cNvPr>
          <p:cNvSpPr>
            <a:spLocks noGrp="1"/>
          </p:cNvSpPr>
          <p:nvPr/>
        </p:nvSpPr>
        <p:spPr>
          <a:xfrm>
            <a:off x="816724" y="5485507"/>
            <a:ext cx="4469672" cy="379245"/>
          </a:xfrm>
          <a:prstGeom prst="rect">
            <a:avLst/>
          </a:prstGeom>
          <a:noFill/>
          <a:ln w="0">
            <a:noFill/>
          </a:ln>
        </p:spPr>
        <p:txBody>
          <a:bodyPr>
            <a:noAutofit/>
          </a:bodyPr>
          <a:lstStyle/>
          <a:p>
            <a:pPr defTabSz="1300277">
              <a:defRPr sz="1200" b="0">
                <a:solidFill>
                  <a:srgbClr val="111111"/>
                </a:solidFill>
                <a:latin typeface="Arial"/>
                <a:ea typeface="Arial"/>
                <a:cs typeface="Arial"/>
              </a:defRPr>
            </a:pPr>
            <a:r>
              <a:rPr sz="1706">
                <a:solidFill>
                  <a:srgbClr val="111111"/>
                </a:solidFill>
                <a:latin typeface="Arial"/>
                <a:ea typeface="Arial"/>
                <a:cs typeface="Arial"/>
              </a:rPr>
              <a:t>Umair Mehmood Imam</a:t>
            </a:r>
          </a:p>
        </p:txBody>
      </p:sp>
      <p:sp>
        <p:nvSpPr>
          <p:cNvPr id="5" name="Rectangle 4">
            <a:extLst>
              <a:ext uri="{FF2B5EF4-FFF2-40B4-BE49-F238E27FC236}">
                <a16:creationId xmlns:a16="http://schemas.microsoft.com/office/drawing/2014/main" id="{5232BCCC-5B24-4B4C-BD5B-65147AEC51FB}"/>
              </a:ext>
            </a:extLst>
          </p:cNvPr>
          <p:cNvSpPr>
            <a:spLocks noGrp="1"/>
          </p:cNvSpPr>
          <p:nvPr/>
        </p:nvSpPr>
        <p:spPr>
          <a:xfrm>
            <a:off x="12194072" y="-1"/>
            <a:ext cx="5146895" cy="9752013"/>
          </a:xfrm>
          <a:prstGeom prst="rect">
            <a:avLst/>
          </a:prstGeom>
          <a:solidFill>
            <a:srgbClr val="111111"/>
          </a:solidFill>
          <a:ln w="0">
            <a:noFill/>
          </a:ln>
        </p:spPr>
        <p:txBody>
          <a:bodyPr/>
          <a:lstStyle/>
          <a:p>
            <a:pPr defTabSz="1300277"/>
            <a:endParaRPr lang="en-US">
              <a:solidFill>
                <a:srgbClr val="000000"/>
              </a:solidFill>
              <a:latin typeface="Calibri"/>
              <a:cs typeface="Calibri"/>
            </a:endParaRPr>
          </a:p>
        </p:txBody>
      </p:sp>
      <p:sp>
        <p:nvSpPr>
          <p:cNvPr id="6" name="Oval 5">
            <a:extLst>
              <a:ext uri="{FF2B5EF4-FFF2-40B4-BE49-F238E27FC236}">
                <a16:creationId xmlns:a16="http://schemas.microsoft.com/office/drawing/2014/main" id="{9B915119-66CC-435A-BF7B-208A5958D868}"/>
              </a:ext>
            </a:extLst>
          </p:cNvPr>
          <p:cNvSpPr>
            <a:spLocks noGrp="1"/>
          </p:cNvSpPr>
          <p:nvPr/>
        </p:nvSpPr>
        <p:spPr>
          <a:xfrm>
            <a:off x="12857751" y="2289014"/>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7" name="Oval 6">
            <a:extLst>
              <a:ext uri="{FF2B5EF4-FFF2-40B4-BE49-F238E27FC236}">
                <a16:creationId xmlns:a16="http://schemas.microsoft.com/office/drawing/2014/main" id="{98C62AF6-DF8C-42E0-B7ED-8404563299AC}"/>
              </a:ext>
            </a:extLst>
          </p:cNvPr>
          <p:cNvSpPr>
            <a:spLocks noGrp="1"/>
          </p:cNvSpPr>
          <p:nvPr/>
        </p:nvSpPr>
        <p:spPr>
          <a:xfrm>
            <a:off x="13805863" y="2289014"/>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8" name="Oval 7">
            <a:extLst>
              <a:ext uri="{FF2B5EF4-FFF2-40B4-BE49-F238E27FC236}">
                <a16:creationId xmlns:a16="http://schemas.microsoft.com/office/drawing/2014/main" id="{F0AA3FBF-7934-4168-A244-028E5705FFE2}"/>
              </a:ext>
            </a:extLst>
          </p:cNvPr>
          <p:cNvSpPr>
            <a:spLocks noGrp="1"/>
          </p:cNvSpPr>
          <p:nvPr/>
        </p:nvSpPr>
        <p:spPr>
          <a:xfrm>
            <a:off x="14753975" y="2289014"/>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9" name="Oval 8">
            <a:extLst>
              <a:ext uri="{FF2B5EF4-FFF2-40B4-BE49-F238E27FC236}">
                <a16:creationId xmlns:a16="http://schemas.microsoft.com/office/drawing/2014/main" id="{B240F063-6B12-4FF1-B08D-9438554AC444}"/>
              </a:ext>
            </a:extLst>
          </p:cNvPr>
          <p:cNvSpPr>
            <a:spLocks noGrp="1"/>
          </p:cNvSpPr>
          <p:nvPr/>
        </p:nvSpPr>
        <p:spPr>
          <a:xfrm>
            <a:off x="15702088" y="2289014"/>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10" name="Oval 9">
            <a:extLst>
              <a:ext uri="{FF2B5EF4-FFF2-40B4-BE49-F238E27FC236}">
                <a16:creationId xmlns:a16="http://schemas.microsoft.com/office/drawing/2014/main" id="{79DDE48A-F094-48CD-8686-B80D3E305349}"/>
              </a:ext>
            </a:extLst>
          </p:cNvPr>
          <p:cNvSpPr>
            <a:spLocks noGrp="1"/>
          </p:cNvSpPr>
          <p:nvPr/>
        </p:nvSpPr>
        <p:spPr>
          <a:xfrm>
            <a:off x="12857751" y="3237126"/>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11" name="Oval 10">
            <a:extLst>
              <a:ext uri="{FF2B5EF4-FFF2-40B4-BE49-F238E27FC236}">
                <a16:creationId xmlns:a16="http://schemas.microsoft.com/office/drawing/2014/main" id="{68F1574F-38D3-40F9-9C5B-F1E119C9B28E}"/>
              </a:ext>
            </a:extLst>
          </p:cNvPr>
          <p:cNvSpPr>
            <a:spLocks noGrp="1"/>
          </p:cNvSpPr>
          <p:nvPr/>
        </p:nvSpPr>
        <p:spPr>
          <a:xfrm>
            <a:off x="13805863" y="3237126"/>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12" name="Oval 11">
            <a:extLst>
              <a:ext uri="{FF2B5EF4-FFF2-40B4-BE49-F238E27FC236}">
                <a16:creationId xmlns:a16="http://schemas.microsoft.com/office/drawing/2014/main" id="{8B625158-1F27-48AD-82FC-6203B07E2D11}"/>
              </a:ext>
            </a:extLst>
          </p:cNvPr>
          <p:cNvSpPr>
            <a:spLocks noGrp="1"/>
          </p:cNvSpPr>
          <p:nvPr/>
        </p:nvSpPr>
        <p:spPr>
          <a:xfrm>
            <a:off x="14753975" y="3237126"/>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13" name="Oval 12">
            <a:extLst>
              <a:ext uri="{FF2B5EF4-FFF2-40B4-BE49-F238E27FC236}">
                <a16:creationId xmlns:a16="http://schemas.microsoft.com/office/drawing/2014/main" id="{FA45845A-84B7-479E-A62F-1F38B679A0A2}"/>
              </a:ext>
            </a:extLst>
          </p:cNvPr>
          <p:cNvSpPr>
            <a:spLocks noGrp="1"/>
          </p:cNvSpPr>
          <p:nvPr/>
        </p:nvSpPr>
        <p:spPr>
          <a:xfrm>
            <a:off x="15702088" y="3237126"/>
            <a:ext cx="297978" cy="297978"/>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14" name="Oval 13">
            <a:extLst>
              <a:ext uri="{FF2B5EF4-FFF2-40B4-BE49-F238E27FC236}">
                <a16:creationId xmlns:a16="http://schemas.microsoft.com/office/drawing/2014/main" id="{40BD940C-EBAD-405A-AE5B-345CEBA2B5DA}"/>
              </a:ext>
            </a:extLst>
          </p:cNvPr>
          <p:cNvSpPr>
            <a:spLocks noGrp="1"/>
          </p:cNvSpPr>
          <p:nvPr/>
        </p:nvSpPr>
        <p:spPr>
          <a:xfrm>
            <a:off x="12857751" y="4185239"/>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5" name="Oval 14">
            <a:extLst>
              <a:ext uri="{FF2B5EF4-FFF2-40B4-BE49-F238E27FC236}">
                <a16:creationId xmlns:a16="http://schemas.microsoft.com/office/drawing/2014/main" id="{76BB7509-EA64-49DD-A4E0-27E7C3777F6E}"/>
              </a:ext>
            </a:extLst>
          </p:cNvPr>
          <p:cNvSpPr>
            <a:spLocks noGrp="1"/>
          </p:cNvSpPr>
          <p:nvPr/>
        </p:nvSpPr>
        <p:spPr>
          <a:xfrm>
            <a:off x="13805863" y="4185239"/>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6" name="Oval 15">
            <a:extLst>
              <a:ext uri="{FF2B5EF4-FFF2-40B4-BE49-F238E27FC236}">
                <a16:creationId xmlns:a16="http://schemas.microsoft.com/office/drawing/2014/main" id="{C3CA4081-AC2C-4021-A2BD-EE9DA4AA14C4}"/>
              </a:ext>
            </a:extLst>
          </p:cNvPr>
          <p:cNvSpPr>
            <a:spLocks noGrp="1"/>
          </p:cNvSpPr>
          <p:nvPr/>
        </p:nvSpPr>
        <p:spPr>
          <a:xfrm>
            <a:off x="14753975" y="4185239"/>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7" name="Oval 16">
            <a:extLst>
              <a:ext uri="{FF2B5EF4-FFF2-40B4-BE49-F238E27FC236}">
                <a16:creationId xmlns:a16="http://schemas.microsoft.com/office/drawing/2014/main" id="{B9CAB274-65A2-4CCF-AFBF-19CB92B31B1A}"/>
              </a:ext>
            </a:extLst>
          </p:cNvPr>
          <p:cNvSpPr>
            <a:spLocks noGrp="1"/>
          </p:cNvSpPr>
          <p:nvPr/>
        </p:nvSpPr>
        <p:spPr>
          <a:xfrm>
            <a:off x="15702088" y="4185239"/>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8" name="Oval 17">
            <a:extLst>
              <a:ext uri="{FF2B5EF4-FFF2-40B4-BE49-F238E27FC236}">
                <a16:creationId xmlns:a16="http://schemas.microsoft.com/office/drawing/2014/main" id="{11B5282F-5E56-4982-BC41-2C41313FEC71}"/>
              </a:ext>
            </a:extLst>
          </p:cNvPr>
          <p:cNvSpPr>
            <a:spLocks noGrp="1"/>
          </p:cNvSpPr>
          <p:nvPr/>
        </p:nvSpPr>
        <p:spPr>
          <a:xfrm>
            <a:off x="12857751" y="5133351"/>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9" name="Oval 18">
            <a:extLst>
              <a:ext uri="{FF2B5EF4-FFF2-40B4-BE49-F238E27FC236}">
                <a16:creationId xmlns:a16="http://schemas.microsoft.com/office/drawing/2014/main" id="{BFBFBA67-96BC-4028-A1A0-305172995AF2}"/>
              </a:ext>
            </a:extLst>
          </p:cNvPr>
          <p:cNvSpPr>
            <a:spLocks noGrp="1"/>
          </p:cNvSpPr>
          <p:nvPr/>
        </p:nvSpPr>
        <p:spPr>
          <a:xfrm>
            <a:off x="13805863" y="5133351"/>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0" name="Oval 19">
            <a:extLst>
              <a:ext uri="{FF2B5EF4-FFF2-40B4-BE49-F238E27FC236}">
                <a16:creationId xmlns:a16="http://schemas.microsoft.com/office/drawing/2014/main" id="{83DA9AD1-ED5A-41DF-B5AD-1FEEA44F6130}"/>
              </a:ext>
            </a:extLst>
          </p:cNvPr>
          <p:cNvSpPr>
            <a:spLocks noGrp="1"/>
          </p:cNvSpPr>
          <p:nvPr/>
        </p:nvSpPr>
        <p:spPr>
          <a:xfrm>
            <a:off x="14753975" y="5133351"/>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1" name="Oval 20">
            <a:extLst>
              <a:ext uri="{FF2B5EF4-FFF2-40B4-BE49-F238E27FC236}">
                <a16:creationId xmlns:a16="http://schemas.microsoft.com/office/drawing/2014/main" id="{45809251-2075-4CA1-8014-18DD38AFBE2D}"/>
              </a:ext>
            </a:extLst>
          </p:cNvPr>
          <p:cNvSpPr>
            <a:spLocks noGrp="1"/>
          </p:cNvSpPr>
          <p:nvPr/>
        </p:nvSpPr>
        <p:spPr>
          <a:xfrm>
            <a:off x="15702088" y="5133351"/>
            <a:ext cx="297978" cy="297978"/>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Tree>
    <p:extLst>
      <p:ext uri="{BB962C8B-B14F-4D97-AF65-F5344CB8AC3E}">
        <p14:creationId xmlns:p14="http://schemas.microsoft.com/office/powerpoint/2010/main" val="1263053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F477A5F-7473-47A3-B421-CED65E0F352F}"/>
              </a:ext>
            </a:extLst>
          </p:cNvPr>
          <p:cNvSpPr>
            <a:spLocks noGrp="1"/>
          </p:cNvSpPr>
          <p:nvPr/>
        </p:nvSpPr>
        <p:spPr>
          <a:xfrm>
            <a:off x="4057" y="0"/>
            <a:ext cx="17336911" cy="1110646"/>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2" name="Rectangle 1">
            <a:extLst>
              <a:ext uri="{FF2B5EF4-FFF2-40B4-BE49-F238E27FC236}">
                <a16:creationId xmlns:a16="http://schemas.microsoft.com/office/drawing/2014/main" id="{17ACBAE1-47C6-47B6-8CA6-C5078573ABFE}"/>
              </a:ext>
            </a:extLst>
          </p:cNvPr>
          <p:cNvSpPr>
            <a:spLocks noGrp="1"/>
          </p:cNvSpPr>
          <p:nvPr/>
        </p:nvSpPr>
        <p:spPr>
          <a:xfrm>
            <a:off x="762546" y="162533"/>
            <a:ext cx="15711576" cy="785579"/>
          </a:xfrm>
          <a:prstGeom prst="rect">
            <a:avLst/>
          </a:prstGeom>
          <a:noFill/>
          <a:ln w="0">
            <a:noFill/>
          </a:ln>
        </p:spPr>
        <p:txBody>
          <a:bodyPr>
            <a:noAutofit/>
          </a:bodyPr>
          <a:lstStyle/>
          <a:p>
            <a:pPr defTabSz="1300277">
              <a:defRPr sz="2250" b="1">
                <a:solidFill>
                  <a:srgbClr val="111111"/>
                </a:solidFill>
                <a:latin typeface="Arial"/>
                <a:ea typeface="Arial"/>
                <a:cs typeface="Arial"/>
              </a:defRPr>
            </a:pPr>
            <a:r>
              <a:rPr sz="3200" b="1">
                <a:solidFill>
                  <a:srgbClr val="111111"/>
                </a:solidFill>
                <a:latin typeface="Arial"/>
                <a:ea typeface="Arial"/>
                <a:cs typeface="Arial"/>
              </a:rPr>
              <a:t>Three main learning settings</a:t>
            </a:r>
          </a:p>
        </p:txBody>
      </p:sp>
      <p:sp>
        <p:nvSpPr>
          <p:cNvPr id="3" name="Rectangle 2">
            <a:extLst>
              <a:ext uri="{FF2B5EF4-FFF2-40B4-BE49-F238E27FC236}">
                <a16:creationId xmlns:a16="http://schemas.microsoft.com/office/drawing/2014/main" id="{1A3DFB94-8673-4329-BFCB-66032C395FC8}"/>
              </a:ext>
            </a:extLst>
          </p:cNvPr>
          <p:cNvSpPr>
            <a:spLocks noGrp="1"/>
          </p:cNvSpPr>
          <p:nvPr/>
        </p:nvSpPr>
        <p:spPr>
          <a:xfrm>
            <a:off x="572924" y="9237323"/>
            <a:ext cx="4198783" cy="243800"/>
          </a:xfrm>
          <a:prstGeom prst="rect">
            <a:avLst/>
          </a:prstGeom>
          <a:noFill/>
          <a:ln w="0">
            <a:noFill/>
          </a:ln>
        </p:spPr>
        <p:txBody>
          <a:bodyPr>
            <a:noAutofit/>
          </a:bodyPr>
          <a:lstStyle/>
          <a:p>
            <a:pPr defTabSz="1300277">
              <a:defRPr sz="750" b="0">
                <a:solidFill>
                  <a:srgbClr val="666666"/>
                </a:solidFill>
                <a:latin typeface="Arial"/>
                <a:ea typeface="Arial"/>
                <a:cs typeface="Arial"/>
              </a:defRPr>
            </a:pPr>
            <a:r>
              <a:rPr sz="1067">
                <a:solidFill>
                  <a:srgbClr val="666666"/>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063DE6F9-82B6-492F-9919-C3382B1FAA46}"/>
              </a:ext>
            </a:extLst>
          </p:cNvPr>
          <p:cNvSpPr>
            <a:spLocks noGrp="1"/>
          </p:cNvSpPr>
          <p:nvPr/>
        </p:nvSpPr>
        <p:spPr>
          <a:xfrm>
            <a:off x="5828175" y="9237323"/>
            <a:ext cx="5688674" cy="243800"/>
          </a:xfrm>
          <a:prstGeom prst="rect">
            <a:avLst/>
          </a:prstGeom>
          <a:noFill/>
          <a:ln w="0">
            <a:noFill/>
          </a:ln>
        </p:spPr>
        <p:txBody>
          <a:bodyPr>
            <a:noAutofit/>
          </a:bodyPr>
          <a:lstStyle/>
          <a:p>
            <a:pPr defTabSz="1300277">
              <a:defRPr sz="750" b="0">
                <a:solidFill>
                  <a:srgbClr val="666666"/>
                </a:solidFill>
                <a:latin typeface="Arial"/>
                <a:ea typeface="Arial"/>
                <a:cs typeface="Arial"/>
              </a:defRPr>
            </a:pPr>
            <a:r>
              <a:rPr sz="1067">
                <a:solidFill>
                  <a:srgbClr val="666666"/>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D190E955-2AAF-4680-9FFD-93748A6D880A}"/>
              </a:ext>
            </a:extLst>
          </p:cNvPr>
          <p:cNvSpPr>
            <a:spLocks noGrp="1"/>
          </p:cNvSpPr>
          <p:nvPr/>
        </p:nvSpPr>
        <p:spPr>
          <a:xfrm>
            <a:off x="13413074" y="9237323"/>
            <a:ext cx="3318393" cy="243800"/>
          </a:xfrm>
          <a:prstGeom prst="rect">
            <a:avLst/>
          </a:prstGeom>
          <a:noFill/>
          <a:ln w="0">
            <a:noFill/>
          </a:ln>
        </p:spPr>
        <p:txBody>
          <a:bodyPr>
            <a:noAutofit/>
          </a:bodyPr>
          <a:lstStyle/>
          <a:p>
            <a:pPr defTabSz="1300277">
              <a:defRPr sz="750" b="0">
                <a:solidFill>
                  <a:srgbClr val="666666"/>
                </a:solidFill>
                <a:latin typeface="Arial"/>
                <a:ea typeface="Arial"/>
                <a:cs typeface="Arial"/>
              </a:defRPr>
            </a:pPr>
            <a:r>
              <a:rPr sz="1067">
                <a:solidFill>
                  <a:srgbClr val="666666"/>
                </a:solidFill>
                <a:latin typeface="Arial"/>
                <a:ea typeface="Arial"/>
                <a:cs typeface="Arial"/>
              </a:rPr>
              <a:t>04  MACHINE LEARNING II</a:t>
            </a:r>
          </a:p>
        </p:txBody>
      </p:sp>
      <p:sp>
        <p:nvSpPr>
          <p:cNvPr id="6" name="Rectangle 5">
            <a:extLst>
              <a:ext uri="{FF2B5EF4-FFF2-40B4-BE49-F238E27FC236}">
                <a16:creationId xmlns:a16="http://schemas.microsoft.com/office/drawing/2014/main" id="{5A06B168-A0AD-4F7F-88DE-A4705D5642FD}"/>
              </a:ext>
            </a:extLst>
          </p:cNvPr>
          <p:cNvSpPr>
            <a:spLocks noGrp="1"/>
          </p:cNvSpPr>
          <p:nvPr/>
        </p:nvSpPr>
        <p:spPr>
          <a:xfrm>
            <a:off x="884447" y="2099392"/>
            <a:ext cx="4469672" cy="4469672"/>
          </a:xfrm>
          <a:prstGeom prst="rect">
            <a:avLst/>
          </a:prstGeom>
          <a:solidFill>
            <a:srgbClr val="FFFFFF"/>
          </a:solidFill>
          <a:ln w="9525">
            <a:solidFill>
              <a:srgbClr val="2878B5"/>
            </a:solidFill>
          </a:ln>
        </p:spPr>
        <p:txBody>
          <a:bodyPr/>
          <a:lstStyle/>
          <a:p>
            <a:pPr defTabSz="1300277"/>
            <a:endParaRPr lang="en-US">
              <a:solidFill>
                <a:srgbClr val="000000"/>
              </a:solidFill>
              <a:latin typeface="Calibri"/>
              <a:cs typeface="Calibri"/>
            </a:endParaRPr>
          </a:p>
        </p:txBody>
      </p:sp>
      <p:sp>
        <p:nvSpPr>
          <p:cNvPr id="7" name="Rectangle 6">
            <a:extLst>
              <a:ext uri="{FF2B5EF4-FFF2-40B4-BE49-F238E27FC236}">
                <a16:creationId xmlns:a16="http://schemas.microsoft.com/office/drawing/2014/main" id="{4A263252-64C9-432B-B95D-71452116D9F5}"/>
              </a:ext>
            </a:extLst>
          </p:cNvPr>
          <p:cNvSpPr>
            <a:spLocks noGrp="1"/>
          </p:cNvSpPr>
          <p:nvPr/>
        </p:nvSpPr>
        <p:spPr>
          <a:xfrm>
            <a:off x="884447" y="2099392"/>
            <a:ext cx="4469672" cy="203167"/>
          </a:xfrm>
          <a:prstGeom prst="rect">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8" name="Rectangle 7">
            <a:extLst>
              <a:ext uri="{FF2B5EF4-FFF2-40B4-BE49-F238E27FC236}">
                <a16:creationId xmlns:a16="http://schemas.microsoft.com/office/drawing/2014/main" id="{220BA77A-3B3C-424F-9A0E-F7B691C03246}"/>
              </a:ext>
            </a:extLst>
          </p:cNvPr>
          <p:cNvSpPr>
            <a:spLocks noGrp="1"/>
          </p:cNvSpPr>
          <p:nvPr/>
        </p:nvSpPr>
        <p:spPr>
          <a:xfrm>
            <a:off x="1223058" y="2641170"/>
            <a:ext cx="3792449" cy="487601"/>
          </a:xfrm>
          <a:prstGeom prst="rect">
            <a:avLst/>
          </a:prstGeom>
          <a:noFill/>
          <a:ln w="0">
            <a:noFill/>
          </a:ln>
        </p:spPr>
        <p:txBody>
          <a:bodyPr>
            <a:noAutofit/>
          </a:bodyPr>
          <a:lstStyle/>
          <a:p>
            <a:pPr defTabSz="1300277">
              <a:defRPr sz="1575" b="1">
                <a:solidFill>
                  <a:srgbClr val="2878B5"/>
                </a:solidFill>
                <a:latin typeface="Arial"/>
                <a:ea typeface="Arial"/>
                <a:cs typeface="Arial"/>
              </a:defRPr>
            </a:pPr>
            <a:r>
              <a:rPr sz="2240" b="1">
                <a:solidFill>
                  <a:srgbClr val="2878B5"/>
                </a:solidFill>
                <a:latin typeface="Arial"/>
                <a:ea typeface="Arial"/>
                <a:cs typeface="Arial"/>
              </a:rPr>
              <a:t>SUPERVISED</a:t>
            </a:r>
          </a:p>
        </p:txBody>
      </p:sp>
      <p:sp>
        <p:nvSpPr>
          <p:cNvPr id="9" name="Rectangle 8">
            <a:extLst>
              <a:ext uri="{FF2B5EF4-FFF2-40B4-BE49-F238E27FC236}">
                <a16:creationId xmlns:a16="http://schemas.microsoft.com/office/drawing/2014/main" id="{2D9002F8-87EE-4645-9AAE-EEF78451F625}"/>
              </a:ext>
            </a:extLst>
          </p:cNvPr>
          <p:cNvSpPr>
            <a:spLocks noGrp="1"/>
          </p:cNvSpPr>
          <p:nvPr/>
        </p:nvSpPr>
        <p:spPr>
          <a:xfrm>
            <a:off x="1223058" y="3657005"/>
            <a:ext cx="3792449" cy="609501"/>
          </a:xfrm>
          <a:prstGeom prst="rect">
            <a:avLst/>
          </a:prstGeom>
          <a:noFill/>
          <a:ln w="0">
            <a:noFill/>
          </a:ln>
        </p:spPr>
        <p:txBody>
          <a:bodyPr>
            <a:noAutofit/>
          </a:bodyPr>
          <a:lstStyle/>
          <a:p>
            <a:pPr defTabSz="1300277">
              <a:defRPr sz="1875" b="1">
                <a:solidFill>
                  <a:srgbClr val="111111"/>
                </a:solidFill>
                <a:latin typeface="Arial"/>
                <a:ea typeface="Arial"/>
                <a:cs typeface="Arial"/>
              </a:defRPr>
            </a:pPr>
            <a:r>
              <a:rPr sz="2666" b="1">
                <a:solidFill>
                  <a:srgbClr val="111111"/>
                </a:solidFill>
                <a:latin typeface="Arial"/>
                <a:ea typeface="Arial"/>
                <a:cs typeface="Arial"/>
              </a:rPr>
              <a:t>Known labels</a:t>
            </a:r>
          </a:p>
        </p:txBody>
      </p:sp>
      <p:sp>
        <p:nvSpPr>
          <p:cNvPr id="10" name="Rectangle 9">
            <a:extLst>
              <a:ext uri="{FF2B5EF4-FFF2-40B4-BE49-F238E27FC236}">
                <a16:creationId xmlns:a16="http://schemas.microsoft.com/office/drawing/2014/main" id="{AFDCE17B-CAA3-4AB7-A28D-622A40A025FF}"/>
              </a:ext>
            </a:extLst>
          </p:cNvPr>
          <p:cNvSpPr>
            <a:spLocks noGrp="1"/>
          </p:cNvSpPr>
          <p:nvPr/>
        </p:nvSpPr>
        <p:spPr>
          <a:xfrm>
            <a:off x="1223058" y="4672839"/>
            <a:ext cx="3792449" cy="623045"/>
          </a:xfrm>
          <a:prstGeom prst="rect">
            <a:avLst/>
          </a:prstGeom>
          <a:noFill/>
          <a:ln w="0">
            <a:noFill/>
          </a:ln>
        </p:spPr>
        <p:txBody>
          <a:bodyPr>
            <a:noAutofit/>
          </a:bodyPr>
          <a:lstStyle/>
          <a:p>
            <a:pPr defTabSz="1300277">
              <a:defRPr sz="1500" b="0">
                <a:solidFill>
                  <a:srgbClr val="555555"/>
                </a:solidFill>
                <a:latin typeface="Arial"/>
                <a:ea typeface="Arial"/>
                <a:cs typeface="Arial"/>
              </a:defRPr>
            </a:pPr>
            <a:r>
              <a:rPr sz="2133">
                <a:solidFill>
                  <a:srgbClr val="555555"/>
                </a:solidFill>
                <a:latin typeface="Arial"/>
                <a:ea typeface="Arial"/>
                <a:cs typeface="Arial"/>
              </a:rPr>
              <a:t>Spam or not spam</a:t>
            </a:r>
          </a:p>
        </p:txBody>
      </p:sp>
      <p:sp>
        <p:nvSpPr>
          <p:cNvPr id="11" name="Rectangle 10">
            <a:extLst>
              <a:ext uri="{FF2B5EF4-FFF2-40B4-BE49-F238E27FC236}">
                <a16:creationId xmlns:a16="http://schemas.microsoft.com/office/drawing/2014/main" id="{2ECBA537-575B-431A-9F9F-97DEF680A465}"/>
              </a:ext>
            </a:extLst>
          </p:cNvPr>
          <p:cNvSpPr>
            <a:spLocks noGrp="1"/>
          </p:cNvSpPr>
          <p:nvPr/>
        </p:nvSpPr>
        <p:spPr>
          <a:xfrm>
            <a:off x="6031342" y="2099392"/>
            <a:ext cx="4469672" cy="4469672"/>
          </a:xfrm>
          <a:prstGeom prst="rect">
            <a:avLst/>
          </a:prstGeom>
          <a:solidFill>
            <a:srgbClr val="FFFFFF"/>
          </a:solidFill>
          <a:ln w="9525">
            <a:solidFill>
              <a:srgbClr val="7651A8"/>
            </a:solidFill>
          </a:ln>
        </p:spPr>
        <p:txBody>
          <a:bodyPr/>
          <a:lstStyle/>
          <a:p>
            <a:pPr defTabSz="1300277"/>
            <a:endParaRPr lang="en-US">
              <a:solidFill>
                <a:srgbClr val="000000"/>
              </a:solidFill>
              <a:latin typeface="Calibri"/>
              <a:cs typeface="Calibri"/>
            </a:endParaRPr>
          </a:p>
        </p:txBody>
      </p:sp>
      <p:sp>
        <p:nvSpPr>
          <p:cNvPr id="12" name="Rectangle 11">
            <a:extLst>
              <a:ext uri="{FF2B5EF4-FFF2-40B4-BE49-F238E27FC236}">
                <a16:creationId xmlns:a16="http://schemas.microsoft.com/office/drawing/2014/main" id="{5F1F67F5-2E01-434A-9D20-23322FF5AFBA}"/>
              </a:ext>
            </a:extLst>
          </p:cNvPr>
          <p:cNvSpPr>
            <a:spLocks noGrp="1"/>
          </p:cNvSpPr>
          <p:nvPr/>
        </p:nvSpPr>
        <p:spPr>
          <a:xfrm>
            <a:off x="6031342" y="2099392"/>
            <a:ext cx="4469672" cy="203167"/>
          </a:xfrm>
          <a:prstGeom prst="rect">
            <a:avLst/>
          </a:prstGeom>
          <a:solidFill>
            <a:srgbClr val="7651A8"/>
          </a:solidFill>
          <a:ln w="0">
            <a:noFill/>
          </a:ln>
        </p:spPr>
        <p:txBody>
          <a:bodyPr/>
          <a:lstStyle/>
          <a:p>
            <a:pPr defTabSz="1300277"/>
            <a:endParaRPr lang="en-US">
              <a:solidFill>
                <a:srgbClr val="000000"/>
              </a:solidFill>
              <a:latin typeface="Calibri"/>
              <a:cs typeface="Calibri"/>
            </a:endParaRPr>
          </a:p>
        </p:txBody>
      </p:sp>
      <p:sp>
        <p:nvSpPr>
          <p:cNvPr id="13" name="Rectangle 12">
            <a:extLst>
              <a:ext uri="{FF2B5EF4-FFF2-40B4-BE49-F238E27FC236}">
                <a16:creationId xmlns:a16="http://schemas.microsoft.com/office/drawing/2014/main" id="{919C00E2-1C21-4859-AD8F-9F46A92A935D}"/>
              </a:ext>
            </a:extLst>
          </p:cNvPr>
          <p:cNvSpPr>
            <a:spLocks noGrp="1"/>
          </p:cNvSpPr>
          <p:nvPr/>
        </p:nvSpPr>
        <p:spPr>
          <a:xfrm>
            <a:off x="6369954" y="2641170"/>
            <a:ext cx="3792449" cy="487601"/>
          </a:xfrm>
          <a:prstGeom prst="rect">
            <a:avLst/>
          </a:prstGeom>
          <a:noFill/>
          <a:ln w="0">
            <a:noFill/>
          </a:ln>
        </p:spPr>
        <p:txBody>
          <a:bodyPr>
            <a:noAutofit/>
          </a:bodyPr>
          <a:lstStyle/>
          <a:p>
            <a:pPr defTabSz="1300277">
              <a:defRPr sz="1575" b="1">
                <a:solidFill>
                  <a:srgbClr val="7651A8"/>
                </a:solidFill>
                <a:latin typeface="Arial"/>
                <a:ea typeface="Arial"/>
                <a:cs typeface="Arial"/>
              </a:defRPr>
            </a:pPr>
            <a:r>
              <a:rPr sz="2240" b="1">
                <a:solidFill>
                  <a:srgbClr val="7651A8"/>
                </a:solidFill>
                <a:latin typeface="Arial"/>
                <a:ea typeface="Arial"/>
                <a:cs typeface="Arial"/>
              </a:rPr>
              <a:t>UNSUPERVISED</a:t>
            </a:r>
          </a:p>
        </p:txBody>
      </p:sp>
      <p:sp>
        <p:nvSpPr>
          <p:cNvPr id="14" name="Rectangle 13">
            <a:extLst>
              <a:ext uri="{FF2B5EF4-FFF2-40B4-BE49-F238E27FC236}">
                <a16:creationId xmlns:a16="http://schemas.microsoft.com/office/drawing/2014/main" id="{2FDBA0FD-CA2B-44C1-9692-3DC354359694}"/>
              </a:ext>
            </a:extLst>
          </p:cNvPr>
          <p:cNvSpPr>
            <a:spLocks noGrp="1"/>
          </p:cNvSpPr>
          <p:nvPr/>
        </p:nvSpPr>
        <p:spPr>
          <a:xfrm>
            <a:off x="6369954" y="3657005"/>
            <a:ext cx="3792449" cy="609501"/>
          </a:xfrm>
          <a:prstGeom prst="rect">
            <a:avLst/>
          </a:prstGeom>
          <a:noFill/>
          <a:ln w="0">
            <a:noFill/>
          </a:ln>
        </p:spPr>
        <p:txBody>
          <a:bodyPr>
            <a:noAutofit/>
          </a:bodyPr>
          <a:lstStyle/>
          <a:p>
            <a:pPr defTabSz="1300277">
              <a:defRPr sz="1875" b="1">
                <a:solidFill>
                  <a:srgbClr val="111111"/>
                </a:solidFill>
                <a:latin typeface="Arial"/>
                <a:ea typeface="Arial"/>
                <a:cs typeface="Arial"/>
              </a:defRPr>
            </a:pPr>
            <a:r>
              <a:rPr sz="2666" b="1">
                <a:solidFill>
                  <a:srgbClr val="111111"/>
                </a:solidFill>
                <a:latin typeface="Arial"/>
                <a:ea typeface="Arial"/>
                <a:cs typeface="Arial"/>
              </a:rPr>
              <a:t>No target labels</a:t>
            </a:r>
          </a:p>
        </p:txBody>
      </p:sp>
      <p:sp>
        <p:nvSpPr>
          <p:cNvPr id="15" name="Rectangle 14">
            <a:extLst>
              <a:ext uri="{FF2B5EF4-FFF2-40B4-BE49-F238E27FC236}">
                <a16:creationId xmlns:a16="http://schemas.microsoft.com/office/drawing/2014/main" id="{CB976423-1196-401D-ABB4-9164BDAC563F}"/>
              </a:ext>
            </a:extLst>
          </p:cNvPr>
          <p:cNvSpPr>
            <a:spLocks noGrp="1"/>
          </p:cNvSpPr>
          <p:nvPr/>
        </p:nvSpPr>
        <p:spPr>
          <a:xfrm>
            <a:off x="6369954" y="4672839"/>
            <a:ext cx="3792449" cy="623045"/>
          </a:xfrm>
          <a:prstGeom prst="rect">
            <a:avLst/>
          </a:prstGeom>
          <a:noFill/>
          <a:ln w="0">
            <a:noFill/>
          </a:ln>
        </p:spPr>
        <p:txBody>
          <a:bodyPr>
            <a:noAutofit/>
          </a:bodyPr>
          <a:lstStyle/>
          <a:p>
            <a:pPr defTabSz="1300277">
              <a:defRPr sz="1500" b="0">
                <a:solidFill>
                  <a:srgbClr val="555555"/>
                </a:solidFill>
                <a:latin typeface="Arial"/>
                <a:ea typeface="Arial"/>
                <a:cs typeface="Arial"/>
              </a:defRPr>
            </a:pPr>
            <a:r>
              <a:rPr sz="2133">
                <a:solidFill>
                  <a:srgbClr val="555555"/>
                </a:solidFill>
                <a:latin typeface="Arial"/>
                <a:ea typeface="Arial"/>
                <a:cs typeface="Arial"/>
              </a:rPr>
              <a:t>Customer groups</a:t>
            </a:r>
          </a:p>
        </p:txBody>
      </p:sp>
      <p:sp>
        <p:nvSpPr>
          <p:cNvPr id="16" name="Rectangle 15">
            <a:extLst>
              <a:ext uri="{FF2B5EF4-FFF2-40B4-BE49-F238E27FC236}">
                <a16:creationId xmlns:a16="http://schemas.microsoft.com/office/drawing/2014/main" id="{930962DB-9BCC-47FB-B2C2-859F22771526}"/>
              </a:ext>
            </a:extLst>
          </p:cNvPr>
          <p:cNvSpPr>
            <a:spLocks noGrp="1"/>
          </p:cNvSpPr>
          <p:nvPr/>
        </p:nvSpPr>
        <p:spPr>
          <a:xfrm>
            <a:off x="11178238" y="2099392"/>
            <a:ext cx="4469672" cy="4469672"/>
          </a:xfrm>
          <a:prstGeom prst="rect">
            <a:avLst/>
          </a:prstGeom>
          <a:solidFill>
            <a:srgbClr val="FFFFFF"/>
          </a:solidFill>
          <a:ln w="9525">
            <a:solidFill>
              <a:srgbClr val="3A9D5D"/>
            </a:solidFill>
          </a:ln>
        </p:spPr>
        <p:txBody>
          <a:bodyPr/>
          <a:lstStyle/>
          <a:p>
            <a:pPr defTabSz="1300277"/>
            <a:endParaRPr lang="en-US">
              <a:solidFill>
                <a:srgbClr val="000000"/>
              </a:solidFill>
              <a:latin typeface="Calibri"/>
              <a:cs typeface="Calibri"/>
            </a:endParaRPr>
          </a:p>
        </p:txBody>
      </p:sp>
      <p:sp>
        <p:nvSpPr>
          <p:cNvPr id="17" name="Rectangle 16">
            <a:extLst>
              <a:ext uri="{FF2B5EF4-FFF2-40B4-BE49-F238E27FC236}">
                <a16:creationId xmlns:a16="http://schemas.microsoft.com/office/drawing/2014/main" id="{A118AFC0-2F69-40AF-80A5-C6CE6BD04EC0}"/>
              </a:ext>
            </a:extLst>
          </p:cNvPr>
          <p:cNvSpPr>
            <a:spLocks noGrp="1"/>
          </p:cNvSpPr>
          <p:nvPr/>
        </p:nvSpPr>
        <p:spPr>
          <a:xfrm>
            <a:off x="11178238" y="2099392"/>
            <a:ext cx="4469672" cy="203167"/>
          </a:xfrm>
          <a:prstGeom prst="rect">
            <a:avLst/>
          </a:prstGeom>
          <a:solidFill>
            <a:srgbClr val="3A9D5D"/>
          </a:solidFill>
          <a:ln w="0">
            <a:noFill/>
          </a:ln>
        </p:spPr>
        <p:txBody>
          <a:bodyPr/>
          <a:lstStyle/>
          <a:p>
            <a:pPr defTabSz="1300277"/>
            <a:endParaRPr lang="en-US">
              <a:solidFill>
                <a:srgbClr val="000000"/>
              </a:solidFill>
              <a:latin typeface="Calibri"/>
              <a:cs typeface="Calibri"/>
            </a:endParaRPr>
          </a:p>
        </p:txBody>
      </p:sp>
      <p:sp>
        <p:nvSpPr>
          <p:cNvPr id="18" name="Rectangle 17">
            <a:extLst>
              <a:ext uri="{FF2B5EF4-FFF2-40B4-BE49-F238E27FC236}">
                <a16:creationId xmlns:a16="http://schemas.microsoft.com/office/drawing/2014/main" id="{2B001ECA-7DBB-48CA-A9F3-4B636E4FA009}"/>
              </a:ext>
            </a:extLst>
          </p:cNvPr>
          <p:cNvSpPr>
            <a:spLocks noGrp="1"/>
          </p:cNvSpPr>
          <p:nvPr/>
        </p:nvSpPr>
        <p:spPr>
          <a:xfrm>
            <a:off x="11516849" y="2641170"/>
            <a:ext cx="3792449" cy="487601"/>
          </a:xfrm>
          <a:prstGeom prst="rect">
            <a:avLst/>
          </a:prstGeom>
          <a:noFill/>
          <a:ln w="0">
            <a:noFill/>
          </a:ln>
        </p:spPr>
        <p:txBody>
          <a:bodyPr>
            <a:noAutofit/>
          </a:bodyPr>
          <a:lstStyle/>
          <a:p>
            <a:pPr defTabSz="1300277">
              <a:defRPr sz="1575" b="1">
                <a:solidFill>
                  <a:srgbClr val="3A9D5D"/>
                </a:solidFill>
                <a:latin typeface="Arial"/>
                <a:ea typeface="Arial"/>
                <a:cs typeface="Arial"/>
              </a:defRPr>
            </a:pPr>
            <a:r>
              <a:rPr sz="2240" b="1">
                <a:solidFill>
                  <a:srgbClr val="3A9D5D"/>
                </a:solidFill>
                <a:latin typeface="Arial"/>
                <a:ea typeface="Arial"/>
                <a:cs typeface="Arial"/>
              </a:rPr>
              <a:t>REINFORCEMENT</a:t>
            </a:r>
          </a:p>
        </p:txBody>
      </p:sp>
      <p:sp>
        <p:nvSpPr>
          <p:cNvPr id="19" name="Rectangle 18">
            <a:extLst>
              <a:ext uri="{FF2B5EF4-FFF2-40B4-BE49-F238E27FC236}">
                <a16:creationId xmlns:a16="http://schemas.microsoft.com/office/drawing/2014/main" id="{8DBF1358-5824-4A46-8F67-0BA47308A67A}"/>
              </a:ext>
            </a:extLst>
          </p:cNvPr>
          <p:cNvSpPr>
            <a:spLocks noGrp="1"/>
          </p:cNvSpPr>
          <p:nvPr/>
        </p:nvSpPr>
        <p:spPr>
          <a:xfrm>
            <a:off x="11516849" y="3657005"/>
            <a:ext cx="3792449" cy="609501"/>
          </a:xfrm>
          <a:prstGeom prst="rect">
            <a:avLst/>
          </a:prstGeom>
          <a:noFill/>
          <a:ln w="0">
            <a:noFill/>
          </a:ln>
        </p:spPr>
        <p:txBody>
          <a:bodyPr>
            <a:noAutofit/>
          </a:bodyPr>
          <a:lstStyle/>
          <a:p>
            <a:pPr defTabSz="1300277">
              <a:defRPr sz="1875" b="1">
                <a:solidFill>
                  <a:srgbClr val="111111"/>
                </a:solidFill>
                <a:latin typeface="Arial"/>
                <a:ea typeface="Arial"/>
                <a:cs typeface="Arial"/>
              </a:defRPr>
            </a:pPr>
            <a:r>
              <a:rPr sz="2666" b="1">
                <a:solidFill>
                  <a:srgbClr val="111111"/>
                </a:solidFill>
                <a:latin typeface="Arial"/>
                <a:ea typeface="Arial"/>
                <a:cs typeface="Arial"/>
              </a:rPr>
              <a:t>Rewards from actions</a:t>
            </a:r>
          </a:p>
        </p:txBody>
      </p:sp>
      <p:sp>
        <p:nvSpPr>
          <p:cNvPr id="20" name="Rectangle 19">
            <a:extLst>
              <a:ext uri="{FF2B5EF4-FFF2-40B4-BE49-F238E27FC236}">
                <a16:creationId xmlns:a16="http://schemas.microsoft.com/office/drawing/2014/main" id="{FA45E2EE-62D3-438A-95C1-AC416B1B42BF}"/>
              </a:ext>
            </a:extLst>
          </p:cNvPr>
          <p:cNvSpPr>
            <a:spLocks noGrp="1"/>
          </p:cNvSpPr>
          <p:nvPr/>
        </p:nvSpPr>
        <p:spPr>
          <a:xfrm>
            <a:off x="11516849" y="4672839"/>
            <a:ext cx="3792449" cy="623045"/>
          </a:xfrm>
          <a:prstGeom prst="rect">
            <a:avLst/>
          </a:prstGeom>
          <a:noFill/>
          <a:ln w="0">
            <a:noFill/>
          </a:ln>
        </p:spPr>
        <p:txBody>
          <a:bodyPr>
            <a:noAutofit/>
          </a:bodyPr>
          <a:lstStyle/>
          <a:p>
            <a:pPr defTabSz="1300277">
              <a:defRPr sz="1500" b="0">
                <a:solidFill>
                  <a:srgbClr val="555555"/>
                </a:solidFill>
                <a:latin typeface="Arial"/>
                <a:ea typeface="Arial"/>
                <a:cs typeface="Arial"/>
              </a:defRPr>
            </a:pPr>
            <a:r>
              <a:rPr sz="2133">
                <a:solidFill>
                  <a:srgbClr val="555555"/>
                </a:solidFill>
                <a:latin typeface="Arial"/>
                <a:ea typeface="Arial"/>
                <a:cs typeface="Arial"/>
              </a:rPr>
              <a:t>Game-playing agent</a:t>
            </a:r>
          </a:p>
        </p:txBody>
      </p:sp>
      <p:sp>
        <p:nvSpPr>
          <p:cNvPr id="21" name="Rectangle 20">
            <a:extLst>
              <a:ext uri="{FF2B5EF4-FFF2-40B4-BE49-F238E27FC236}">
                <a16:creationId xmlns:a16="http://schemas.microsoft.com/office/drawing/2014/main" id="{CDABCBFE-820E-4BA1-A916-01C4EFBCF654}"/>
              </a:ext>
            </a:extLst>
          </p:cNvPr>
          <p:cNvSpPr>
            <a:spLocks noGrp="1"/>
          </p:cNvSpPr>
          <p:nvPr/>
        </p:nvSpPr>
        <p:spPr>
          <a:xfrm>
            <a:off x="1629392" y="7381732"/>
            <a:ext cx="14086240" cy="623045"/>
          </a:xfrm>
          <a:prstGeom prst="rect">
            <a:avLst/>
          </a:prstGeom>
          <a:noFill/>
          <a:ln w="0">
            <a:noFill/>
          </a:ln>
        </p:spPr>
        <p:txBody>
          <a:bodyPr>
            <a:noAutofit/>
          </a:bodyPr>
          <a:lstStyle/>
          <a:p>
            <a:pPr defTabSz="1300277">
              <a:defRPr sz="1650" b="0">
                <a:solidFill>
                  <a:srgbClr val="111111"/>
                </a:solidFill>
                <a:latin typeface="Arial"/>
                <a:ea typeface="Arial"/>
                <a:cs typeface="Arial"/>
              </a:defRPr>
            </a:pPr>
            <a:r>
              <a:rPr sz="2346">
                <a:solidFill>
                  <a:srgbClr val="111111"/>
                </a:solidFill>
                <a:latin typeface="Arial"/>
                <a:ea typeface="Arial"/>
                <a:cs typeface="Arial"/>
              </a:rPr>
              <a:t>Recommender systems are applications. They may use any of these learning settings.</a:t>
            </a:r>
          </a:p>
        </p:txBody>
      </p:sp>
    </p:spTree>
    <p:extLst>
      <p:ext uri="{BB962C8B-B14F-4D97-AF65-F5344CB8AC3E}">
        <p14:creationId xmlns:p14="http://schemas.microsoft.com/office/powerpoint/2010/main" val="585436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77799-EBC7-814A-8183-E2E9E8244734}"/>
              </a:ext>
            </a:extLst>
          </p:cNvPr>
          <p:cNvSpPr>
            <a:spLocks noGrp="1"/>
          </p:cNvSpPr>
          <p:nvPr>
            <p:ph type="title"/>
          </p:nvPr>
        </p:nvSpPr>
        <p:spPr>
          <a:xfrm>
            <a:off x="4027479" y="4211209"/>
            <a:ext cx="9290065" cy="664797"/>
          </a:xfrm>
        </p:spPr>
        <p:txBody>
          <a:bodyPr>
            <a:normAutofit/>
          </a:bodyPr>
          <a:lstStyle/>
          <a:p>
            <a:r>
              <a:rPr lang="en-NO" dirty="0"/>
              <a:t>Supervised Machine Learning</a:t>
            </a:r>
          </a:p>
        </p:txBody>
      </p:sp>
      <p:sp>
        <p:nvSpPr>
          <p:cNvPr id="4" name="Footer Placeholder 3">
            <a:extLst>
              <a:ext uri="{FF2B5EF4-FFF2-40B4-BE49-F238E27FC236}">
                <a16:creationId xmlns:a16="http://schemas.microsoft.com/office/drawing/2014/main" id="{02149673-D70C-FA49-B64D-4792A18D9946}"/>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2666663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a:t>Supervised learning</a:t>
            </a:r>
            <a:endParaRPr lang="en-NO" dirty="0"/>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pic>
        <p:nvPicPr>
          <p:cNvPr id="3074" name="Picture 2" descr="supervised machine learning model: what is machine learning and why is it important?  - Verzeo">
            <a:extLst>
              <a:ext uri="{FF2B5EF4-FFF2-40B4-BE49-F238E27FC236}">
                <a16:creationId xmlns:a16="http://schemas.microsoft.com/office/drawing/2014/main" id="{3D6AD11F-0450-5541-B1C5-A7FED8D6B62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44022" y="1858430"/>
            <a:ext cx="12385655" cy="645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94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6D48A82-85FE-44CC-8D09-1A8B2BB54CFC}"/>
              </a:ext>
            </a:extLst>
          </p:cNvPr>
          <p:cNvSpPr>
            <a:spLocks noGrp="1"/>
          </p:cNvSpPr>
          <p:nvPr/>
        </p:nvSpPr>
        <p:spPr>
          <a:xfrm>
            <a:off x="4057" y="0"/>
            <a:ext cx="17336911" cy="1110646"/>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2" name="Rectangle 1">
            <a:extLst>
              <a:ext uri="{FF2B5EF4-FFF2-40B4-BE49-F238E27FC236}">
                <a16:creationId xmlns:a16="http://schemas.microsoft.com/office/drawing/2014/main" id="{BDADC26F-1632-4F2D-A53B-2462E1E99D80}"/>
              </a:ext>
            </a:extLst>
          </p:cNvPr>
          <p:cNvSpPr>
            <a:spLocks noGrp="1"/>
          </p:cNvSpPr>
          <p:nvPr/>
        </p:nvSpPr>
        <p:spPr>
          <a:xfrm>
            <a:off x="762546" y="162533"/>
            <a:ext cx="15711576" cy="785579"/>
          </a:xfrm>
          <a:prstGeom prst="rect">
            <a:avLst/>
          </a:prstGeom>
          <a:noFill/>
          <a:ln w="0">
            <a:noFill/>
          </a:ln>
        </p:spPr>
        <p:txBody>
          <a:bodyPr>
            <a:noAutofit/>
          </a:bodyPr>
          <a:lstStyle/>
          <a:p>
            <a:pPr defTabSz="1300277">
              <a:defRPr sz="2250" b="1">
                <a:solidFill>
                  <a:srgbClr val="111111"/>
                </a:solidFill>
                <a:latin typeface="Arial"/>
                <a:ea typeface="Arial"/>
                <a:cs typeface="Arial"/>
              </a:defRPr>
            </a:pPr>
            <a:r>
              <a:rPr sz="3200" b="1">
                <a:solidFill>
                  <a:srgbClr val="111111"/>
                </a:solidFill>
                <a:latin typeface="Arial"/>
                <a:ea typeface="Arial"/>
                <a:cs typeface="Arial"/>
              </a:rPr>
              <a:t>Supervised learning workflow</a:t>
            </a:r>
          </a:p>
        </p:txBody>
      </p:sp>
      <p:sp>
        <p:nvSpPr>
          <p:cNvPr id="3" name="Rectangle 2">
            <a:extLst>
              <a:ext uri="{FF2B5EF4-FFF2-40B4-BE49-F238E27FC236}">
                <a16:creationId xmlns:a16="http://schemas.microsoft.com/office/drawing/2014/main" id="{31235E18-C628-4DE2-84F7-03D7DB29DD12}"/>
              </a:ext>
            </a:extLst>
          </p:cNvPr>
          <p:cNvSpPr>
            <a:spLocks noGrp="1"/>
          </p:cNvSpPr>
          <p:nvPr/>
        </p:nvSpPr>
        <p:spPr>
          <a:xfrm>
            <a:off x="572924" y="9237323"/>
            <a:ext cx="4334228" cy="243800"/>
          </a:xfrm>
          <a:prstGeom prst="rect">
            <a:avLst/>
          </a:prstGeom>
          <a:noFill/>
          <a:ln w="0">
            <a:noFill/>
          </a:ln>
        </p:spPr>
        <p:txBody>
          <a:bodyPr>
            <a:noAutofit/>
          </a:bodyPr>
          <a:lstStyle/>
          <a:p>
            <a:pPr defTabSz="1300277">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CB4176DA-CE02-4570-929F-ECA524B6FA3A}"/>
              </a:ext>
            </a:extLst>
          </p:cNvPr>
          <p:cNvSpPr>
            <a:spLocks noGrp="1"/>
          </p:cNvSpPr>
          <p:nvPr/>
        </p:nvSpPr>
        <p:spPr>
          <a:xfrm>
            <a:off x="5828175" y="9237323"/>
            <a:ext cx="5688674" cy="243800"/>
          </a:xfrm>
          <a:prstGeom prst="rect">
            <a:avLst/>
          </a:prstGeom>
          <a:noFill/>
          <a:ln w="0">
            <a:noFill/>
          </a:ln>
        </p:spPr>
        <p:txBody>
          <a:bodyPr>
            <a:noAutofit/>
          </a:bodyPr>
          <a:lstStyle/>
          <a:p>
            <a:pPr defTabSz="1300277">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AE16EF26-A4D0-4E84-A5B5-F1E7F58E9578}"/>
              </a:ext>
            </a:extLst>
          </p:cNvPr>
          <p:cNvSpPr>
            <a:spLocks noGrp="1"/>
          </p:cNvSpPr>
          <p:nvPr/>
        </p:nvSpPr>
        <p:spPr>
          <a:xfrm>
            <a:off x="13277630" y="9237323"/>
            <a:ext cx="3453838" cy="243800"/>
          </a:xfrm>
          <a:prstGeom prst="rect">
            <a:avLst/>
          </a:prstGeom>
          <a:noFill/>
          <a:ln w="0">
            <a:noFill/>
          </a:ln>
        </p:spPr>
        <p:txBody>
          <a:bodyPr>
            <a:noAutofit/>
          </a:bodyPr>
          <a:lstStyle/>
          <a:p>
            <a:pPr defTabSz="1300277">
              <a:defRPr sz="750" b="0">
                <a:solidFill>
                  <a:srgbClr val="777777"/>
                </a:solidFill>
                <a:latin typeface="Arial"/>
                <a:ea typeface="Arial"/>
                <a:cs typeface="Arial"/>
              </a:defRPr>
            </a:pPr>
            <a:r>
              <a:rPr sz="1067">
                <a:solidFill>
                  <a:srgbClr val="777777"/>
                </a:solidFill>
                <a:latin typeface="Arial"/>
                <a:ea typeface="Arial"/>
                <a:cs typeface="Arial"/>
              </a:rPr>
              <a:t>04  MACHINE LEARNING II</a:t>
            </a:r>
          </a:p>
        </p:txBody>
      </p:sp>
      <p:sp>
        <p:nvSpPr>
          <p:cNvPr id="6" name="Rectangle 5">
            <a:extLst>
              <a:ext uri="{FF2B5EF4-FFF2-40B4-BE49-F238E27FC236}">
                <a16:creationId xmlns:a16="http://schemas.microsoft.com/office/drawing/2014/main" id="{84C243EF-0335-4B99-96D5-08BD0CFAC46B}"/>
              </a:ext>
            </a:extLst>
          </p:cNvPr>
          <p:cNvSpPr>
            <a:spLocks noGrp="1"/>
          </p:cNvSpPr>
          <p:nvPr/>
        </p:nvSpPr>
        <p:spPr>
          <a:xfrm>
            <a:off x="2061121" y="1828503"/>
            <a:ext cx="948112" cy="744945"/>
          </a:xfrm>
          <a:prstGeom prst="rect">
            <a:avLst/>
          </a:prstGeom>
          <a:noFill/>
          <a:ln w="0">
            <a:noFill/>
          </a:ln>
        </p:spPr>
        <p:txBody>
          <a:bodyPr>
            <a:noAutofit/>
          </a:bodyPr>
          <a:lstStyle/>
          <a:p>
            <a:pPr defTabSz="1300277">
              <a:defRPr sz="2625" b="1">
                <a:solidFill>
                  <a:srgbClr val="FFD900"/>
                </a:solidFill>
                <a:latin typeface="Arial"/>
                <a:ea typeface="Arial"/>
                <a:cs typeface="Arial"/>
              </a:defRPr>
            </a:pPr>
            <a:r>
              <a:rPr sz="3733" b="1">
                <a:solidFill>
                  <a:srgbClr val="FFD900"/>
                </a:solidFill>
                <a:latin typeface="Arial"/>
                <a:ea typeface="Arial"/>
                <a:cs typeface="Arial"/>
              </a:rPr>
              <a:t>1</a:t>
            </a:r>
          </a:p>
        </p:txBody>
      </p:sp>
      <p:sp>
        <p:nvSpPr>
          <p:cNvPr id="7" name="Rectangle 6">
            <a:extLst>
              <a:ext uri="{FF2B5EF4-FFF2-40B4-BE49-F238E27FC236}">
                <a16:creationId xmlns:a16="http://schemas.microsoft.com/office/drawing/2014/main" id="{1D10D913-E46D-415A-B317-95ED925D78D7}"/>
              </a:ext>
            </a:extLst>
          </p:cNvPr>
          <p:cNvSpPr>
            <a:spLocks noGrp="1"/>
          </p:cNvSpPr>
          <p:nvPr/>
        </p:nvSpPr>
        <p:spPr>
          <a:xfrm>
            <a:off x="884447" y="2912059"/>
            <a:ext cx="3301463" cy="3386115"/>
          </a:xfrm>
          <a:prstGeom prst="rect">
            <a:avLst/>
          </a:prstGeom>
          <a:solidFill>
            <a:srgbClr val="FFFFFF"/>
          </a:solidFill>
          <a:ln w="9525">
            <a:solidFill>
              <a:srgbClr val="111111"/>
            </a:solidFill>
          </a:ln>
        </p:spPr>
        <p:txBody>
          <a:bodyPr/>
          <a:lstStyle/>
          <a:p>
            <a:pPr defTabSz="1300277"/>
            <a:endParaRPr lang="en-US">
              <a:solidFill>
                <a:srgbClr val="000000"/>
              </a:solidFill>
              <a:latin typeface="Calibri"/>
              <a:cs typeface="Calibri"/>
            </a:endParaRPr>
          </a:p>
        </p:txBody>
      </p:sp>
      <p:sp>
        <p:nvSpPr>
          <p:cNvPr id="8" name="Rectangle 7">
            <a:extLst>
              <a:ext uri="{FF2B5EF4-FFF2-40B4-BE49-F238E27FC236}">
                <a16:creationId xmlns:a16="http://schemas.microsoft.com/office/drawing/2014/main" id="{9926AD87-30B0-4E0F-9A6B-4107F7A40EF7}"/>
              </a:ext>
            </a:extLst>
          </p:cNvPr>
          <p:cNvSpPr>
            <a:spLocks noGrp="1"/>
          </p:cNvSpPr>
          <p:nvPr/>
        </p:nvSpPr>
        <p:spPr>
          <a:xfrm>
            <a:off x="1128248" y="3453838"/>
            <a:ext cx="2813862" cy="568867"/>
          </a:xfrm>
          <a:prstGeom prst="rect">
            <a:avLst/>
          </a:prstGeom>
          <a:noFill/>
          <a:ln w="0">
            <a:noFill/>
          </a:ln>
        </p:spPr>
        <p:txBody>
          <a:bodyPr>
            <a:noAutofit/>
          </a:bodyPr>
          <a:lstStyle/>
          <a:p>
            <a:pPr defTabSz="1300277">
              <a:defRPr sz="1575" b="1">
                <a:solidFill>
                  <a:srgbClr val="111111"/>
                </a:solidFill>
                <a:latin typeface="Arial"/>
                <a:ea typeface="Arial"/>
                <a:cs typeface="Arial"/>
              </a:defRPr>
            </a:pPr>
            <a:r>
              <a:rPr sz="2240" b="1">
                <a:solidFill>
                  <a:srgbClr val="111111"/>
                </a:solidFill>
                <a:latin typeface="Arial"/>
                <a:ea typeface="Arial"/>
                <a:cs typeface="Arial"/>
              </a:rPr>
              <a:t>Define</a:t>
            </a:r>
          </a:p>
        </p:txBody>
      </p:sp>
      <p:sp>
        <p:nvSpPr>
          <p:cNvPr id="9" name="Rectangle 8">
            <a:extLst>
              <a:ext uri="{FF2B5EF4-FFF2-40B4-BE49-F238E27FC236}">
                <a16:creationId xmlns:a16="http://schemas.microsoft.com/office/drawing/2014/main" id="{606F69DA-4C60-4F47-A267-45A64B58BA44}"/>
              </a:ext>
            </a:extLst>
          </p:cNvPr>
          <p:cNvSpPr>
            <a:spLocks noGrp="1"/>
          </p:cNvSpPr>
          <p:nvPr/>
        </p:nvSpPr>
        <p:spPr>
          <a:xfrm>
            <a:off x="1223059" y="4537394"/>
            <a:ext cx="2624240" cy="1110646"/>
          </a:xfrm>
          <a:prstGeom prst="rect">
            <a:avLst/>
          </a:prstGeom>
          <a:noFill/>
          <a:ln w="0">
            <a:noFill/>
          </a:ln>
        </p:spPr>
        <p:txBody>
          <a:bodyPr>
            <a:noAutofit/>
          </a:bodyPr>
          <a:lstStyle/>
          <a:p>
            <a:pPr defTabSz="1300277">
              <a:defRPr sz="1350" b="0">
                <a:solidFill>
                  <a:srgbClr val="5C5C5C"/>
                </a:solidFill>
                <a:latin typeface="Arial"/>
                <a:ea typeface="Arial"/>
                <a:cs typeface="Arial"/>
              </a:defRPr>
            </a:pPr>
            <a:r>
              <a:rPr sz="1920">
                <a:solidFill>
                  <a:srgbClr val="5C5C5C"/>
                </a:solidFill>
                <a:latin typeface="Arial"/>
                <a:ea typeface="Arial"/>
                <a:cs typeface="Arial"/>
              </a:rPr>
              <a:t>Choose features and target</a:t>
            </a:r>
          </a:p>
        </p:txBody>
      </p:sp>
      <p:sp>
        <p:nvSpPr>
          <p:cNvPr id="10" name="Rectangle 9">
            <a:extLst>
              <a:ext uri="{FF2B5EF4-FFF2-40B4-BE49-F238E27FC236}">
                <a16:creationId xmlns:a16="http://schemas.microsoft.com/office/drawing/2014/main" id="{57634C19-3FDC-47B9-A3C1-D5D37639472B}"/>
              </a:ext>
            </a:extLst>
          </p:cNvPr>
          <p:cNvSpPr>
            <a:spLocks noGrp="1"/>
          </p:cNvSpPr>
          <p:nvPr/>
        </p:nvSpPr>
        <p:spPr>
          <a:xfrm>
            <a:off x="4226543" y="4266505"/>
            <a:ext cx="528234" cy="541778"/>
          </a:xfrm>
          <a:prstGeom prst="rect">
            <a:avLst/>
          </a:prstGeom>
          <a:noFill/>
          <a:ln w="0">
            <a:noFill/>
          </a:ln>
        </p:spPr>
        <p:txBody>
          <a:bodyPr>
            <a:noAutofit/>
          </a:bodyPr>
          <a:lstStyle/>
          <a:p>
            <a:pPr defTabSz="1300277">
              <a:defRPr sz="2100" b="1">
                <a:solidFill>
                  <a:srgbClr val="111111"/>
                </a:solidFill>
                <a:latin typeface="Arial"/>
                <a:ea typeface="Arial"/>
                <a:cs typeface="Arial"/>
              </a:defRPr>
            </a:pPr>
            <a:r>
              <a:rPr sz="2986" b="1">
                <a:solidFill>
                  <a:srgbClr val="111111"/>
                </a:solidFill>
                <a:latin typeface="Arial"/>
                <a:ea typeface="Arial"/>
                <a:cs typeface="Arial"/>
              </a:rPr>
              <a:t>→</a:t>
            </a:r>
          </a:p>
        </p:txBody>
      </p:sp>
      <p:sp>
        <p:nvSpPr>
          <p:cNvPr id="11" name="Rectangle 10">
            <a:extLst>
              <a:ext uri="{FF2B5EF4-FFF2-40B4-BE49-F238E27FC236}">
                <a16:creationId xmlns:a16="http://schemas.microsoft.com/office/drawing/2014/main" id="{8B8DC35D-EA70-46A8-B8B5-C979FEAB4103}"/>
              </a:ext>
            </a:extLst>
          </p:cNvPr>
          <p:cNvSpPr>
            <a:spLocks noGrp="1"/>
          </p:cNvSpPr>
          <p:nvPr/>
        </p:nvSpPr>
        <p:spPr>
          <a:xfrm>
            <a:off x="5972085" y="1828503"/>
            <a:ext cx="948112" cy="744945"/>
          </a:xfrm>
          <a:prstGeom prst="rect">
            <a:avLst/>
          </a:prstGeom>
          <a:noFill/>
          <a:ln w="0">
            <a:noFill/>
          </a:ln>
        </p:spPr>
        <p:txBody>
          <a:bodyPr>
            <a:noAutofit/>
          </a:bodyPr>
          <a:lstStyle/>
          <a:p>
            <a:pPr defTabSz="1300277">
              <a:defRPr sz="2625" b="1">
                <a:solidFill>
                  <a:srgbClr val="FFD900"/>
                </a:solidFill>
                <a:latin typeface="Arial"/>
                <a:ea typeface="Arial"/>
                <a:cs typeface="Arial"/>
              </a:defRPr>
            </a:pPr>
            <a:r>
              <a:rPr sz="3733" b="1">
                <a:solidFill>
                  <a:srgbClr val="FFD900"/>
                </a:solidFill>
                <a:latin typeface="Arial"/>
                <a:ea typeface="Arial"/>
                <a:cs typeface="Arial"/>
              </a:rPr>
              <a:t>2</a:t>
            </a:r>
          </a:p>
        </p:txBody>
      </p:sp>
      <p:sp>
        <p:nvSpPr>
          <p:cNvPr id="12" name="Rectangle 11">
            <a:extLst>
              <a:ext uri="{FF2B5EF4-FFF2-40B4-BE49-F238E27FC236}">
                <a16:creationId xmlns:a16="http://schemas.microsoft.com/office/drawing/2014/main" id="{B795384F-B44A-4BD8-BE7A-E16BC8B79DAD}"/>
              </a:ext>
            </a:extLst>
          </p:cNvPr>
          <p:cNvSpPr>
            <a:spLocks noGrp="1"/>
          </p:cNvSpPr>
          <p:nvPr/>
        </p:nvSpPr>
        <p:spPr>
          <a:xfrm>
            <a:off x="4795411" y="2912059"/>
            <a:ext cx="3301463" cy="3386115"/>
          </a:xfrm>
          <a:prstGeom prst="rect">
            <a:avLst/>
          </a:prstGeom>
          <a:solidFill>
            <a:srgbClr val="FFFFFF"/>
          </a:solidFill>
          <a:ln w="9525">
            <a:solidFill>
              <a:srgbClr val="111111"/>
            </a:solidFill>
          </a:ln>
        </p:spPr>
        <p:txBody>
          <a:bodyPr/>
          <a:lstStyle/>
          <a:p>
            <a:pPr defTabSz="1300277"/>
            <a:endParaRPr lang="en-US">
              <a:solidFill>
                <a:srgbClr val="000000"/>
              </a:solidFill>
              <a:latin typeface="Calibri"/>
              <a:cs typeface="Calibri"/>
            </a:endParaRPr>
          </a:p>
        </p:txBody>
      </p:sp>
      <p:sp>
        <p:nvSpPr>
          <p:cNvPr id="13" name="Rectangle 12">
            <a:extLst>
              <a:ext uri="{FF2B5EF4-FFF2-40B4-BE49-F238E27FC236}">
                <a16:creationId xmlns:a16="http://schemas.microsoft.com/office/drawing/2014/main" id="{A18164A8-4B88-4BA0-B349-886C713C6515}"/>
              </a:ext>
            </a:extLst>
          </p:cNvPr>
          <p:cNvSpPr>
            <a:spLocks noGrp="1"/>
          </p:cNvSpPr>
          <p:nvPr/>
        </p:nvSpPr>
        <p:spPr>
          <a:xfrm>
            <a:off x="5039211" y="3453838"/>
            <a:ext cx="2813862" cy="568867"/>
          </a:xfrm>
          <a:prstGeom prst="rect">
            <a:avLst/>
          </a:prstGeom>
          <a:noFill/>
          <a:ln w="0">
            <a:noFill/>
          </a:ln>
        </p:spPr>
        <p:txBody>
          <a:bodyPr>
            <a:noAutofit/>
          </a:bodyPr>
          <a:lstStyle/>
          <a:p>
            <a:pPr defTabSz="1300277">
              <a:defRPr sz="1575" b="1">
                <a:solidFill>
                  <a:srgbClr val="111111"/>
                </a:solidFill>
                <a:latin typeface="Arial"/>
                <a:ea typeface="Arial"/>
                <a:cs typeface="Arial"/>
              </a:defRPr>
            </a:pPr>
            <a:r>
              <a:rPr sz="2240" b="1">
                <a:solidFill>
                  <a:srgbClr val="111111"/>
                </a:solidFill>
                <a:latin typeface="Arial"/>
                <a:ea typeface="Arial"/>
                <a:cs typeface="Arial"/>
              </a:rPr>
              <a:t>Split</a:t>
            </a:r>
          </a:p>
        </p:txBody>
      </p:sp>
      <p:sp>
        <p:nvSpPr>
          <p:cNvPr id="14" name="Rectangle 13">
            <a:extLst>
              <a:ext uri="{FF2B5EF4-FFF2-40B4-BE49-F238E27FC236}">
                <a16:creationId xmlns:a16="http://schemas.microsoft.com/office/drawing/2014/main" id="{6F716DA7-7114-4940-B9AB-12E1D36342D1}"/>
              </a:ext>
            </a:extLst>
          </p:cNvPr>
          <p:cNvSpPr>
            <a:spLocks noGrp="1"/>
          </p:cNvSpPr>
          <p:nvPr/>
        </p:nvSpPr>
        <p:spPr>
          <a:xfrm>
            <a:off x="5134022" y="4537394"/>
            <a:ext cx="2624240" cy="1110646"/>
          </a:xfrm>
          <a:prstGeom prst="rect">
            <a:avLst/>
          </a:prstGeom>
          <a:noFill/>
          <a:ln w="0">
            <a:noFill/>
          </a:ln>
        </p:spPr>
        <p:txBody>
          <a:bodyPr>
            <a:noAutofit/>
          </a:bodyPr>
          <a:lstStyle/>
          <a:p>
            <a:pPr defTabSz="1300277">
              <a:defRPr sz="1350" b="0">
                <a:solidFill>
                  <a:srgbClr val="5C5C5C"/>
                </a:solidFill>
                <a:latin typeface="Arial"/>
                <a:ea typeface="Arial"/>
                <a:cs typeface="Arial"/>
              </a:defRPr>
            </a:pPr>
            <a:r>
              <a:rPr sz="1920">
                <a:solidFill>
                  <a:srgbClr val="5C5C5C"/>
                </a:solidFill>
                <a:latin typeface="Arial"/>
                <a:ea typeface="Arial"/>
                <a:cs typeface="Arial"/>
              </a:rPr>
              <a:t>Separate training and test data</a:t>
            </a:r>
          </a:p>
        </p:txBody>
      </p:sp>
      <p:sp>
        <p:nvSpPr>
          <p:cNvPr id="15" name="Rectangle 14">
            <a:extLst>
              <a:ext uri="{FF2B5EF4-FFF2-40B4-BE49-F238E27FC236}">
                <a16:creationId xmlns:a16="http://schemas.microsoft.com/office/drawing/2014/main" id="{B316941C-BD37-490B-9DB1-D190D0BDF07C}"/>
              </a:ext>
            </a:extLst>
          </p:cNvPr>
          <p:cNvSpPr>
            <a:spLocks noGrp="1"/>
          </p:cNvSpPr>
          <p:nvPr/>
        </p:nvSpPr>
        <p:spPr>
          <a:xfrm>
            <a:off x="8137507" y="4266505"/>
            <a:ext cx="528234" cy="541778"/>
          </a:xfrm>
          <a:prstGeom prst="rect">
            <a:avLst/>
          </a:prstGeom>
          <a:noFill/>
          <a:ln w="0">
            <a:noFill/>
          </a:ln>
        </p:spPr>
        <p:txBody>
          <a:bodyPr>
            <a:noAutofit/>
          </a:bodyPr>
          <a:lstStyle/>
          <a:p>
            <a:pPr defTabSz="1300277">
              <a:defRPr sz="2100" b="1">
                <a:solidFill>
                  <a:srgbClr val="111111"/>
                </a:solidFill>
                <a:latin typeface="Arial"/>
                <a:ea typeface="Arial"/>
                <a:cs typeface="Arial"/>
              </a:defRPr>
            </a:pPr>
            <a:r>
              <a:rPr sz="2986" b="1">
                <a:solidFill>
                  <a:srgbClr val="111111"/>
                </a:solidFill>
                <a:latin typeface="Arial"/>
                <a:ea typeface="Arial"/>
                <a:cs typeface="Arial"/>
              </a:rPr>
              <a:t>→</a:t>
            </a:r>
          </a:p>
        </p:txBody>
      </p:sp>
      <p:sp>
        <p:nvSpPr>
          <p:cNvPr id="16" name="Rectangle 15">
            <a:extLst>
              <a:ext uri="{FF2B5EF4-FFF2-40B4-BE49-F238E27FC236}">
                <a16:creationId xmlns:a16="http://schemas.microsoft.com/office/drawing/2014/main" id="{8240A330-EF0F-45FD-ABD7-224C5B820DA3}"/>
              </a:ext>
            </a:extLst>
          </p:cNvPr>
          <p:cNvSpPr>
            <a:spLocks noGrp="1"/>
          </p:cNvSpPr>
          <p:nvPr/>
        </p:nvSpPr>
        <p:spPr>
          <a:xfrm>
            <a:off x="9883049" y="1828503"/>
            <a:ext cx="948112" cy="744945"/>
          </a:xfrm>
          <a:prstGeom prst="rect">
            <a:avLst/>
          </a:prstGeom>
          <a:noFill/>
          <a:ln w="0">
            <a:noFill/>
          </a:ln>
        </p:spPr>
        <p:txBody>
          <a:bodyPr>
            <a:noAutofit/>
          </a:bodyPr>
          <a:lstStyle/>
          <a:p>
            <a:pPr defTabSz="1300277">
              <a:defRPr sz="2625" b="1">
                <a:solidFill>
                  <a:srgbClr val="FFD900"/>
                </a:solidFill>
                <a:latin typeface="Arial"/>
                <a:ea typeface="Arial"/>
                <a:cs typeface="Arial"/>
              </a:defRPr>
            </a:pPr>
            <a:r>
              <a:rPr sz="3733" b="1">
                <a:solidFill>
                  <a:srgbClr val="FFD900"/>
                </a:solidFill>
                <a:latin typeface="Arial"/>
                <a:ea typeface="Arial"/>
                <a:cs typeface="Arial"/>
              </a:rPr>
              <a:t>3</a:t>
            </a:r>
          </a:p>
        </p:txBody>
      </p:sp>
      <p:sp>
        <p:nvSpPr>
          <p:cNvPr id="17" name="Rectangle 16">
            <a:extLst>
              <a:ext uri="{FF2B5EF4-FFF2-40B4-BE49-F238E27FC236}">
                <a16:creationId xmlns:a16="http://schemas.microsoft.com/office/drawing/2014/main" id="{A71BFB47-1E5D-4E48-8D2E-E61B0B0980B2}"/>
              </a:ext>
            </a:extLst>
          </p:cNvPr>
          <p:cNvSpPr>
            <a:spLocks noGrp="1"/>
          </p:cNvSpPr>
          <p:nvPr/>
        </p:nvSpPr>
        <p:spPr>
          <a:xfrm>
            <a:off x="8706375" y="2912059"/>
            <a:ext cx="3301463" cy="3386115"/>
          </a:xfrm>
          <a:prstGeom prst="rect">
            <a:avLst/>
          </a:prstGeom>
          <a:solidFill>
            <a:srgbClr val="FFFFFF"/>
          </a:solidFill>
          <a:ln w="9525">
            <a:solidFill>
              <a:srgbClr val="111111"/>
            </a:solidFill>
          </a:ln>
        </p:spPr>
        <p:txBody>
          <a:bodyPr/>
          <a:lstStyle/>
          <a:p>
            <a:pPr defTabSz="1300277"/>
            <a:endParaRPr lang="en-US">
              <a:solidFill>
                <a:srgbClr val="000000"/>
              </a:solidFill>
              <a:latin typeface="Calibri"/>
              <a:cs typeface="Calibri"/>
            </a:endParaRPr>
          </a:p>
        </p:txBody>
      </p:sp>
      <p:sp>
        <p:nvSpPr>
          <p:cNvPr id="18" name="Rectangle 17">
            <a:extLst>
              <a:ext uri="{FF2B5EF4-FFF2-40B4-BE49-F238E27FC236}">
                <a16:creationId xmlns:a16="http://schemas.microsoft.com/office/drawing/2014/main" id="{E9662B7B-7EF3-4571-AF17-FACFB9DBAB5A}"/>
              </a:ext>
            </a:extLst>
          </p:cNvPr>
          <p:cNvSpPr>
            <a:spLocks noGrp="1"/>
          </p:cNvSpPr>
          <p:nvPr/>
        </p:nvSpPr>
        <p:spPr>
          <a:xfrm>
            <a:off x="8950175" y="3453838"/>
            <a:ext cx="2813862" cy="568867"/>
          </a:xfrm>
          <a:prstGeom prst="rect">
            <a:avLst/>
          </a:prstGeom>
          <a:noFill/>
          <a:ln w="0">
            <a:noFill/>
          </a:ln>
        </p:spPr>
        <p:txBody>
          <a:bodyPr>
            <a:noAutofit/>
          </a:bodyPr>
          <a:lstStyle/>
          <a:p>
            <a:pPr defTabSz="1300277">
              <a:defRPr sz="1575" b="1">
                <a:solidFill>
                  <a:srgbClr val="111111"/>
                </a:solidFill>
                <a:latin typeface="Arial"/>
                <a:ea typeface="Arial"/>
                <a:cs typeface="Arial"/>
              </a:defRPr>
            </a:pPr>
            <a:r>
              <a:rPr sz="2240" b="1">
                <a:solidFill>
                  <a:srgbClr val="111111"/>
                </a:solidFill>
                <a:latin typeface="Arial"/>
                <a:ea typeface="Arial"/>
                <a:cs typeface="Arial"/>
              </a:rPr>
              <a:t>Train</a:t>
            </a:r>
          </a:p>
        </p:txBody>
      </p:sp>
      <p:sp>
        <p:nvSpPr>
          <p:cNvPr id="19" name="Rectangle 18">
            <a:extLst>
              <a:ext uri="{FF2B5EF4-FFF2-40B4-BE49-F238E27FC236}">
                <a16:creationId xmlns:a16="http://schemas.microsoft.com/office/drawing/2014/main" id="{D454369C-7FE5-4A9B-8B3B-58D3050D238C}"/>
              </a:ext>
            </a:extLst>
          </p:cNvPr>
          <p:cNvSpPr>
            <a:spLocks noGrp="1"/>
          </p:cNvSpPr>
          <p:nvPr/>
        </p:nvSpPr>
        <p:spPr>
          <a:xfrm>
            <a:off x="9044986" y="4537394"/>
            <a:ext cx="2624240" cy="1110646"/>
          </a:xfrm>
          <a:prstGeom prst="rect">
            <a:avLst/>
          </a:prstGeom>
          <a:noFill/>
          <a:ln w="0">
            <a:noFill/>
          </a:ln>
        </p:spPr>
        <p:txBody>
          <a:bodyPr>
            <a:noAutofit/>
          </a:bodyPr>
          <a:lstStyle/>
          <a:p>
            <a:pPr defTabSz="1300277">
              <a:defRPr sz="1350" b="0">
                <a:solidFill>
                  <a:srgbClr val="5C5C5C"/>
                </a:solidFill>
                <a:latin typeface="Arial"/>
                <a:ea typeface="Arial"/>
                <a:cs typeface="Arial"/>
              </a:defRPr>
            </a:pPr>
            <a:r>
              <a:rPr sz="1920">
                <a:solidFill>
                  <a:srgbClr val="5C5C5C"/>
                </a:solidFill>
                <a:latin typeface="Arial"/>
                <a:ea typeface="Arial"/>
                <a:cs typeface="Arial"/>
              </a:rPr>
              <a:t>Fit the algorithm</a:t>
            </a:r>
          </a:p>
        </p:txBody>
      </p:sp>
      <p:sp>
        <p:nvSpPr>
          <p:cNvPr id="20" name="Rectangle 19">
            <a:extLst>
              <a:ext uri="{FF2B5EF4-FFF2-40B4-BE49-F238E27FC236}">
                <a16:creationId xmlns:a16="http://schemas.microsoft.com/office/drawing/2014/main" id="{F053F843-5DFF-4B81-BFFC-18C495A3F063}"/>
              </a:ext>
            </a:extLst>
          </p:cNvPr>
          <p:cNvSpPr>
            <a:spLocks noGrp="1"/>
          </p:cNvSpPr>
          <p:nvPr/>
        </p:nvSpPr>
        <p:spPr>
          <a:xfrm>
            <a:off x="12048469" y="4266505"/>
            <a:ext cx="528234" cy="541778"/>
          </a:xfrm>
          <a:prstGeom prst="rect">
            <a:avLst/>
          </a:prstGeom>
          <a:noFill/>
          <a:ln w="0">
            <a:noFill/>
          </a:ln>
        </p:spPr>
        <p:txBody>
          <a:bodyPr>
            <a:noAutofit/>
          </a:bodyPr>
          <a:lstStyle/>
          <a:p>
            <a:pPr defTabSz="1300277">
              <a:defRPr sz="2100" b="1">
                <a:solidFill>
                  <a:srgbClr val="111111"/>
                </a:solidFill>
                <a:latin typeface="Arial"/>
                <a:ea typeface="Arial"/>
                <a:cs typeface="Arial"/>
              </a:defRPr>
            </a:pPr>
            <a:r>
              <a:rPr sz="2986" b="1">
                <a:solidFill>
                  <a:srgbClr val="111111"/>
                </a:solidFill>
                <a:latin typeface="Arial"/>
                <a:ea typeface="Arial"/>
                <a:cs typeface="Arial"/>
              </a:rPr>
              <a:t>→</a:t>
            </a:r>
          </a:p>
        </p:txBody>
      </p:sp>
      <p:sp>
        <p:nvSpPr>
          <p:cNvPr id="21" name="Rectangle 20">
            <a:extLst>
              <a:ext uri="{FF2B5EF4-FFF2-40B4-BE49-F238E27FC236}">
                <a16:creationId xmlns:a16="http://schemas.microsoft.com/office/drawing/2014/main" id="{5AF3AD36-4697-40A5-ABC5-600433BB476F}"/>
              </a:ext>
            </a:extLst>
          </p:cNvPr>
          <p:cNvSpPr>
            <a:spLocks noGrp="1"/>
          </p:cNvSpPr>
          <p:nvPr/>
        </p:nvSpPr>
        <p:spPr>
          <a:xfrm>
            <a:off x="13794012" y="1828503"/>
            <a:ext cx="948112" cy="744945"/>
          </a:xfrm>
          <a:prstGeom prst="rect">
            <a:avLst/>
          </a:prstGeom>
          <a:noFill/>
          <a:ln w="0">
            <a:noFill/>
          </a:ln>
        </p:spPr>
        <p:txBody>
          <a:bodyPr>
            <a:noAutofit/>
          </a:bodyPr>
          <a:lstStyle/>
          <a:p>
            <a:pPr defTabSz="1300277">
              <a:defRPr sz="2625" b="1">
                <a:solidFill>
                  <a:srgbClr val="FFD900"/>
                </a:solidFill>
                <a:latin typeface="Arial"/>
                <a:ea typeface="Arial"/>
                <a:cs typeface="Arial"/>
              </a:defRPr>
            </a:pPr>
            <a:r>
              <a:rPr sz="3733" b="1">
                <a:solidFill>
                  <a:srgbClr val="FFD900"/>
                </a:solidFill>
                <a:latin typeface="Arial"/>
                <a:ea typeface="Arial"/>
                <a:cs typeface="Arial"/>
              </a:rPr>
              <a:t>4</a:t>
            </a:r>
          </a:p>
        </p:txBody>
      </p:sp>
      <p:sp>
        <p:nvSpPr>
          <p:cNvPr id="22" name="Rectangle 21">
            <a:extLst>
              <a:ext uri="{FF2B5EF4-FFF2-40B4-BE49-F238E27FC236}">
                <a16:creationId xmlns:a16="http://schemas.microsoft.com/office/drawing/2014/main" id="{27E602D0-8BE8-42AD-B388-3C38DDBE7C04}"/>
              </a:ext>
            </a:extLst>
          </p:cNvPr>
          <p:cNvSpPr>
            <a:spLocks noGrp="1"/>
          </p:cNvSpPr>
          <p:nvPr/>
        </p:nvSpPr>
        <p:spPr>
          <a:xfrm>
            <a:off x="12617337" y="2912059"/>
            <a:ext cx="3301463" cy="3386115"/>
          </a:xfrm>
          <a:prstGeom prst="rect">
            <a:avLst/>
          </a:prstGeom>
          <a:solidFill>
            <a:srgbClr val="FFFFFF"/>
          </a:solidFill>
          <a:ln w="9525">
            <a:solidFill>
              <a:srgbClr val="111111"/>
            </a:solidFill>
          </a:ln>
        </p:spPr>
        <p:txBody>
          <a:bodyPr/>
          <a:lstStyle/>
          <a:p>
            <a:pPr defTabSz="1300277"/>
            <a:endParaRPr lang="en-US">
              <a:solidFill>
                <a:srgbClr val="000000"/>
              </a:solidFill>
              <a:latin typeface="Calibri"/>
              <a:cs typeface="Calibri"/>
            </a:endParaRPr>
          </a:p>
        </p:txBody>
      </p:sp>
      <p:sp>
        <p:nvSpPr>
          <p:cNvPr id="23" name="Rectangle 22">
            <a:extLst>
              <a:ext uri="{FF2B5EF4-FFF2-40B4-BE49-F238E27FC236}">
                <a16:creationId xmlns:a16="http://schemas.microsoft.com/office/drawing/2014/main" id="{92DC839D-8837-4ABB-ABF3-3EA60B7FAA10}"/>
              </a:ext>
            </a:extLst>
          </p:cNvPr>
          <p:cNvSpPr>
            <a:spLocks noGrp="1"/>
          </p:cNvSpPr>
          <p:nvPr/>
        </p:nvSpPr>
        <p:spPr>
          <a:xfrm>
            <a:off x="12861137" y="3453838"/>
            <a:ext cx="2813862" cy="568867"/>
          </a:xfrm>
          <a:prstGeom prst="rect">
            <a:avLst/>
          </a:prstGeom>
          <a:noFill/>
          <a:ln w="0">
            <a:noFill/>
          </a:ln>
        </p:spPr>
        <p:txBody>
          <a:bodyPr>
            <a:noAutofit/>
          </a:bodyPr>
          <a:lstStyle/>
          <a:p>
            <a:pPr defTabSz="1300277">
              <a:defRPr sz="1575" b="1">
                <a:solidFill>
                  <a:srgbClr val="111111"/>
                </a:solidFill>
                <a:latin typeface="Arial"/>
                <a:ea typeface="Arial"/>
                <a:cs typeface="Arial"/>
              </a:defRPr>
            </a:pPr>
            <a:r>
              <a:rPr sz="2240" b="1">
                <a:solidFill>
                  <a:srgbClr val="111111"/>
                </a:solidFill>
                <a:latin typeface="Arial"/>
                <a:ea typeface="Arial"/>
                <a:cs typeface="Arial"/>
              </a:rPr>
              <a:t>Evaluate</a:t>
            </a:r>
          </a:p>
        </p:txBody>
      </p:sp>
      <p:sp>
        <p:nvSpPr>
          <p:cNvPr id="24" name="Rectangle 23">
            <a:extLst>
              <a:ext uri="{FF2B5EF4-FFF2-40B4-BE49-F238E27FC236}">
                <a16:creationId xmlns:a16="http://schemas.microsoft.com/office/drawing/2014/main" id="{6A0AB109-5733-4D07-AF2B-FA012A3C0F3A}"/>
              </a:ext>
            </a:extLst>
          </p:cNvPr>
          <p:cNvSpPr>
            <a:spLocks noGrp="1"/>
          </p:cNvSpPr>
          <p:nvPr/>
        </p:nvSpPr>
        <p:spPr>
          <a:xfrm>
            <a:off x="12955948" y="4537394"/>
            <a:ext cx="2624240" cy="1110646"/>
          </a:xfrm>
          <a:prstGeom prst="rect">
            <a:avLst/>
          </a:prstGeom>
          <a:noFill/>
          <a:ln w="0">
            <a:noFill/>
          </a:ln>
        </p:spPr>
        <p:txBody>
          <a:bodyPr>
            <a:noAutofit/>
          </a:bodyPr>
          <a:lstStyle/>
          <a:p>
            <a:pPr defTabSz="1300277">
              <a:defRPr sz="1350" b="0">
                <a:solidFill>
                  <a:srgbClr val="5C5C5C"/>
                </a:solidFill>
                <a:latin typeface="Arial"/>
                <a:ea typeface="Arial"/>
                <a:cs typeface="Arial"/>
              </a:defRPr>
            </a:pPr>
            <a:r>
              <a:rPr sz="1920">
                <a:solidFill>
                  <a:srgbClr val="5C5C5C"/>
                </a:solidFill>
                <a:latin typeface="Arial"/>
                <a:ea typeface="Arial"/>
                <a:cs typeface="Arial"/>
              </a:rPr>
              <a:t>Test on unseen examples</a:t>
            </a:r>
          </a:p>
        </p:txBody>
      </p:sp>
    </p:spTree>
    <p:extLst>
      <p:ext uri="{BB962C8B-B14F-4D97-AF65-F5344CB8AC3E}">
        <p14:creationId xmlns:p14="http://schemas.microsoft.com/office/powerpoint/2010/main" val="416018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B0049-4A29-916E-B424-CD3F7A3A8643}"/>
              </a:ext>
            </a:extLst>
          </p:cNvPr>
          <p:cNvSpPr>
            <a:spLocks noGrp="1"/>
          </p:cNvSpPr>
          <p:nvPr>
            <p:ph type="title"/>
          </p:nvPr>
        </p:nvSpPr>
        <p:spPr>
          <a:xfrm>
            <a:off x="2267522" y="914195"/>
            <a:ext cx="14363128" cy="664797"/>
          </a:xfrm>
        </p:spPr>
        <p:txBody>
          <a:bodyPr/>
          <a:lstStyle/>
          <a:p>
            <a:r>
              <a:rPr lang="en-NO" dirty="0"/>
              <a:t>How to work with Supervised machine learning</a:t>
            </a:r>
          </a:p>
        </p:txBody>
      </p:sp>
      <p:sp>
        <p:nvSpPr>
          <p:cNvPr id="3" name="Content Placeholder 2">
            <a:extLst>
              <a:ext uri="{FF2B5EF4-FFF2-40B4-BE49-F238E27FC236}">
                <a16:creationId xmlns:a16="http://schemas.microsoft.com/office/drawing/2014/main" id="{A82A518B-EEC0-0918-3C1A-B8BCFE1FEE5D}"/>
              </a:ext>
            </a:extLst>
          </p:cNvPr>
          <p:cNvSpPr>
            <a:spLocks noGrp="1"/>
          </p:cNvSpPr>
          <p:nvPr>
            <p:ph idx="1"/>
          </p:nvPr>
        </p:nvSpPr>
        <p:spPr>
          <a:xfrm>
            <a:off x="972122" y="3492436"/>
            <a:ext cx="5619178" cy="4680585"/>
          </a:xfrm>
        </p:spPr>
        <p:txBody>
          <a:bodyPr/>
          <a:lstStyle/>
          <a:p>
            <a:r>
              <a:rPr lang="en-NO" dirty="0"/>
              <a:t>Data collection</a:t>
            </a:r>
          </a:p>
          <a:p>
            <a:r>
              <a:rPr lang="en-NO" dirty="0"/>
              <a:t>Data processing</a:t>
            </a:r>
          </a:p>
          <a:p>
            <a:pPr lvl="1"/>
            <a:r>
              <a:rPr lang="en-NO" dirty="0"/>
              <a:t>Data cleaning</a:t>
            </a:r>
          </a:p>
          <a:p>
            <a:pPr lvl="1"/>
            <a:r>
              <a:rPr lang="en-NO" dirty="0"/>
              <a:t>Data labeling</a:t>
            </a:r>
          </a:p>
          <a:p>
            <a:pPr lvl="1"/>
            <a:r>
              <a:rPr lang="en-NO" dirty="0"/>
              <a:t>Feature Engineering</a:t>
            </a:r>
          </a:p>
          <a:p>
            <a:pPr lvl="1"/>
            <a:r>
              <a:rPr lang="en-NO" dirty="0"/>
              <a:t>Feature scaling</a:t>
            </a:r>
          </a:p>
          <a:p>
            <a:pPr lvl="1"/>
            <a:r>
              <a:rPr lang="en-NO" dirty="0"/>
              <a:t>Data splitting (training, validation and test sets)</a:t>
            </a:r>
          </a:p>
        </p:txBody>
      </p:sp>
      <p:sp>
        <p:nvSpPr>
          <p:cNvPr id="4" name="Footer Placeholder 3">
            <a:extLst>
              <a:ext uri="{FF2B5EF4-FFF2-40B4-BE49-F238E27FC236}">
                <a16:creationId xmlns:a16="http://schemas.microsoft.com/office/drawing/2014/main" id="{E9D81143-5C1C-72E9-4FC4-1B6AA882C625}"/>
              </a:ext>
            </a:extLst>
          </p:cNvPr>
          <p:cNvSpPr>
            <a:spLocks noGrp="1"/>
          </p:cNvSpPr>
          <p:nvPr>
            <p:ph type="ftr" sz="quarter" idx="11"/>
          </p:nvPr>
        </p:nvSpPr>
        <p:spPr/>
        <p:txBody>
          <a:bodyPr/>
          <a:lstStyle/>
          <a:p>
            <a:r>
              <a:rPr lang="nb-NO"/>
              <a:t>DAVE3625- Intro to A.I. by Umair M.I</a:t>
            </a:r>
          </a:p>
        </p:txBody>
      </p:sp>
      <p:sp>
        <p:nvSpPr>
          <p:cNvPr id="5" name="Content Placeholder 2">
            <a:extLst>
              <a:ext uri="{FF2B5EF4-FFF2-40B4-BE49-F238E27FC236}">
                <a16:creationId xmlns:a16="http://schemas.microsoft.com/office/drawing/2014/main" id="{B7E6E72D-087E-03FC-FB60-36755E9C074E}"/>
              </a:ext>
            </a:extLst>
          </p:cNvPr>
          <p:cNvSpPr txBox="1">
            <a:spLocks/>
          </p:cNvSpPr>
          <p:nvPr/>
        </p:nvSpPr>
        <p:spPr>
          <a:xfrm>
            <a:off x="8477536" y="3532012"/>
            <a:ext cx="6914863" cy="4680585"/>
          </a:xfrm>
          <a:prstGeom prst="rect">
            <a:avLst/>
          </a:prstGeom>
        </p:spPr>
        <p:txBody>
          <a:bodyPr vert="horz" lIns="0" tIns="0" rIns="0" bIns="0" rtlCol="0">
            <a:normAutofit/>
          </a:bodyPr>
          <a:lst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r>
              <a:rPr lang="en-NO" dirty="0"/>
              <a:t>Model Selection</a:t>
            </a:r>
          </a:p>
          <a:p>
            <a:r>
              <a:rPr lang="en-NO" dirty="0"/>
              <a:t>Training</a:t>
            </a:r>
          </a:p>
          <a:p>
            <a:r>
              <a:rPr lang="en-NO" dirty="0"/>
              <a:t>Validation</a:t>
            </a:r>
          </a:p>
          <a:p>
            <a:r>
              <a:rPr lang="en-NO" dirty="0"/>
              <a:t>Evaluation (with test data)</a:t>
            </a:r>
          </a:p>
          <a:p>
            <a:r>
              <a:rPr lang="en-NO" dirty="0"/>
              <a:t>Deploy the model</a:t>
            </a:r>
          </a:p>
          <a:p>
            <a:r>
              <a:rPr lang="en-NO" dirty="0"/>
              <a:t>Monitoring and mantainance</a:t>
            </a:r>
          </a:p>
          <a:p>
            <a:endParaRPr lang="en-NO" dirty="0"/>
          </a:p>
        </p:txBody>
      </p:sp>
    </p:spTree>
    <p:extLst>
      <p:ext uri="{BB962C8B-B14F-4D97-AF65-F5344CB8AC3E}">
        <p14:creationId xmlns:p14="http://schemas.microsoft.com/office/powerpoint/2010/main" val="234512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6A7994B-CA71-43CA-A048-851BA4360A65}"/>
              </a:ext>
            </a:extLst>
          </p:cNvPr>
          <p:cNvSpPr>
            <a:spLocks noGrp="1"/>
          </p:cNvSpPr>
          <p:nvPr/>
        </p:nvSpPr>
        <p:spPr>
          <a:xfrm>
            <a:off x="4057" y="0"/>
            <a:ext cx="17336911" cy="1110646"/>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2" name="Rectangle 1">
            <a:extLst>
              <a:ext uri="{FF2B5EF4-FFF2-40B4-BE49-F238E27FC236}">
                <a16:creationId xmlns:a16="http://schemas.microsoft.com/office/drawing/2014/main" id="{9EEE163B-7986-4A74-9376-41F53CC04F22}"/>
              </a:ext>
            </a:extLst>
          </p:cNvPr>
          <p:cNvSpPr>
            <a:spLocks noGrp="1"/>
          </p:cNvSpPr>
          <p:nvPr/>
        </p:nvSpPr>
        <p:spPr>
          <a:xfrm>
            <a:off x="762546" y="162533"/>
            <a:ext cx="15711576" cy="785579"/>
          </a:xfrm>
          <a:prstGeom prst="rect">
            <a:avLst/>
          </a:prstGeom>
          <a:noFill/>
          <a:ln w="0">
            <a:noFill/>
          </a:ln>
        </p:spPr>
        <p:txBody>
          <a:bodyPr>
            <a:noAutofit/>
          </a:bodyPr>
          <a:lstStyle/>
          <a:p>
            <a:pPr defTabSz="1300277">
              <a:defRPr sz="2250" b="1">
                <a:solidFill>
                  <a:srgbClr val="111111"/>
                </a:solidFill>
                <a:latin typeface="Arial"/>
                <a:ea typeface="Arial"/>
                <a:cs typeface="Arial"/>
              </a:defRPr>
            </a:pPr>
            <a:r>
              <a:rPr lang="nb-NO" sz="3200" b="1" dirty="0" err="1">
                <a:solidFill>
                  <a:srgbClr val="111111"/>
                </a:solidFill>
                <a:latin typeface="Arial"/>
                <a:ea typeface="Arial"/>
                <a:cs typeface="Arial"/>
              </a:rPr>
              <a:t>Two</a:t>
            </a:r>
            <a:r>
              <a:rPr lang="nb-NO" sz="3200" b="1" dirty="0">
                <a:solidFill>
                  <a:srgbClr val="111111"/>
                </a:solidFill>
                <a:latin typeface="Arial"/>
                <a:ea typeface="Arial"/>
                <a:cs typeface="Arial"/>
              </a:rPr>
              <a:t> </a:t>
            </a:r>
            <a:r>
              <a:rPr lang="nb-NO" sz="3200" b="1" dirty="0" err="1">
                <a:solidFill>
                  <a:srgbClr val="111111"/>
                </a:solidFill>
                <a:latin typeface="Arial"/>
                <a:ea typeface="Arial"/>
                <a:cs typeface="Arial"/>
              </a:rPr>
              <a:t>kinds</a:t>
            </a:r>
            <a:r>
              <a:rPr lang="nb-NO" sz="3200" b="1" dirty="0">
                <a:solidFill>
                  <a:srgbClr val="111111"/>
                </a:solidFill>
                <a:latin typeface="Arial"/>
                <a:ea typeface="Arial"/>
                <a:cs typeface="Arial"/>
              </a:rPr>
              <a:t> </a:t>
            </a:r>
            <a:r>
              <a:rPr lang="nb-NO" sz="3200" b="1" dirty="0" err="1">
                <a:solidFill>
                  <a:srgbClr val="111111"/>
                </a:solidFill>
                <a:latin typeface="Arial"/>
                <a:ea typeface="Arial"/>
                <a:cs typeface="Arial"/>
              </a:rPr>
              <a:t>of</a:t>
            </a:r>
            <a:r>
              <a:rPr lang="nb-NO" sz="3200" b="1" dirty="0">
                <a:solidFill>
                  <a:srgbClr val="111111"/>
                </a:solidFill>
                <a:latin typeface="Arial"/>
                <a:ea typeface="Arial"/>
                <a:cs typeface="Arial"/>
              </a:rPr>
              <a:t> </a:t>
            </a:r>
            <a:r>
              <a:rPr lang="nb-NO" sz="3200" b="1" dirty="0" err="1">
                <a:solidFill>
                  <a:srgbClr val="111111"/>
                </a:solidFill>
                <a:latin typeface="Arial"/>
                <a:ea typeface="Arial"/>
                <a:cs typeface="Arial"/>
              </a:rPr>
              <a:t>supervised</a:t>
            </a:r>
            <a:r>
              <a:rPr lang="nb-NO" sz="3200" b="1" dirty="0">
                <a:solidFill>
                  <a:srgbClr val="111111"/>
                </a:solidFill>
                <a:latin typeface="Arial"/>
                <a:ea typeface="Arial"/>
                <a:cs typeface="Arial"/>
              </a:rPr>
              <a:t> </a:t>
            </a:r>
            <a:r>
              <a:rPr lang="nb-NO" sz="3200" b="1" dirty="0" err="1">
                <a:solidFill>
                  <a:srgbClr val="111111"/>
                </a:solidFill>
                <a:latin typeface="Arial"/>
                <a:ea typeface="Arial"/>
                <a:cs typeface="Arial"/>
              </a:rPr>
              <a:t>learning</a:t>
            </a:r>
            <a:r>
              <a:rPr lang="nb-NO" sz="3200" b="1" dirty="0">
                <a:solidFill>
                  <a:srgbClr val="111111"/>
                </a:solidFill>
                <a:latin typeface="Arial"/>
                <a:ea typeface="Arial"/>
                <a:cs typeface="Arial"/>
              </a:rPr>
              <a:t> : </a:t>
            </a:r>
            <a:r>
              <a:rPr sz="3200" b="1" dirty="0">
                <a:solidFill>
                  <a:srgbClr val="111111"/>
                </a:solidFill>
                <a:latin typeface="Arial"/>
                <a:ea typeface="Arial"/>
                <a:cs typeface="Arial"/>
              </a:rPr>
              <a:t>Regression and classification</a:t>
            </a:r>
          </a:p>
        </p:txBody>
      </p:sp>
      <p:sp>
        <p:nvSpPr>
          <p:cNvPr id="3" name="Rectangle 2">
            <a:extLst>
              <a:ext uri="{FF2B5EF4-FFF2-40B4-BE49-F238E27FC236}">
                <a16:creationId xmlns:a16="http://schemas.microsoft.com/office/drawing/2014/main" id="{24672774-F815-4859-8237-BED1F899A55A}"/>
              </a:ext>
            </a:extLst>
          </p:cNvPr>
          <p:cNvSpPr>
            <a:spLocks noGrp="1"/>
          </p:cNvSpPr>
          <p:nvPr/>
        </p:nvSpPr>
        <p:spPr>
          <a:xfrm>
            <a:off x="572924" y="9237323"/>
            <a:ext cx="4334228" cy="243800"/>
          </a:xfrm>
          <a:prstGeom prst="rect">
            <a:avLst/>
          </a:prstGeom>
          <a:noFill/>
          <a:ln w="0">
            <a:noFill/>
          </a:ln>
        </p:spPr>
        <p:txBody>
          <a:bodyPr>
            <a:noAutofit/>
          </a:bodyPr>
          <a:lstStyle/>
          <a:p>
            <a:pPr defTabSz="1300277">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9FED4E67-AFAC-4DD6-8273-48986F4E2163}"/>
              </a:ext>
            </a:extLst>
          </p:cNvPr>
          <p:cNvSpPr>
            <a:spLocks noGrp="1"/>
          </p:cNvSpPr>
          <p:nvPr/>
        </p:nvSpPr>
        <p:spPr>
          <a:xfrm>
            <a:off x="5828175" y="9237323"/>
            <a:ext cx="5688674" cy="243800"/>
          </a:xfrm>
          <a:prstGeom prst="rect">
            <a:avLst/>
          </a:prstGeom>
          <a:noFill/>
          <a:ln w="0">
            <a:noFill/>
          </a:ln>
        </p:spPr>
        <p:txBody>
          <a:bodyPr>
            <a:noAutofit/>
          </a:bodyPr>
          <a:lstStyle/>
          <a:p>
            <a:pPr defTabSz="1300277">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35542ECC-2DB8-4526-BB3F-6C2DADECFE57}"/>
              </a:ext>
            </a:extLst>
          </p:cNvPr>
          <p:cNvSpPr>
            <a:spLocks noGrp="1"/>
          </p:cNvSpPr>
          <p:nvPr/>
        </p:nvSpPr>
        <p:spPr>
          <a:xfrm>
            <a:off x="13142185" y="9237323"/>
            <a:ext cx="3589282" cy="243800"/>
          </a:xfrm>
          <a:prstGeom prst="rect">
            <a:avLst/>
          </a:prstGeom>
          <a:noFill/>
          <a:ln w="0">
            <a:noFill/>
          </a:ln>
        </p:spPr>
        <p:txBody>
          <a:bodyPr>
            <a:noAutofit/>
          </a:bodyPr>
          <a:lstStyle/>
          <a:p>
            <a:pPr defTabSz="1300277">
              <a:defRPr sz="750" b="0">
                <a:solidFill>
                  <a:srgbClr val="777777"/>
                </a:solidFill>
                <a:latin typeface="Arial"/>
                <a:ea typeface="Arial"/>
                <a:cs typeface="Arial"/>
              </a:defRPr>
            </a:pPr>
            <a:r>
              <a:rPr sz="1067">
                <a:solidFill>
                  <a:srgbClr val="777777"/>
                </a:solidFill>
                <a:latin typeface="Arial"/>
                <a:ea typeface="Arial"/>
                <a:cs typeface="Arial"/>
              </a:rPr>
              <a:t>05  MACHINE LEARNING II</a:t>
            </a:r>
          </a:p>
        </p:txBody>
      </p:sp>
      <p:sp>
        <p:nvSpPr>
          <p:cNvPr id="6" name="Rectangle 5">
            <a:extLst>
              <a:ext uri="{FF2B5EF4-FFF2-40B4-BE49-F238E27FC236}">
                <a16:creationId xmlns:a16="http://schemas.microsoft.com/office/drawing/2014/main" id="{93664645-B79E-4F18-808C-E5A5CE0300AA}"/>
              </a:ext>
            </a:extLst>
          </p:cNvPr>
          <p:cNvSpPr>
            <a:spLocks noGrp="1"/>
          </p:cNvSpPr>
          <p:nvPr/>
        </p:nvSpPr>
        <p:spPr>
          <a:xfrm>
            <a:off x="1223058" y="2099392"/>
            <a:ext cx="6772231" cy="4943729"/>
          </a:xfrm>
          <a:prstGeom prst="rect">
            <a:avLst/>
          </a:prstGeom>
          <a:solidFill>
            <a:srgbClr val="FFFFFF"/>
          </a:solidFill>
          <a:ln w="9525">
            <a:solidFill>
              <a:srgbClr val="3A9D5D"/>
            </a:solidFill>
          </a:ln>
        </p:spPr>
        <p:txBody>
          <a:bodyPr/>
          <a:lstStyle/>
          <a:p>
            <a:pPr defTabSz="1300277"/>
            <a:endParaRPr lang="en-US">
              <a:solidFill>
                <a:srgbClr val="000000"/>
              </a:solidFill>
              <a:latin typeface="Calibri"/>
              <a:cs typeface="Calibri"/>
            </a:endParaRPr>
          </a:p>
        </p:txBody>
      </p:sp>
      <p:sp>
        <p:nvSpPr>
          <p:cNvPr id="7" name="Rectangle 6">
            <a:extLst>
              <a:ext uri="{FF2B5EF4-FFF2-40B4-BE49-F238E27FC236}">
                <a16:creationId xmlns:a16="http://schemas.microsoft.com/office/drawing/2014/main" id="{319C7049-2AFB-4A8A-B2B4-D6C3875C6798}"/>
              </a:ext>
            </a:extLst>
          </p:cNvPr>
          <p:cNvSpPr>
            <a:spLocks noGrp="1"/>
          </p:cNvSpPr>
          <p:nvPr/>
        </p:nvSpPr>
        <p:spPr>
          <a:xfrm>
            <a:off x="9349735" y="2099392"/>
            <a:ext cx="6772231" cy="4943729"/>
          </a:xfrm>
          <a:prstGeom prst="rect">
            <a:avLst/>
          </a:prstGeom>
          <a:solidFill>
            <a:srgbClr val="FFFFFF"/>
          </a:solidFill>
          <a:ln w="9525">
            <a:solidFill>
              <a:srgbClr val="2878B5"/>
            </a:solidFill>
          </a:ln>
        </p:spPr>
        <p:txBody>
          <a:bodyPr/>
          <a:lstStyle/>
          <a:p>
            <a:pPr defTabSz="1300277"/>
            <a:endParaRPr lang="en-US">
              <a:solidFill>
                <a:srgbClr val="000000"/>
              </a:solidFill>
              <a:latin typeface="Calibri"/>
              <a:cs typeface="Calibri"/>
            </a:endParaRPr>
          </a:p>
        </p:txBody>
      </p:sp>
      <p:sp>
        <p:nvSpPr>
          <p:cNvPr id="8" name="Rectangle 7">
            <a:extLst>
              <a:ext uri="{FF2B5EF4-FFF2-40B4-BE49-F238E27FC236}">
                <a16:creationId xmlns:a16="http://schemas.microsoft.com/office/drawing/2014/main" id="{091416FB-7AA1-41FB-BCAC-AD1FC56CBFE0}"/>
              </a:ext>
            </a:extLst>
          </p:cNvPr>
          <p:cNvSpPr>
            <a:spLocks noGrp="1"/>
          </p:cNvSpPr>
          <p:nvPr/>
        </p:nvSpPr>
        <p:spPr>
          <a:xfrm>
            <a:off x="1764836" y="2641170"/>
            <a:ext cx="5688674" cy="568867"/>
          </a:xfrm>
          <a:prstGeom prst="rect">
            <a:avLst/>
          </a:prstGeom>
          <a:noFill/>
          <a:ln w="0">
            <a:noFill/>
          </a:ln>
        </p:spPr>
        <p:txBody>
          <a:bodyPr>
            <a:noAutofit/>
          </a:bodyPr>
          <a:lstStyle/>
          <a:p>
            <a:pPr defTabSz="1300277">
              <a:defRPr sz="2025" b="1">
                <a:solidFill>
                  <a:srgbClr val="3A9D5D"/>
                </a:solidFill>
                <a:latin typeface="Arial"/>
                <a:ea typeface="Arial"/>
                <a:cs typeface="Arial"/>
              </a:defRPr>
            </a:pPr>
            <a:r>
              <a:rPr sz="2880" b="1">
                <a:solidFill>
                  <a:srgbClr val="3A9D5D"/>
                </a:solidFill>
                <a:latin typeface="Arial"/>
                <a:ea typeface="Arial"/>
                <a:cs typeface="Arial"/>
              </a:rPr>
              <a:t>REGRESSION</a:t>
            </a:r>
          </a:p>
        </p:txBody>
      </p:sp>
      <p:sp>
        <p:nvSpPr>
          <p:cNvPr id="9" name="Rectangle 8">
            <a:extLst>
              <a:ext uri="{FF2B5EF4-FFF2-40B4-BE49-F238E27FC236}">
                <a16:creationId xmlns:a16="http://schemas.microsoft.com/office/drawing/2014/main" id="{ACB015CA-DFC6-42BC-B7BC-E2EFE4261B3C}"/>
              </a:ext>
            </a:extLst>
          </p:cNvPr>
          <p:cNvSpPr>
            <a:spLocks noGrp="1"/>
          </p:cNvSpPr>
          <p:nvPr/>
        </p:nvSpPr>
        <p:spPr>
          <a:xfrm>
            <a:off x="1764836" y="3589283"/>
            <a:ext cx="5688674" cy="609501"/>
          </a:xfrm>
          <a:prstGeom prst="rect">
            <a:avLst/>
          </a:prstGeom>
          <a:noFill/>
          <a:ln w="0">
            <a:noFill/>
          </a:ln>
        </p:spPr>
        <p:txBody>
          <a:bodyPr>
            <a:noAutofit/>
          </a:bodyPr>
          <a:lstStyle/>
          <a:p>
            <a:pPr defTabSz="1300277">
              <a:defRPr sz="2100" b="1">
                <a:solidFill>
                  <a:srgbClr val="111111"/>
                </a:solidFill>
                <a:latin typeface="Arial"/>
                <a:ea typeface="Arial"/>
                <a:cs typeface="Arial"/>
              </a:defRPr>
            </a:pPr>
            <a:r>
              <a:rPr sz="2986" b="1">
                <a:solidFill>
                  <a:srgbClr val="111111"/>
                </a:solidFill>
                <a:latin typeface="Arial"/>
                <a:ea typeface="Arial"/>
                <a:cs typeface="Arial"/>
              </a:rPr>
              <a:t>Predict a number</a:t>
            </a:r>
          </a:p>
        </p:txBody>
      </p:sp>
      <p:sp>
        <p:nvSpPr>
          <p:cNvPr id="10" name="Rectangle 9">
            <a:extLst>
              <a:ext uri="{FF2B5EF4-FFF2-40B4-BE49-F238E27FC236}">
                <a16:creationId xmlns:a16="http://schemas.microsoft.com/office/drawing/2014/main" id="{B379BC61-3CC9-4648-B889-E2FBD45AAA2B}"/>
              </a:ext>
            </a:extLst>
          </p:cNvPr>
          <p:cNvSpPr>
            <a:spLocks noGrp="1"/>
          </p:cNvSpPr>
          <p:nvPr/>
        </p:nvSpPr>
        <p:spPr>
          <a:xfrm>
            <a:off x="2238892" y="4740562"/>
            <a:ext cx="4740562" cy="1557613"/>
          </a:xfrm>
          <a:prstGeom prst="rect">
            <a:avLst/>
          </a:prstGeom>
          <a:noFill/>
          <a:ln w="0">
            <a:noFill/>
          </a:ln>
        </p:spPr>
        <p:txBody>
          <a:bodyPr>
            <a:noAutofit/>
          </a:bodyPr>
          <a:lstStyle/>
          <a:p>
            <a:pPr defTabSz="1300277">
              <a:defRPr sz="1500" b="0">
                <a:solidFill>
                  <a:srgbClr val="5B5B5B"/>
                </a:solidFill>
                <a:latin typeface="Arial"/>
                <a:ea typeface="Arial"/>
                <a:cs typeface="Arial"/>
              </a:defRPr>
            </a:pPr>
            <a:r>
              <a:rPr sz="2133">
                <a:solidFill>
                  <a:srgbClr val="5B5B5B"/>
                </a:solidFill>
                <a:latin typeface="Arial"/>
                <a:ea typeface="Arial"/>
                <a:cs typeface="Arial"/>
              </a:rPr>
              <a:t>Examples</a:t>
            </a:r>
          </a:p>
          <a:p>
            <a:pPr defTabSz="1300277">
              <a:defRPr sz="1500" b="0">
                <a:solidFill>
                  <a:srgbClr val="5B5B5B"/>
                </a:solidFill>
                <a:latin typeface="Arial"/>
                <a:ea typeface="Arial"/>
                <a:cs typeface="Arial"/>
              </a:defRPr>
            </a:pPr>
            <a:r>
              <a:rPr sz="2133">
                <a:solidFill>
                  <a:srgbClr val="5B5B5B"/>
                </a:solidFill>
                <a:latin typeface="Arial"/>
                <a:ea typeface="Arial"/>
                <a:cs typeface="Arial"/>
              </a:rPr>
              <a:t>House price</a:t>
            </a:r>
          </a:p>
          <a:p>
            <a:pPr defTabSz="1300277">
              <a:defRPr sz="1500" b="0">
                <a:solidFill>
                  <a:srgbClr val="5B5B5B"/>
                </a:solidFill>
                <a:latin typeface="Arial"/>
                <a:ea typeface="Arial"/>
                <a:cs typeface="Arial"/>
              </a:defRPr>
            </a:pPr>
            <a:r>
              <a:rPr sz="2133">
                <a:solidFill>
                  <a:srgbClr val="5B5B5B"/>
                </a:solidFill>
                <a:latin typeface="Arial"/>
                <a:ea typeface="Arial"/>
                <a:cs typeface="Arial"/>
              </a:rPr>
              <a:t>Travel time</a:t>
            </a:r>
          </a:p>
          <a:p>
            <a:pPr defTabSz="1300277">
              <a:defRPr sz="1500" b="0">
                <a:solidFill>
                  <a:srgbClr val="5B5B5B"/>
                </a:solidFill>
                <a:latin typeface="Arial"/>
                <a:ea typeface="Arial"/>
                <a:cs typeface="Arial"/>
              </a:defRPr>
            </a:pPr>
            <a:r>
              <a:rPr sz="2133">
                <a:solidFill>
                  <a:srgbClr val="5B5B5B"/>
                </a:solidFill>
                <a:latin typeface="Arial"/>
                <a:ea typeface="Arial"/>
                <a:cs typeface="Arial"/>
              </a:rPr>
              <a:t>Energy use</a:t>
            </a:r>
          </a:p>
        </p:txBody>
      </p:sp>
      <p:sp>
        <p:nvSpPr>
          <p:cNvPr id="11" name="Rectangle 10">
            <a:extLst>
              <a:ext uri="{FF2B5EF4-FFF2-40B4-BE49-F238E27FC236}">
                <a16:creationId xmlns:a16="http://schemas.microsoft.com/office/drawing/2014/main" id="{67D47EE1-7883-4F2E-B88A-A2C76A95A4AF}"/>
              </a:ext>
            </a:extLst>
          </p:cNvPr>
          <p:cNvSpPr>
            <a:spLocks noGrp="1"/>
          </p:cNvSpPr>
          <p:nvPr/>
        </p:nvSpPr>
        <p:spPr>
          <a:xfrm>
            <a:off x="9891514" y="2641170"/>
            <a:ext cx="5688674" cy="568867"/>
          </a:xfrm>
          <a:prstGeom prst="rect">
            <a:avLst/>
          </a:prstGeom>
          <a:noFill/>
          <a:ln w="0">
            <a:noFill/>
          </a:ln>
        </p:spPr>
        <p:txBody>
          <a:bodyPr>
            <a:noAutofit/>
          </a:bodyPr>
          <a:lstStyle/>
          <a:p>
            <a:pPr defTabSz="1300277">
              <a:defRPr sz="2025" b="1">
                <a:solidFill>
                  <a:srgbClr val="2878B5"/>
                </a:solidFill>
                <a:latin typeface="Arial"/>
                <a:ea typeface="Arial"/>
                <a:cs typeface="Arial"/>
              </a:defRPr>
            </a:pPr>
            <a:r>
              <a:rPr sz="2880" b="1">
                <a:solidFill>
                  <a:srgbClr val="2878B5"/>
                </a:solidFill>
                <a:latin typeface="Arial"/>
                <a:ea typeface="Arial"/>
                <a:cs typeface="Arial"/>
              </a:rPr>
              <a:t>CLASSIFICATION</a:t>
            </a:r>
          </a:p>
        </p:txBody>
      </p:sp>
      <p:sp>
        <p:nvSpPr>
          <p:cNvPr id="12" name="Rectangle 11">
            <a:extLst>
              <a:ext uri="{FF2B5EF4-FFF2-40B4-BE49-F238E27FC236}">
                <a16:creationId xmlns:a16="http://schemas.microsoft.com/office/drawing/2014/main" id="{604CE7CA-D3D1-4AA1-AAFF-8D1173BE2C49}"/>
              </a:ext>
            </a:extLst>
          </p:cNvPr>
          <p:cNvSpPr>
            <a:spLocks noGrp="1"/>
          </p:cNvSpPr>
          <p:nvPr/>
        </p:nvSpPr>
        <p:spPr>
          <a:xfrm>
            <a:off x="9891514" y="3589283"/>
            <a:ext cx="5688674" cy="609501"/>
          </a:xfrm>
          <a:prstGeom prst="rect">
            <a:avLst/>
          </a:prstGeom>
          <a:noFill/>
          <a:ln w="0">
            <a:noFill/>
          </a:ln>
        </p:spPr>
        <p:txBody>
          <a:bodyPr>
            <a:noAutofit/>
          </a:bodyPr>
          <a:lstStyle/>
          <a:p>
            <a:pPr defTabSz="1300277">
              <a:defRPr sz="2100" b="1">
                <a:solidFill>
                  <a:srgbClr val="111111"/>
                </a:solidFill>
                <a:latin typeface="Arial"/>
                <a:ea typeface="Arial"/>
                <a:cs typeface="Arial"/>
              </a:defRPr>
            </a:pPr>
            <a:r>
              <a:rPr sz="2986" b="1">
                <a:solidFill>
                  <a:srgbClr val="111111"/>
                </a:solidFill>
                <a:latin typeface="Arial"/>
                <a:ea typeface="Arial"/>
                <a:cs typeface="Arial"/>
              </a:rPr>
              <a:t>Predict a category</a:t>
            </a:r>
          </a:p>
        </p:txBody>
      </p:sp>
      <p:sp>
        <p:nvSpPr>
          <p:cNvPr id="13" name="Rectangle 12">
            <a:extLst>
              <a:ext uri="{FF2B5EF4-FFF2-40B4-BE49-F238E27FC236}">
                <a16:creationId xmlns:a16="http://schemas.microsoft.com/office/drawing/2014/main" id="{68BFC136-6878-4A29-A2F6-2CCAA2E8C481}"/>
              </a:ext>
            </a:extLst>
          </p:cNvPr>
          <p:cNvSpPr>
            <a:spLocks noGrp="1"/>
          </p:cNvSpPr>
          <p:nvPr/>
        </p:nvSpPr>
        <p:spPr>
          <a:xfrm>
            <a:off x="10365570" y="4740562"/>
            <a:ext cx="4740562" cy="1557613"/>
          </a:xfrm>
          <a:prstGeom prst="rect">
            <a:avLst/>
          </a:prstGeom>
          <a:noFill/>
          <a:ln w="0">
            <a:noFill/>
          </a:ln>
        </p:spPr>
        <p:txBody>
          <a:bodyPr>
            <a:noAutofit/>
          </a:bodyPr>
          <a:lstStyle/>
          <a:p>
            <a:pPr defTabSz="1300277">
              <a:defRPr sz="1500" b="0">
                <a:solidFill>
                  <a:srgbClr val="5B5B5B"/>
                </a:solidFill>
                <a:latin typeface="Arial"/>
                <a:ea typeface="Arial"/>
                <a:cs typeface="Arial"/>
              </a:defRPr>
            </a:pPr>
            <a:r>
              <a:rPr sz="2133">
                <a:solidFill>
                  <a:srgbClr val="5B5B5B"/>
                </a:solidFill>
                <a:latin typeface="Arial"/>
                <a:ea typeface="Arial"/>
                <a:cs typeface="Arial"/>
              </a:rPr>
              <a:t>Examples</a:t>
            </a:r>
          </a:p>
          <a:p>
            <a:pPr defTabSz="1300277">
              <a:defRPr sz="1500" b="0">
                <a:solidFill>
                  <a:srgbClr val="5B5B5B"/>
                </a:solidFill>
                <a:latin typeface="Arial"/>
                <a:ea typeface="Arial"/>
                <a:cs typeface="Arial"/>
              </a:defRPr>
            </a:pPr>
            <a:r>
              <a:rPr sz="2133">
                <a:solidFill>
                  <a:srgbClr val="5B5B5B"/>
                </a:solidFill>
                <a:latin typeface="Arial"/>
                <a:ea typeface="Arial"/>
                <a:cs typeface="Arial"/>
              </a:rPr>
              <a:t>Spam or normal</a:t>
            </a:r>
          </a:p>
          <a:p>
            <a:pPr defTabSz="1300277">
              <a:defRPr sz="1500" b="0">
                <a:solidFill>
                  <a:srgbClr val="5B5B5B"/>
                </a:solidFill>
                <a:latin typeface="Arial"/>
                <a:ea typeface="Arial"/>
                <a:cs typeface="Arial"/>
              </a:defRPr>
            </a:pPr>
            <a:r>
              <a:rPr sz="2133">
                <a:solidFill>
                  <a:srgbClr val="5B5B5B"/>
                </a:solidFill>
                <a:latin typeface="Arial"/>
                <a:ea typeface="Arial"/>
                <a:cs typeface="Arial"/>
              </a:rPr>
              <a:t>Pass or fail</a:t>
            </a:r>
          </a:p>
          <a:p>
            <a:pPr defTabSz="1300277">
              <a:defRPr sz="1500" b="0">
                <a:solidFill>
                  <a:srgbClr val="5B5B5B"/>
                </a:solidFill>
                <a:latin typeface="Arial"/>
                <a:ea typeface="Arial"/>
                <a:cs typeface="Arial"/>
              </a:defRPr>
            </a:pPr>
            <a:r>
              <a:rPr sz="2133">
                <a:solidFill>
                  <a:srgbClr val="5B5B5B"/>
                </a:solidFill>
                <a:latin typeface="Arial"/>
                <a:ea typeface="Arial"/>
                <a:cs typeface="Arial"/>
              </a:rPr>
              <a:t>Bus, tram or metro</a:t>
            </a:r>
          </a:p>
        </p:txBody>
      </p:sp>
    </p:spTree>
    <p:extLst>
      <p:ext uri="{BB962C8B-B14F-4D97-AF65-F5344CB8AC3E}">
        <p14:creationId xmlns:p14="http://schemas.microsoft.com/office/powerpoint/2010/main" val="1304592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Regression or classification ?</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Customer churn — will this customer leave the company ?</a:t>
            </a:r>
          </a:p>
          <a:p>
            <a:pPr>
              <a:spcAft>
                <a:spcPts val="1400"/>
              </a:spcAft>
            </a:pPr>
            <a:r>
              <a:rPr sz="3000" b="0">
                <a:solidFill>
                  <a:srgbClr val="16181D"/>
                </a:solidFill>
                <a:latin typeface="Arial"/>
              </a:rPr>
              <a:t>▪   Spam email</a:t>
            </a:r>
          </a:p>
          <a:p>
            <a:pPr>
              <a:spcAft>
                <a:spcPts val="1400"/>
              </a:spcAft>
            </a:pPr>
            <a:r>
              <a:rPr sz="3000" b="0">
                <a:solidFill>
                  <a:srgbClr val="16181D"/>
                </a:solidFill>
                <a:latin typeface="Arial"/>
              </a:rPr>
              <a:t>▪   Gender prediction</a:t>
            </a:r>
          </a:p>
          <a:p>
            <a:pPr>
              <a:spcAft>
                <a:spcPts val="1400"/>
              </a:spcAft>
            </a:pPr>
            <a:r>
              <a:rPr sz="3000" b="0">
                <a:solidFill>
                  <a:srgbClr val="16181D"/>
                </a:solidFill>
                <a:latin typeface="Arial"/>
              </a:rPr>
              <a:t>▪   Prediction of the price of oil</a:t>
            </a:r>
          </a:p>
          <a:p>
            <a:pPr>
              <a:spcAft>
                <a:spcPts val="1400"/>
              </a:spcAft>
            </a:pPr>
            <a:r>
              <a:rPr sz="3000" b="0">
                <a:solidFill>
                  <a:srgbClr val="16181D"/>
                </a:solidFill>
                <a:latin typeface="Arial"/>
              </a:rPr>
              <a:t>▪   Salary prediction</a:t>
            </a:r>
          </a:p>
          <a:p>
            <a:pPr>
              <a:spcAft>
                <a:spcPts val="1400"/>
              </a:spcAft>
            </a:pPr>
            <a:r>
              <a:rPr sz="3000" b="0">
                <a:solidFill>
                  <a:srgbClr val="16181D"/>
                </a:solidFill>
                <a:latin typeface="Arial"/>
              </a:rPr>
              <a:t>▪   Age prediction</a:t>
            </a:r>
          </a:p>
          <a:p>
            <a:pPr>
              <a:spcAft>
                <a:spcPts val="1400"/>
              </a:spcAft>
            </a:pPr>
            <a:r>
              <a:rPr sz="3000" b="0">
                <a:solidFill>
                  <a:srgbClr val="16181D"/>
                </a:solidFill>
                <a:latin typeface="Arial"/>
              </a:rPr>
              <a:t>▪   Stock market prediction</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For each one, ask: is the answer a number, or a category?</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846E1389-B058-4425-9806-E8DF793BA17B}" type="slidenum">
              <a:rPr lang="en-US" sz="1200">
                <a:solidFill>
                  <a:srgbClr val="6B7280"/>
                </a:solidFill>
                <a:latin typeface="Arial"/>
              </a:rPr>
              <a:t>8</a:t>
            </a:fld>
            <a:endParaRPr lang="en-US" sz="1200">
              <a:solidFill>
                <a:srgbClr val="6B728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Answers — and the one that depends on you</a:t>
            </a:r>
          </a:p>
        </p:txBody>
      </p:sp>
      <p:sp>
        <p:nvSpPr>
          <p:cNvPr id="4" name="Rectangle 3"/>
          <p:cNvSpPr/>
          <p:nvPr/>
        </p:nvSpPr>
        <p:spPr>
          <a:xfrm>
            <a:off x="96926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603504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2221992"/>
            <a:ext cx="6995160" cy="640080"/>
          </a:xfrm>
          <a:prstGeom prst="rect">
            <a:avLst/>
          </a:prstGeom>
          <a:noFill/>
        </p:spPr>
        <p:txBody>
          <a:bodyPr wrap="none">
            <a:spAutoFit/>
          </a:bodyPr>
          <a:lstStyle/>
          <a:p>
            <a:r>
              <a:rPr sz="2800" b="1">
                <a:solidFill>
                  <a:srgbClr val="16181D"/>
                </a:solidFill>
                <a:latin typeface="Arial"/>
              </a:rPr>
              <a:t>Classification</a:t>
            </a:r>
          </a:p>
        </p:txBody>
      </p:sp>
      <p:sp>
        <p:nvSpPr>
          <p:cNvPr id="7" name="TextBox 6"/>
          <p:cNvSpPr txBox="1"/>
          <p:nvPr/>
        </p:nvSpPr>
        <p:spPr>
          <a:xfrm>
            <a:off x="124358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Customer churn — leaves or stays</a:t>
            </a:r>
          </a:p>
          <a:p>
            <a:pPr>
              <a:spcAft>
                <a:spcPts val="1100"/>
              </a:spcAft>
            </a:pPr>
            <a:r>
              <a:rPr sz="2400" b="0">
                <a:solidFill>
                  <a:srgbClr val="16181D"/>
                </a:solidFill>
                <a:latin typeface="Arial"/>
              </a:rPr>
              <a:t>▪   Spam email — spam or not spam</a:t>
            </a:r>
          </a:p>
          <a:p>
            <a:pPr>
              <a:spcAft>
                <a:spcPts val="1100"/>
              </a:spcAft>
            </a:pPr>
            <a:r>
              <a:rPr sz="2400" b="0">
                <a:solidFill>
                  <a:srgbClr val="16181D"/>
                </a:solidFill>
                <a:latin typeface="Arial"/>
              </a:rPr>
              <a:t>▪   Gender prediction — a category</a:t>
            </a:r>
          </a:p>
        </p:txBody>
      </p:sp>
      <p:sp>
        <p:nvSpPr>
          <p:cNvPr id="8" name="Rectangle 7"/>
          <p:cNvSpPr/>
          <p:nvPr/>
        </p:nvSpPr>
        <p:spPr>
          <a:xfrm>
            <a:off x="887882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78824" y="2057400"/>
            <a:ext cx="82296" cy="60350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3144" y="2221992"/>
            <a:ext cx="6995160" cy="640080"/>
          </a:xfrm>
          <a:prstGeom prst="rect">
            <a:avLst/>
          </a:prstGeom>
          <a:noFill/>
        </p:spPr>
        <p:txBody>
          <a:bodyPr wrap="none">
            <a:spAutoFit/>
          </a:bodyPr>
          <a:lstStyle/>
          <a:p>
            <a:r>
              <a:rPr sz="2800" b="1">
                <a:solidFill>
                  <a:srgbClr val="16181D"/>
                </a:solidFill>
                <a:latin typeface="Arial"/>
              </a:rPr>
              <a:t>Regression</a:t>
            </a:r>
          </a:p>
        </p:txBody>
      </p:sp>
      <p:sp>
        <p:nvSpPr>
          <p:cNvPr id="11" name="TextBox 10"/>
          <p:cNvSpPr txBox="1"/>
          <p:nvPr/>
        </p:nvSpPr>
        <p:spPr>
          <a:xfrm>
            <a:off x="915314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Price of oil — a number</a:t>
            </a:r>
          </a:p>
          <a:p>
            <a:pPr>
              <a:spcAft>
                <a:spcPts val="1100"/>
              </a:spcAft>
            </a:pPr>
            <a:r>
              <a:rPr sz="2400" b="0">
                <a:solidFill>
                  <a:srgbClr val="16181D"/>
                </a:solidFill>
                <a:latin typeface="Arial"/>
              </a:rPr>
              <a:t>▪   Salary prediction — a number</a:t>
            </a:r>
          </a:p>
          <a:p>
            <a:pPr>
              <a:spcAft>
                <a:spcPts val="1100"/>
              </a:spcAft>
            </a:pPr>
            <a:r>
              <a:rPr sz="2400" b="0">
                <a:solidFill>
                  <a:srgbClr val="16181D"/>
                </a:solidFill>
                <a:latin typeface="Arial"/>
              </a:rPr>
              <a:t>▪   Age prediction — a number</a:t>
            </a:r>
          </a:p>
        </p:txBody>
      </p:sp>
      <p:sp>
        <p:nvSpPr>
          <p:cNvPr id="12" name="TextBox 11"/>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Stock market prediction is EITHER: "what will the price be?" is regression · "will it go up or down?" is classification</a:t>
            </a:r>
          </a:p>
        </p:txBody>
      </p:sp>
      <p:sp>
        <p:nvSpPr>
          <p:cNvPr id="13" name="TextBox 12"/>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14" name="TextBox 13"/>
          <p:cNvSpPr txBox="1"/>
          <p:nvPr/>
        </p:nvSpPr>
        <p:spPr>
          <a:xfrm>
            <a:off x="15910559" y="8705088"/>
            <a:ext cx="438912" cy="365760"/>
          </a:xfrm>
          <a:prstGeom prst="rect">
            <a:avLst/>
          </a:prstGeom>
          <a:noFill/>
        </p:spPr>
        <p:txBody>
          <a:bodyPr wrap="none">
            <a:spAutoFit/>
          </a:bodyPr>
          <a:lstStyle/>
          <a:p>
            <a:pPr algn="r"/>
            <a:fld id="{CDDEFCC5-9FBB-4BF5-90CC-37DD15BE27EA}" type="slidenum">
              <a:rPr lang="en-US" sz="1200">
                <a:solidFill>
                  <a:srgbClr val="6B7280"/>
                </a:solidFill>
                <a:latin typeface="Arial"/>
              </a:rPr>
              <a:t>9</a:t>
            </a:fld>
            <a:endParaRPr lang="en-US" sz="1200">
              <a:solidFill>
                <a:srgbClr val="6B728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DAA20DBE-762B-BB9A-C6E5-8E2198E0130A}"/>
              </a:ext>
            </a:extLst>
          </p:cNvPr>
          <p:cNvSpPr>
            <a:spLocks noGrp="1"/>
          </p:cNvSpPr>
          <p:nvPr>
            <p:ph type="ftr" sz="quarter" idx="11"/>
          </p:nvPr>
        </p:nvSpPr>
        <p:spPr>
          <a:xfrm>
            <a:off x="6210772" y="8705717"/>
            <a:ext cx="9001125" cy="262593"/>
          </a:xfrm>
        </p:spPr>
        <p:txBody>
          <a:bodyPr anchor="ctr">
            <a:normAutofit/>
          </a:bodyPr>
          <a:lstStyle/>
          <a:p>
            <a:pPr>
              <a:spcAft>
                <a:spcPts val="600"/>
              </a:spcAft>
            </a:pPr>
            <a:r>
              <a:rPr lang="nb-NO"/>
              <a:t>DAVE3625- Intro to A.I. by Umair M.I</a:t>
            </a:r>
          </a:p>
        </p:txBody>
      </p:sp>
      <p:graphicFrame>
        <p:nvGraphicFramePr>
          <p:cNvPr id="5" name="Content Placeholder 4">
            <a:extLst>
              <a:ext uri="{FF2B5EF4-FFF2-40B4-BE49-F238E27FC236}">
                <a16:creationId xmlns:a16="http://schemas.microsoft.com/office/drawing/2014/main" id="{10F2FBDB-6D16-9941-9A94-DDD1B2DCCC34}"/>
              </a:ext>
            </a:extLst>
          </p:cNvPr>
          <p:cNvGraphicFramePr>
            <a:graphicFrameLocks noGrp="1"/>
          </p:cNvGraphicFramePr>
          <p:nvPr>
            <p:ph idx="1"/>
            <p:extLst>
              <p:ext uri="{D42A27DB-BD31-4B8C-83A1-F6EECF244321}">
                <p14:modId xmlns:p14="http://schemas.microsoft.com/office/powerpoint/2010/main" val="1850264689"/>
              </p:ext>
            </p:extLst>
          </p:nvPr>
        </p:nvGraphicFramePr>
        <p:xfrm>
          <a:off x="1124522" y="845821"/>
          <a:ext cx="15373922" cy="75897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F7968508-EAFC-1A39-07E2-049CD0165586}"/>
              </a:ext>
            </a:extLst>
          </p:cNvPr>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A7059D0-0B6B-DEB6-C8BB-736BFD488719}"/>
              </a:ext>
            </a:extLst>
          </p:cNvPr>
          <p:cNvSpPr txBox="1"/>
          <p:nvPr/>
        </p:nvSpPr>
        <p:spPr>
          <a:xfrm>
            <a:off x="969264" y="384048"/>
            <a:ext cx="15371063" cy="769441"/>
          </a:xfrm>
          <a:prstGeom prst="rect">
            <a:avLst/>
          </a:prstGeom>
          <a:noFill/>
        </p:spPr>
        <p:txBody>
          <a:bodyPr wrap="square">
            <a:spAutoFit/>
          </a:bodyPr>
          <a:lstStyle/>
          <a:p>
            <a:r>
              <a:rPr lang="nb-NO" sz="4400" b="1" dirty="0" err="1">
                <a:solidFill>
                  <a:srgbClr val="16181D"/>
                </a:solidFill>
                <a:latin typeface="Arial"/>
              </a:rPr>
              <a:t>Various</a:t>
            </a:r>
            <a:r>
              <a:rPr lang="nb-NO" sz="4400" b="1" dirty="0">
                <a:solidFill>
                  <a:srgbClr val="16181D"/>
                </a:solidFill>
                <a:latin typeface="Arial"/>
              </a:rPr>
              <a:t> types </a:t>
            </a:r>
            <a:r>
              <a:rPr lang="nb-NO" sz="4400" b="1" dirty="0" err="1">
                <a:solidFill>
                  <a:srgbClr val="16181D"/>
                </a:solidFill>
                <a:latin typeface="Arial"/>
              </a:rPr>
              <a:t>of</a:t>
            </a:r>
            <a:r>
              <a:rPr lang="nb-NO" sz="4400" b="1" dirty="0">
                <a:solidFill>
                  <a:srgbClr val="16181D"/>
                </a:solidFill>
                <a:latin typeface="Arial"/>
              </a:rPr>
              <a:t> </a:t>
            </a:r>
            <a:r>
              <a:rPr lang="nb-NO" sz="4400" b="1" dirty="0" err="1">
                <a:solidFill>
                  <a:srgbClr val="16181D"/>
                </a:solidFill>
                <a:latin typeface="Arial"/>
              </a:rPr>
              <a:t>algortihms</a:t>
            </a:r>
            <a:endParaRPr sz="4400" b="1" dirty="0">
              <a:solidFill>
                <a:srgbClr val="16181D"/>
              </a:solidFill>
              <a:latin typeface="Arial"/>
            </a:endParaRPr>
          </a:p>
        </p:txBody>
      </p:sp>
    </p:spTree>
    <p:extLst>
      <p:ext uri="{BB962C8B-B14F-4D97-AF65-F5344CB8AC3E}">
        <p14:creationId xmlns:p14="http://schemas.microsoft.com/office/powerpoint/2010/main" val="4047570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26938"/>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Classification</a:t>
            </a:r>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pic>
        <p:nvPicPr>
          <p:cNvPr id="1026" name="Picture 2" descr="Image for post">
            <a:extLst>
              <a:ext uri="{FF2B5EF4-FFF2-40B4-BE49-F238E27FC236}">
                <a16:creationId xmlns:a16="http://schemas.microsoft.com/office/drawing/2014/main" id="{436DC4FE-EE3C-E441-9F9A-67CFCA208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4597" y="1713495"/>
            <a:ext cx="12215829" cy="6871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730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9741B4E3-FFC5-4825-B067-47DE3848241F}"/>
              </a:ext>
            </a:extLst>
          </p:cNvPr>
          <p:cNvSpPr>
            <a:spLocks noGrp="1"/>
          </p:cNvSpPr>
          <p:nvPr/>
        </p:nvSpPr>
        <p:spPr>
          <a:xfrm>
            <a:off x="4057" y="0"/>
            <a:ext cx="17336911" cy="1110646"/>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2" name="Rectangle 1">
            <a:extLst>
              <a:ext uri="{FF2B5EF4-FFF2-40B4-BE49-F238E27FC236}">
                <a16:creationId xmlns:a16="http://schemas.microsoft.com/office/drawing/2014/main" id="{8EA7A0BB-925D-4CC9-8B04-BA848A948402}"/>
              </a:ext>
            </a:extLst>
          </p:cNvPr>
          <p:cNvSpPr>
            <a:spLocks noGrp="1"/>
          </p:cNvSpPr>
          <p:nvPr/>
        </p:nvSpPr>
        <p:spPr>
          <a:xfrm>
            <a:off x="762546" y="162533"/>
            <a:ext cx="15711576" cy="785579"/>
          </a:xfrm>
          <a:prstGeom prst="rect">
            <a:avLst/>
          </a:prstGeom>
          <a:noFill/>
          <a:ln w="0">
            <a:noFill/>
          </a:ln>
        </p:spPr>
        <p:txBody>
          <a:bodyPr>
            <a:noAutofit/>
          </a:bodyPr>
          <a:lstStyle/>
          <a:p>
            <a:pPr defTabSz="1300277">
              <a:defRPr sz="2250" b="1">
                <a:solidFill>
                  <a:srgbClr val="111111"/>
                </a:solidFill>
                <a:latin typeface="Arial"/>
                <a:ea typeface="Arial"/>
                <a:cs typeface="Arial"/>
              </a:defRPr>
            </a:pPr>
            <a:r>
              <a:rPr sz="3200" b="1">
                <a:solidFill>
                  <a:srgbClr val="111111"/>
                </a:solidFill>
                <a:latin typeface="Arial"/>
                <a:ea typeface="Arial"/>
                <a:cs typeface="Arial"/>
              </a:rPr>
              <a:t>Classification</a:t>
            </a:r>
          </a:p>
        </p:txBody>
      </p:sp>
      <p:sp>
        <p:nvSpPr>
          <p:cNvPr id="3" name="Rectangle 2">
            <a:extLst>
              <a:ext uri="{FF2B5EF4-FFF2-40B4-BE49-F238E27FC236}">
                <a16:creationId xmlns:a16="http://schemas.microsoft.com/office/drawing/2014/main" id="{F3973C8E-272F-407C-B5A0-1E66AE9C9B3C}"/>
              </a:ext>
            </a:extLst>
          </p:cNvPr>
          <p:cNvSpPr>
            <a:spLocks noGrp="1"/>
          </p:cNvSpPr>
          <p:nvPr/>
        </p:nvSpPr>
        <p:spPr>
          <a:xfrm>
            <a:off x="572924" y="9237323"/>
            <a:ext cx="4198783" cy="243800"/>
          </a:xfrm>
          <a:prstGeom prst="rect">
            <a:avLst/>
          </a:prstGeom>
          <a:noFill/>
          <a:ln w="0">
            <a:noFill/>
          </a:ln>
        </p:spPr>
        <p:txBody>
          <a:bodyPr>
            <a:noAutofit/>
          </a:bodyPr>
          <a:lstStyle/>
          <a:p>
            <a:pPr defTabSz="1300277">
              <a:defRPr sz="750" b="0">
                <a:solidFill>
                  <a:srgbClr val="666666"/>
                </a:solidFill>
                <a:latin typeface="Arial"/>
                <a:ea typeface="Arial"/>
                <a:cs typeface="Arial"/>
              </a:defRPr>
            </a:pPr>
            <a:r>
              <a:rPr sz="1067">
                <a:solidFill>
                  <a:srgbClr val="666666"/>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EA2485EC-C819-47CB-AE4F-4228AB862AB5}"/>
              </a:ext>
            </a:extLst>
          </p:cNvPr>
          <p:cNvSpPr>
            <a:spLocks noGrp="1"/>
          </p:cNvSpPr>
          <p:nvPr/>
        </p:nvSpPr>
        <p:spPr>
          <a:xfrm>
            <a:off x="5828175" y="9237323"/>
            <a:ext cx="5688674" cy="243800"/>
          </a:xfrm>
          <a:prstGeom prst="rect">
            <a:avLst/>
          </a:prstGeom>
          <a:noFill/>
          <a:ln w="0">
            <a:noFill/>
          </a:ln>
        </p:spPr>
        <p:txBody>
          <a:bodyPr>
            <a:noAutofit/>
          </a:bodyPr>
          <a:lstStyle/>
          <a:p>
            <a:pPr defTabSz="1300277">
              <a:defRPr sz="750" b="0">
                <a:solidFill>
                  <a:srgbClr val="666666"/>
                </a:solidFill>
                <a:latin typeface="Arial"/>
                <a:ea typeface="Arial"/>
                <a:cs typeface="Arial"/>
              </a:defRPr>
            </a:pPr>
            <a:r>
              <a:rPr sz="1067">
                <a:solidFill>
                  <a:srgbClr val="666666"/>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2FF11D03-78E3-4133-B292-DD9753CECE52}"/>
              </a:ext>
            </a:extLst>
          </p:cNvPr>
          <p:cNvSpPr>
            <a:spLocks noGrp="1"/>
          </p:cNvSpPr>
          <p:nvPr/>
        </p:nvSpPr>
        <p:spPr>
          <a:xfrm>
            <a:off x="13413074" y="9237323"/>
            <a:ext cx="3318393" cy="243800"/>
          </a:xfrm>
          <a:prstGeom prst="rect">
            <a:avLst/>
          </a:prstGeom>
          <a:noFill/>
          <a:ln w="0">
            <a:noFill/>
          </a:ln>
        </p:spPr>
        <p:txBody>
          <a:bodyPr>
            <a:noAutofit/>
          </a:bodyPr>
          <a:lstStyle/>
          <a:p>
            <a:pPr defTabSz="1300277">
              <a:defRPr sz="750" b="0">
                <a:solidFill>
                  <a:srgbClr val="666666"/>
                </a:solidFill>
                <a:latin typeface="Arial"/>
                <a:ea typeface="Arial"/>
                <a:cs typeface="Arial"/>
              </a:defRPr>
            </a:pPr>
            <a:r>
              <a:rPr sz="1067">
                <a:solidFill>
                  <a:srgbClr val="666666"/>
                </a:solidFill>
                <a:latin typeface="Arial"/>
                <a:ea typeface="Arial"/>
                <a:cs typeface="Arial"/>
              </a:rPr>
              <a:t>08  MACHINE LEARNING II</a:t>
            </a:r>
          </a:p>
        </p:txBody>
      </p:sp>
      <p:sp>
        <p:nvSpPr>
          <p:cNvPr id="6" name="Rectangle 5">
            <a:extLst>
              <a:ext uri="{FF2B5EF4-FFF2-40B4-BE49-F238E27FC236}">
                <a16:creationId xmlns:a16="http://schemas.microsoft.com/office/drawing/2014/main" id="{4F741DC9-7B79-461E-8BEC-7A40C776CD7C}"/>
              </a:ext>
            </a:extLst>
          </p:cNvPr>
          <p:cNvSpPr>
            <a:spLocks noGrp="1"/>
          </p:cNvSpPr>
          <p:nvPr/>
        </p:nvSpPr>
        <p:spPr>
          <a:xfrm>
            <a:off x="952169" y="1625336"/>
            <a:ext cx="8803900" cy="609501"/>
          </a:xfrm>
          <a:prstGeom prst="rect">
            <a:avLst/>
          </a:prstGeom>
          <a:noFill/>
          <a:ln w="0">
            <a:noFill/>
          </a:ln>
        </p:spPr>
        <p:txBody>
          <a:bodyPr>
            <a:noAutofit/>
          </a:bodyPr>
          <a:lstStyle/>
          <a:p>
            <a:pPr defTabSz="1300277">
              <a:defRPr sz="2100" b="1">
                <a:solidFill>
                  <a:srgbClr val="111111"/>
                </a:solidFill>
                <a:latin typeface="Arial"/>
                <a:ea typeface="Arial"/>
                <a:cs typeface="Arial"/>
              </a:defRPr>
            </a:pPr>
            <a:r>
              <a:rPr sz="2986" b="1">
                <a:solidFill>
                  <a:srgbClr val="111111"/>
                </a:solidFill>
                <a:latin typeface="Arial"/>
                <a:ea typeface="Arial"/>
                <a:cs typeface="Arial"/>
              </a:rPr>
              <a:t>The model predicts one of a set of known classes</a:t>
            </a:r>
          </a:p>
        </p:txBody>
      </p:sp>
      <p:sp>
        <p:nvSpPr>
          <p:cNvPr id="7" name="Rectangle 6">
            <a:extLst>
              <a:ext uri="{FF2B5EF4-FFF2-40B4-BE49-F238E27FC236}">
                <a16:creationId xmlns:a16="http://schemas.microsoft.com/office/drawing/2014/main" id="{47023A04-3EFF-465A-84D4-8EF92C6DEB11}"/>
              </a:ext>
            </a:extLst>
          </p:cNvPr>
          <p:cNvSpPr>
            <a:spLocks noGrp="1"/>
          </p:cNvSpPr>
          <p:nvPr/>
        </p:nvSpPr>
        <p:spPr>
          <a:xfrm>
            <a:off x="9891514" y="2573448"/>
            <a:ext cx="27089" cy="4876006"/>
          </a:xfrm>
          <a:prstGeom prst="rect">
            <a:avLst/>
          </a:prstGeom>
          <a:solidFill>
            <a:srgbClr val="111111"/>
          </a:solidFill>
          <a:ln w="0">
            <a:noFill/>
          </a:ln>
        </p:spPr>
        <p:txBody>
          <a:bodyPr/>
          <a:lstStyle/>
          <a:p>
            <a:pPr defTabSz="1300277"/>
            <a:endParaRPr lang="en-US">
              <a:solidFill>
                <a:srgbClr val="000000"/>
              </a:solidFill>
              <a:latin typeface="Calibri"/>
              <a:cs typeface="Calibri"/>
            </a:endParaRPr>
          </a:p>
        </p:txBody>
      </p:sp>
      <p:sp>
        <p:nvSpPr>
          <p:cNvPr id="8" name="Rectangle 7">
            <a:extLst>
              <a:ext uri="{FF2B5EF4-FFF2-40B4-BE49-F238E27FC236}">
                <a16:creationId xmlns:a16="http://schemas.microsoft.com/office/drawing/2014/main" id="{2E20F078-E4D6-4F12-B76E-D6D3162DD875}"/>
              </a:ext>
            </a:extLst>
          </p:cNvPr>
          <p:cNvSpPr>
            <a:spLocks noGrp="1"/>
          </p:cNvSpPr>
          <p:nvPr/>
        </p:nvSpPr>
        <p:spPr>
          <a:xfrm>
            <a:off x="9891513" y="7449454"/>
            <a:ext cx="5417785" cy="27089"/>
          </a:xfrm>
          <a:prstGeom prst="rect">
            <a:avLst/>
          </a:prstGeom>
          <a:solidFill>
            <a:srgbClr val="111111"/>
          </a:solidFill>
          <a:ln w="0">
            <a:noFill/>
          </a:ln>
        </p:spPr>
        <p:txBody>
          <a:bodyPr/>
          <a:lstStyle/>
          <a:p>
            <a:pPr defTabSz="1300277"/>
            <a:endParaRPr lang="en-US">
              <a:solidFill>
                <a:srgbClr val="000000"/>
              </a:solidFill>
              <a:latin typeface="Calibri"/>
              <a:cs typeface="Calibri"/>
            </a:endParaRPr>
          </a:p>
        </p:txBody>
      </p:sp>
      <p:sp>
        <p:nvSpPr>
          <p:cNvPr id="9" name="Oval 8">
            <a:extLst>
              <a:ext uri="{FF2B5EF4-FFF2-40B4-BE49-F238E27FC236}">
                <a16:creationId xmlns:a16="http://schemas.microsoft.com/office/drawing/2014/main" id="{7046725D-9F2A-4629-806D-A643CA9B4E74}"/>
              </a:ext>
            </a:extLst>
          </p:cNvPr>
          <p:cNvSpPr>
            <a:spLocks noGrp="1"/>
          </p:cNvSpPr>
          <p:nvPr/>
        </p:nvSpPr>
        <p:spPr>
          <a:xfrm>
            <a:off x="10541648" y="6271086"/>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0" name="Oval 9">
            <a:extLst>
              <a:ext uri="{FF2B5EF4-FFF2-40B4-BE49-F238E27FC236}">
                <a16:creationId xmlns:a16="http://schemas.microsoft.com/office/drawing/2014/main" id="{855EF4FA-B093-4CBA-92C5-206B72AE279F}"/>
              </a:ext>
            </a:extLst>
          </p:cNvPr>
          <p:cNvSpPr>
            <a:spLocks noGrp="1"/>
          </p:cNvSpPr>
          <p:nvPr/>
        </p:nvSpPr>
        <p:spPr>
          <a:xfrm>
            <a:off x="11110515" y="6271086"/>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1" name="Oval 10">
            <a:extLst>
              <a:ext uri="{FF2B5EF4-FFF2-40B4-BE49-F238E27FC236}">
                <a16:creationId xmlns:a16="http://schemas.microsoft.com/office/drawing/2014/main" id="{DFB9759C-D72A-45BB-8CB1-F8F346CC20A0}"/>
              </a:ext>
            </a:extLst>
          </p:cNvPr>
          <p:cNvSpPr>
            <a:spLocks noGrp="1"/>
          </p:cNvSpPr>
          <p:nvPr/>
        </p:nvSpPr>
        <p:spPr>
          <a:xfrm>
            <a:off x="11679383" y="6271086"/>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2" name="Oval 11">
            <a:extLst>
              <a:ext uri="{FF2B5EF4-FFF2-40B4-BE49-F238E27FC236}">
                <a16:creationId xmlns:a16="http://schemas.microsoft.com/office/drawing/2014/main" id="{84F197B3-60C4-4C53-8FC0-047F19F10860}"/>
              </a:ext>
            </a:extLst>
          </p:cNvPr>
          <p:cNvSpPr>
            <a:spLocks noGrp="1"/>
          </p:cNvSpPr>
          <p:nvPr/>
        </p:nvSpPr>
        <p:spPr>
          <a:xfrm>
            <a:off x="12248250" y="6271086"/>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3" name="Oval 12">
            <a:extLst>
              <a:ext uri="{FF2B5EF4-FFF2-40B4-BE49-F238E27FC236}">
                <a16:creationId xmlns:a16="http://schemas.microsoft.com/office/drawing/2014/main" id="{BACDAEA5-0C3C-4694-BD39-621ACD005196}"/>
              </a:ext>
            </a:extLst>
          </p:cNvPr>
          <p:cNvSpPr>
            <a:spLocks noGrp="1"/>
          </p:cNvSpPr>
          <p:nvPr/>
        </p:nvSpPr>
        <p:spPr>
          <a:xfrm>
            <a:off x="10541648" y="5593863"/>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4" name="Oval 13">
            <a:extLst>
              <a:ext uri="{FF2B5EF4-FFF2-40B4-BE49-F238E27FC236}">
                <a16:creationId xmlns:a16="http://schemas.microsoft.com/office/drawing/2014/main" id="{2DC41C06-DA8E-4F4E-B925-947EEA4A051E}"/>
              </a:ext>
            </a:extLst>
          </p:cNvPr>
          <p:cNvSpPr>
            <a:spLocks noGrp="1"/>
          </p:cNvSpPr>
          <p:nvPr/>
        </p:nvSpPr>
        <p:spPr>
          <a:xfrm>
            <a:off x="11110515" y="5593863"/>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5" name="Oval 14">
            <a:extLst>
              <a:ext uri="{FF2B5EF4-FFF2-40B4-BE49-F238E27FC236}">
                <a16:creationId xmlns:a16="http://schemas.microsoft.com/office/drawing/2014/main" id="{691D3BFC-414D-470B-AA3D-89004635786E}"/>
              </a:ext>
            </a:extLst>
          </p:cNvPr>
          <p:cNvSpPr>
            <a:spLocks noGrp="1"/>
          </p:cNvSpPr>
          <p:nvPr/>
        </p:nvSpPr>
        <p:spPr>
          <a:xfrm>
            <a:off x="11679383" y="5593863"/>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6" name="Oval 15">
            <a:extLst>
              <a:ext uri="{FF2B5EF4-FFF2-40B4-BE49-F238E27FC236}">
                <a16:creationId xmlns:a16="http://schemas.microsoft.com/office/drawing/2014/main" id="{F913887F-21EF-4D9E-9904-EA18AB8E8EAC}"/>
              </a:ext>
            </a:extLst>
          </p:cNvPr>
          <p:cNvSpPr>
            <a:spLocks noGrp="1"/>
          </p:cNvSpPr>
          <p:nvPr/>
        </p:nvSpPr>
        <p:spPr>
          <a:xfrm>
            <a:off x="12248250" y="5593863"/>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7" name="Oval 16">
            <a:extLst>
              <a:ext uri="{FF2B5EF4-FFF2-40B4-BE49-F238E27FC236}">
                <a16:creationId xmlns:a16="http://schemas.microsoft.com/office/drawing/2014/main" id="{04A5B63B-69AA-4BA5-8A95-2D50E0A44EBE}"/>
              </a:ext>
            </a:extLst>
          </p:cNvPr>
          <p:cNvSpPr>
            <a:spLocks noGrp="1"/>
          </p:cNvSpPr>
          <p:nvPr/>
        </p:nvSpPr>
        <p:spPr>
          <a:xfrm>
            <a:off x="10541648" y="4916640"/>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8" name="Oval 17">
            <a:extLst>
              <a:ext uri="{FF2B5EF4-FFF2-40B4-BE49-F238E27FC236}">
                <a16:creationId xmlns:a16="http://schemas.microsoft.com/office/drawing/2014/main" id="{2518FEB6-BBF4-4C8F-819E-6EB3A5E9AB31}"/>
              </a:ext>
            </a:extLst>
          </p:cNvPr>
          <p:cNvSpPr>
            <a:spLocks noGrp="1"/>
          </p:cNvSpPr>
          <p:nvPr/>
        </p:nvSpPr>
        <p:spPr>
          <a:xfrm>
            <a:off x="11110515" y="4916640"/>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19" name="Oval 18">
            <a:extLst>
              <a:ext uri="{FF2B5EF4-FFF2-40B4-BE49-F238E27FC236}">
                <a16:creationId xmlns:a16="http://schemas.microsoft.com/office/drawing/2014/main" id="{693220E2-232A-46FA-AED6-A1BEE42EEE78}"/>
              </a:ext>
            </a:extLst>
          </p:cNvPr>
          <p:cNvSpPr>
            <a:spLocks noGrp="1"/>
          </p:cNvSpPr>
          <p:nvPr/>
        </p:nvSpPr>
        <p:spPr>
          <a:xfrm>
            <a:off x="11679383" y="4916640"/>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0" name="Oval 19">
            <a:extLst>
              <a:ext uri="{FF2B5EF4-FFF2-40B4-BE49-F238E27FC236}">
                <a16:creationId xmlns:a16="http://schemas.microsoft.com/office/drawing/2014/main" id="{AFFBB889-DD49-4401-83E1-75BECC37036F}"/>
              </a:ext>
            </a:extLst>
          </p:cNvPr>
          <p:cNvSpPr>
            <a:spLocks noGrp="1"/>
          </p:cNvSpPr>
          <p:nvPr/>
        </p:nvSpPr>
        <p:spPr>
          <a:xfrm>
            <a:off x="12248250" y="4916640"/>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1" name="Oval 20">
            <a:extLst>
              <a:ext uri="{FF2B5EF4-FFF2-40B4-BE49-F238E27FC236}">
                <a16:creationId xmlns:a16="http://schemas.microsoft.com/office/drawing/2014/main" id="{972E2A0C-B7EA-4047-8531-3C64F2A5FFD1}"/>
              </a:ext>
            </a:extLst>
          </p:cNvPr>
          <p:cNvSpPr>
            <a:spLocks noGrp="1"/>
          </p:cNvSpPr>
          <p:nvPr/>
        </p:nvSpPr>
        <p:spPr>
          <a:xfrm>
            <a:off x="10541648" y="4239417"/>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2" name="Oval 21">
            <a:extLst>
              <a:ext uri="{FF2B5EF4-FFF2-40B4-BE49-F238E27FC236}">
                <a16:creationId xmlns:a16="http://schemas.microsoft.com/office/drawing/2014/main" id="{566914BB-D3FA-4C8D-A2FB-963A7E5A01E5}"/>
              </a:ext>
            </a:extLst>
          </p:cNvPr>
          <p:cNvSpPr>
            <a:spLocks noGrp="1"/>
          </p:cNvSpPr>
          <p:nvPr/>
        </p:nvSpPr>
        <p:spPr>
          <a:xfrm>
            <a:off x="11110515" y="4239417"/>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3" name="Oval 22">
            <a:extLst>
              <a:ext uri="{FF2B5EF4-FFF2-40B4-BE49-F238E27FC236}">
                <a16:creationId xmlns:a16="http://schemas.microsoft.com/office/drawing/2014/main" id="{20EB1319-8247-45CC-80FA-245AB982F5DB}"/>
              </a:ext>
            </a:extLst>
          </p:cNvPr>
          <p:cNvSpPr>
            <a:spLocks noGrp="1"/>
          </p:cNvSpPr>
          <p:nvPr/>
        </p:nvSpPr>
        <p:spPr>
          <a:xfrm>
            <a:off x="11679383" y="4239417"/>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4" name="Oval 23">
            <a:extLst>
              <a:ext uri="{FF2B5EF4-FFF2-40B4-BE49-F238E27FC236}">
                <a16:creationId xmlns:a16="http://schemas.microsoft.com/office/drawing/2014/main" id="{AB4A2618-26F2-40B8-A5A9-B6BB37837098}"/>
              </a:ext>
            </a:extLst>
          </p:cNvPr>
          <p:cNvSpPr>
            <a:spLocks noGrp="1"/>
          </p:cNvSpPr>
          <p:nvPr/>
        </p:nvSpPr>
        <p:spPr>
          <a:xfrm>
            <a:off x="12248250" y="4239417"/>
            <a:ext cx="189622" cy="189622"/>
          </a:xfrm>
          <a:prstGeom prst="ellipse">
            <a:avLst/>
          </a:prstGeom>
          <a:solidFill>
            <a:srgbClr val="D84A4A"/>
          </a:solidFill>
          <a:ln w="0">
            <a:noFill/>
          </a:ln>
        </p:spPr>
        <p:txBody>
          <a:bodyPr/>
          <a:lstStyle/>
          <a:p>
            <a:pPr defTabSz="1300277"/>
            <a:endParaRPr lang="en-US">
              <a:solidFill>
                <a:srgbClr val="000000"/>
              </a:solidFill>
              <a:latin typeface="Calibri"/>
              <a:cs typeface="Calibri"/>
            </a:endParaRPr>
          </a:p>
        </p:txBody>
      </p:sp>
      <p:sp>
        <p:nvSpPr>
          <p:cNvPr id="25" name="Oval 24">
            <a:extLst>
              <a:ext uri="{FF2B5EF4-FFF2-40B4-BE49-F238E27FC236}">
                <a16:creationId xmlns:a16="http://schemas.microsoft.com/office/drawing/2014/main" id="{268BEAFC-B887-465A-A638-796461531225}"/>
              </a:ext>
            </a:extLst>
          </p:cNvPr>
          <p:cNvSpPr>
            <a:spLocks noGrp="1"/>
          </p:cNvSpPr>
          <p:nvPr/>
        </p:nvSpPr>
        <p:spPr>
          <a:xfrm>
            <a:off x="13047373" y="423941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26" name="Oval 25">
            <a:extLst>
              <a:ext uri="{FF2B5EF4-FFF2-40B4-BE49-F238E27FC236}">
                <a16:creationId xmlns:a16="http://schemas.microsoft.com/office/drawing/2014/main" id="{DC453461-03BA-4E00-98DB-92ABD1DDAED8}"/>
              </a:ext>
            </a:extLst>
          </p:cNvPr>
          <p:cNvSpPr>
            <a:spLocks noGrp="1"/>
          </p:cNvSpPr>
          <p:nvPr/>
        </p:nvSpPr>
        <p:spPr>
          <a:xfrm>
            <a:off x="13562063" y="423941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27" name="Oval 26">
            <a:extLst>
              <a:ext uri="{FF2B5EF4-FFF2-40B4-BE49-F238E27FC236}">
                <a16:creationId xmlns:a16="http://schemas.microsoft.com/office/drawing/2014/main" id="{05D20E38-AEDC-4745-967D-23CD3DFB4B3F}"/>
              </a:ext>
            </a:extLst>
          </p:cNvPr>
          <p:cNvSpPr>
            <a:spLocks noGrp="1"/>
          </p:cNvSpPr>
          <p:nvPr/>
        </p:nvSpPr>
        <p:spPr>
          <a:xfrm>
            <a:off x="14076752" y="423941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28" name="Oval 27">
            <a:extLst>
              <a:ext uri="{FF2B5EF4-FFF2-40B4-BE49-F238E27FC236}">
                <a16:creationId xmlns:a16="http://schemas.microsoft.com/office/drawing/2014/main" id="{49F26B8B-37AB-4C74-B3FB-13F975C2180B}"/>
              </a:ext>
            </a:extLst>
          </p:cNvPr>
          <p:cNvSpPr>
            <a:spLocks noGrp="1"/>
          </p:cNvSpPr>
          <p:nvPr/>
        </p:nvSpPr>
        <p:spPr>
          <a:xfrm>
            <a:off x="14591442" y="423941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29" name="Oval 28">
            <a:extLst>
              <a:ext uri="{FF2B5EF4-FFF2-40B4-BE49-F238E27FC236}">
                <a16:creationId xmlns:a16="http://schemas.microsoft.com/office/drawing/2014/main" id="{8D172B1A-3F09-4510-A641-6FEE7CDEBBC3}"/>
              </a:ext>
            </a:extLst>
          </p:cNvPr>
          <p:cNvSpPr>
            <a:spLocks noGrp="1"/>
          </p:cNvSpPr>
          <p:nvPr/>
        </p:nvSpPr>
        <p:spPr>
          <a:xfrm>
            <a:off x="13047373" y="372472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0" name="Oval 29">
            <a:extLst>
              <a:ext uri="{FF2B5EF4-FFF2-40B4-BE49-F238E27FC236}">
                <a16:creationId xmlns:a16="http://schemas.microsoft.com/office/drawing/2014/main" id="{05E094DA-AC34-4B53-A4C5-9C08C1E7AA65}"/>
              </a:ext>
            </a:extLst>
          </p:cNvPr>
          <p:cNvSpPr>
            <a:spLocks noGrp="1"/>
          </p:cNvSpPr>
          <p:nvPr/>
        </p:nvSpPr>
        <p:spPr>
          <a:xfrm>
            <a:off x="13562063" y="372472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1" name="Oval 30">
            <a:extLst>
              <a:ext uri="{FF2B5EF4-FFF2-40B4-BE49-F238E27FC236}">
                <a16:creationId xmlns:a16="http://schemas.microsoft.com/office/drawing/2014/main" id="{DFE8562B-66A9-4073-A15B-45490F440750}"/>
              </a:ext>
            </a:extLst>
          </p:cNvPr>
          <p:cNvSpPr>
            <a:spLocks noGrp="1"/>
          </p:cNvSpPr>
          <p:nvPr/>
        </p:nvSpPr>
        <p:spPr>
          <a:xfrm>
            <a:off x="14076752" y="372472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2" name="Oval 31">
            <a:extLst>
              <a:ext uri="{FF2B5EF4-FFF2-40B4-BE49-F238E27FC236}">
                <a16:creationId xmlns:a16="http://schemas.microsoft.com/office/drawing/2014/main" id="{F6494D56-95A8-4D42-AA46-5A8148B1C7FA}"/>
              </a:ext>
            </a:extLst>
          </p:cNvPr>
          <p:cNvSpPr>
            <a:spLocks noGrp="1"/>
          </p:cNvSpPr>
          <p:nvPr/>
        </p:nvSpPr>
        <p:spPr>
          <a:xfrm>
            <a:off x="14591442" y="372472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3" name="Oval 32">
            <a:extLst>
              <a:ext uri="{FF2B5EF4-FFF2-40B4-BE49-F238E27FC236}">
                <a16:creationId xmlns:a16="http://schemas.microsoft.com/office/drawing/2014/main" id="{6DA1E6A1-79FF-4B1C-9011-9B083F2783A0}"/>
              </a:ext>
            </a:extLst>
          </p:cNvPr>
          <p:cNvSpPr>
            <a:spLocks noGrp="1"/>
          </p:cNvSpPr>
          <p:nvPr/>
        </p:nvSpPr>
        <p:spPr>
          <a:xfrm>
            <a:off x="13047373" y="321003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4" name="Oval 33">
            <a:extLst>
              <a:ext uri="{FF2B5EF4-FFF2-40B4-BE49-F238E27FC236}">
                <a16:creationId xmlns:a16="http://schemas.microsoft.com/office/drawing/2014/main" id="{D27DA81C-1691-4D67-BE1F-F29967CB8B60}"/>
              </a:ext>
            </a:extLst>
          </p:cNvPr>
          <p:cNvSpPr>
            <a:spLocks noGrp="1"/>
          </p:cNvSpPr>
          <p:nvPr/>
        </p:nvSpPr>
        <p:spPr>
          <a:xfrm>
            <a:off x="13562063" y="321003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5" name="Oval 34">
            <a:extLst>
              <a:ext uri="{FF2B5EF4-FFF2-40B4-BE49-F238E27FC236}">
                <a16:creationId xmlns:a16="http://schemas.microsoft.com/office/drawing/2014/main" id="{24E0B8EC-6A6B-4707-A26A-EC10159EB585}"/>
              </a:ext>
            </a:extLst>
          </p:cNvPr>
          <p:cNvSpPr>
            <a:spLocks noGrp="1"/>
          </p:cNvSpPr>
          <p:nvPr/>
        </p:nvSpPr>
        <p:spPr>
          <a:xfrm>
            <a:off x="14076752" y="321003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6" name="Oval 35">
            <a:extLst>
              <a:ext uri="{FF2B5EF4-FFF2-40B4-BE49-F238E27FC236}">
                <a16:creationId xmlns:a16="http://schemas.microsoft.com/office/drawing/2014/main" id="{D3DEBFB5-6D6E-4992-8FD0-2D4166C69868}"/>
              </a:ext>
            </a:extLst>
          </p:cNvPr>
          <p:cNvSpPr>
            <a:spLocks noGrp="1"/>
          </p:cNvSpPr>
          <p:nvPr/>
        </p:nvSpPr>
        <p:spPr>
          <a:xfrm>
            <a:off x="14591442" y="3210037"/>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7" name="Oval 36">
            <a:extLst>
              <a:ext uri="{FF2B5EF4-FFF2-40B4-BE49-F238E27FC236}">
                <a16:creationId xmlns:a16="http://schemas.microsoft.com/office/drawing/2014/main" id="{FCDDBEC9-DAC1-42D1-9C34-CF7E200809E0}"/>
              </a:ext>
            </a:extLst>
          </p:cNvPr>
          <p:cNvSpPr>
            <a:spLocks noGrp="1"/>
          </p:cNvSpPr>
          <p:nvPr/>
        </p:nvSpPr>
        <p:spPr>
          <a:xfrm>
            <a:off x="13047373" y="2695348"/>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8" name="Oval 37">
            <a:extLst>
              <a:ext uri="{FF2B5EF4-FFF2-40B4-BE49-F238E27FC236}">
                <a16:creationId xmlns:a16="http://schemas.microsoft.com/office/drawing/2014/main" id="{84337952-0FE2-411C-9A5D-005F7D5E627B}"/>
              </a:ext>
            </a:extLst>
          </p:cNvPr>
          <p:cNvSpPr>
            <a:spLocks noGrp="1"/>
          </p:cNvSpPr>
          <p:nvPr/>
        </p:nvSpPr>
        <p:spPr>
          <a:xfrm>
            <a:off x="13562063" y="2695348"/>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39" name="Oval 38">
            <a:extLst>
              <a:ext uri="{FF2B5EF4-FFF2-40B4-BE49-F238E27FC236}">
                <a16:creationId xmlns:a16="http://schemas.microsoft.com/office/drawing/2014/main" id="{CC8353BD-DDE4-4862-96A4-31A35F77F5FE}"/>
              </a:ext>
            </a:extLst>
          </p:cNvPr>
          <p:cNvSpPr>
            <a:spLocks noGrp="1"/>
          </p:cNvSpPr>
          <p:nvPr/>
        </p:nvSpPr>
        <p:spPr>
          <a:xfrm>
            <a:off x="14076752" y="2695348"/>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40" name="Oval 39">
            <a:extLst>
              <a:ext uri="{FF2B5EF4-FFF2-40B4-BE49-F238E27FC236}">
                <a16:creationId xmlns:a16="http://schemas.microsoft.com/office/drawing/2014/main" id="{1F31B076-7393-490A-A718-F426289A0CA6}"/>
              </a:ext>
            </a:extLst>
          </p:cNvPr>
          <p:cNvSpPr>
            <a:spLocks noGrp="1"/>
          </p:cNvSpPr>
          <p:nvPr/>
        </p:nvSpPr>
        <p:spPr>
          <a:xfrm>
            <a:off x="14591442" y="2695348"/>
            <a:ext cx="189622" cy="189622"/>
          </a:xfrm>
          <a:prstGeom prst="ellipse">
            <a:avLst/>
          </a:prstGeom>
          <a:solidFill>
            <a:srgbClr val="2878B5"/>
          </a:solidFill>
          <a:ln w="0">
            <a:noFill/>
          </a:ln>
        </p:spPr>
        <p:txBody>
          <a:bodyPr/>
          <a:lstStyle/>
          <a:p>
            <a:pPr defTabSz="1300277"/>
            <a:endParaRPr lang="en-US">
              <a:solidFill>
                <a:srgbClr val="000000"/>
              </a:solidFill>
              <a:latin typeface="Calibri"/>
              <a:cs typeface="Calibri"/>
            </a:endParaRPr>
          </a:p>
        </p:txBody>
      </p:sp>
      <p:sp>
        <p:nvSpPr>
          <p:cNvPr id="41" name="Rectangle 40">
            <a:extLst>
              <a:ext uri="{FF2B5EF4-FFF2-40B4-BE49-F238E27FC236}">
                <a16:creationId xmlns:a16="http://schemas.microsoft.com/office/drawing/2014/main" id="{A2416F00-BC77-41A3-A076-334EEE444DDC}"/>
              </a:ext>
            </a:extLst>
          </p:cNvPr>
          <p:cNvSpPr>
            <a:spLocks noGrp="1"/>
          </p:cNvSpPr>
          <p:nvPr/>
        </p:nvSpPr>
        <p:spPr>
          <a:xfrm>
            <a:off x="12735850" y="2573448"/>
            <a:ext cx="54178" cy="4876006"/>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42" name="Rectangle 41">
            <a:extLst>
              <a:ext uri="{FF2B5EF4-FFF2-40B4-BE49-F238E27FC236}">
                <a16:creationId xmlns:a16="http://schemas.microsoft.com/office/drawing/2014/main" id="{27C942BA-0671-4FE7-8227-07E0BB75C0EB}"/>
              </a:ext>
            </a:extLst>
          </p:cNvPr>
          <p:cNvSpPr>
            <a:spLocks noGrp="1"/>
          </p:cNvSpPr>
          <p:nvPr/>
        </p:nvSpPr>
        <p:spPr>
          <a:xfrm>
            <a:off x="12871296" y="6772231"/>
            <a:ext cx="2776615" cy="406334"/>
          </a:xfrm>
          <a:prstGeom prst="rect">
            <a:avLst/>
          </a:prstGeom>
          <a:noFill/>
          <a:ln w="0">
            <a:noFill/>
          </a:ln>
        </p:spPr>
        <p:txBody>
          <a:bodyPr>
            <a:noAutofit/>
          </a:bodyPr>
          <a:lstStyle/>
          <a:p>
            <a:pPr defTabSz="1300277">
              <a:defRPr sz="1200" b="1">
                <a:solidFill>
                  <a:srgbClr val="555555"/>
                </a:solidFill>
                <a:latin typeface="Arial"/>
                <a:ea typeface="Arial"/>
                <a:cs typeface="Arial"/>
              </a:defRPr>
            </a:pPr>
            <a:r>
              <a:rPr sz="1706" b="1">
                <a:solidFill>
                  <a:srgbClr val="555555"/>
                </a:solidFill>
                <a:latin typeface="Arial"/>
                <a:ea typeface="Arial"/>
                <a:cs typeface="Arial"/>
              </a:rPr>
              <a:t>decision boundary</a:t>
            </a:r>
          </a:p>
        </p:txBody>
      </p:sp>
      <p:sp>
        <p:nvSpPr>
          <p:cNvPr id="43" name="Rectangle 42">
            <a:extLst>
              <a:ext uri="{FF2B5EF4-FFF2-40B4-BE49-F238E27FC236}">
                <a16:creationId xmlns:a16="http://schemas.microsoft.com/office/drawing/2014/main" id="{C6FB3F9E-1871-48FA-A4E8-68473116D0BB}"/>
              </a:ext>
            </a:extLst>
          </p:cNvPr>
          <p:cNvSpPr>
            <a:spLocks noGrp="1"/>
          </p:cNvSpPr>
          <p:nvPr/>
        </p:nvSpPr>
        <p:spPr>
          <a:xfrm>
            <a:off x="952169" y="2979782"/>
            <a:ext cx="108356" cy="568867"/>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44" name="Rectangle 43">
            <a:extLst>
              <a:ext uri="{FF2B5EF4-FFF2-40B4-BE49-F238E27FC236}">
                <a16:creationId xmlns:a16="http://schemas.microsoft.com/office/drawing/2014/main" id="{B6547D67-CC13-460D-B029-53A3D1867679}"/>
              </a:ext>
            </a:extLst>
          </p:cNvPr>
          <p:cNvSpPr>
            <a:spLocks noGrp="1"/>
          </p:cNvSpPr>
          <p:nvPr/>
        </p:nvSpPr>
        <p:spPr>
          <a:xfrm>
            <a:off x="1277236" y="2979782"/>
            <a:ext cx="2199621" cy="568867"/>
          </a:xfrm>
          <a:prstGeom prst="rect">
            <a:avLst/>
          </a:prstGeom>
          <a:noFill/>
          <a:ln w="0">
            <a:noFill/>
          </a:ln>
        </p:spPr>
        <p:txBody>
          <a:bodyPr>
            <a:noAutofit/>
          </a:bodyPr>
          <a:lstStyle/>
          <a:p>
            <a:pPr defTabSz="1300277">
              <a:defRPr sz="1650" b="1">
                <a:solidFill>
                  <a:srgbClr val="111111"/>
                </a:solidFill>
                <a:latin typeface="Arial"/>
                <a:ea typeface="Arial"/>
                <a:cs typeface="Arial"/>
              </a:defRPr>
            </a:pPr>
            <a:r>
              <a:rPr sz="2346" b="1">
                <a:solidFill>
                  <a:srgbClr val="111111"/>
                </a:solidFill>
                <a:latin typeface="Arial"/>
                <a:ea typeface="Arial"/>
                <a:cs typeface="Arial"/>
              </a:rPr>
              <a:t>BINARY</a:t>
            </a:r>
          </a:p>
        </p:txBody>
      </p:sp>
      <p:sp>
        <p:nvSpPr>
          <p:cNvPr id="45" name="Rectangle 44">
            <a:extLst>
              <a:ext uri="{FF2B5EF4-FFF2-40B4-BE49-F238E27FC236}">
                <a16:creationId xmlns:a16="http://schemas.microsoft.com/office/drawing/2014/main" id="{FDCF4E1C-EC47-4089-8773-B88C43ECB013}"/>
              </a:ext>
            </a:extLst>
          </p:cNvPr>
          <p:cNvSpPr>
            <a:spLocks noGrp="1"/>
          </p:cNvSpPr>
          <p:nvPr/>
        </p:nvSpPr>
        <p:spPr>
          <a:xfrm>
            <a:off x="5421841" y="2979782"/>
            <a:ext cx="3250671" cy="568867"/>
          </a:xfrm>
          <a:prstGeom prst="rect">
            <a:avLst/>
          </a:prstGeom>
          <a:noFill/>
          <a:ln w="0">
            <a:noFill/>
          </a:ln>
        </p:spPr>
        <p:txBody>
          <a:bodyPr>
            <a:noAutofit/>
          </a:bodyPr>
          <a:lstStyle/>
          <a:p>
            <a:pPr defTabSz="1300277">
              <a:defRPr sz="1575" b="0">
                <a:solidFill>
                  <a:srgbClr val="555555"/>
                </a:solidFill>
                <a:latin typeface="Arial"/>
                <a:ea typeface="Arial"/>
                <a:cs typeface="Arial"/>
              </a:defRPr>
            </a:pPr>
            <a:r>
              <a:rPr sz="2240">
                <a:solidFill>
                  <a:srgbClr val="555555"/>
                </a:solidFill>
                <a:latin typeface="Arial"/>
                <a:ea typeface="Arial"/>
                <a:cs typeface="Arial"/>
              </a:rPr>
              <a:t>two classes, such as pass or fail</a:t>
            </a:r>
          </a:p>
        </p:txBody>
      </p:sp>
      <p:sp>
        <p:nvSpPr>
          <p:cNvPr id="46" name="Rectangle 45">
            <a:extLst>
              <a:ext uri="{FF2B5EF4-FFF2-40B4-BE49-F238E27FC236}">
                <a16:creationId xmlns:a16="http://schemas.microsoft.com/office/drawing/2014/main" id="{8E53DE3C-FF48-4A30-9436-F0C3B89665CB}"/>
              </a:ext>
            </a:extLst>
          </p:cNvPr>
          <p:cNvSpPr>
            <a:spLocks noGrp="1"/>
          </p:cNvSpPr>
          <p:nvPr/>
        </p:nvSpPr>
        <p:spPr>
          <a:xfrm>
            <a:off x="952169" y="4225872"/>
            <a:ext cx="108356" cy="568867"/>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47" name="Rectangle 46">
            <a:extLst>
              <a:ext uri="{FF2B5EF4-FFF2-40B4-BE49-F238E27FC236}">
                <a16:creationId xmlns:a16="http://schemas.microsoft.com/office/drawing/2014/main" id="{4146FD1B-5603-4D38-A453-9AE52A83A704}"/>
              </a:ext>
            </a:extLst>
          </p:cNvPr>
          <p:cNvSpPr>
            <a:spLocks noGrp="1"/>
          </p:cNvSpPr>
          <p:nvPr/>
        </p:nvSpPr>
        <p:spPr>
          <a:xfrm>
            <a:off x="1277236" y="4225872"/>
            <a:ext cx="2199621" cy="568867"/>
          </a:xfrm>
          <a:prstGeom prst="rect">
            <a:avLst/>
          </a:prstGeom>
          <a:noFill/>
          <a:ln w="0">
            <a:noFill/>
          </a:ln>
        </p:spPr>
        <p:txBody>
          <a:bodyPr>
            <a:noAutofit/>
          </a:bodyPr>
          <a:lstStyle/>
          <a:p>
            <a:pPr defTabSz="1300277">
              <a:defRPr sz="1650" b="1">
                <a:solidFill>
                  <a:srgbClr val="111111"/>
                </a:solidFill>
                <a:latin typeface="Arial"/>
                <a:ea typeface="Arial"/>
                <a:cs typeface="Arial"/>
              </a:defRPr>
            </a:pPr>
            <a:r>
              <a:rPr sz="2346" b="1">
                <a:solidFill>
                  <a:srgbClr val="111111"/>
                </a:solidFill>
                <a:latin typeface="Arial"/>
                <a:ea typeface="Arial"/>
                <a:cs typeface="Arial"/>
              </a:rPr>
              <a:t>MULTICLASS</a:t>
            </a:r>
          </a:p>
        </p:txBody>
      </p:sp>
      <p:sp>
        <p:nvSpPr>
          <p:cNvPr id="48" name="Rectangle 47">
            <a:extLst>
              <a:ext uri="{FF2B5EF4-FFF2-40B4-BE49-F238E27FC236}">
                <a16:creationId xmlns:a16="http://schemas.microsoft.com/office/drawing/2014/main" id="{B8BAD808-F4DC-4D55-B94E-51B27B0F1B27}"/>
              </a:ext>
            </a:extLst>
          </p:cNvPr>
          <p:cNvSpPr>
            <a:spLocks noGrp="1"/>
          </p:cNvSpPr>
          <p:nvPr/>
        </p:nvSpPr>
        <p:spPr>
          <a:xfrm>
            <a:off x="5421841" y="4225872"/>
            <a:ext cx="3250671" cy="568867"/>
          </a:xfrm>
          <a:prstGeom prst="rect">
            <a:avLst/>
          </a:prstGeom>
          <a:noFill/>
          <a:ln w="0">
            <a:noFill/>
          </a:ln>
        </p:spPr>
        <p:txBody>
          <a:bodyPr>
            <a:noAutofit/>
          </a:bodyPr>
          <a:lstStyle/>
          <a:p>
            <a:pPr defTabSz="1300277">
              <a:defRPr sz="1575" b="0">
                <a:solidFill>
                  <a:srgbClr val="555555"/>
                </a:solidFill>
                <a:latin typeface="Arial"/>
                <a:ea typeface="Arial"/>
                <a:cs typeface="Arial"/>
              </a:defRPr>
            </a:pPr>
            <a:r>
              <a:rPr sz="2240">
                <a:solidFill>
                  <a:srgbClr val="555555"/>
                </a:solidFill>
                <a:latin typeface="Arial"/>
                <a:ea typeface="Arial"/>
                <a:cs typeface="Arial"/>
              </a:rPr>
              <a:t>more than two classes, such as transport mode</a:t>
            </a:r>
          </a:p>
        </p:txBody>
      </p:sp>
      <p:sp>
        <p:nvSpPr>
          <p:cNvPr id="49" name="Rectangle 48">
            <a:extLst>
              <a:ext uri="{FF2B5EF4-FFF2-40B4-BE49-F238E27FC236}">
                <a16:creationId xmlns:a16="http://schemas.microsoft.com/office/drawing/2014/main" id="{90FDA3E8-8785-48CA-B847-DD6A941C6A47}"/>
              </a:ext>
            </a:extLst>
          </p:cNvPr>
          <p:cNvSpPr>
            <a:spLocks noGrp="1"/>
          </p:cNvSpPr>
          <p:nvPr/>
        </p:nvSpPr>
        <p:spPr>
          <a:xfrm>
            <a:off x="952169" y="5471963"/>
            <a:ext cx="108356" cy="568867"/>
          </a:xfrm>
          <a:prstGeom prst="rect">
            <a:avLst/>
          </a:prstGeom>
          <a:solidFill>
            <a:srgbClr val="FFD900"/>
          </a:solidFill>
          <a:ln w="0">
            <a:noFill/>
          </a:ln>
        </p:spPr>
        <p:txBody>
          <a:bodyPr/>
          <a:lstStyle/>
          <a:p>
            <a:pPr defTabSz="1300277"/>
            <a:endParaRPr lang="en-US">
              <a:solidFill>
                <a:srgbClr val="000000"/>
              </a:solidFill>
              <a:latin typeface="Calibri"/>
              <a:cs typeface="Calibri"/>
            </a:endParaRPr>
          </a:p>
        </p:txBody>
      </p:sp>
      <p:sp>
        <p:nvSpPr>
          <p:cNvPr id="50" name="Rectangle 49">
            <a:extLst>
              <a:ext uri="{FF2B5EF4-FFF2-40B4-BE49-F238E27FC236}">
                <a16:creationId xmlns:a16="http://schemas.microsoft.com/office/drawing/2014/main" id="{A1DEDD9A-8BE8-40F7-8281-DD9F20B9AD59}"/>
              </a:ext>
            </a:extLst>
          </p:cNvPr>
          <p:cNvSpPr>
            <a:spLocks noGrp="1"/>
          </p:cNvSpPr>
          <p:nvPr/>
        </p:nvSpPr>
        <p:spPr>
          <a:xfrm>
            <a:off x="1277236" y="5471963"/>
            <a:ext cx="2199621" cy="568867"/>
          </a:xfrm>
          <a:prstGeom prst="rect">
            <a:avLst/>
          </a:prstGeom>
          <a:noFill/>
          <a:ln w="0">
            <a:noFill/>
          </a:ln>
        </p:spPr>
        <p:txBody>
          <a:bodyPr>
            <a:noAutofit/>
          </a:bodyPr>
          <a:lstStyle/>
          <a:p>
            <a:pPr defTabSz="1300277">
              <a:defRPr sz="1650" b="1">
                <a:solidFill>
                  <a:srgbClr val="111111"/>
                </a:solidFill>
                <a:latin typeface="Arial"/>
                <a:ea typeface="Arial"/>
                <a:cs typeface="Arial"/>
              </a:defRPr>
            </a:pPr>
            <a:r>
              <a:rPr sz="2346" b="1">
                <a:solidFill>
                  <a:srgbClr val="111111"/>
                </a:solidFill>
                <a:latin typeface="Arial"/>
                <a:ea typeface="Arial"/>
                <a:cs typeface="Arial"/>
              </a:rPr>
              <a:t>OUTPUT</a:t>
            </a:r>
          </a:p>
        </p:txBody>
      </p:sp>
      <p:sp>
        <p:nvSpPr>
          <p:cNvPr id="51" name="Rectangle 50">
            <a:extLst>
              <a:ext uri="{FF2B5EF4-FFF2-40B4-BE49-F238E27FC236}">
                <a16:creationId xmlns:a16="http://schemas.microsoft.com/office/drawing/2014/main" id="{CCA07000-A9D7-40C3-99EF-103D226E79AE}"/>
              </a:ext>
            </a:extLst>
          </p:cNvPr>
          <p:cNvSpPr>
            <a:spLocks noGrp="1"/>
          </p:cNvSpPr>
          <p:nvPr/>
        </p:nvSpPr>
        <p:spPr>
          <a:xfrm>
            <a:off x="5421841" y="5471963"/>
            <a:ext cx="3250671" cy="568867"/>
          </a:xfrm>
          <a:prstGeom prst="rect">
            <a:avLst/>
          </a:prstGeom>
          <a:noFill/>
          <a:ln w="0">
            <a:noFill/>
          </a:ln>
        </p:spPr>
        <p:txBody>
          <a:bodyPr>
            <a:noAutofit/>
          </a:bodyPr>
          <a:lstStyle/>
          <a:p>
            <a:pPr defTabSz="1300277">
              <a:defRPr sz="1575" b="0">
                <a:solidFill>
                  <a:srgbClr val="555555"/>
                </a:solidFill>
                <a:latin typeface="Arial"/>
                <a:ea typeface="Arial"/>
                <a:cs typeface="Arial"/>
              </a:defRPr>
            </a:pPr>
            <a:r>
              <a:rPr sz="2240">
                <a:solidFill>
                  <a:srgbClr val="555555"/>
                </a:solidFill>
                <a:latin typeface="Arial"/>
                <a:ea typeface="Arial"/>
                <a:cs typeface="Arial"/>
              </a:rPr>
              <a:t>a class label, often based on a probability</a:t>
            </a:r>
          </a:p>
        </p:txBody>
      </p:sp>
    </p:spTree>
    <p:extLst>
      <p:ext uri="{BB962C8B-B14F-4D97-AF65-F5344CB8AC3E}">
        <p14:creationId xmlns:p14="http://schemas.microsoft.com/office/powerpoint/2010/main" val="8389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397664A-0593-0045-A1B2-5C300E49B983}"/>
              </a:ext>
            </a:extLst>
          </p:cNvPr>
          <p:cNvSpPr>
            <a:spLocks noGrp="1"/>
          </p:cNvSpPr>
          <p:nvPr>
            <p:ph type="ftr" sz="quarter" idx="11"/>
          </p:nvPr>
        </p:nvSpPr>
        <p:spPr/>
        <p:txBody>
          <a:bodyPr/>
          <a:lstStyle/>
          <a:p>
            <a:r>
              <a:rPr lang="nb-NO"/>
              <a:t>DAVE3625- Intro to A.I. by Umair M.I</a:t>
            </a:r>
          </a:p>
        </p:txBody>
      </p:sp>
      <p:sp>
        <p:nvSpPr>
          <p:cNvPr id="5" name="Content Placeholder 2">
            <a:extLst>
              <a:ext uri="{FF2B5EF4-FFF2-40B4-BE49-F238E27FC236}">
                <a16:creationId xmlns:a16="http://schemas.microsoft.com/office/drawing/2014/main" id="{6C0A96FE-1F0E-8D48-A924-CAF042D8AC7E}"/>
              </a:ext>
            </a:extLst>
          </p:cNvPr>
          <p:cNvSpPr txBox="1">
            <a:spLocks/>
          </p:cNvSpPr>
          <p:nvPr/>
        </p:nvSpPr>
        <p:spPr>
          <a:xfrm>
            <a:off x="1043586" y="2572570"/>
            <a:ext cx="14818005" cy="6133147"/>
          </a:xfrm>
          <a:prstGeom prst="rect">
            <a:avLst/>
          </a:prstGeom>
        </p:spPr>
        <p:txBody>
          <a:bodyPr vert="horz" lIns="0" tIns="0" rIns="0" bIns="0" rtlCol="0">
            <a:normAutofit/>
          </a:bodyPr>
          <a:lst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r>
              <a:rPr lang="en-NO" dirty="0"/>
              <a:t>Divides the data in classes / categories</a:t>
            </a:r>
          </a:p>
          <a:p>
            <a:r>
              <a:rPr lang="en-NO" dirty="0"/>
              <a:t>Use cases:</a:t>
            </a:r>
          </a:p>
          <a:p>
            <a:pPr lvl="1"/>
            <a:r>
              <a:rPr lang="en-GB" dirty="0"/>
              <a:t>S</a:t>
            </a:r>
            <a:r>
              <a:rPr lang="en-NO" dirty="0"/>
              <a:t>pam detection (classification: spam or normal)</a:t>
            </a:r>
          </a:p>
          <a:p>
            <a:pPr lvl="1"/>
            <a:r>
              <a:rPr lang="en-GB" dirty="0"/>
              <a:t>Analysis of the customer data to predict whether they will buy computer accessories (classification: Yes or No)</a:t>
            </a:r>
          </a:p>
          <a:p>
            <a:pPr lvl="1"/>
            <a:r>
              <a:rPr lang="en-GB" dirty="0"/>
              <a:t>Classifying fruits from features like colour, taste, size, weight (classification: Apple, Orange, Cherry, Banana)</a:t>
            </a:r>
          </a:p>
          <a:p>
            <a:pPr lvl="1"/>
            <a:r>
              <a:rPr lang="en-GB" dirty="0"/>
              <a:t>Gender classification from hair length (classification: Male or Female)</a:t>
            </a:r>
          </a:p>
          <a:p>
            <a:pPr lvl="1"/>
            <a:r>
              <a:rPr lang="en-GB" dirty="0"/>
              <a:t>Stock market direction prediction (classification: up or down — predicting the price itself would be regression)</a:t>
            </a:r>
          </a:p>
          <a:p>
            <a:pPr lvl="1"/>
            <a:endParaRPr lang="en-NO" dirty="0"/>
          </a:p>
        </p:txBody>
      </p:sp>
    </p:spTree>
    <p:extLst>
      <p:ext uri="{BB962C8B-B14F-4D97-AF65-F5344CB8AC3E}">
        <p14:creationId xmlns:p14="http://schemas.microsoft.com/office/powerpoint/2010/main" val="114087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B4546B-5119-4040-98FB-E939680CC7B4}"/>
              </a:ext>
            </a:extLst>
          </p:cNvPr>
          <p:cNvSpPr>
            <a:spLocks noGrp="1"/>
          </p:cNvSpPr>
          <p:nvPr>
            <p:ph type="ftr" sz="quarter" idx="11"/>
          </p:nvPr>
        </p:nvSpPr>
        <p:spPr/>
        <p:txBody>
          <a:bodyPr/>
          <a:lstStyle/>
          <a:p>
            <a:r>
              <a:rPr lang="nb-NO"/>
              <a:t>DAVE3625- Intro to A.I. by Umair M.I</a:t>
            </a:r>
          </a:p>
        </p:txBody>
      </p:sp>
      <p:sp>
        <p:nvSpPr>
          <p:cNvPr id="5" name="Rectangle 4">
            <a:extLst>
              <a:ext uri="{FF2B5EF4-FFF2-40B4-BE49-F238E27FC236}">
                <a16:creationId xmlns:a16="http://schemas.microsoft.com/office/drawing/2014/main" id="{E87883DB-B1DF-544F-9EAE-25E80BD6F66A}"/>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6" name="Title 1">
            <a:extLst>
              <a:ext uri="{FF2B5EF4-FFF2-40B4-BE49-F238E27FC236}">
                <a16:creationId xmlns:a16="http://schemas.microsoft.com/office/drawing/2014/main" id="{7CBB3060-246F-1F48-9134-7D7D89E56385}"/>
              </a:ext>
            </a:extLst>
          </p:cNvPr>
          <p:cNvSpPr>
            <a:spLocks noGrp="1"/>
          </p:cNvSpPr>
          <p:nvPr>
            <p:ph type="title"/>
          </p:nvPr>
        </p:nvSpPr>
        <p:spPr>
          <a:xfrm>
            <a:off x="704493" y="587818"/>
            <a:ext cx="15373922" cy="664797"/>
          </a:xfrm>
        </p:spPr>
        <p:txBody>
          <a:bodyPr/>
          <a:lstStyle/>
          <a:p>
            <a:r>
              <a:rPr lang="en-NO" dirty="0"/>
              <a:t>Classification versus Clustering algorithms</a:t>
            </a:r>
          </a:p>
        </p:txBody>
      </p:sp>
      <p:sp>
        <p:nvSpPr>
          <p:cNvPr id="7" name="Content Placeholder 2">
            <a:extLst>
              <a:ext uri="{FF2B5EF4-FFF2-40B4-BE49-F238E27FC236}">
                <a16:creationId xmlns:a16="http://schemas.microsoft.com/office/drawing/2014/main" id="{D5CF3A5E-D6A5-5F46-A7C6-DBC68B346771}"/>
              </a:ext>
            </a:extLst>
          </p:cNvPr>
          <p:cNvSpPr txBox="1">
            <a:spLocks/>
          </p:cNvSpPr>
          <p:nvPr/>
        </p:nvSpPr>
        <p:spPr>
          <a:xfrm>
            <a:off x="822168" y="2777819"/>
            <a:ext cx="9889166" cy="4680585"/>
          </a:xfrm>
          <a:prstGeom prst="rect">
            <a:avLst/>
          </a:prstGeom>
        </p:spPr>
        <p:txBody>
          <a:bodyPr vert="horz" lIns="0" tIns="0" rIns="0" bIns="0" rtlCol="0">
            <a:normAutofit/>
          </a:bodyPr>
          <a:lst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0" indent="0">
              <a:buFont typeface="Arial" panose="020B0604020202020204" pitchFamily="34" charset="0"/>
              <a:buNone/>
            </a:pPr>
            <a:r>
              <a:rPr lang="en-NO" dirty="0"/>
              <a:t>Clustering</a:t>
            </a:r>
          </a:p>
          <a:p>
            <a:pPr lvl="1"/>
            <a:r>
              <a:rPr lang="en-GB" dirty="0"/>
              <a:t>W</a:t>
            </a:r>
            <a:r>
              <a:rPr lang="en-NO" dirty="0"/>
              <a:t>here we want to discover the groupings in data</a:t>
            </a:r>
          </a:p>
          <a:p>
            <a:pPr marL="325069" lvl="1" indent="0">
              <a:buFont typeface="Arial" panose="020B0604020202020204" pitchFamily="34" charset="0"/>
              <a:buNone/>
            </a:pPr>
            <a:endParaRPr lang="en-NO" dirty="0"/>
          </a:p>
        </p:txBody>
      </p:sp>
      <p:pic>
        <p:nvPicPr>
          <p:cNvPr id="8" name="Picture 2">
            <a:extLst>
              <a:ext uri="{FF2B5EF4-FFF2-40B4-BE49-F238E27FC236}">
                <a16:creationId xmlns:a16="http://schemas.microsoft.com/office/drawing/2014/main" id="{5AE2EC6D-D947-CB40-9588-78AD5EFE1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3359" y="4453130"/>
            <a:ext cx="9718306" cy="405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66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68CEC-F49A-4A4C-8700-11BB5B50E3EC}"/>
              </a:ext>
            </a:extLst>
          </p:cNvPr>
          <p:cNvSpPr>
            <a:spLocks noGrp="1"/>
          </p:cNvSpPr>
          <p:nvPr>
            <p:ph type="title"/>
          </p:nvPr>
        </p:nvSpPr>
        <p:spPr/>
        <p:txBody>
          <a:bodyPr/>
          <a:lstStyle/>
          <a:p>
            <a:r>
              <a:rPr lang="en-NO" dirty="0"/>
              <a:t>Classification versus Clustering algorithms</a:t>
            </a:r>
          </a:p>
        </p:txBody>
      </p:sp>
      <p:sp>
        <p:nvSpPr>
          <p:cNvPr id="3" name="Content Placeholder 2">
            <a:extLst>
              <a:ext uri="{FF2B5EF4-FFF2-40B4-BE49-F238E27FC236}">
                <a16:creationId xmlns:a16="http://schemas.microsoft.com/office/drawing/2014/main" id="{777389AD-C95A-CD42-93A6-D0E518014B1D}"/>
              </a:ext>
            </a:extLst>
          </p:cNvPr>
          <p:cNvSpPr>
            <a:spLocks noGrp="1"/>
          </p:cNvSpPr>
          <p:nvPr>
            <p:ph idx="1"/>
          </p:nvPr>
        </p:nvSpPr>
        <p:spPr/>
        <p:txBody>
          <a:bodyPr/>
          <a:lstStyle/>
          <a:p>
            <a:r>
              <a:rPr lang="en-NO" dirty="0"/>
              <a:t>Classification is assigning labels </a:t>
            </a:r>
          </a:p>
          <a:p>
            <a:r>
              <a:rPr lang="en-NO" dirty="0"/>
              <a:t>Clustering is grouping data together</a:t>
            </a:r>
          </a:p>
          <a:p>
            <a:r>
              <a:rPr lang="en-NO" dirty="0"/>
              <a:t>Classification is supervised, clustering is unsupervised.</a:t>
            </a:r>
          </a:p>
        </p:txBody>
      </p:sp>
      <p:sp>
        <p:nvSpPr>
          <p:cNvPr id="4" name="Footer Placeholder 3">
            <a:extLst>
              <a:ext uri="{FF2B5EF4-FFF2-40B4-BE49-F238E27FC236}">
                <a16:creationId xmlns:a16="http://schemas.microsoft.com/office/drawing/2014/main" id="{338B7000-9B87-4A43-9927-A212CB78022C}"/>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231952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FC0258-B2AD-8749-A89F-6FBCFBB60803}"/>
              </a:ext>
            </a:extLst>
          </p:cNvPr>
          <p:cNvSpPr>
            <a:spLocks noGrp="1"/>
          </p:cNvSpPr>
          <p:nvPr>
            <p:ph type="ftr" sz="quarter" idx="11"/>
          </p:nvPr>
        </p:nvSpPr>
        <p:spPr/>
        <p:txBody>
          <a:bodyPr/>
          <a:lstStyle/>
          <a:p>
            <a:r>
              <a:rPr lang="nb-NO"/>
              <a:t>DAVE3625- Intro to A.I. by Umair M.I</a:t>
            </a:r>
          </a:p>
        </p:txBody>
      </p:sp>
      <p:sp>
        <p:nvSpPr>
          <p:cNvPr id="6" name="Rectangle 5">
            <a:extLst>
              <a:ext uri="{FF2B5EF4-FFF2-40B4-BE49-F238E27FC236}">
                <a16:creationId xmlns:a16="http://schemas.microsoft.com/office/drawing/2014/main" id="{A061EF4D-5482-6440-A51A-8DB57879D560}"/>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itle 1">
            <a:extLst>
              <a:ext uri="{FF2B5EF4-FFF2-40B4-BE49-F238E27FC236}">
                <a16:creationId xmlns:a16="http://schemas.microsoft.com/office/drawing/2014/main" id="{66916736-7E73-8C46-8886-CDD1FAF77617}"/>
              </a:ext>
            </a:extLst>
          </p:cNvPr>
          <p:cNvSpPr>
            <a:spLocks noGrp="1"/>
          </p:cNvSpPr>
          <p:nvPr>
            <p:ph type="title"/>
          </p:nvPr>
        </p:nvSpPr>
        <p:spPr>
          <a:xfrm>
            <a:off x="507492" y="587818"/>
            <a:ext cx="15373922" cy="664797"/>
          </a:xfrm>
        </p:spPr>
        <p:txBody>
          <a:bodyPr/>
          <a:lstStyle/>
          <a:p>
            <a:r>
              <a:rPr lang="en-NO" dirty="0"/>
              <a:t>Classification -&gt; Logistic regression</a:t>
            </a:r>
          </a:p>
        </p:txBody>
      </p:sp>
      <p:sp>
        <p:nvSpPr>
          <p:cNvPr id="5" name="Content Placeholder 4">
            <a:extLst>
              <a:ext uri="{FF2B5EF4-FFF2-40B4-BE49-F238E27FC236}">
                <a16:creationId xmlns:a16="http://schemas.microsoft.com/office/drawing/2014/main" id="{EBA9EA97-43EE-3E46-993A-658BBE6CEB78}"/>
              </a:ext>
            </a:extLst>
          </p:cNvPr>
          <p:cNvSpPr>
            <a:spLocks noGrp="1"/>
          </p:cNvSpPr>
          <p:nvPr>
            <p:ph idx="1"/>
          </p:nvPr>
        </p:nvSpPr>
        <p:spPr>
          <a:xfrm>
            <a:off x="972122" y="2430966"/>
            <a:ext cx="8461810" cy="5742055"/>
          </a:xfrm>
        </p:spPr>
        <p:txBody>
          <a:bodyPr/>
          <a:lstStyle/>
          <a:p>
            <a:r>
              <a:rPr lang="en-GB" dirty="0"/>
              <a:t>is used when you have a classification problem - yes/no, pass/fail, win/lose, alive/dead, healthy/sick etc..</a:t>
            </a:r>
          </a:p>
          <a:p>
            <a:r>
              <a:rPr lang="en-GB" dirty="0"/>
              <a:t>It is the go-to method for binary classification problems </a:t>
            </a:r>
          </a:p>
          <a:p>
            <a:r>
              <a:rPr lang="en-GB" dirty="0"/>
              <a:t>The logistic function looks like a big S and will transform any value into the range 0 to 1.</a:t>
            </a:r>
            <a:endParaRPr lang="en-NO" dirty="0"/>
          </a:p>
        </p:txBody>
      </p:sp>
      <p:pic>
        <p:nvPicPr>
          <p:cNvPr id="3074" name="Picture 2">
            <a:extLst>
              <a:ext uri="{FF2B5EF4-FFF2-40B4-BE49-F238E27FC236}">
                <a16:creationId xmlns:a16="http://schemas.microsoft.com/office/drawing/2014/main" id="{626336C0-865E-0C44-BEB2-A9B6BFA21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3932" y="2039873"/>
            <a:ext cx="7649156" cy="6232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974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FB9002-D6D3-564F-886A-5CA88626F713}"/>
              </a:ext>
            </a:extLst>
          </p:cNvPr>
          <p:cNvSpPr>
            <a:spLocks noGrp="1"/>
          </p:cNvSpPr>
          <p:nvPr>
            <p:ph idx="1"/>
          </p:nvPr>
        </p:nvSpPr>
        <p:spPr>
          <a:xfrm>
            <a:off x="972122" y="3001783"/>
            <a:ext cx="7101361" cy="4680585"/>
          </a:xfrm>
        </p:spPr>
        <p:txBody>
          <a:bodyPr>
            <a:normAutofit fontScale="92500"/>
          </a:bodyPr>
          <a:lstStyle/>
          <a:p>
            <a:pPr marL="0" indent="0">
              <a:buNone/>
            </a:pPr>
            <a:r>
              <a:rPr lang="en-NO" dirty="0"/>
              <a:t>Sigmoid function:</a:t>
            </a:r>
          </a:p>
          <a:p>
            <a:r>
              <a:rPr lang="en-GB" dirty="0"/>
              <a:t>The function maps any real value into another value between 0 and 1.</a:t>
            </a:r>
          </a:p>
          <a:p>
            <a:r>
              <a:rPr lang="en-GB" dirty="0"/>
              <a:t>In machine learning, we use sigmoid to map predictions to probabilities.</a:t>
            </a:r>
          </a:p>
          <a:p>
            <a:r>
              <a:rPr lang="en-NO"/>
              <a:t>Allows to put a threshold value. </a:t>
            </a:r>
            <a:r>
              <a:rPr lang="en-GB" dirty="0" err="1"/>
              <a:t>e.g</a:t>
            </a:r>
            <a:r>
              <a:rPr lang="en-GB" dirty="0"/>
              <a:t> 0.5 (use case spam detection)</a:t>
            </a:r>
          </a:p>
          <a:p>
            <a:endParaRPr lang="nb-NO" dirty="0"/>
          </a:p>
          <a:p>
            <a:endParaRPr lang="en-NO" dirty="0"/>
          </a:p>
        </p:txBody>
      </p:sp>
      <p:sp>
        <p:nvSpPr>
          <p:cNvPr id="4" name="Footer Placeholder 3">
            <a:extLst>
              <a:ext uri="{FF2B5EF4-FFF2-40B4-BE49-F238E27FC236}">
                <a16:creationId xmlns:a16="http://schemas.microsoft.com/office/drawing/2014/main" id="{88FDC00C-74A4-5D47-9D3A-0C487568F4F2}"/>
              </a:ext>
            </a:extLst>
          </p:cNvPr>
          <p:cNvSpPr>
            <a:spLocks noGrp="1"/>
          </p:cNvSpPr>
          <p:nvPr>
            <p:ph type="ftr" sz="quarter" idx="11"/>
          </p:nvPr>
        </p:nvSpPr>
        <p:spPr/>
        <p:txBody>
          <a:bodyPr/>
          <a:lstStyle/>
          <a:p>
            <a:r>
              <a:rPr lang="nb-NO"/>
              <a:t>DAVE3625- Intro to A.I. by Umair M.I</a:t>
            </a:r>
          </a:p>
        </p:txBody>
      </p:sp>
      <p:pic>
        <p:nvPicPr>
          <p:cNvPr id="4098" name="Picture 2" descr="Image for post">
            <a:extLst>
              <a:ext uri="{FF2B5EF4-FFF2-40B4-BE49-F238E27FC236}">
                <a16:creationId xmlns:a16="http://schemas.microsoft.com/office/drawing/2014/main" id="{74391E79-006C-D441-8A1B-FB3736FFFC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2512" y="2131987"/>
            <a:ext cx="8415663" cy="5049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373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4DD13-EE56-A54B-B83E-415C25723D00}"/>
              </a:ext>
            </a:extLst>
          </p:cNvPr>
          <p:cNvSpPr>
            <a:spLocks noGrp="1"/>
          </p:cNvSpPr>
          <p:nvPr>
            <p:ph type="title"/>
          </p:nvPr>
        </p:nvSpPr>
        <p:spPr/>
        <p:txBody>
          <a:bodyPr/>
          <a:lstStyle/>
          <a:p>
            <a:r>
              <a:rPr lang="en-NO" dirty="0"/>
              <a:t>Uses</a:t>
            </a:r>
          </a:p>
        </p:txBody>
      </p:sp>
      <p:sp>
        <p:nvSpPr>
          <p:cNvPr id="3" name="Content Placeholder 2">
            <a:extLst>
              <a:ext uri="{FF2B5EF4-FFF2-40B4-BE49-F238E27FC236}">
                <a16:creationId xmlns:a16="http://schemas.microsoft.com/office/drawing/2014/main" id="{E2EBA72F-4598-3949-B197-7FD3C6B7ADA1}"/>
              </a:ext>
            </a:extLst>
          </p:cNvPr>
          <p:cNvSpPr>
            <a:spLocks noGrp="1"/>
          </p:cNvSpPr>
          <p:nvPr>
            <p:ph idx="1"/>
          </p:nvPr>
        </p:nvSpPr>
        <p:spPr/>
        <p:txBody>
          <a:bodyPr/>
          <a:lstStyle/>
          <a:p>
            <a:r>
              <a:rPr lang="en-NO" dirty="0"/>
              <a:t>Logistic regression is used to predict the occurance of some event. </a:t>
            </a:r>
            <a:r>
              <a:rPr lang="en-GB" dirty="0"/>
              <a:t>e</a:t>
            </a:r>
            <a:r>
              <a:rPr lang="en-NO" dirty="0"/>
              <a:t>.g </a:t>
            </a:r>
          </a:p>
          <a:p>
            <a:pPr lvl="1"/>
            <a:r>
              <a:rPr lang="en-GB" dirty="0"/>
              <a:t>P</a:t>
            </a:r>
            <a:r>
              <a:rPr lang="en-NO" dirty="0"/>
              <a:t>redict whether rain will occur or not</a:t>
            </a:r>
          </a:p>
          <a:p>
            <a:pPr lvl="1"/>
            <a:r>
              <a:rPr lang="en-GB" dirty="0"/>
              <a:t>spam detection, Diabetes prediction, cancer detection etc.</a:t>
            </a:r>
            <a:endParaRPr lang="en-NO" dirty="0"/>
          </a:p>
        </p:txBody>
      </p:sp>
      <p:sp>
        <p:nvSpPr>
          <p:cNvPr id="4" name="Footer Placeholder 3">
            <a:extLst>
              <a:ext uri="{FF2B5EF4-FFF2-40B4-BE49-F238E27FC236}">
                <a16:creationId xmlns:a16="http://schemas.microsoft.com/office/drawing/2014/main" id="{54C0E0C5-AD56-F24E-A9D7-A7E409D059A4}"/>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1683477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ABDFD-213B-284D-9C7F-F6D7C925D473}"/>
              </a:ext>
            </a:extLst>
          </p:cNvPr>
          <p:cNvSpPr>
            <a:spLocks noGrp="1"/>
          </p:cNvSpPr>
          <p:nvPr>
            <p:ph type="title"/>
          </p:nvPr>
        </p:nvSpPr>
        <p:spPr/>
        <p:txBody>
          <a:bodyPr/>
          <a:lstStyle/>
          <a:p>
            <a:r>
              <a:rPr lang="en-NO" dirty="0"/>
              <a:t>Types of Logistic regression</a:t>
            </a:r>
          </a:p>
        </p:txBody>
      </p:sp>
      <p:sp>
        <p:nvSpPr>
          <p:cNvPr id="3" name="Content Placeholder 2">
            <a:extLst>
              <a:ext uri="{FF2B5EF4-FFF2-40B4-BE49-F238E27FC236}">
                <a16:creationId xmlns:a16="http://schemas.microsoft.com/office/drawing/2014/main" id="{67B409BA-9238-F447-B5EF-89D6D695CD8B}"/>
              </a:ext>
            </a:extLst>
          </p:cNvPr>
          <p:cNvSpPr>
            <a:spLocks noGrp="1"/>
          </p:cNvSpPr>
          <p:nvPr>
            <p:ph idx="1"/>
          </p:nvPr>
        </p:nvSpPr>
        <p:spPr/>
        <p:txBody>
          <a:bodyPr/>
          <a:lstStyle/>
          <a:p>
            <a:r>
              <a:rPr lang="en-NO" dirty="0"/>
              <a:t>Binary logistic regression (e.g pass / fail)</a:t>
            </a:r>
          </a:p>
          <a:p>
            <a:r>
              <a:rPr lang="en-NO" dirty="0"/>
              <a:t>Multiclass logistic regression (e.g cats, dogs, sheep)</a:t>
            </a:r>
          </a:p>
          <a:p>
            <a:r>
              <a:rPr lang="en-NO" dirty="0"/>
              <a:t>Ordinal (low, medium, high)</a:t>
            </a:r>
          </a:p>
          <a:p>
            <a:endParaRPr lang="en-NO" dirty="0"/>
          </a:p>
        </p:txBody>
      </p:sp>
      <p:sp>
        <p:nvSpPr>
          <p:cNvPr id="4" name="Footer Placeholder 3">
            <a:extLst>
              <a:ext uri="{FF2B5EF4-FFF2-40B4-BE49-F238E27FC236}">
                <a16:creationId xmlns:a16="http://schemas.microsoft.com/office/drawing/2014/main" id="{F3B4F72E-E673-0940-A258-880B7C4DF00F}"/>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3050980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Logistic regression — the short version</a:t>
            </a:r>
          </a:p>
        </p:txBody>
      </p:sp>
      <p:sp>
        <p:nvSpPr>
          <p:cNvPr id="4" name="TextBox 3"/>
          <p:cNvSpPr txBox="1"/>
          <p:nvPr/>
        </p:nvSpPr>
        <p:spPr>
          <a:xfrm>
            <a:off x="969264" y="2057400"/>
            <a:ext cx="15371063" cy="6047809"/>
          </a:xfrm>
          <a:prstGeom prst="rect">
            <a:avLst/>
          </a:prstGeom>
          <a:noFill/>
        </p:spPr>
        <p:txBody>
          <a:bodyPr wrap="square">
            <a:spAutoFit/>
          </a:bodyPr>
          <a:lstStyle/>
          <a:p>
            <a:pPr>
              <a:spcAft>
                <a:spcPts val="1400"/>
              </a:spcAft>
            </a:pPr>
            <a:r>
              <a:rPr sz="2700" b="0" dirty="0">
                <a:solidFill>
                  <a:srgbClr val="16181D"/>
                </a:solidFill>
                <a:latin typeface="Arial"/>
              </a:rPr>
              <a:t>▪   It draws a </a:t>
            </a:r>
            <a:r>
              <a:rPr sz="2700" b="1" dirty="0">
                <a:solidFill>
                  <a:srgbClr val="16181D"/>
                </a:solidFill>
                <a:latin typeface="Arial"/>
              </a:rPr>
              <a:t>straight boundary</a:t>
            </a:r>
            <a:r>
              <a:rPr sz="2700" b="0" dirty="0">
                <a:solidFill>
                  <a:srgbClr val="16181D"/>
                </a:solidFill>
                <a:latin typeface="Arial"/>
              </a:rPr>
              <a:t> through the data.</a:t>
            </a:r>
          </a:p>
          <a:p>
            <a:pPr>
              <a:spcAft>
                <a:spcPts val="600"/>
              </a:spcAft>
            </a:pPr>
            <a:endParaRPr sz="2700" b="0" dirty="0">
              <a:solidFill>
                <a:srgbClr val="16181D"/>
              </a:solidFill>
              <a:latin typeface="Arial"/>
            </a:endParaRPr>
          </a:p>
          <a:p>
            <a:pPr>
              <a:spcAft>
                <a:spcPts val="1400"/>
              </a:spcAft>
            </a:pPr>
            <a:r>
              <a:rPr sz="2700" b="0" dirty="0">
                <a:solidFill>
                  <a:srgbClr val="16181D"/>
                </a:solidFill>
                <a:latin typeface="Arial"/>
              </a:rPr>
              <a:t>▪   It then pushes the distance from that boundary through the </a:t>
            </a:r>
            <a:r>
              <a:rPr sz="2700" b="1" dirty="0">
                <a:solidFill>
                  <a:srgbClr val="16181D"/>
                </a:solidFill>
                <a:latin typeface="Arial"/>
              </a:rPr>
              <a:t>S-curve</a:t>
            </a:r>
            <a:r>
              <a:rPr sz="2700" b="0" dirty="0">
                <a:solidFill>
                  <a:srgbClr val="16181D"/>
                </a:solidFill>
                <a:latin typeface="Arial"/>
              </a:rPr>
              <a:t>, so the</a:t>
            </a:r>
            <a:r>
              <a:rPr lang="nb-NO" sz="2700" b="0" dirty="0">
                <a:solidFill>
                  <a:srgbClr val="16181D"/>
                </a:solidFill>
                <a:latin typeface="Arial"/>
              </a:rPr>
              <a:t> </a:t>
            </a:r>
            <a:r>
              <a:rPr sz="2700" b="0" dirty="0">
                <a:solidFill>
                  <a:srgbClr val="16181D"/>
                </a:solidFill>
                <a:latin typeface="Arial"/>
              </a:rPr>
              <a:t>output always lands between 0 and 1 and can be read as a </a:t>
            </a:r>
            <a:r>
              <a:rPr sz="2700" b="1" dirty="0">
                <a:solidFill>
                  <a:srgbClr val="16181D"/>
                </a:solidFill>
                <a:latin typeface="Arial"/>
              </a:rPr>
              <a:t>probability</a:t>
            </a:r>
            <a:r>
              <a:rPr sz="2700" b="0" dirty="0">
                <a:solidFill>
                  <a:srgbClr val="16181D"/>
                </a:solidFill>
                <a:latin typeface="Arial"/>
              </a:rPr>
              <a:t>.</a:t>
            </a:r>
          </a:p>
          <a:p>
            <a:pPr>
              <a:spcAft>
                <a:spcPts val="600"/>
              </a:spcAft>
            </a:pPr>
            <a:endParaRPr sz="2700" b="0" dirty="0">
              <a:solidFill>
                <a:srgbClr val="16181D"/>
              </a:solidFill>
              <a:latin typeface="Arial"/>
            </a:endParaRPr>
          </a:p>
          <a:p>
            <a:pPr>
              <a:spcAft>
                <a:spcPts val="1400"/>
              </a:spcAft>
            </a:pPr>
            <a:r>
              <a:rPr sz="2700" b="0" dirty="0">
                <a:solidFill>
                  <a:srgbClr val="16181D"/>
                </a:solidFill>
                <a:latin typeface="Arial"/>
              </a:rPr>
              <a:t>▪   You choose a </a:t>
            </a:r>
            <a:r>
              <a:rPr sz="2700" b="1" dirty="0">
                <a:solidFill>
                  <a:srgbClr val="16181D"/>
                </a:solidFill>
                <a:latin typeface="Arial"/>
              </a:rPr>
              <a:t>threshold</a:t>
            </a:r>
            <a:r>
              <a:rPr sz="2700" b="0" dirty="0">
                <a:solidFill>
                  <a:srgbClr val="16181D"/>
                </a:solidFill>
                <a:latin typeface="Arial"/>
              </a:rPr>
              <a:t>, usually 0.5. Above it, class 1. Below it, class 0.</a:t>
            </a:r>
          </a:p>
          <a:p>
            <a:pPr>
              <a:spcAft>
                <a:spcPts val="600"/>
              </a:spcAft>
            </a:pPr>
            <a:endParaRPr sz="2700" b="0" dirty="0">
              <a:solidFill>
                <a:srgbClr val="16181D"/>
              </a:solidFill>
              <a:latin typeface="Arial"/>
            </a:endParaRPr>
          </a:p>
          <a:p>
            <a:pPr>
              <a:spcAft>
                <a:spcPts val="1400"/>
              </a:spcAft>
            </a:pPr>
            <a:r>
              <a:rPr sz="2700" b="0" dirty="0">
                <a:solidFill>
                  <a:srgbClr val="16181D"/>
                </a:solidFill>
                <a:latin typeface="Arial"/>
              </a:rPr>
              <a:t>▪   </a:t>
            </a:r>
            <a:r>
              <a:rPr sz="2700" b="1" dirty="0">
                <a:solidFill>
                  <a:srgbClr val="16181D"/>
                </a:solidFill>
                <a:latin typeface="Arial"/>
              </a:rPr>
              <a:t>Training</a:t>
            </a:r>
            <a:r>
              <a:rPr sz="2700" b="0" dirty="0">
                <a:solidFill>
                  <a:srgbClr val="16181D"/>
                </a:solidFill>
                <a:latin typeface="Arial"/>
              </a:rPr>
              <a:t> means adjusting the boundary until those probabilities match the</a:t>
            </a:r>
          </a:p>
          <a:p>
            <a:pPr>
              <a:spcAft>
                <a:spcPts val="1400"/>
              </a:spcAft>
            </a:pPr>
            <a:r>
              <a:rPr sz="2700" b="0" dirty="0">
                <a:solidFill>
                  <a:srgbClr val="16181D"/>
                </a:solidFill>
                <a:latin typeface="Arial"/>
              </a:rPr>
              <a:t>▪   known answers as closely as possible.</a:t>
            </a:r>
          </a:p>
          <a:p>
            <a:pPr>
              <a:spcAft>
                <a:spcPts val="600"/>
              </a:spcAft>
            </a:pPr>
            <a:endParaRPr sz="2700" b="0" dirty="0">
              <a:solidFill>
                <a:srgbClr val="16181D"/>
              </a:solidFill>
              <a:latin typeface="Arial"/>
            </a:endParaRPr>
          </a:p>
          <a:p>
            <a:pPr>
              <a:spcAft>
                <a:spcPts val="1400"/>
              </a:spcAft>
            </a:pPr>
            <a:r>
              <a:rPr sz="2700" b="0" dirty="0">
                <a:solidFill>
                  <a:srgbClr val="16181D"/>
                </a:solidFill>
                <a:latin typeface="Arial"/>
              </a:rPr>
              <a:t>▪   That is the whole idea. The slides that follow work through the mathematics.</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92AF1285-3655-42F7-9D0B-99B118B2A254}" type="slidenum">
              <a:rPr lang="en-US" sz="1200">
                <a:solidFill>
                  <a:srgbClr val="6B7280"/>
                </a:solidFill>
                <a:latin typeface="Arial"/>
              </a:rPr>
              <a:t>20</a:t>
            </a:fld>
            <a:endParaRPr lang="en-US" sz="1200">
              <a:solidFill>
                <a:srgbClr val="6B7280"/>
              </a:solidFill>
              <a:latin typeface="Arial"/>
            </a:endParaRPr>
          </a:p>
        </p:txBody>
      </p:sp>
    </p:spTree>
    <p:extLst>
      <p:ext uri="{BB962C8B-B14F-4D97-AF65-F5344CB8AC3E}">
        <p14:creationId xmlns:p14="http://schemas.microsoft.com/office/powerpoint/2010/main" val="3407777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39440-BE15-6687-C77A-D871BA310E9B}"/>
              </a:ext>
            </a:extLst>
          </p:cNvPr>
          <p:cNvSpPr>
            <a:spLocks noGrp="1"/>
          </p:cNvSpPr>
          <p:nvPr>
            <p:ph type="title"/>
          </p:nvPr>
        </p:nvSpPr>
        <p:spPr>
          <a:xfrm>
            <a:off x="4770296" y="7412192"/>
            <a:ext cx="7206112" cy="664797"/>
          </a:xfrm>
        </p:spPr>
        <p:txBody>
          <a:bodyPr>
            <a:normAutofit fontScale="90000"/>
          </a:bodyPr>
          <a:lstStyle/>
          <a:p>
            <a:r>
              <a:rPr lang="en-US" dirty="0"/>
              <a:t>2. Evaluate the algorithm</a:t>
            </a:r>
          </a:p>
        </p:txBody>
      </p:sp>
      <p:sp>
        <p:nvSpPr>
          <p:cNvPr id="4" name="Footer Placeholder 3">
            <a:extLst>
              <a:ext uri="{FF2B5EF4-FFF2-40B4-BE49-F238E27FC236}">
                <a16:creationId xmlns:a16="http://schemas.microsoft.com/office/drawing/2014/main" id="{D02B5066-4D74-5229-0EF6-6021D23BFB0C}"/>
              </a:ext>
            </a:extLst>
          </p:cNvPr>
          <p:cNvSpPr>
            <a:spLocks noGrp="1"/>
          </p:cNvSpPr>
          <p:nvPr>
            <p:ph type="ftr" sz="quarter" idx="11"/>
          </p:nvPr>
        </p:nvSpPr>
        <p:spPr/>
        <p:txBody>
          <a:bodyPr/>
          <a:lstStyle/>
          <a:p>
            <a:r>
              <a:rPr lang="nb-NO"/>
              <a:t>DAVE3625- Intro to A.I. by Umair M.I</a:t>
            </a:r>
          </a:p>
        </p:txBody>
      </p:sp>
      <p:sp>
        <p:nvSpPr>
          <p:cNvPr id="3" name="Title 1">
            <a:extLst>
              <a:ext uri="{FF2B5EF4-FFF2-40B4-BE49-F238E27FC236}">
                <a16:creationId xmlns:a16="http://schemas.microsoft.com/office/drawing/2014/main" id="{3D1EA3D6-E800-17D3-39FD-EDA3D0C571F0}"/>
              </a:ext>
            </a:extLst>
          </p:cNvPr>
          <p:cNvSpPr txBox="1">
            <a:spLocks/>
          </p:cNvSpPr>
          <p:nvPr/>
        </p:nvSpPr>
        <p:spPr>
          <a:xfrm>
            <a:off x="4770296" y="2695089"/>
            <a:ext cx="6849274" cy="664797"/>
          </a:xfrm>
          <a:prstGeom prst="rect">
            <a:avLst/>
          </a:prstGeom>
        </p:spPr>
        <p:txBody>
          <a:bodyPr vert="horz" lIns="0" tIns="0" rIns="0" bIns="0" rtlCol="0" anchor="b" anchorCtr="0">
            <a:normAutofit fontScale="92500"/>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US" dirty="0"/>
              <a:t>1. Develop the algorithm</a:t>
            </a:r>
          </a:p>
        </p:txBody>
      </p:sp>
      <p:cxnSp>
        <p:nvCxnSpPr>
          <p:cNvPr id="6" name="Straight Arrow Connector 5">
            <a:extLst>
              <a:ext uri="{FF2B5EF4-FFF2-40B4-BE49-F238E27FC236}">
                <a16:creationId xmlns:a16="http://schemas.microsoft.com/office/drawing/2014/main" id="{2E46A489-537D-7C1F-CA86-CDDB9FD65598}"/>
              </a:ext>
            </a:extLst>
          </p:cNvPr>
          <p:cNvCxnSpPr/>
          <p:nvPr/>
        </p:nvCxnSpPr>
        <p:spPr>
          <a:xfrm>
            <a:off x="6556916" y="4616605"/>
            <a:ext cx="0" cy="15388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itle 1">
            <a:extLst>
              <a:ext uri="{FF2B5EF4-FFF2-40B4-BE49-F238E27FC236}">
                <a16:creationId xmlns:a16="http://schemas.microsoft.com/office/drawing/2014/main" id="{3333C86E-0A55-1E2E-3D36-DB21242CBE9F}"/>
              </a:ext>
            </a:extLst>
          </p:cNvPr>
          <p:cNvSpPr txBox="1">
            <a:spLocks/>
          </p:cNvSpPr>
          <p:nvPr/>
        </p:nvSpPr>
        <p:spPr>
          <a:xfrm>
            <a:off x="3565964" y="415126"/>
            <a:ext cx="9637079" cy="664797"/>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US" dirty="0">
                <a:solidFill>
                  <a:srgbClr val="002060"/>
                </a:solidFill>
              </a:rPr>
              <a:t>Example run of an A.I algorithm</a:t>
            </a:r>
          </a:p>
        </p:txBody>
      </p:sp>
      <p:cxnSp>
        <p:nvCxnSpPr>
          <p:cNvPr id="11" name="Straight Arrow Connector 10">
            <a:extLst>
              <a:ext uri="{FF2B5EF4-FFF2-40B4-BE49-F238E27FC236}">
                <a16:creationId xmlns:a16="http://schemas.microsoft.com/office/drawing/2014/main" id="{23893B11-8030-5B6E-6B93-30AE65B74318}"/>
              </a:ext>
            </a:extLst>
          </p:cNvPr>
          <p:cNvCxnSpPr>
            <a:cxnSpLocks/>
          </p:cNvCxnSpPr>
          <p:nvPr/>
        </p:nvCxnSpPr>
        <p:spPr>
          <a:xfrm flipV="1">
            <a:off x="8720253" y="4616605"/>
            <a:ext cx="0" cy="15388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29474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C3DE-07E7-7149-966D-21F009BE7B45}"/>
              </a:ext>
            </a:extLst>
          </p:cNvPr>
          <p:cNvSpPr>
            <a:spLocks noGrp="1"/>
          </p:cNvSpPr>
          <p:nvPr>
            <p:ph type="title"/>
          </p:nvPr>
        </p:nvSpPr>
        <p:spPr>
          <a:xfrm>
            <a:off x="3113584" y="396915"/>
            <a:ext cx="12743450" cy="664797"/>
          </a:xfrm>
        </p:spPr>
        <p:txBody>
          <a:bodyPr>
            <a:normAutofit/>
          </a:bodyPr>
          <a:lstStyle/>
          <a:p>
            <a:r>
              <a:rPr lang="en-NO" dirty="0">
                <a:solidFill>
                  <a:srgbClr val="002060"/>
                </a:solidFill>
              </a:rPr>
              <a:t>Develop (using binary logistic regression)</a:t>
            </a:r>
          </a:p>
        </p:txBody>
      </p:sp>
      <p:pic>
        <p:nvPicPr>
          <p:cNvPr id="6" name="Content Placeholder 5">
            <a:extLst>
              <a:ext uri="{FF2B5EF4-FFF2-40B4-BE49-F238E27FC236}">
                <a16:creationId xmlns:a16="http://schemas.microsoft.com/office/drawing/2014/main" id="{CD3E381E-7343-834C-8851-735E1711426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90950" y="3962050"/>
            <a:ext cx="5420101" cy="3797523"/>
          </a:xfrm>
        </p:spPr>
      </p:pic>
      <p:pic>
        <p:nvPicPr>
          <p:cNvPr id="5122" name="Picture 2">
            <a:extLst>
              <a:ext uri="{FF2B5EF4-FFF2-40B4-BE49-F238E27FC236}">
                <a16:creationId xmlns:a16="http://schemas.microsoft.com/office/drawing/2014/main" id="{55163E10-AD09-2541-86BB-9B38A8813D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3456" y="3466861"/>
            <a:ext cx="6858000" cy="47879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CF6BE15-840C-6C4E-B4D5-FDD5EDF7E06F}"/>
              </a:ext>
            </a:extLst>
          </p:cNvPr>
          <p:cNvSpPr txBox="1"/>
          <p:nvPr/>
        </p:nvSpPr>
        <p:spPr>
          <a:xfrm>
            <a:off x="1262481" y="2157938"/>
            <a:ext cx="6829736" cy="707886"/>
          </a:xfrm>
          <a:prstGeom prst="rect">
            <a:avLst/>
          </a:prstGeom>
          <a:noFill/>
        </p:spPr>
        <p:txBody>
          <a:bodyPr wrap="square" rtlCol="0">
            <a:spAutoFit/>
          </a:bodyPr>
          <a:lstStyle/>
          <a:p>
            <a:r>
              <a:rPr lang="en-NO" sz="4000" b="1" dirty="0"/>
              <a:t>Step1 : Visualization</a:t>
            </a:r>
          </a:p>
        </p:txBody>
      </p:sp>
    </p:spTree>
    <p:extLst>
      <p:ext uri="{BB962C8B-B14F-4D97-AF65-F5344CB8AC3E}">
        <p14:creationId xmlns:p14="http://schemas.microsoft.com/office/powerpoint/2010/main" val="2821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055D-5550-534C-9D60-EFA902C11FAB}"/>
              </a:ext>
            </a:extLst>
          </p:cNvPr>
          <p:cNvSpPr>
            <a:spLocks noGrp="1"/>
          </p:cNvSpPr>
          <p:nvPr>
            <p:ph type="title"/>
          </p:nvPr>
        </p:nvSpPr>
        <p:spPr>
          <a:xfrm>
            <a:off x="3313878" y="853540"/>
            <a:ext cx="12320132" cy="664797"/>
          </a:xfrm>
        </p:spPr>
        <p:txBody>
          <a:bodyPr/>
          <a:lstStyle/>
          <a:p>
            <a:r>
              <a:rPr lang="en-GB" dirty="0"/>
              <a:t>S</a:t>
            </a:r>
            <a:r>
              <a:rPr lang="en-NO" dirty="0"/>
              <a:t>tep 2: Sigmoid activation (a bit of maths) </a:t>
            </a:r>
          </a:p>
        </p:txBody>
      </p:sp>
      <p:pic>
        <p:nvPicPr>
          <p:cNvPr id="6" name="Content Placeholder 5">
            <a:extLst>
              <a:ext uri="{FF2B5EF4-FFF2-40B4-BE49-F238E27FC236}">
                <a16:creationId xmlns:a16="http://schemas.microsoft.com/office/drawing/2014/main" id="{5C8B8427-DA52-CC46-9B60-4CB930BD0BA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83623" y="3217849"/>
            <a:ext cx="3172040" cy="1313077"/>
          </a:xfrm>
        </p:spPr>
      </p:pic>
      <p:sp>
        <p:nvSpPr>
          <p:cNvPr id="4" name="Footer Placeholder 3">
            <a:extLst>
              <a:ext uri="{FF2B5EF4-FFF2-40B4-BE49-F238E27FC236}">
                <a16:creationId xmlns:a16="http://schemas.microsoft.com/office/drawing/2014/main" id="{D60CBBB6-371E-5242-BE5B-15372835EFF9}"/>
              </a:ext>
            </a:extLst>
          </p:cNvPr>
          <p:cNvSpPr>
            <a:spLocks noGrp="1"/>
          </p:cNvSpPr>
          <p:nvPr>
            <p:ph type="ftr" sz="quarter" idx="11"/>
          </p:nvPr>
        </p:nvSpPr>
        <p:spPr>
          <a:xfrm>
            <a:off x="6071451" y="8701948"/>
            <a:ext cx="9001125" cy="262593"/>
          </a:xfrm>
        </p:spPr>
        <p:txBody>
          <a:bodyPr/>
          <a:lstStyle/>
          <a:p>
            <a:r>
              <a:rPr lang="nb-NO" dirty="0"/>
              <a:t>DAVE3625- Intro to A.I. by Umair M.I</a:t>
            </a:r>
          </a:p>
        </p:txBody>
      </p:sp>
      <p:sp>
        <p:nvSpPr>
          <p:cNvPr id="7" name="Rectangle 6">
            <a:extLst>
              <a:ext uri="{FF2B5EF4-FFF2-40B4-BE49-F238E27FC236}">
                <a16:creationId xmlns:a16="http://schemas.microsoft.com/office/drawing/2014/main" id="{10BE92A3-C333-CC48-9807-3BF1EB9DAC67}"/>
              </a:ext>
            </a:extLst>
          </p:cNvPr>
          <p:cNvSpPr/>
          <p:nvPr/>
        </p:nvSpPr>
        <p:spPr>
          <a:xfrm>
            <a:off x="1170103" y="5425504"/>
            <a:ext cx="9802696" cy="1274195"/>
          </a:xfrm>
          <a:prstGeom prst="rect">
            <a:avLst/>
          </a:prstGeom>
        </p:spPr>
        <p:txBody>
          <a:bodyPr wrap="square">
            <a:spAutoFit/>
          </a:bodyPr>
          <a:lstStyle/>
          <a:p>
            <a:r>
              <a:rPr lang="en-GB" i="1" dirty="0">
                <a:latin typeface="STIXGeneral" pitchFamily="2" charset="2"/>
              </a:rPr>
              <a:t>𝑠</a:t>
            </a:r>
            <a:r>
              <a:rPr lang="en-GB" dirty="0">
                <a:latin typeface="STIXGeneral" pitchFamily="2" charset="2"/>
              </a:rPr>
              <a:t>(</a:t>
            </a:r>
            <a:r>
              <a:rPr lang="en-GB" i="1" dirty="0">
                <a:latin typeface="STIXGeneral" pitchFamily="2" charset="2"/>
              </a:rPr>
              <a:t>𝑧</a:t>
            </a:r>
            <a:r>
              <a:rPr lang="en-GB" dirty="0">
                <a:latin typeface="STIXGeneral" pitchFamily="2" charset="2"/>
              </a:rPr>
              <a:t>)</a:t>
            </a:r>
            <a:r>
              <a:rPr lang="en-GB" dirty="0"/>
              <a:t> = output between 0 and 1 (probability estimate) </a:t>
            </a:r>
          </a:p>
          <a:p>
            <a:r>
              <a:rPr lang="en-GB" i="1" dirty="0">
                <a:latin typeface="STIXGeneral" pitchFamily="2" charset="2"/>
              </a:rPr>
              <a:t>𝑧</a:t>
            </a:r>
            <a:r>
              <a:rPr lang="en-GB" dirty="0"/>
              <a:t> = input to the function (your algorithm’s prediction e.g. mx + b) </a:t>
            </a:r>
          </a:p>
          <a:p>
            <a:r>
              <a:rPr lang="en-GB" i="1" dirty="0">
                <a:latin typeface="STIXGeneral" pitchFamily="2" charset="2"/>
              </a:rPr>
              <a:t>𝑒</a:t>
            </a:r>
            <a:r>
              <a:rPr lang="en-GB" dirty="0"/>
              <a:t> = base of natural log</a:t>
            </a:r>
            <a:endParaRPr lang="en-NO" dirty="0"/>
          </a:p>
        </p:txBody>
      </p:sp>
      <p:pic>
        <p:nvPicPr>
          <p:cNvPr id="6146" name="Picture 2">
            <a:extLst>
              <a:ext uri="{FF2B5EF4-FFF2-40B4-BE49-F238E27FC236}">
                <a16:creationId xmlns:a16="http://schemas.microsoft.com/office/drawing/2014/main" id="{1B86C1D7-1D34-F240-8364-2D6D76A94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2799" y="2848779"/>
            <a:ext cx="5413731" cy="49917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E2DB932-C1EB-234C-9B93-A130375901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6286" y="3008299"/>
            <a:ext cx="4255890" cy="1648313"/>
          </a:xfrm>
          <a:prstGeom prst="rect">
            <a:avLst/>
          </a:prstGeom>
        </p:spPr>
      </p:pic>
    </p:spTree>
    <p:extLst>
      <p:ext uri="{BB962C8B-B14F-4D97-AF65-F5344CB8AC3E}">
        <p14:creationId xmlns:p14="http://schemas.microsoft.com/office/powerpoint/2010/main" val="3578867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C0270-50C4-3541-A69D-129A16C006FD}"/>
              </a:ext>
            </a:extLst>
          </p:cNvPr>
          <p:cNvSpPr>
            <a:spLocks noGrp="1"/>
          </p:cNvSpPr>
          <p:nvPr>
            <p:ph type="title"/>
          </p:nvPr>
        </p:nvSpPr>
        <p:spPr>
          <a:xfrm>
            <a:off x="2756317" y="914195"/>
            <a:ext cx="9019371" cy="664797"/>
          </a:xfrm>
        </p:spPr>
        <p:txBody>
          <a:bodyPr/>
          <a:lstStyle/>
          <a:p>
            <a:r>
              <a:rPr lang="en-NO" dirty="0"/>
              <a:t>Step 3: Decision boundary </a:t>
            </a:r>
          </a:p>
        </p:txBody>
      </p:sp>
      <p:sp>
        <p:nvSpPr>
          <p:cNvPr id="3" name="Content Placeholder 2">
            <a:extLst>
              <a:ext uri="{FF2B5EF4-FFF2-40B4-BE49-F238E27FC236}">
                <a16:creationId xmlns:a16="http://schemas.microsoft.com/office/drawing/2014/main" id="{D695A4AE-2701-8F4D-B97D-BB6BC41D48C9}"/>
              </a:ext>
            </a:extLst>
          </p:cNvPr>
          <p:cNvSpPr>
            <a:spLocks noGrp="1"/>
          </p:cNvSpPr>
          <p:nvPr>
            <p:ph idx="1"/>
          </p:nvPr>
        </p:nvSpPr>
        <p:spPr>
          <a:xfrm>
            <a:off x="972122" y="2252546"/>
            <a:ext cx="15373922" cy="5920475"/>
          </a:xfrm>
        </p:spPr>
        <p:txBody>
          <a:bodyPr/>
          <a:lstStyle/>
          <a:p>
            <a:r>
              <a:rPr lang="en-NO" dirty="0"/>
              <a:t>We need a threshold value</a:t>
            </a:r>
          </a:p>
          <a:p>
            <a:endParaRPr lang="en-GB" dirty="0"/>
          </a:p>
        </p:txBody>
      </p:sp>
      <p:sp>
        <p:nvSpPr>
          <p:cNvPr id="4" name="Footer Placeholder 3">
            <a:extLst>
              <a:ext uri="{FF2B5EF4-FFF2-40B4-BE49-F238E27FC236}">
                <a16:creationId xmlns:a16="http://schemas.microsoft.com/office/drawing/2014/main" id="{7DD481E5-A833-7045-82F0-24C2CC1A5A5C}"/>
              </a:ext>
            </a:extLst>
          </p:cNvPr>
          <p:cNvSpPr>
            <a:spLocks noGrp="1"/>
          </p:cNvSpPr>
          <p:nvPr>
            <p:ph type="ftr" sz="quarter" idx="11"/>
          </p:nvPr>
        </p:nvSpPr>
        <p:spPr/>
        <p:txBody>
          <a:bodyPr/>
          <a:lstStyle/>
          <a:p>
            <a:r>
              <a:rPr lang="nb-NO"/>
              <a:t>DAVE3625- Intro to A.I. by Umair M.I</a:t>
            </a:r>
          </a:p>
        </p:txBody>
      </p:sp>
      <p:pic>
        <p:nvPicPr>
          <p:cNvPr id="6" name="Picture 5">
            <a:extLst>
              <a:ext uri="{FF2B5EF4-FFF2-40B4-BE49-F238E27FC236}">
                <a16:creationId xmlns:a16="http://schemas.microsoft.com/office/drawing/2014/main" id="{99BA3B52-BABE-E140-B5A0-0CC9DBB2D1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3124" y="4165613"/>
            <a:ext cx="3350207" cy="1095565"/>
          </a:xfrm>
          <a:prstGeom prst="rect">
            <a:avLst/>
          </a:prstGeom>
        </p:spPr>
      </p:pic>
      <p:pic>
        <p:nvPicPr>
          <p:cNvPr id="7170" name="Picture 2">
            <a:extLst>
              <a:ext uri="{FF2B5EF4-FFF2-40B4-BE49-F238E27FC236}">
                <a16:creationId xmlns:a16="http://schemas.microsoft.com/office/drawing/2014/main" id="{6A666EB0-4A96-AF44-BFD1-CC04490AC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8680" y="2266620"/>
            <a:ext cx="8169855" cy="5724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033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211E2-59B9-054A-82A3-8E5AC7E76194}"/>
              </a:ext>
            </a:extLst>
          </p:cNvPr>
          <p:cNvSpPr>
            <a:spLocks noGrp="1"/>
          </p:cNvSpPr>
          <p:nvPr>
            <p:ph type="title"/>
          </p:nvPr>
        </p:nvSpPr>
        <p:spPr>
          <a:xfrm>
            <a:off x="4161371" y="914195"/>
            <a:ext cx="8171878" cy="664797"/>
          </a:xfrm>
        </p:spPr>
        <p:txBody>
          <a:bodyPr/>
          <a:lstStyle/>
          <a:p>
            <a:r>
              <a:rPr lang="en-NO" dirty="0"/>
              <a:t>Step 4: Making predictions</a:t>
            </a:r>
          </a:p>
        </p:txBody>
      </p:sp>
      <p:sp>
        <p:nvSpPr>
          <p:cNvPr id="3" name="Content Placeholder 2">
            <a:extLst>
              <a:ext uri="{FF2B5EF4-FFF2-40B4-BE49-F238E27FC236}">
                <a16:creationId xmlns:a16="http://schemas.microsoft.com/office/drawing/2014/main" id="{27CF1AEC-3C3A-CB49-BA96-3B2C35A903E6}"/>
              </a:ext>
            </a:extLst>
          </p:cNvPr>
          <p:cNvSpPr>
            <a:spLocks noGrp="1"/>
          </p:cNvSpPr>
          <p:nvPr>
            <p:ph idx="1"/>
          </p:nvPr>
        </p:nvSpPr>
        <p:spPr>
          <a:xfrm>
            <a:off x="972122" y="1854200"/>
            <a:ext cx="15373922" cy="7493000"/>
          </a:xfrm>
        </p:spPr>
        <p:txBody>
          <a:bodyPr>
            <a:normAutofit/>
          </a:bodyPr>
          <a:lstStyle/>
          <a:p>
            <a:r>
              <a:rPr lang="en-GB" dirty="0"/>
              <a:t>Using our knowledge of sigmoid functions and decision boundaries, we can now write a prediction function. </a:t>
            </a:r>
          </a:p>
          <a:p>
            <a:r>
              <a:rPr lang="en-GB" dirty="0"/>
              <a:t>A prediction function in logistic regression returns the probability of our observation being positive, True, or “Yes”. </a:t>
            </a:r>
          </a:p>
          <a:p>
            <a:r>
              <a:rPr lang="en-GB" dirty="0"/>
              <a:t>We call this class 1 and its notation is </a:t>
            </a:r>
            <a:r>
              <a:rPr lang="en-GB" i="1" dirty="0"/>
              <a:t>𝑃</a:t>
            </a:r>
            <a:r>
              <a:rPr lang="en-GB" dirty="0"/>
              <a:t>(</a:t>
            </a:r>
            <a:r>
              <a:rPr lang="en-GB" i="1" dirty="0"/>
              <a:t>𝑐𝑙𝑎𝑠𝑠</a:t>
            </a:r>
            <a:r>
              <a:rPr lang="en-GB" dirty="0"/>
              <a:t>=1).</a:t>
            </a:r>
          </a:p>
          <a:p>
            <a:endParaRPr lang="en-GB" dirty="0"/>
          </a:p>
          <a:p>
            <a:endParaRPr lang="en-GB" dirty="0"/>
          </a:p>
          <a:p>
            <a:endParaRPr lang="en-GB" dirty="0"/>
          </a:p>
          <a:p>
            <a:r>
              <a:rPr lang="en-GB" dirty="0"/>
              <a:t>If the model returns .4 it believes there is only a 40% chance of passing. If our decision boundary was .5, we would categorize this observation as “Fail.”“ </a:t>
            </a:r>
          </a:p>
          <a:p>
            <a:r>
              <a:rPr lang="en-GB" dirty="0"/>
              <a:t>Code it</a:t>
            </a:r>
            <a:endParaRPr lang="en-NO" dirty="0"/>
          </a:p>
        </p:txBody>
      </p:sp>
      <p:sp>
        <p:nvSpPr>
          <p:cNvPr id="4" name="Footer Placeholder 3">
            <a:extLst>
              <a:ext uri="{FF2B5EF4-FFF2-40B4-BE49-F238E27FC236}">
                <a16:creationId xmlns:a16="http://schemas.microsoft.com/office/drawing/2014/main" id="{7B90BCFD-B052-B241-B15C-3978A2D06E33}"/>
              </a:ext>
            </a:extLst>
          </p:cNvPr>
          <p:cNvSpPr>
            <a:spLocks noGrp="1"/>
          </p:cNvSpPr>
          <p:nvPr>
            <p:ph type="ftr" sz="quarter" idx="11"/>
          </p:nvPr>
        </p:nvSpPr>
        <p:spPr/>
        <p:txBody>
          <a:bodyPr/>
          <a:lstStyle/>
          <a:p>
            <a:r>
              <a:rPr lang="nb-NO"/>
              <a:t>DAVE3625- Intro to A.I. by Umair M.I</a:t>
            </a:r>
          </a:p>
        </p:txBody>
      </p:sp>
      <p:pic>
        <p:nvPicPr>
          <p:cNvPr id="6" name="Picture 5">
            <a:extLst>
              <a:ext uri="{FF2B5EF4-FFF2-40B4-BE49-F238E27FC236}">
                <a16:creationId xmlns:a16="http://schemas.microsoft.com/office/drawing/2014/main" id="{A2DC887F-E780-A947-B78C-AA4AE33F3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3430" y="5341798"/>
            <a:ext cx="4566400" cy="1312609"/>
          </a:xfrm>
          <a:prstGeom prst="rect">
            <a:avLst/>
          </a:prstGeom>
        </p:spPr>
      </p:pic>
    </p:spTree>
    <p:extLst>
      <p:ext uri="{BB962C8B-B14F-4D97-AF65-F5344CB8AC3E}">
        <p14:creationId xmlns:p14="http://schemas.microsoft.com/office/powerpoint/2010/main" val="614376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39440-BE15-6687-C77A-D871BA310E9B}"/>
              </a:ext>
            </a:extLst>
          </p:cNvPr>
          <p:cNvSpPr>
            <a:spLocks noGrp="1"/>
          </p:cNvSpPr>
          <p:nvPr>
            <p:ph type="title"/>
          </p:nvPr>
        </p:nvSpPr>
        <p:spPr>
          <a:xfrm>
            <a:off x="2941498" y="4543607"/>
            <a:ext cx="12716447" cy="664797"/>
          </a:xfrm>
        </p:spPr>
        <p:txBody>
          <a:bodyPr>
            <a:normAutofit/>
          </a:bodyPr>
          <a:lstStyle/>
          <a:p>
            <a:r>
              <a:rPr lang="en-US" dirty="0"/>
              <a:t>Second stage: evaluate the algorithm</a:t>
            </a:r>
          </a:p>
        </p:txBody>
      </p:sp>
      <p:sp>
        <p:nvSpPr>
          <p:cNvPr id="4" name="Footer Placeholder 3">
            <a:extLst>
              <a:ext uri="{FF2B5EF4-FFF2-40B4-BE49-F238E27FC236}">
                <a16:creationId xmlns:a16="http://schemas.microsoft.com/office/drawing/2014/main" id="{D02B5066-4D74-5229-0EF6-6021D23BFB0C}"/>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456099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7966-AB3A-A941-881A-377DE8C9E2F1}"/>
              </a:ext>
            </a:extLst>
          </p:cNvPr>
          <p:cNvSpPr>
            <a:spLocks noGrp="1"/>
          </p:cNvSpPr>
          <p:nvPr>
            <p:ph type="title"/>
          </p:nvPr>
        </p:nvSpPr>
        <p:spPr>
          <a:xfrm>
            <a:off x="2874132" y="914195"/>
            <a:ext cx="9213789" cy="664797"/>
          </a:xfrm>
        </p:spPr>
        <p:txBody>
          <a:bodyPr>
            <a:normAutofit/>
          </a:bodyPr>
          <a:lstStyle/>
          <a:p>
            <a:r>
              <a:rPr lang="en-NO" dirty="0"/>
              <a:t>Evaluate using cost function</a:t>
            </a:r>
          </a:p>
        </p:txBody>
      </p:sp>
      <p:sp>
        <p:nvSpPr>
          <p:cNvPr id="3" name="Content Placeholder 2">
            <a:extLst>
              <a:ext uri="{FF2B5EF4-FFF2-40B4-BE49-F238E27FC236}">
                <a16:creationId xmlns:a16="http://schemas.microsoft.com/office/drawing/2014/main" id="{804FC92A-026B-2A4B-8E5F-C3CEFB78EA47}"/>
              </a:ext>
            </a:extLst>
          </p:cNvPr>
          <p:cNvSpPr>
            <a:spLocks noGrp="1"/>
          </p:cNvSpPr>
          <p:nvPr>
            <p:ph idx="1"/>
          </p:nvPr>
        </p:nvSpPr>
        <p:spPr>
          <a:xfrm>
            <a:off x="972122" y="2108200"/>
            <a:ext cx="15373922" cy="6064821"/>
          </a:xfrm>
        </p:spPr>
        <p:txBody>
          <a:bodyPr/>
          <a:lstStyle/>
          <a:p>
            <a:r>
              <a:rPr lang="en-NO" dirty="0"/>
              <a:t>What is a cost function ?</a:t>
            </a:r>
          </a:p>
          <a:p>
            <a:pPr lvl="1"/>
            <a:r>
              <a:rPr lang="en-GB" dirty="0"/>
              <a:t>The cost function helps the learner to correct / change behaviour to minimize mistakes.</a:t>
            </a:r>
          </a:p>
          <a:p>
            <a:r>
              <a:rPr lang="en-GB" dirty="0"/>
              <a:t>In ML, cost functions are used to estimate how badly models are performing. </a:t>
            </a:r>
          </a:p>
          <a:p>
            <a:r>
              <a:rPr lang="en-GB" dirty="0"/>
              <a:t>Put simply, </a:t>
            </a:r>
            <a:r>
              <a:rPr lang="en-GB" i="1" dirty="0"/>
              <a:t>a cost function is a measure of how wrong the model is in terms of its ability to estimate the relationship between X and y.</a:t>
            </a:r>
            <a:endParaRPr lang="en-NO" dirty="0"/>
          </a:p>
        </p:txBody>
      </p:sp>
      <p:sp>
        <p:nvSpPr>
          <p:cNvPr id="4" name="Footer Placeholder 3">
            <a:extLst>
              <a:ext uri="{FF2B5EF4-FFF2-40B4-BE49-F238E27FC236}">
                <a16:creationId xmlns:a16="http://schemas.microsoft.com/office/drawing/2014/main" id="{B12A3CE5-F16E-F54D-B68A-71DB4F840BC9}"/>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1200218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2BA11-88B3-3B4A-948E-51D09B2D5911}"/>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AFD6547E-14BB-7441-B036-7B74735F652D}"/>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FDA7B595-7FBB-084E-892E-BC94883DEE1A}"/>
              </a:ext>
            </a:extLst>
          </p:cNvPr>
          <p:cNvSpPr>
            <a:spLocks noGrp="1"/>
          </p:cNvSpPr>
          <p:nvPr>
            <p:ph type="ftr" sz="quarter" idx="11"/>
          </p:nvPr>
        </p:nvSpPr>
        <p:spPr/>
        <p:txBody>
          <a:bodyPr/>
          <a:lstStyle/>
          <a:p>
            <a:r>
              <a:rPr lang="nb-NO"/>
              <a:t>DAVE3625- Intro to A.I. by Umair M.I</a:t>
            </a:r>
          </a:p>
        </p:txBody>
      </p:sp>
      <p:pic>
        <p:nvPicPr>
          <p:cNvPr id="9218" name="Picture 2" descr="Image for post">
            <a:extLst>
              <a:ext uri="{FF2B5EF4-FFF2-40B4-BE49-F238E27FC236}">
                <a16:creationId xmlns:a16="http://schemas.microsoft.com/office/drawing/2014/main" id="{B4DD87EF-5CF5-244F-ABEC-99A671F76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0" y="783703"/>
            <a:ext cx="7885113" cy="7885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69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648BE-5989-D449-8576-18F32BC61EC8}"/>
              </a:ext>
            </a:extLst>
          </p:cNvPr>
          <p:cNvSpPr>
            <a:spLocks noGrp="1"/>
          </p:cNvSpPr>
          <p:nvPr>
            <p:ph type="title"/>
          </p:nvPr>
        </p:nvSpPr>
        <p:spPr>
          <a:xfrm>
            <a:off x="2623122" y="914195"/>
            <a:ext cx="9518078" cy="664797"/>
          </a:xfrm>
        </p:spPr>
        <p:txBody>
          <a:bodyPr/>
          <a:lstStyle/>
          <a:p>
            <a:r>
              <a:rPr lang="en-NO" dirty="0"/>
              <a:t>Cost function: Gradient descent</a:t>
            </a:r>
          </a:p>
        </p:txBody>
      </p:sp>
      <p:sp>
        <p:nvSpPr>
          <p:cNvPr id="3" name="Content Placeholder 2">
            <a:extLst>
              <a:ext uri="{FF2B5EF4-FFF2-40B4-BE49-F238E27FC236}">
                <a16:creationId xmlns:a16="http://schemas.microsoft.com/office/drawing/2014/main" id="{96872DE6-E090-4D47-88EF-FCEEB5DB7C2F}"/>
              </a:ext>
            </a:extLst>
          </p:cNvPr>
          <p:cNvSpPr>
            <a:spLocks noGrp="1"/>
          </p:cNvSpPr>
          <p:nvPr>
            <p:ph idx="1"/>
          </p:nvPr>
        </p:nvSpPr>
        <p:spPr>
          <a:xfrm>
            <a:off x="972122" y="2260600"/>
            <a:ext cx="10203878" cy="5912421"/>
          </a:xfrm>
        </p:spPr>
        <p:txBody>
          <a:bodyPr/>
          <a:lstStyle/>
          <a:p>
            <a:r>
              <a:rPr lang="en-GB" dirty="0"/>
              <a:t>Gradient Descent is an optimization algorithm used to tweak parameters iteratively to minimize the cost function.</a:t>
            </a:r>
          </a:p>
          <a:p>
            <a:endParaRPr lang="en-GB" dirty="0"/>
          </a:p>
          <a:p>
            <a:r>
              <a:rPr lang="en-GB" dirty="0"/>
              <a:t>Gradient descent enables a model to learn the gradient or </a:t>
            </a:r>
            <a:r>
              <a:rPr lang="en-GB" i="1" dirty="0"/>
              <a:t>direction</a:t>
            </a:r>
            <a:r>
              <a:rPr lang="en-GB" dirty="0"/>
              <a:t> that the model should take in order to reduce errors (differences between actual y and predicted y).</a:t>
            </a:r>
            <a:endParaRPr lang="en-NO" dirty="0"/>
          </a:p>
        </p:txBody>
      </p:sp>
      <p:sp>
        <p:nvSpPr>
          <p:cNvPr id="4" name="Footer Placeholder 3">
            <a:extLst>
              <a:ext uri="{FF2B5EF4-FFF2-40B4-BE49-F238E27FC236}">
                <a16:creationId xmlns:a16="http://schemas.microsoft.com/office/drawing/2014/main" id="{6595BC9E-159B-B542-94E9-8E656ACFCD89}"/>
              </a:ext>
            </a:extLst>
          </p:cNvPr>
          <p:cNvSpPr>
            <a:spLocks noGrp="1"/>
          </p:cNvSpPr>
          <p:nvPr>
            <p:ph type="ftr" sz="quarter" idx="11"/>
          </p:nvPr>
        </p:nvSpPr>
        <p:spPr/>
        <p:txBody>
          <a:bodyPr/>
          <a:lstStyle/>
          <a:p>
            <a:r>
              <a:rPr lang="nb-NO"/>
              <a:t>DAVE3625- Intro to A.I. by Umair M.I</a:t>
            </a:r>
          </a:p>
        </p:txBody>
      </p:sp>
      <p:pic>
        <p:nvPicPr>
          <p:cNvPr id="8196" name="Picture 4" descr="Image for post">
            <a:extLst>
              <a:ext uri="{FF2B5EF4-FFF2-40B4-BE49-F238E27FC236}">
                <a16:creationId xmlns:a16="http://schemas.microsoft.com/office/drawing/2014/main" id="{27E1CC96-9436-FD4A-BF30-F07938542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5563" y="2111688"/>
            <a:ext cx="5143500" cy="529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30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9F83F-FB6A-DD41-98EE-F2B5E7175242}"/>
              </a:ext>
            </a:extLst>
          </p:cNvPr>
          <p:cNvSpPr>
            <a:spLocks noGrp="1"/>
          </p:cNvSpPr>
          <p:nvPr>
            <p:ph type="title"/>
          </p:nvPr>
        </p:nvSpPr>
        <p:spPr>
          <a:xfrm>
            <a:off x="2800922" y="914195"/>
            <a:ext cx="11270678" cy="664797"/>
          </a:xfrm>
        </p:spPr>
        <p:txBody>
          <a:bodyPr/>
          <a:lstStyle/>
          <a:p>
            <a:r>
              <a:rPr lang="en-NO" dirty="0"/>
              <a:t>Develop: Map probabbilities to classes</a:t>
            </a:r>
          </a:p>
        </p:txBody>
      </p:sp>
      <p:sp>
        <p:nvSpPr>
          <p:cNvPr id="3" name="Content Placeholder 2">
            <a:extLst>
              <a:ext uri="{FF2B5EF4-FFF2-40B4-BE49-F238E27FC236}">
                <a16:creationId xmlns:a16="http://schemas.microsoft.com/office/drawing/2014/main" id="{12F8449D-E6D3-2F48-AF50-B71B865D0D9E}"/>
              </a:ext>
            </a:extLst>
          </p:cNvPr>
          <p:cNvSpPr>
            <a:spLocks noGrp="1"/>
          </p:cNvSpPr>
          <p:nvPr>
            <p:ph idx="1"/>
          </p:nvPr>
        </p:nvSpPr>
        <p:spPr>
          <a:xfrm>
            <a:off x="972122" y="2159000"/>
            <a:ext cx="7700390" cy="6014021"/>
          </a:xfrm>
        </p:spPr>
        <p:txBody>
          <a:bodyPr/>
          <a:lstStyle/>
          <a:p>
            <a:r>
              <a:rPr lang="en-GB" dirty="0"/>
              <a:t>The final step is assign class labels (0 or 1) to our predicted probabilities.</a:t>
            </a:r>
            <a:endParaRPr lang="en-NO" dirty="0"/>
          </a:p>
        </p:txBody>
      </p:sp>
      <p:sp>
        <p:nvSpPr>
          <p:cNvPr id="4" name="Footer Placeholder 3">
            <a:extLst>
              <a:ext uri="{FF2B5EF4-FFF2-40B4-BE49-F238E27FC236}">
                <a16:creationId xmlns:a16="http://schemas.microsoft.com/office/drawing/2014/main" id="{BFD3051C-2775-4A42-BE49-A24C4376BAA0}"/>
              </a:ext>
            </a:extLst>
          </p:cNvPr>
          <p:cNvSpPr>
            <a:spLocks noGrp="1"/>
          </p:cNvSpPr>
          <p:nvPr>
            <p:ph type="ftr" sz="quarter" idx="11"/>
          </p:nvPr>
        </p:nvSpPr>
        <p:spPr/>
        <p:txBody>
          <a:bodyPr/>
          <a:lstStyle/>
          <a:p>
            <a:r>
              <a:rPr lang="nb-NO"/>
              <a:t>DAVE3625- Intro to A.I. by Umair M.I</a:t>
            </a:r>
          </a:p>
        </p:txBody>
      </p:sp>
      <p:pic>
        <p:nvPicPr>
          <p:cNvPr id="6" name="Picture 5">
            <a:extLst>
              <a:ext uri="{FF2B5EF4-FFF2-40B4-BE49-F238E27FC236}">
                <a16:creationId xmlns:a16="http://schemas.microsoft.com/office/drawing/2014/main" id="{8667E195-94B7-4446-AB37-4E3D51CB1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4544" y="1927510"/>
            <a:ext cx="6921500" cy="6477000"/>
          </a:xfrm>
          <a:prstGeom prst="rect">
            <a:avLst/>
          </a:prstGeom>
        </p:spPr>
      </p:pic>
    </p:spTree>
    <p:extLst>
      <p:ext uri="{BB962C8B-B14F-4D97-AF65-F5344CB8AC3E}">
        <p14:creationId xmlns:p14="http://schemas.microsoft.com/office/powerpoint/2010/main" val="3436462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B894-D123-5E4B-A430-377DF2B8EFF6}"/>
              </a:ext>
            </a:extLst>
          </p:cNvPr>
          <p:cNvSpPr>
            <a:spLocks noGrp="1"/>
          </p:cNvSpPr>
          <p:nvPr>
            <p:ph type="title"/>
          </p:nvPr>
        </p:nvSpPr>
        <p:spPr>
          <a:xfrm>
            <a:off x="3432932" y="914195"/>
            <a:ext cx="9480179" cy="664797"/>
          </a:xfrm>
        </p:spPr>
        <p:txBody>
          <a:bodyPr>
            <a:normAutofit/>
          </a:bodyPr>
          <a:lstStyle/>
          <a:p>
            <a:r>
              <a:rPr lang="nb-NO" dirty="0"/>
              <a:t>Final stage: </a:t>
            </a:r>
            <a:r>
              <a:rPr lang="en-NO" dirty="0"/>
              <a:t>Finish it up</a:t>
            </a:r>
          </a:p>
        </p:txBody>
      </p:sp>
      <p:sp>
        <p:nvSpPr>
          <p:cNvPr id="3" name="Content Placeholder 2">
            <a:extLst>
              <a:ext uri="{FF2B5EF4-FFF2-40B4-BE49-F238E27FC236}">
                <a16:creationId xmlns:a16="http://schemas.microsoft.com/office/drawing/2014/main" id="{2A8F253F-4683-934D-9DE5-FE8BF355C820}"/>
              </a:ext>
            </a:extLst>
          </p:cNvPr>
          <p:cNvSpPr>
            <a:spLocks noGrp="1"/>
          </p:cNvSpPr>
          <p:nvPr>
            <p:ph idx="1"/>
          </p:nvPr>
        </p:nvSpPr>
        <p:spPr>
          <a:xfrm>
            <a:off x="985551" y="2924592"/>
            <a:ext cx="15373922" cy="5912421"/>
          </a:xfrm>
        </p:spPr>
        <p:txBody>
          <a:bodyPr/>
          <a:lstStyle/>
          <a:p>
            <a:r>
              <a:rPr lang="en-NO" dirty="0"/>
              <a:t>Train the model</a:t>
            </a:r>
          </a:p>
          <a:p>
            <a:r>
              <a:rPr lang="en-NO" dirty="0"/>
              <a:t>Evaluate the model</a:t>
            </a:r>
          </a:p>
          <a:p>
            <a:pPr lvl="1"/>
            <a:r>
              <a:rPr lang="en-GB" dirty="0"/>
              <a:t>M</a:t>
            </a:r>
            <a:r>
              <a:rPr lang="en-NO" dirty="0"/>
              <a:t>inimzie the cost with repeated iterations</a:t>
            </a:r>
          </a:p>
          <a:p>
            <a:pPr lvl="1"/>
            <a:endParaRPr lang="en-NO" dirty="0"/>
          </a:p>
          <a:p>
            <a:r>
              <a:rPr lang="en-NO" dirty="0"/>
              <a:t>Measure the accuracy of your outputs</a:t>
            </a:r>
          </a:p>
          <a:p>
            <a:r>
              <a:rPr lang="en-NO" dirty="0"/>
              <a:t>Meausre the probabbility score</a:t>
            </a:r>
          </a:p>
        </p:txBody>
      </p:sp>
      <p:sp>
        <p:nvSpPr>
          <p:cNvPr id="4" name="Footer Placeholder 3">
            <a:extLst>
              <a:ext uri="{FF2B5EF4-FFF2-40B4-BE49-F238E27FC236}">
                <a16:creationId xmlns:a16="http://schemas.microsoft.com/office/drawing/2014/main" id="{4CBB1418-C2D1-9D43-BA9A-B15894A5D479}"/>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19124064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FC0258-B2AD-8749-A89F-6FBCFBB60803}"/>
              </a:ext>
            </a:extLst>
          </p:cNvPr>
          <p:cNvSpPr>
            <a:spLocks noGrp="1"/>
          </p:cNvSpPr>
          <p:nvPr>
            <p:ph type="ftr" sz="quarter" idx="11"/>
          </p:nvPr>
        </p:nvSpPr>
        <p:spPr/>
        <p:txBody>
          <a:bodyPr/>
          <a:lstStyle/>
          <a:p>
            <a:r>
              <a:rPr lang="nb-NO"/>
              <a:t>DAVE3625- Intro to A.I. by Umair M.I</a:t>
            </a:r>
          </a:p>
        </p:txBody>
      </p:sp>
      <p:sp>
        <p:nvSpPr>
          <p:cNvPr id="6" name="Rectangle 5">
            <a:extLst>
              <a:ext uri="{FF2B5EF4-FFF2-40B4-BE49-F238E27FC236}">
                <a16:creationId xmlns:a16="http://schemas.microsoft.com/office/drawing/2014/main" id="{A061EF4D-5482-6440-A51A-8DB57879D560}"/>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itle 1">
            <a:extLst>
              <a:ext uri="{FF2B5EF4-FFF2-40B4-BE49-F238E27FC236}">
                <a16:creationId xmlns:a16="http://schemas.microsoft.com/office/drawing/2014/main" id="{66916736-7E73-8C46-8886-CDD1FAF77617}"/>
              </a:ext>
            </a:extLst>
          </p:cNvPr>
          <p:cNvSpPr>
            <a:spLocks noGrp="1"/>
          </p:cNvSpPr>
          <p:nvPr>
            <p:ph type="title"/>
          </p:nvPr>
        </p:nvSpPr>
        <p:spPr>
          <a:xfrm>
            <a:off x="507492" y="587818"/>
            <a:ext cx="15373922" cy="664797"/>
          </a:xfrm>
        </p:spPr>
        <p:txBody>
          <a:bodyPr>
            <a:normAutofit/>
          </a:bodyPr>
          <a:lstStyle/>
          <a:p>
            <a:r>
              <a:rPr lang="en-NO" dirty="0"/>
              <a:t>2. Na</a:t>
            </a:r>
            <a:r>
              <a:rPr lang="en-GB" dirty="0"/>
              <a:t>i</a:t>
            </a:r>
            <a:r>
              <a:rPr lang="en-NO" dirty="0"/>
              <a:t>ve Bayes classification algorithm </a:t>
            </a:r>
            <a:r>
              <a:rPr lang="en-NO" sz="3200" dirty="0"/>
              <a:t>(classification)</a:t>
            </a:r>
            <a:endParaRPr lang="en-NO" dirty="0"/>
          </a:p>
        </p:txBody>
      </p:sp>
      <p:sp>
        <p:nvSpPr>
          <p:cNvPr id="5" name="Content Placeholder 4">
            <a:extLst>
              <a:ext uri="{FF2B5EF4-FFF2-40B4-BE49-F238E27FC236}">
                <a16:creationId xmlns:a16="http://schemas.microsoft.com/office/drawing/2014/main" id="{EBA9EA97-43EE-3E46-993A-658BBE6CEB78}"/>
              </a:ext>
            </a:extLst>
          </p:cNvPr>
          <p:cNvSpPr>
            <a:spLocks noGrp="1"/>
          </p:cNvSpPr>
          <p:nvPr>
            <p:ph idx="1"/>
          </p:nvPr>
        </p:nvSpPr>
        <p:spPr>
          <a:xfrm>
            <a:off x="972121" y="2430966"/>
            <a:ext cx="14239775" cy="6733229"/>
          </a:xfrm>
        </p:spPr>
        <p:txBody>
          <a:bodyPr>
            <a:normAutofit/>
          </a:bodyPr>
          <a:lstStyle/>
          <a:p>
            <a:r>
              <a:rPr lang="en-GB" dirty="0"/>
              <a:t>A Naive Bayes classifier assumes that the presence of a particular feature in a class is unrelated to the presence of any other feature.</a:t>
            </a:r>
          </a:p>
          <a:p>
            <a:r>
              <a:rPr lang="en-GB" dirty="0"/>
              <a:t>Naive bayes does not take into account the relationship between features</a:t>
            </a:r>
          </a:p>
          <a:p>
            <a:pPr marL="0" indent="0">
              <a:buNone/>
            </a:pPr>
            <a:r>
              <a:rPr lang="en-GB" dirty="0"/>
              <a:t>For example:</a:t>
            </a:r>
          </a:p>
          <a:p>
            <a:r>
              <a:rPr lang="en-GB" dirty="0"/>
              <a:t>A dog will be considered a dog because it has 4 legs and a tail</a:t>
            </a:r>
          </a:p>
          <a:p>
            <a:pPr lvl="1"/>
            <a:r>
              <a:rPr lang="en-GB" dirty="0"/>
              <a:t>But a Naive Bayes will consider everything a dog which has 4 legs or tail (</a:t>
            </a:r>
            <a:r>
              <a:rPr lang="en-GB" dirty="0" err="1"/>
              <a:t>e.g</a:t>
            </a:r>
            <a:r>
              <a:rPr lang="en-GB" dirty="0"/>
              <a:t> squirrel) not because its an animal. Being an animal is the relationship not legs / tail.</a:t>
            </a:r>
          </a:p>
          <a:p>
            <a:r>
              <a:rPr lang="en-GB" dirty="0"/>
              <a:t>A fruit may be considered to be an apple if it is red, round, and about 3 inches in diameter.</a:t>
            </a:r>
          </a:p>
          <a:p>
            <a:endParaRPr lang="en-GB" dirty="0"/>
          </a:p>
        </p:txBody>
      </p:sp>
    </p:spTree>
    <p:extLst>
      <p:ext uri="{BB962C8B-B14F-4D97-AF65-F5344CB8AC3E}">
        <p14:creationId xmlns:p14="http://schemas.microsoft.com/office/powerpoint/2010/main" val="3041310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7FB20-9E86-F7F4-9B90-372012D950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952472-EA07-A55D-E4C0-C3C1960F37E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82D5807-DF49-CCBD-AC8D-A67238B238C0}"/>
              </a:ext>
            </a:extLst>
          </p:cNvPr>
          <p:cNvSpPr>
            <a:spLocks noGrp="1"/>
          </p:cNvSpPr>
          <p:nvPr>
            <p:ph type="ftr" sz="quarter" idx="11"/>
          </p:nvPr>
        </p:nvSpPr>
        <p:spPr/>
        <p:txBody>
          <a:bodyPr/>
          <a:lstStyle/>
          <a:p>
            <a:r>
              <a:rPr lang="nb-NO"/>
              <a:t>DAVE3625- Intro to A.I. by Umair M.I</a:t>
            </a:r>
          </a:p>
        </p:txBody>
      </p:sp>
      <p:pic>
        <p:nvPicPr>
          <p:cNvPr id="1026" name="Picture 2" descr="Neural-Net-Guesses-Memes-Pics">
            <a:extLst>
              <a:ext uri="{FF2B5EF4-FFF2-40B4-BE49-F238E27FC236}">
                <a16:creationId xmlns:a16="http://schemas.microsoft.com/office/drawing/2014/main" id="{C14FC4E5-EC9B-6B8A-45D5-AC78B699A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13" y="-1"/>
            <a:ext cx="7364412" cy="97520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ural-Net-Guesses-Memes-Pics">
            <a:extLst>
              <a:ext uri="{FF2B5EF4-FFF2-40B4-BE49-F238E27FC236}">
                <a16:creationId xmlns:a16="http://schemas.microsoft.com/office/drawing/2014/main" id="{21921224-7B72-F47E-7BDE-9FCB36685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3101" y="0"/>
            <a:ext cx="7364412" cy="9752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12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F2C7D-4C8B-5F0E-3F26-47D09BD2A063}"/>
              </a:ext>
            </a:extLst>
          </p:cNvPr>
          <p:cNvSpPr>
            <a:spLocks noGrp="1"/>
          </p:cNvSpPr>
          <p:nvPr>
            <p:ph idx="1"/>
          </p:nvPr>
        </p:nvSpPr>
        <p:spPr>
          <a:xfrm>
            <a:off x="972122" y="1750979"/>
            <a:ext cx="15373922" cy="6422042"/>
          </a:xfrm>
        </p:spPr>
        <p:txBody>
          <a:bodyPr>
            <a:normAutofit lnSpcReduction="10000"/>
          </a:bodyPr>
          <a:lstStyle/>
          <a:p>
            <a:r>
              <a:rPr lang="en-GB" dirty="0"/>
              <a:t>Spam emails:</a:t>
            </a:r>
          </a:p>
          <a:p>
            <a:r>
              <a:rPr lang="en-GB" dirty="0"/>
              <a:t>“Win lottery now”</a:t>
            </a:r>
          </a:p>
          <a:p>
            <a:r>
              <a:rPr lang="en-GB" dirty="0"/>
              <a:t>“Prize lottery claim”</a:t>
            </a:r>
          </a:p>
          <a:p>
            <a:endParaRPr lang="en-GB" dirty="0"/>
          </a:p>
          <a:p>
            <a:r>
              <a:rPr lang="en-GB" dirty="0"/>
              <a:t>Not spam emails:</a:t>
            </a:r>
          </a:p>
          <a:p>
            <a:r>
              <a:rPr lang="en-GB" dirty="0"/>
              <a:t>“Team meeting now”</a:t>
            </a:r>
          </a:p>
          <a:p>
            <a:r>
              <a:rPr lang="en-GB" dirty="0"/>
              <a:t>“Project team work”</a:t>
            </a:r>
          </a:p>
          <a:p>
            <a:endParaRPr lang="en-GB" dirty="0"/>
          </a:p>
          <a:p>
            <a:r>
              <a:rPr lang="en-GB" dirty="0"/>
              <a:t>Words we care about:</a:t>
            </a:r>
          </a:p>
          <a:p>
            <a:r>
              <a:rPr lang="en-GB" dirty="0"/>
              <a:t>[win, lottery, prize, claim, team, meeting, project, work]</a:t>
            </a:r>
          </a:p>
          <a:p>
            <a:endParaRPr lang="en-GB" dirty="0"/>
          </a:p>
          <a:p>
            <a:endParaRPr lang="en-NO" dirty="0"/>
          </a:p>
        </p:txBody>
      </p:sp>
      <p:sp>
        <p:nvSpPr>
          <p:cNvPr id="4" name="Footer Placeholder 3">
            <a:extLst>
              <a:ext uri="{FF2B5EF4-FFF2-40B4-BE49-F238E27FC236}">
                <a16:creationId xmlns:a16="http://schemas.microsoft.com/office/drawing/2014/main" id="{7E149C09-F8AE-9540-3067-FD9DE3696195}"/>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2375889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AE39-CE0D-3749-BBB2-2CB2514B3C09}"/>
              </a:ext>
            </a:extLst>
          </p:cNvPr>
          <p:cNvSpPr>
            <a:spLocks noGrp="1"/>
          </p:cNvSpPr>
          <p:nvPr>
            <p:ph type="title"/>
          </p:nvPr>
        </p:nvSpPr>
        <p:spPr>
          <a:xfrm>
            <a:off x="3024373" y="912608"/>
            <a:ext cx="7008627" cy="664797"/>
          </a:xfrm>
        </p:spPr>
        <p:txBody>
          <a:bodyPr/>
          <a:lstStyle/>
          <a:p>
            <a:r>
              <a:rPr lang="en-NO" dirty="0"/>
              <a:t>BAYES THEOREM</a:t>
            </a:r>
          </a:p>
        </p:txBody>
      </p:sp>
      <p:sp>
        <p:nvSpPr>
          <p:cNvPr id="3" name="Content Placeholder 2">
            <a:extLst>
              <a:ext uri="{FF2B5EF4-FFF2-40B4-BE49-F238E27FC236}">
                <a16:creationId xmlns:a16="http://schemas.microsoft.com/office/drawing/2014/main" id="{CE8D713F-F9D7-FE43-9825-DD72B3866CF6}"/>
              </a:ext>
            </a:extLst>
          </p:cNvPr>
          <p:cNvSpPr>
            <a:spLocks noGrp="1"/>
          </p:cNvSpPr>
          <p:nvPr>
            <p:ph idx="1"/>
          </p:nvPr>
        </p:nvSpPr>
        <p:spPr>
          <a:xfrm>
            <a:off x="210122" y="2654236"/>
            <a:ext cx="5238650" cy="5245164"/>
          </a:xfrm>
        </p:spPr>
        <p:txBody>
          <a:bodyPr>
            <a:normAutofit/>
          </a:bodyPr>
          <a:lstStyle/>
          <a:p>
            <a:pPr marL="0" indent="0">
              <a:buNone/>
            </a:pPr>
            <a:r>
              <a:rPr lang="en-GB" dirty="0" err="1"/>
              <a:t>Bayes's</a:t>
            </a:r>
            <a:r>
              <a:rPr lang="en-GB" dirty="0"/>
              <a:t> theorem describes the probability of an event, based on prior knowledge of conditions that might be related to the event</a:t>
            </a:r>
            <a:endParaRPr lang="en-NO" dirty="0"/>
          </a:p>
        </p:txBody>
      </p:sp>
      <p:sp>
        <p:nvSpPr>
          <p:cNvPr id="4" name="Footer Placeholder 3">
            <a:extLst>
              <a:ext uri="{FF2B5EF4-FFF2-40B4-BE49-F238E27FC236}">
                <a16:creationId xmlns:a16="http://schemas.microsoft.com/office/drawing/2014/main" id="{60143A22-ECFC-0E43-ACC3-91A8C812C106}"/>
              </a:ext>
            </a:extLst>
          </p:cNvPr>
          <p:cNvSpPr>
            <a:spLocks noGrp="1"/>
          </p:cNvSpPr>
          <p:nvPr>
            <p:ph type="ftr" sz="quarter" idx="11"/>
          </p:nvPr>
        </p:nvSpPr>
        <p:spPr/>
        <p:txBody>
          <a:bodyPr/>
          <a:lstStyle/>
          <a:p>
            <a:r>
              <a:rPr lang="nb-NO"/>
              <a:t>DAVE3625- Intro to A.I. by Umair M.I</a:t>
            </a:r>
          </a:p>
        </p:txBody>
      </p:sp>
      <p:pic>
        <p:nvPicPr>
          <p:cNvPr id="11266" name="Picture 2" descr="Naïve Bayes Algorithm: Everything you need to know">
            <a:extLst>
              <a:ext uri="{FF2B5EF4-FFF2-40B4-BE49-F238E27FC236}">
                <a16:creationId xmlns:a16="http://schemas.microsoft.com/office/drawing/2014/main" id="{8C9B8541-8E14-BF49-B10B-CBC074B94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8686" y="1948231"/>
            <a:ext cx="10345737" cy="6386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923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04219E-5D2B-E949-8442-6D8557ABED04}"/>
              </a:ext>
            </a:extLst>
          </p:cNvPr>
          <p:cNvSpPr>
            <a:spLocks noGrp="1"/>
          </p:cNvSpPr>
          <p:nvPr>
            <p:ph idx="1"/>
          </p:nvPr>
        </p:nvSpPr>
        <p:spPr>
          <a:xfrm>
            <a:off x="1462775" y="2785472"/>
            <a:ext cx="15308658" cy="6051541"/>
          </a:xfrm>
        </p:spPr>
        <p:txBody>
          <a:bodyPr>
            <a:normAutofit fontScale="92500"/>
          </a:bodyPr>
          <a:lstStyle/>
          <a:p>
            <a:pPr marL="0" indent="0">
              <a:buNone/>
            </a:pPr>
            <a:r>
              <a:rPr lang="en-GB" dirty="0"/>
              <a:t>We can see that </a:t>
            </a:r>
          </a:p>
          <a:p>
            <a:pPr lvl="1"/>
            <a:r>
              <a:rPr lang="en-GB" dirty="0"/>
              <a:t>50% of the fruits are bananas</a:t>
            </a:r>
          </a:p>
          <a:p>
            <a:pPr lvl="1"/>
            <a:r>
              <a:rPr lang="en-GB" dirty="0"/>
              <a:t>30% are oranges</a:t>
            </a:r>
          </a:p>
          <a:p>
            <a:pPr lvl="1"/>
            <a:r>
              <a:rPr lang="en-GB" dirty="0"/>
              <a:t>20% are other fruits</a:t>
            </a:r>
          </a:p>
          <a:p>
            <a:pPr marL="0" indent="0">
              <a:buNone/>
            </a:pPr>
            <a:r>
              <a:rPr lang="en-GB" dirty="0"/>
              <a:t>We can also say</a:t>
            </a:r>
          </a:p>
          <a:p>
            <a:r>
              <a:rPr lang="en-GB" dirty="0"/>
              <a:t>From 500 bananas 400 (0.8) are Long, 350 (0.7) are Sweet and 450 (0.9) are Yellow</a:t>
            </a:r>
          </a:p>
          <a:p>
            <a:r>
              <a:rPr lang="en-GB" dirty="0"/>
              <a:t>Out of 300 oranges 0 are Long, 150 (0.5) are Sweet and 300 (1) are Yellow</a:t>
            </a:r>
          </a:p>
          <a:p>
            <a:r>
              <a:rPr lang="en-GB" dirty="0"/>
              <a:t>From the remaining 200 fruits, 100 (0.5) are Long, 150 (0.75) are Sweet and 50 (0.25) are Yellow</a:t>
            </a:r>
          </a:p>
          <a:p>
            <a:pPr lvl="1"/>
            <a:endParaRPr lang="en-GB" dirty="0"/>
          </a:p>
          <a:p>
            <a:endParaRPr lang="en-NO" dirty="0"/>
          </a:p>
        </p:txBody>
      </p:sp>
      <p:sp>
        <p:nvSpPr>
          <p:cNvPr id="4" name="Footer Placeholder 3">
            <a:extLst>
              <a:ext uri="{FF2B5EF4-FFF2-40B4-BE49-F238E27FC236}">
                <a16:creationId xmlns:a16="http://schemas.microsoft.com/office/drawing/2014/main" id="{783125F0-9095-CB43-A456-A3446904EE34}"/>
              </a:ext>
            </a:extLst>
          </p:cNvPr>
          <p:cNvSpPr>
            <a:spLocks noGrp="1"/>
          </p:cNvSpPr>
          <p:nvPr>
            <p:ph type="ftr" sz="quarter" idx="11"/>
          </p:nvPr>
        </p:nvSpPr>
        <p:spPr/>
        <p:txBody>
          <a:bodyPr/>
          <a:lstStyle/>
          <a:p>
            <a:r>
              <a:rPr lang="nb-NO"/>
              <a:t>DAVE3625- Intro to A.I. by Umair M.I</a:t>
            </a:r>
          </a:p>
        </p:txBody>
      </p:sp>
      <p:pic>
        <p:nvPicPr>
          <p:cNvPr id="1026" name="Picture 2">
            <a:extLst>
              <a:ext uri="{FF2B5EF4-FFF2-40B4-BE49-F238E27FC236}">
                <a16:creationId xmlns:a16="http://schemas.microsoft.com/office/drawing/2014/main" id="{D69E9BA7-19CB-274B-9C74-97FE90669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4665" y="293359"/>
            <a:ext cx="8795693" cy="24921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2858021-31D5-AB46-87E5-BB672C17091A}"/>
              </a:ext>
            </a:extLst>
          </p:cNvPr>
          <p:cNvSpPr/>
          <p:nvPr/>
        </p:nvSpPr>
        <p:spPr>
          <a:xfrm>
            <a:off x="5977054" y="9110915"/>
            <a:ext cx="13485114" cy="400110"/>
          </a:xfrm>
          <a:prstGeom prst="rect">
            <a:avLst/>
          </a:prstGeom>
        </p:spPr>
        <p:txBody>
          <a:bodyPr wrap="square">
            <a:spAutoFit/>
          </a:bodyPr>
          <a:lstStyle/>
          <a:p>
            <a:r>
              <a:rPr lang="en-GB" sz="2000" dirty="0"/>
              <a:t>https://</a:t>
            </a:r>
            <a:r>
              <a:rPr lang="en-GB" sz="2000" dirty="0" err="1"/>
              <a:t>www.datasciencecentral.com</a:t>
            </a:r>
            <a:r>
              <a:rPr lang="en-GB" sz="2000" dirty="0"/>
              <a:t>/profiles/blogs/naive-bayes-for-dummies-a-simple-explanation</a:t>
            </a:r>
            <a:endParaRPr lang="en-NO" sz="2000" dirty="0"/>
          </a:p>
        </p:txBody>
      </p:sp>
    </p:spTree>
    <p:extLst>
      <p:ext uri="{BB962C8B-B14F-4D97-AF65-F5344CB8AC3E}">
        <p14:creationId xmlns:p14="http://schemas.microsoft.com/office/powerpoint/2010/main" val="329412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2A1E46-006A-D745-BF9C-535ACE6B03BE}"/>
              </a:ext>
            </a:extLst>
          </p:cNvPr>
          <p:cNvSpPr>
            <a:spLocks noGrp="1"/>
          </p:cNvSpPr>
          <p:nvPr>
            <p:ph type="ftr" sz="quarter" idx="11"/>
          </p:nvPr>
        </p:nvSpPr>
        <p:spPr/>
        <p:txBody>
          <a:bodyPr/>
          <a:lstStyle/>
          <a:p>
            <a:r>
              <a:rPr lang="nb-NO"/>
              <a:t>DAVE3625- Intro to A.I. by Umair M.I</a:t>
            </a:r>
          </a:p>
        </p:txBody>
      </p:sp>
      <p:pic>
        <p:nvPicPr>
          <p:cNvPr id="6" name="Picture 5">
            <a:extLst>
              <a:ext uri="{FF2B5EF4-FFF2-40B4-BE49-F238E27FC236}">
                <a16:creationId xmlns:a16="http://schemas.microsoft.com/office/drawing/2014/main" id="{2FBA2473-071A-1348-9E95-6A0F04B609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7844" y="627748"/>
            <a:ext cx="8304981" cy="2835847"/>
          </a:xfrm>
          <a:prstGeom prst="rect">
            <a:avLst/>
          </a:prstGeom>
        </p:spPr>
      </p:pic>
      <p:pic>
        <p:nvPicPr>
          <p:cNvPr id="8" name="Picture 7">
            <a:extLst>
              <a:ext uri="{FF2B5EF4-FFF2-40B4-BE49-F238E27FC236}">
                <a16:creationId xmlns:a16="http://schemas.microsoft.com/office/drawing/2014/main" id="{BB6B0F48-D071-A94B-83D4-E40410DF9B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7847" y="3587652"/>
            <a:ext cx="8304978" cy="1065298"/>
          </a:xfrm>
          <a:prstGeom prst="rect">
            <a:avLst/>
          </a:prstGeom>
        </p:spPr>
      </p:pic>
      <p:pic>
        <p:nvPicPr>
          <p:cNvPr id="10" name="Picture 9">
            <a:extLst>
              <a:ext uri="{FF2B5EF4-FFF2-40B4-BE49-F238E27FC236}">
                <a16:creationId xmlns:a16="http://schemas.microsoft.com/office/drawing/2014/main" id="{F7B55607-9C03-8D4E-8691-8CD0EA3C13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7847" y="5099063"/>
            <a:ext cx="8304979" cy="3149518"/>
          </a:xfrm>
          <a:prstGeom prst="rect">
            <a:avLst/>
          </a:prstGeom>
        </p:spPr>
      </p:pic>
    </p:spTree>
    <p:extLst>
      <p:ext uri="{BB962C8B-B14F-4D97-AF65-F5344CB8AC3E}">
        <p14:creationId xmlns:p14="http://schemas.microsoft.com/office/powerpoint/2010/main" val="71572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486-6F6E-BB42-97C2-0B5D46210650}"/>
              </a:ext>
            </a:extLst>
          </p:cNvPr>
          <p:cNvSpPr>
            <a:spLocks noGrp="1"/>
          </p:cNvSpPr>
          <p:nvPr>
            <p:ph type="title"/>
          </p:nvPr>
        </p:nvSpPr>
        <p:spPr>
          <a:xfrm>
            <a:off x="1886522" y="288496"/>
            <a:ext cx="14951819" cy="664797"/>
          </a:xfrm>
        </p:spPr>
        <p:txBody>
          <a:bodyPr/>
          <a:lstStyle/>
          <a:p>
            <a:r>
              <a:rPr lang="en-NO" dirty="0"/>
              <a:t>Na</a:t>
            </a:r>
            <a:r>
              <a:rPr lang="en-GB" dirty="0"/>
              <a:t>i</a:t>
            </a:r>
            <a:r>
              <a:rPr lang="en-NO" dirty="0"/>
              <a:t>ve Bayes use in Natural Language Processing</a:t>
            </a:r>
          </a:p>
        </p:txBody>
      </p:sp>
      <p:sp>
        <p:nvSpPr>
          <p:cNvPr id="4" name="Footer Placeholder 3">
            <a:extLst>
              <a:ext uri="{FF2B5EF4-FFF2-40B4-BE49-F238E27FC236}">
                <a16:creationId xmlns:a16="http://schemas.microsoft.com/office/drawing/2014/main" id="{4A909F1A-DDE0-B747-949D-99A03371F7B1}"/>
              </a:ext>
            </a:extLst>
          </p:cNvPr>
          <p:cNvSpPr>
            <a:spLocks noGrp="1"/>
          </p:cNvSpPr>
          <p:nvPr>
            <p:ph type="ftr" sz="quarter" idx="11"/>
          </p:nvPr>
        </p:nvSpPr>
        <p:spPr/>
        <p:txBody>
          <a:bodyPr/>
          <a:lstStyle/>
          <a:p>
            <a:r>
              <a:rPr lang="nb-NO"/>
              <a:t>DAVE3625- Intro to A.I. by Umair M.I</a:t>
            </a:r>
          </a:p>
        </p:txBody>
      </p:sp>
      <p:pic>
        <p:nvPicPr>
          <p:cNvPr id="3074" name="Picture 2" descr="Image for post">
            <a:extLst>
              <a:ext uri="{FF2B5EF4-FFF2-40B4-BE49-F238E27FC236}">
                <a16:creationId xmlns:a16="http://schemas.microsoft.com/office/drawing/2014/main" id="{E1620F22-1486-CF42-A9C5-608DE46A10B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362431" y="1977934"/>
            <a:ext cx="5191571" cy="25855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DC9A563-DA33-E649-9F24-27E2B486E57A}"/>
              </a:ext>
            </a:extLst>
          </p:cNvPr>
          <p:cNvSpPr/>
          <p:nvPr/>
        </p:nvSpPr>
        <p:spPr>
          <a:xfrm>
            <a:off x="7225990" y="9094185"/>
            <a:ext cx="10743503" cy="369332"/>
          </a:xfrm>
          <a:prstGeom prst="rect">
            <a:avLst/>
          </a:prstGeom>
        </p:spPr>
        <p:txBody>
          <a:bodyPr wrap="square">
            <a:spAutoFit/>
          </a:bodyPr>
          <a:lstStyle/>
          <a:p>
            <a:r>
              <a:rPr lang="en-NO" sz="1800" dirty="0"/>
              <a:t>https://medium.com/@montjoile/easy-and-quick-explanation-naive-bayes-algorithm-99cb5f3f4e9c</a:t>
            </a:r>
          </a:p>
        </p:txBody>
      </p:sp>
      <p:sp>
        <p:nvSpPr>
          <p:cNvPr id="6" name="TextBox 5">
            <a:extLst>
              <a:ext uri="{FF2B5EF4-FFF2-40B4-BE49-F238E27FC236}">
                <a16:creationId xmlns:a16="http://schemas.microsoft.com/office/drawing/2014/main" id="{4D693B60-70A8-224D-AD59-7531DFEA3B0B}"/>
              </a:ext>
            </a:extLst>
          </p:cNvPr>
          <p:cNvSpPr txBox="1"/>
          <p:nvPr/>
        </p:nvSpPr>
        <p:spPr>
          <a:xfrm>
            <a:off x="537224" y="2891236"/>
            <a:ext cx="5908181" cy="486287"/>
          </a:xfrm>
          <a:prstGeom prst="rect">
            <a:avLst/>
          </a:prstGeom>
          <a:noFill/>
        </p:spPr>
        <p:txBody>
          <a:bodyPr wrap="square" rtlCol="0">
            <a:spAutoFit/>
          </a:bodyPr>
          <a:lstStyle/>
          <a:p>
            <a:endParaRPr lang="en-NO" dirty="0"/>
          </a:p>
        </p:txBody>
      </p:sp>
      <p:pic>
        <p:nvPicPr>
          <p:cNvPr id="3076" name="Picture 4" descr="Image for post">
            <a:extLst>
              <a:ext uri="{FF2B5EF4-FFF2-40B4-BE49-F238E27FC236}">
                <a16:creationId xmlns:a16="http://schemas.microsoft.com/office/drawing/2014/main" id="{C86518D4-C148-1C4B-A21E-2B888CABEC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4110" y="5687761"/>
            <a:ext cx="3837795" cy="208631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78ED50D-1942-1E47-A73F-3134A9559AF0}"/>
              </a:ext>
            </a:extLst>
          </p:cNvPr>
          <p:cNvSpPr txBox="1"/>
          <p:nvPr/>
        </p:nvSpPr>
        <p:spPr>
          <a:xfrm>
            <a:off x="2475571" y="5241073"/>
            <a:ext cx="184731" cy="486287"/>
          </a:xfrm>
          <a:prstGeom prst="rect">
            <a:avLst/>
          </a:prstGeom>
          <a:noFill/>
        </p:spPr>
        <p:txBody>
          <a:bodyPr wrap="none" rtlCol="0">
            <a:spAutoFit/>
          </a:bodyPr>
          <a:lstStyle/>
          <a:p>
            <a:endParaRPr lang="en-NO" dirty="0"/>
          </a:p>
        </p:txBody>
      </p:sp>
      <p:sp>
        <p:nvSpPr>
          <p:cNvPr id="11" name="Content Placeholder 2">
            <a:extLst>
              <a:ext uri="{FF2B5EF4-FFF2-40B4-BE49-F238E27FC236}">
                <a16:creationId xmlns:a16="http://schemas.microsoft.com/office/drawing/2014/main" id="{2A19F824-FAB8-BC41-82A7-59FABD66B42D}"/>
              </a:ext>
            </a:extLst>
          </p:cNvPr>
          <p:cNvSpPr txBox="1">
            <a:spLocks/>
          </p:cNvSpPr>
          <p:nvPr/>
        </p:nvSpPr>
        <p:spPr>
          <a:xfrm>
            <a:off x="945558" y="2409857"/>
            <a:ext cx="7700390" cy="5685928"/>
          </a:xfrm>
          <a:prstGeom prst="rect">
            <a:avLst/>
          </a:prstGeom>
        </p:spPr>
        <p:txBody>
          <a:bodyPr vert="horz" lIns="0" tIns="0" rIns="0" bIns="0" rtlCol="0">
            <a:normAutofit fontScale="92500" lnSpcReduction="10000"/>
          </a:bodyPr>
          <a:lst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r>
              <a:rPr lang="en-NO" dirty="0"/>
              <a:t>Task: </a:t>
            </a:r>
          </a:p>
          <a:p>
            <a:pPr marL="0" indent="0">
              <a:buNone/>
            </a:pPr>
            <a:r>
              <a:rPr lang="en-NO" dirty="0"/>
              <a:t>Determine if the text “I feel terrible” is either mood category or not mood.</a:t>
            </a:r>
          </a:p>
          <a:p>
            <a:endParaRPr lang="en-NO" dirty="0"/>
          </a:p>
          <a:p>
            <a:endParaRPr lang="en-NO" dirty="0"/>
          </a:p>
          <a:p>
            <a:r>
              <a:rPr lang="en-NO" dirty="0"/>
              <a:t>Na</a:t>
            </a:r>
            <a:r>
              <a:rPr lang="en-GB" dirty="0"/>
              <a:t>i</a:t>
            </a:r>
            <a:r>
              <a:rPr lang="en-NO" dirty="0"/>
              <a:t>ve bayes will count 2 occurances for mood category and 0 for not mood category. </a:t>
            </a:r>
          </a:p>
          <a:p>
            <a:endParaRPr lang="en-NO" dirty="0"/>
          </a:p>
          <a:p>
            <a:r>
              <a:rPr lang="en-NO" dirty="0"/>
              <a:t>Hence classifying the text as mood</a:t>
            </a:r>
          </a:p>
          <a:p>
            <a:endParaRPr lang="en-NO" dirty="0"/>
          </a:p>
        </p:txBody>
      </p:sp>
    </p:spTree>
    <p:extLst>
      <p:ext uri="{BB962C8B-B14F-4D97-AF65-F5344CB8AC3E}">
        <p14:creationId xmlns:p14="http://schemas.microsoft.com/office/powerpoint/2010/main" val="226635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EE1B9-910F-0047-92D5-351B8027685C}"/>
              </a:ext>
            </a:extLst>
          </p:cNvPr>
          <p:cNvSpPr>
            <a:spLocks noGrp="1"/>
          </p:cNvSpPr>
          <p:nvPr>
            <p:ph idx="1"/>
          </p:nvPr>
        </p:nvSpPr>
        <p:spPr>
          <a:xfrm>
            <a:off x="972122" y="1712634"/>
            <a:ext cx="15373922" cy="6460388"/>
          </a:xfrm>
        </p:spPr>
        <p:txBody>
          <a:bodyPr/>
          <a:lstStyle/>
          <a:p>
            <a:r>
              <a:rPr lang="en-NO" dirty="0"/>
              <a:t>Supprt vector machines classifies the data by finding a clear seperation between the data points</a:t>
            </a:r>
          </a:p>
          <a:p>
            <a:pPr lvl="1"/>
            <a:r>
              <a:rPr lang="en-GB" dirty="0"/>
              <a:t>I</a:t>
            </a:r>
            <a:r>
              <a:rPr lang="en-NO" dirty="0"/>
              <a:t>t looks for a hyperplane</a:t>
            </a:r>
          </a:p>
          <a:p>
            <a:r>
              <a:rPr lang="en-NO" dirty="0"/>
              <a:t>Can be used both in classification and regression</a:t>
            </a:r>
          </a:p>
        </p:txBody>
      </p:sp>
      <p:sp>
        <p:nvSpPr>
          <p:cNvPr id="4" name="Footer Placeholder 3">
            <a:extLst>
              <a:ext uri="{FF2B5EF4-FFF2-40B4-BE49-F238E27FC236}">
                <a16:creationId xmlns:a16="http://schemas.microsoft.com/office/drawing/2014/main" id="{FFB333FA-6FD5-CE45-A5E6-B6DB24E0A9E2}"/>
              </a:ext>
            </a:extLst>
          </p:cNvPr>
          <p:cNvSpPr>
            <a:spLocks noGrp="1"/>
          </p:cNvSpPr>
          <p:nvPr>
            <p:ph type="ftr" sz="quarter" idx="11"/>
          </p:nvPr>
        </p:nvSpPr>
        <p:spPr/>
        <p:txBody>
          <a:bodyPr/>
          <a:lstStyle/>
          <a:p>
            <a:r>
              <a:rPr lang="nb-NO"/>
              <a:t>DAVE3625- Intro to A.I. by Umair M.I</a:t>
            </a:r>
          </a:p>
        </p:txBody>
      </p:sp>
      <p:sp>
        <p:nvSpPr>
          <p:cNvPr id="5" name="Rectangle 4">
            <a:extLst>
              <a:ext uri="{FF2B5EF4-FFF2-40B4-BE49-F238E27FC236}">
                <a16:creationId xmlns:a16="http://schemas.microsoft.com/office/drawing/2014/main" id="{91180F0E-DA8E-A347-A946-5B5D75FFEBBD}"/>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6" name="Title 1">
            <a:extLst>
              <a:ext uri="{FF2B5EF4-FFF2-40B4-BE49-F238E27FC236}">
                <a16:creationId xmlns:a16="http://schemas.microsoft.com/office/drawing/2014/main" id="{A4FAC93D-354D-2549-A00C-1E524C08B003}"/>
              </a:ext>
            </a:extLst>
          </p:cNvPr>
          <p:cNvSpPr>
            <a:spLocks noGrp="1"/>
          </p:cNvSpPr>
          <p:nvPr>
            <p:ph type="title"/>
          </p:nvPr>
        </p:nvSpPr>
        <p:spPr>
          <a:xfrm>
            <a:off x="726795" y="587818"/>
            <a:ext cx="15373922" cy="664797"/>
          </a:xfrm>
        </p:spPr>
        <p:txBody>
          <a:bodyPr/>
          <a:lstStyle/>
          <a:p>
            <a:r>
              <a:rPr lang="en-NO" dirty="0"/>
              <a:t>3. Support vector machines </a:t>
            </a:r>
            <a:r>
              <a:rPr lang="en-NO" sz="3200" dirty="0"/>
              <a:t>(classification)</a:t>
            </a:r>
            <a:endParaRPr lang="en-NO" dirty="0"/>
          </a:p>
        </p:txBody>
      </p:sp>
      <p:pic>
        <p:nvPicPr>
          <p:cNvPr id="4098" name="Picture 2" descr="Image for post">
            <a:extLst>
              <a:ext uri="{FF2B5EF4-FFF2-40B4-BE49-F238E27FC236}">
                <a16:creationId xmlns:a16="http://schemas.microsoft.com/office/drawing/2014/main" id="{9C080DC1-0597-0D4C-805C-1385DB600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357" y="4905529"/>
            <a:ext cx="3810000" cy="37338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for post">
            <a:extLst>
              <a:ext uri="{FF2B5EF4-FFF2-40B4-BE49-F238E27FC236}">
                <a16:creationId xmlns:a16="http://schemas.microsoft.com/office/drawing/2014/main" id="{604BDAED-6779-924D-A144-7F212077F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3669" y="4828774"/>
            <a:ext cx="3810000" cy="37592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885392B-467D-F949-A407-CC3634F3D7C7}"/>
              </a:ext>
            </a:extLst>
          </p:cNvPr>
          <p:cNvSpPr/>
          <p:nvPr/>
        </p:nvSpPr>
        <p:spPr>
          <a:xfrm>
            <a:off x="5138841" y="9172025"/>
            <a:ext cx="12206184" cy="369332"/>
          </a:xfrm>
          <a:prstGeom prst="rect">
            <a:avLst/>
          </a:prstGeom>
        </p:spPr>
        <p:txBody>
          <a:bodyPr wrap="square">
            <a:spAutoFit/>
          </a:bodyPr>
          <a:lstStyle/>
          <a:p>
            <a:r>
              <a:rPr lang="en-NO" sz="1800" dirty="0"/>
              <a:t>https://towardsdatascience.com/support-vector-machine-introduction-to-machine-learning-algorithms-934a444fca47</a:t>
            </a:r>
          </a:p>
        </p:txBody>
      </p:sp>
    </p:spTree>
    <p:extLst>
      <p:ext uri="{BB962C8B-B14F-4D97-AF65-F5344CB8AC3E}">
        <p14:creationId xmlns:p14="http://schemas.microsoft.com/office/powerpoint/2010/main" val="508402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A9C0-4D40-0671-7A76-C304ABA616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A39AB1-183B-6512-19F1-5FDD40D5C2F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C7A42E6-9E0B-2179-5F9A-A15B44B351CE}"/>
              </a:ext>
            </a:extLst>
          </p:cNvPr>
          <p:cNvSpPr>
            <a:spLocks noGrp="1"/>
          </p:cNvSpPr>
          <p:nvPr>
            <p:ph type="ftr" sz="quarter" idx="11"/>
          </p:nvPr>
        </p:nvSpPr>
        <p:spPr/>
        <p:txBody>
          <a:bodyPr/>
          <a:lstStyle/>
          <a:p>
            <a:r>
              <a:rPr lang="nb-NO"/>
              <a:t>DAVE3625- Intro to A.I. by Umair M.I</a:t>
            </a:r>
          </a:p>
        </p:txBody>
      </p:sp>
      <p:pic>
        <p:nvPicPr>
          <p:cNvPr id="5" name="Picture 4">
            <a:extLst>
              <a:ext uri="{FF2B5EF4-FFF2-40B4-BE49-F238E27FC236}">
                <a16:creationId xmlns:a16="http://schemas.microsoft.com/office/drawing/2014/main" id="{0A1D6B5E-BA86-5CEF-278D-F1E7C272652C}"/>
              </a:ext>
            </a:extLst>
          </p:cNvPr>
          <p:cNvPicPr>
            <a:picLocks noChangeAspect="1"/>
          </p:cNvPicPr>
          <p:nvPr/>
        </p:nvPicPr>
        <p:blipFill>
          <a:blip r:embed="rId2"/>
          <a:stretch>
            <a:fillRect/>
          </a:stretch>
        </p:blipFill>
        <p:spPr>
          <a:xfrm>
            <a:off x="3953681" y="1988007"/>
            <a:ext cx="7772400" cy="5775998"/>
          </a:xfrm>
          <a:prstGeom prst="rect">
            <a:avLst/>
          </a:prstGeom>
        </p:spPr>
      </p:pic>
      <p:sp>
        <p:nvSpPr>
          <p:cNvPr id="7" name="TextBox 6">
            <a:extLst>
              <a:ext uri="{FF2B5EF4-FFF2-40B4-BE49-F238E27FC236}">
                <a16:creationId xmlns:a16="http://schemas.microsoft.com/office/drawing/2014/main" id="{F4B47357-958B-8704-41FA-4BBE8D2CDAE6}"/>
              </a:ext>
            </a:extLst>
          </p:cNvPr>
          <p:cNvSpPr txBox="1"/>
          <p:nvPr/>
        </p:nvSpPr>
        <p:spPr>
          <a:xfrm>
            <a:off x="7839881" y="8854675"/>
            <a:ext cx="8672284" cy="646331"/>
          </a:xfrm>
          <a:prstGeom prst="rect">
            <a:avLst/>
          </a:prstGeom>
          <a:noFill/>
        </p:spPr>
        <p:txBody>
          <a:bodyPr wrap="square">
            <a:spAutoFit/>
          </a:bodyPr>
          <a:lstStyle/>
          <a:p>
            <a:r>
              <a:rPr lang="en-US" sz="1800" dirty="0"/>
              <a:t>https://</a:t>
            </a:r>
            <a:r>
              <a:rPr lang="en-US" sz="1800" dirty="0" err="1"/>
              <a:t>www.jeremykun.com</a:t>
            </a:r>
            <a:r>
              <a:rPr lang="en-US" sz="1800" dirty="0"/>
              <a:t>/2017/06/05/formulating-the-support-vector-machine-optimization-problem/</a:t>
            </a:r>
          </a:p>
        </p:txBody>
      </p:sp>
    </p:spTree>
    <p:extLst>
      <p:ext uri="{BB962C8B-B14F-4D97-AF65-F5344CB8AC3E}">
        <p14:creationId xmlns:p14="http://schemas.microsoft.com/office/powerpoint/2010/main" val="1108022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00561-39D1-964A-B184-A86E5914A072}"/>
              </a:ext>
            </a:extLst>
          </p:cNvPr>
          <p:cNvSpPr>
            <a:spLocks noGrp="1"/>
          </p:cNvSpPr>
          <p:nvPr>
            <p:ph type="title"/>
          </p:nvPr>
        </p:nvSpPr>
        <p:spPr>
          <a:xfrm>
            <a:off x="3291575" y="914195"/>
            <a:ext cx="4246649" cy="664797"/>
          </a:xfrm>
        </p:spPr>
        <p:txBody>
          <a:bodyPr/>
          <a:lstStyle/>
          <a:p>
            <a:r>
              <a:rPr lang="en-NO" dirty="0"/>
              <a:t>Hyperplanes</a:t>
            </a:r>
          </a:p>
        </p:txBody>
      </p:sp>
      <p:sp>
        <p:nvSpPr>
          <p:cNvPr id="3" name="Content Placeholder 2">
            <a:extLst>
              <a:ext uri="{FF2B5EF4-FFF2-40B4-BE49-F238E27FC236}">
                <a16:creationId xmlns:a16="http://schemas.microsoft.com/office/drawing/2014/main" id="{BAED6342-3830-AF40-A96A-C5E92F098AD3}"/>
              </a:ext>
            </a:extLst>
          </p:cNvPr>
          <p:cNvSpPr>
            <a:spLocks noGrp="1"/>
          </p:cNvSpPr>
          <p:nvPr>
            <p:ph idx="1"/>
          </p:nvPr>
        </p:nvSpPr>
        <p:spPr>
          <a:xfrm>
            <a:off x="972122" y="2319454"/>
            <a:ext cx="15373922" cy="5853568"/>
          </a:xfrm>
        </p:spPr>
        <p:txBody>
          <a:bodyPr/>
          <a:lstStyle/>
          <a:p>
            <a:r>
              <a:rPr lang="en-NO" dirty="0"/>
              <a:t>Hyperplanes are boundries that help classify the data points</a:t>
            </a:r>
          </a:p>
          <a:p>
            <a:r>
              <a:rPr lang="en-NO" dirty="0"/>
              <a:t>We can use a 2 dimensional hyperplane (if number of features </a:t>
            </a:r>
            <a:r>
              <a:rPr lang="en-GB" dirty="0"/>
              <a:t>is 2)</a:t>
            </a:r>
          </a:p>
          <a:p>
            <a:r>
              <a:rPr lang="en-NO" dirty="0"/>
              <a:t>or a 3 dimensional hyperplane (if number of features is 3)</a:t>
            </a:r>
          </a:p>
          <a:p>
            <a:r>
              <a:rPr lang="en-GB" dirty="0"/>
              <a:t>W</a:t>
            </a:r>
            <a:r>
              <a:rPr lang="en-NO" dirty="0"/>
              <a:t>e can also have n dimensional hyperplane (for more features)</a:t>
            </a:r>
          </a:p>
        </p:txBody>
      </p:sp>
      <p:sp>
        <p:nvSpPr>
          <p:cNvPr id="4" name="Footer Placeholder 3">
            <a:extLst>
              <a:ext uri="{FF2B5EF4-FFF2-40B4-BE49-F238E27FC236}">
                <a16:creationId xmlns:a16="http://schemas.microsoft.com/office/drawing/2014/main" id="{BAB7947C-6817-AC41-A1A5-DB4FF2F8A80C}"/>
              </a:ext>
            </a:extLst>
          </p:cNvPr>
          <p:cNvSpPr>
            <a:spLocks noGrp="1"/>
          </p:cNvSpPr>
          <p:nvPr>
            <p:ph type="ftr" sz="quarter" idx="11"/>
          </p:nvPr>
        </p:nvSpPr>
        <p:spPr/>
        <p:txBody>
          <a:bodyPr/>
          <a:lstStyle/>
          <a:p>
            <a:r>
              <a:rPr lang="nb-NO"/>
              <a:t>DAVE3625- Intro to A.I. by Umair M.I</a:t>
            </a:r>
          </a:p>
        </p:txBody>
      </p:sp>
      <p:pic>
        <p:nvPicPr>
          <p:cNvPr id="5122" name="Picture 2" descr="Image for post">
            <a:extLst>
              <a:ext uri="{FF2B5EF4-FFF2-40B4-BE49-F238E27FC236}">
                <a16:creationId xmlns:a16="http://schemas.microsoft.com/office/drawing/2014/main" id="{F110AAAE-8595-E642-B779-CF4C7A872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299" y="5246238"/>
            <a:ext cx="9634654" cy="407660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A20A5DD-7F8A-7B41-B96C-BA7BCA1C42B2}"/>
              </a:ext>
            </a:extLst>
          </p:cNvPr>
          <p:cNvSpPr/>
          <p:nvPr/>
        </p:nvSpPr>
        <p:spPr>
          <a:xfrm>
            <a:off x="6765965" y="9322845"/>
            <a:ext cx="13007975" cy="338554"/>
          </a:xfrm>
          <a:prstGeom prst="rect">
            <a:avLst/>
          </a:prstGeom>
        </p:spPr>
        <p:txBody>
          <a:bodyPr wrap="square">
            <a:spAutoFit/>
          </a:bodyPr>
          <a:lstStyle/>
          <a:p>
            <a:r>
              <a:rPr lang="en-NO" sz="1600" dirty="0"/>
              <a:t>https://towardsdatascience.com/support-vector-machine-introduction-to-machine-learning-algorithms-934a444fca47</a:t>
            </a:r>
          </a:p>
        </p:txBody>
      </p:sp>
    </p:spTree>
    <p:extLst>
      <p:ext uri="{BB962C8B-B14F-4D97-AF65-F5344CB8AC3E}">
        <p14:creationId xmlns:p14="http://schemas.microsoft.com/office/powerpoint/2010/main" val="29015257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D8B6B-B289-4EF3-3EBE-492157AC22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045ECE-FD34-ACA0-0886-6CC7C1A27C6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79283EE-F7B6-5867-4967-C305C85F1E04}"/>
              </a:ext>
            </a:extLst>
          </p:cNvPr>
          <p:cNvSpPr>
            <a:spLocks noGrp="1"/>
          </p:cNvSpPr>
          <p:nvPr>
            <p:ph type="ftr" sz="quarter" idx="11"/>
          </p:nvPr>
        </p:nvSpPr>
        <p:spPr/>
        <p:txBody>
          <a:bodyPr/>
          <a:lstStyle/>
          <a:p>
            <a:r>
              <a:rPr lang="nb-NO"/>
              <a:t>DAVE3625- Intro to A.I. by Umair M.I</a:t>
            </a:r>
          </a:p>
        </p:txBody>
      </p:sp>
      <p:pic>
        <p:nvPicPr>
          <p:cNvPr id="5" name="Picture 4" descr="2d to 3d - Lamarr Institute for Machine Learning (ML) and Artificial Intelligence (AI)">
            <a:extLst>
              <a:ext uri="{FF2B5EF4-FFF2-40B4-BE49-F238E27FC236}">
                <a16:creationId xmlns:a16="http://schemas.microsoft.com/office/drawing/2014/main" id="{57870994-1CEF-06E2-383E-8D42E0B70AA3}"/>
              </a:ext>
            </a:extLst>
          </p:cNvPr>
          <p:cNvPicPr>
            <a:picLocks noChangeAspect="1"/>
          </p:cNvPicPr>
          <p:nvPr/>
        </p:nvPicPr>
        <p:blipFill>
          <a:blip r:embed="rId2"/>
          <a:stretch>
            <a:fillRect/>
          </a:stretch>
        </p:blipFill>
        <p:spPr>
          <a:xfrm>
            <a:off x="5366119" y="1124169"/>
            <a:ext cx="5799533" cy="7315200"/>
          </a:xfrm>
          <a:prstGeom prst="rect">
            <a:avLst/>
          </a:prstGeom>
        </p:spPr>
      </p:pic>
      <p:sp>
        <p:nvSpPr>
          <p:cNvPr id="7" name="TextBox 6">
            <a:extLst>
              <a:ext uri="{FF2B5EF4-FFF2-40B4-BE49-F238E27FC236}">
                <a16:creationId xmlns:a16="http://schemas.microsoft.com/office/drawing/2014/main" id="{7B4213C3-51B6-E75D-C54B-5A4543940426}"/>
              </a:ext>
            </a:extLst>
          </p:cNvPr>
          <p:cNvSpPr txBox="1"/>
          <p:nvPr/>
        </p:nvSpPr>
        <p:spPr>
          <a:xfrm>
            <a:off x="7673760" y="8309302"/>
            <a:ext cx="8672284" cy="486287"/>
          </a:xfrm>
          <a:prstGeom prst="rect">
            <a:avLst/>
          </a:prstGeom>
          <a:noFill/>
        </p:spPr>
        <p:txBody>
          <a:bodyPr wrap="square">
            <a:spAutoFit/>
          </a:bodyPr>
          <a:lstStyle/>
          <a:p>
            <a:r>
              <a:rPr lang="en-US" dirty="0"/>
              <a:t>https://</a:t>
            </a:r>
            <a:r>
              <a:rPr lang="en-US" dirty="0" err="1"/>
              <a:t>lamarr-institute.org</a:t>
            </a:r>
            <a:r>
              <a:rPr lang="en-US" dirty="0"/>
              <a:t>/blog/support-vector-machines/</a:t>
            </a:r>
          </a:p>
        </p:txBody>
      </p:sp>
    </p:spTree>
    <p:extLst>
      <p:ext uri="{BB962C8B-B14F-4D97-AF65-F5344CB8AC3E}">
        <p14:creationId xmlns:p14="http://schemas.microsoft.com/office/powerpoint/2010/main" val="41144084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A493-23E6-3C40-9C52-3F34F1B49A9B}"/>
              </a:ext>
            </a:extLst>
          </p:cNvPr>
          <p:cNvSpPr>
            <a:spLocks noGrp="1"/>
          </p:cNvSpPr>
          <p:nvPr>
            <p:ph type="title"/>
          </p:nvPr>
        </p:nvSpPr>
        <p:spPr/>
        <p:txBody>
          <a:bodyPr/>
          <a:lstStyle/>
          <a:p>
            <a:r>
              <a:rPr lang="en-NO" dirty="0"/>
              <a:t>Uses of support vector machines</a:t>
            </a:r>
          </a:p>
        </p:txBody>
      </p:sp>
      <p:sp>
        <p:nvSpPr>
          <p:cNvPr id="3" name="Content Placeholder 2">
            <a:extLst>
              <a:ext uri="{FF2B5EF4-FFF2-40B4-BE49-F238E27FC236}">
                <a16:creationId xmlns:a16="http://schemas.microsoft.com/office/drawing/2014/main" id="{AD2168C2-41AA-B849-B588-6E4444F82BB5}"/>
              </a:ext>
            </a:extLst>
          </p:cNvPr>
          <p:cNvSpPr>
            <a:spLocks noGrp="1"/>
          </p:cNvSpPr>
          <p:nvPr>
            <p:ph idx="1"/>
          </p:nvPr>
        </p:nvSpPr>
        <p:spPr/>
        <p:txBody>
          <a:bodyPr/>
          <a:lstStyle/>
          <a:p>
            <a:endParaRPr lang="en-NO" dirty="0"/>
          </a:p>
          <a:p>
            <a:r>
              <a:rPr lang="en-NO" dirty="0"/>
              <a:t>Used to detect cancerous cells</a:t>
            </a:r>
          </a:p>
          <a:p>
            <a:r>
              <a:rPr lang="en-GB" dirty="0"/>
              <a:t>U</a:t>
            </a:r>
            <a:r>
              <a:rPr lang="en-NO" dirty="0"/>
              <a:t>sed to predict driving routes</a:t>
            </a:r>
          </a:p>
          <a:p>
            <a:r>
              <a:rPr lang="en-NO" dirty="0"/>
              <a:t>Face detection</a:t>
            </a:r>
          </a:p>
          <a:p>
            <a:r>
              <a:rPr lang="en-GB" dirty="0"/>
              <a:t>I</a:t>
            </a:r>
            <a:r>
              <a:rPr lang="en-NO" dirty="0"/>
              <a:t>mage classification</a:t>
            </a:r>
          </a:p>
          <a:p>
            <a:r>
              <a:rPr lang="en-GB" dirty="0"/>
              <a:t>H</a:t>
            </a:r>
            <a:r>
              <a:rPr lang="en-NO" dirty="0"/>
              <a:t>andwriting detection</a:t>
            </a:r>
          </a:p>
          <a:p>
            <a:endParaRPr lang="en-NO" dirty="0"/>
          </a:p>
        </p:txBody>
      </p:sp>
      <p:sp>
        <p:nvSpPr>
          <p:cNvPr id="4" name="Footer Placeholder 3">
            <a:extLst>
              <a:ext uri="{FF2B5EF4-FFF2-40B4-BE49-F238E27FC236}">
                <a16:creationId xmlns:a16="http://schemas.microsoft.com/office/drawing/2014/main" id="{5B757E20-5980-B84A-BCCC-488868CF7B3D}"/>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3813364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172B1-F214-2B4B-B300-EFD6143BD82E}"/>
              </a:ext>
            </a:extLst>
          </p:cNvPr>
          <p:cNvSpPr>
            <a:spLocks noGrp="1"/>
          </p:cNvSpPr>
          <p:nvPr>
            <p:ph type="title"/>
          </p:nvPr>
        </p:nvSpPr>
        <p:spPr>
          <a:xfrm>
            <a:off x="3157761" y="914195"/>
            <a:ext cx="4804210" cy="664797"/>
          </a:xfrm>
        </p:spPr>
        <p:txBody>
          <a:bodyPr/>
          <a:lstStyle/>
          <a:p>
            <a:r>
              <a:rPr lang="en-NO" dirty="0"/>
              <a:t>Pros and cons</a:t>
            </a:r>
          </a:p>
        </p:txBody>
      </p:sp>
      <p:sp>
        <p:nvSpPr>
          <p:cNvPr id="3" name="Content Placeholder 2">
            <a:extLst>
              <a:ext uri="{FF2B5EF4-FFF2-40B4-BE49-F238E27FC236}">
                <a16:creationId xmlns:a16="http://schemas.microsoft.com/office/drawing/2014/main" id="{02BCE74D-1BF3-8E40-B0F1-57C2CC809EE3}"/>
              </a:ext>
            </a:extLst>
          </p:cNvPr>
          <p:cNvSpPr>
            <a:spLocks noGrp="1"/>
          </p:cNvSpPr>
          <p:nvPr>
            <p:ph idx="1"/>
          </p:nvPr>
        </p:nvSpPr>
        <p:spPr>
          <a:xfrm>
            <a:off x="972122" y="2274850"/>
            <a:ext cx="15373922" cy="5898172"/>
          </a:xfrm>
        </p:spPr>
        <p:txBody>
          <a:bodyPr/>
          <a:lstStyle/>
          <a:p>
            <a:r>
              <a:rPr lang="en-NO" dirty="0"/>
              <a:t>Pros</a:t>
            </a:r>
          </a:p>
          <a:p>
            <a:pPr lvl="1"/>
            <a:r>
              <a:rPr lang="en-NO" dirty="0"/>
              <a:t>Effective on data sets with multiple features</a:t>
            </a:r>
          </a:p>
          <a:p>
            <a:pPr lvl="1"/>
            <a:r>
              <a:rPr lang="en-GB" dirty="0"/>
              <a:t>E</a:t>
            </a:r>
            <a:r>
              <a:rPr lang="en-NO" dirty="0"/>
              <a:t>ffective in cases where number of features is greater than the data points</a:t>
            </a:r>
          </a:p>
          <a:p>
            <a:pPr lvl="1"/>
            <a:r>
              <a:rPr lang="en-GB" dirty="0"/>
              <a:t>M</a:t>
            </a:r>
            <a:r>
              <a:rPr lang="en-NO" dirty="0"/>
              <a:t>emory efficient</a:t>
            </a:r>
          </a:p>
          <a:p>
            <a:pPr lvl="1"/>
            <a:endParaRPr lang="en-NO" dirty="0"/>
          </a:p>
          <a:p>
            <a:r>
              <a:rPr lang="en-NO" dirty="0"/>
              <a:t>Cons</a:t>
            </a:r>
          </a:p>
          <a:p>
            <a:pPr lvl="1"/>
            <a:r>
              <a:rPr lang="en-NO" dirty="0"/>
              <a:t>They donot provide probability estimates. Those are calculated using an expensive five fold cross vsalidation</a:t>
            </a:r>
          </a:p>
          <a:p>
            <a:pPr lvl="1"/>
            <a:r>
              <a:rPr lang="en-GB" dirty="0"/>
              <a:t>W</a:t>
            </a:r>
            <a:r>
              <a:rPr lang="en-NO" dirty="0"/>
              <a:t>orks best on small sample sets because of its high training time	</a:t>
            </a:r>
          </a:p>
          <a:p>
            <a:endParaRPr lang="en-NO" dirty="0"/>
          </a:p>
        </p:txBody>
      </p:sp>
      <p:sp>
        <p:nvSpPr>
          <p:cNvPr id="4" name="Footer Placeholder 3">
            <a:extLst>
              <a:ext uri="{FF2B5EF4-FFF2-40B4-BE49-F238E27FC236}">
                <a16:creationId xmlns:a16="http://schemas.microsoft.com/office/drawing/2014/main" id="{D4514867-D190-A549-A2E5-A2955569CC36}"/>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1039806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893AE-B1E6-5341-A804-085DD50E312E}"/>
              </a:ext>
            </a:extLst>
          </p:cNvPr>
          <p:cNvSpPr>
            <a:spLocks noGrp="1"/>
          </p:cNvSpPr>
          <p:nvPr>
            <p:ph type="title"/>
          </p:nvPr>
        </p:nvSpPr>
        <p:spPr/>
        <p:txBody>
          <a:bodyPr/>
          <a:lstStyle/>
          <a:p>
            <a:r>
              <a:rPr lang="en-GB" dirty="0"/>
              <a:t>O</a:t>
            </a:r>
            <a:r>
              <a:rPr lang="en-NO" dirty="0"/>
              <a:t>ther classification algorithms</a:t>
            </a:r>
          </a:p>
        </p:txBody>
      </p:sp>
      <p:sp>
        <p:nvSpPr>
          <p:cNvPr id="3" name="Content Placeholder 2">
            <a:extLst>
              <a:ext uri="{FF2B5EF4-FFF2-40B4-BE49-F238E27FC236}">
                <a16:creationId xmlns:a16="http://schemas.microsoft.com/office/drawing/2014/main" id="{846E3070-6B86-554E-AD7B-B903C424B24E}"/>
              </a:ext>
            </a:extLst>
          </p:cNvPr>
          <p:cNvSpPr>
            <a:spLocks noGrp="1"/>
          </p:cNvSpPr>
          <p:nvPr>
            <p:ph idx="1"/>
          </p:nvPr>
        </p:nvSpPr>
        <p:spPr/>
        <p:txBody>
          <a:bodyPr/>
          <a:lstStyle/>
          <a:p>
            <a:r>
              <a:rPr lang="en-NO" dirty="0"/>
              <a:t>Decision trees</a:t>
            </a:r>
          </a:p>
          <a:p>
            <a:r>
              <a:rPr lang="en-NO" dirty="0"/>
              <a:t>K nearest neigbour</a:t>
            </a:r>
          </a:p>
          <a:p>
            <a:r>
              <a:rPr lang="en-NO" dirty="0"/>
              <a:t>Random Forest</a:t>
            </a:r>
          </a:p>
          <a:p>
            <a:r>
              <a:rPr lang="en-NO" dirty="0"/>
              <a:t>..</a:t>
            </a:r>
          </a:p>
          <a:p>
            <a:endParaRPr lang="en-NO" dirty="0"/>
          </a:p>
        </p:txBody>
      </p:sp>
      <p:sp>
        <p:nvSpPr>
          <p:cNvPr id="4" name="Footer Placeholder 3">
            <a:extLst>
              <a:ext uri="{FF2B5EF4-FFF2-40B4-BE49-F238E27FC236}">
                <a16:creationId xmlns:a16="http://schemas.microsoft.com/office/drawing/2014/main" id="{EF8F6B93-F48A-A14F-918C-39DD4FB5CBFB}"/>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1278488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E1A2AF3-83BD-44EC-8D53-F65377B18E8E}"/>
              </a:ext>
            </a:extLst>
          </p:cNvPr>
          <p:cNvSpPr>
            <a:spLocks noGrp="1"/>
          </p:cNvSpPr>
          <p:nvPr/>
        </p:nvSpPr>
        <p:spPr>
          <a:xfrm>
            <a:off x="4056" y="0"/>
            <a:ext cx="17336911" cy="1557612"/>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790FC305-4361-4A26-BAE3-830DE2A7DC39}"/>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K-nearest neighbours</a:t>
            </a:r>
          </a:p>
        </p:txBody>
      </p:sp>
      <p:sp>
        <p:nvSpPr>
          <p:cNvPr id="3" name="Rectangle 2">
            <a:extLst>
              <a:ext uri="{FF2B5EF4-FFF2-40B4-BE49-F238E27FC236}">
                <a16:creationId xmlns:a16="http://schemas.microsoft.com/office/drawing/2014/main" id="{FF12A09C-D0A4-4EA7-837A-551487DA549A}"/>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DD750BEB-C62B-4602-815D-5892D6AF790C}"/>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29F6F424-E2C5-4696-81B2-8F74E1C67009}"/>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16  MACHINE LEARNING II</a:t>
            </a:r>
          </a:p>
        </p:txBody>
      </p:sp>
      <p:sp>
        <p:nvSpPr>
          <p:cNvPr id="6" name="Rectangle 5">
            <a:extLst>
              <a:ext uri="{FF2B5EF4-FFF2-40B4-BE49-F238E27FC236}">
                <a16:creationId xmlns:a16="http://schemas.microsoft.com/office/drawing/2014/main" id="{672BC8A5-5B9D-4585-B2F1-8C21CD0E2ACC}"/>
              </a:ext>
            </a:extLst>
          </p:cNvPr>
          <p:cNvSpPr>
            <a:spLocks noGrp="1"/>
          </p:cNvSpPr>
          <p:nvPr/>
        </p:nvSpPr>
        <p:spPr>
          <a:xfrm>
            <a:off x="1006346" y="1747235"/>
            <a:ext cx="15169797" cy="677223"/>
          </a:xfrm>
          <a:prstGeom prst="rect">
            <a:avLst/>
          </a:prstGeom>
          <a:noFill/>
          <a:ln w="0">
            <a:noFill/>
          </a:ln>
        </p:spPr>
        <p:txBody>
          <a:bodyPr>
            <a:noAutofit/>
          </a:bodyPr>
          <a:lstStyle/>
          <a:p>
            <a:pPr>
              <a:defRPr sz="2100" b="1">
                <a:solidFill>
                  <a:srgbClr val="111111"/>
                </a:solidFill>
                <a:latin typeface="Arial"/>
                <a:ea typeface="Arial"/>
                <a:cs typeface="Arial"/>
              </a:defRPr>
            </a:pPr>
            <a:r>
              <a:rPr sz="2986" b="1" dirty="0">
                <a:solidFill>
                  <a:srgbClr val="111111"/>
                </a:solidFill>
                <a:latin typeface="Arial"/>
                <a:ea typeface="Arial"/>
                <a:cs typeface="Arial"/>
              </a:rPr>
              <a:t>KNN classifies a new observation using nearby labelled examples</a:t>
            </a:r>
          </a:p>
        </p:txBody>
      </p:sp>
      <p:sp>
        <p:nvSpPr>
          <p:cNvPr id="7" name="Rectangle 6">
            <a:extLst>
              <a:ext uri="{FF2B5EF4-FFF2-40B4-BE49-F238E27FC236}">
                <a16:creationId xmlns:a16="http://schemas.microsoft.com/office/drawing/2014/main" id="{12150F15-9AA4-4E02-9C57-A3B122FFD923}"/>
              </a:ext>
            </a:extLst>
          </p:cNvPr>
          <p:cNvSpPr>
            <a:spLocks noGrp="1"/>
          </p:cNvSpPr>
          <p:nvPr/>
        </p:nvSpPr>
        <p:spPr>
          <a:xfrm>
            <a:off x="2577504" y="2912059"/>
            <a:ext cx="27089" cy="4740562"/>
          </a:xfrm>
          <a:prstGeom prst="rect">
            <a:avLst/>
          </a:prstGeom>
          <a:solidFill>
            <a:srgbClr val="111111"/>
          </a:solidFill>
          <a:ln w="0">
            <a:noFill/>
          </a:ln>
        </p:spPr>
        <p:txBody>
          <a:bodyPr/>
          <a:lstStyle/>
          <a:p>
            <a:endParaRPr lang="en-US" sz="3640"/>
          </a:p>
        </p:txBody>
      </p:sp>
      <p:sp>
        <p:nvSpPr>
          <p:cNvPr id="8" name="Rectangle 7">
            <a:extLst>
              <a:ext uri="{FF2B5EF4-FFF2-40B4-BE49-F238E27FC236}">
                <a16:creationId xmlns:a16="http://schemas.microsoft.com/office/drawing/2014/main" id="{F2FDA653-E5E9-438B-904E-205D039DD55C}"/>
              </a:ext>
            </a:extLst>
          </p:cNvPr>
          <p:cNvSpPr>
            <a:spLocks noGrp="1"/>
          </p:cNvSpPr>
          <p:nvPr/>
        </p:nvSpPr>
        <p:spPr>
          <a:xfrm>
            <a:off x="2577504" y="7652621"/>
            <a:ext cx="12190016" cy="27089"/>
          </a:xfrm>
          <a:prstGeom prst="rect">
            <a:avLst/>
          </a:prstGeom>
          <a:solidFill>
            <a:srgbClr val="111111"/>
          </a:solidFill>
          <a:ln w="0">
            <a:noFill/>
          </a:ln>
        </p:spPr>
        <p:txBody>
          <a:bodyPr/>
          <a:lstStyle/>
          <a:p>
            <a:endParaRPr lang="en-US" sz="3640"/>
          </a:p>
        </p:txBody>
      </p:sp>
      <p:sp>
        <p:nvSpPr>
          <p:cNvPr id="9" name="Oval 8">
            <a:extLst>
              <a:ext uri="{FF2B5EF4-FFF2-40B4-BE49-F238E27FC236}">
                <a16:creationId xmlns:a16="http://schemas.microsoft.com/office/drawing/2014/main" id="{A7D3C336-4400-47CC-B398-E130BFADF1CB}"/>
              </a:ext>
            </a:extLst>
          </p:cNvPr>
          <p:cNvSpPr>
            <a:spLocks noGrp="1"/>
          </p:cNvSpPr>
          <p:nvPr/>
        </p:nvSpPr>
        <p:spPr>
          <a:xfrm>
            <a:off x="3823595" y="6663875"/>
            <a:ext cx="216711" cy="216711"/>
          </a:xfrm>
          <a:prstGeom prst="ellipse">
            <a:avLst/>
          </a:prstGeom>
          <a:solidFill>
            <a:srgbClr val="D84A4A"/>
          </a:solidFill>
          <a:ln w="0">
            <a:noFill/>
          </a:ln>
        </p:spPr>
        <p:txBody>
          <a:bodyPr/>
          <a:lstStyle/>
          <a:p>
            <a:endParaRPr lang="en-US" sz="3640"/>
          </a:p>
        </p:txBody>
      </p:sp>
      <p:sp>
        <p:nvSpPr>
          <p:cNvPr id="10" name="Oval 9">
            <a:extLst>
              <a:ext uri="{FF2B5EF4-FFF2-40B4-BE49-F238E27FC236}">
                <a16:creationId xmlns:a16="http://schemas.microsoft.com/office/drawing/2014/main" id="{71D5636F-0E8A-4A86-9CEB-AF528E652210}"/>
              </a:ext>
            </a:extLst>
          </p:cNvPr>
          <p:cNvSpPr>
            <a:spLocks noGrp="1"/>
          </p:cNvSpPr>
          <p:nvPr/>
        </p:nvSpPr>
        <p:spPr>
          <a:xfrm>
            <a:off x="4839430" y="5851207"/>
            <a:ext cx="216711" cy="216711"/>
          </a:xfrm>
          <a:prstGeom prst="ellipse">
            <a:avLst/>
          </a:prstGeom>
          <a:solidFill>
            <a:srgbClr val="D84A4A"/>
          </a:solidFill>
          <a:ln w="0">
            <a:noFill/>
          </a:ln>
        </p:spPr>
        <p:txBody>
          <a:bodyPr/>
          <a:lstStyle/>
          <a:p>
            <a:endParaRPr lang="en-US" sz="3640"/>
          </a:p>
        </p:txBody>
      </p:sp>
      <p:sp>
        <p:nvSpPr>
          <p:cNvPr id="11" name="Oval 10">
            <a:extLst>
              <a:ext uri="{FF2B5EF4-FFF2-40B4-BE49-F238E27FC236}">
                <a16:creationId xmlns:a16="http://schemas.microsoft.com/office/drawing/2014/main" id="{3178FECE-961A-4E90-A188-81C1218A352D}"/>
              </a:ext>
            </a:extLst>
          </p:cNvPr>
          <p:cNvSpPr>
            <a:spLocks noGrp="1"/>
          </p:cNvSpPr>
          <p:nvPr/>
        </p:nvSpPr>
        <p:spPr>
          <a:xfrm>
            <a:off x="5855264" y="6460708"/>
            <a:ext cx="216711" cy="216711"/>
          </a:xfrm>
          <a:prstGeom prst="ellipse">
            <a:avLst/>
          </a:prstGeom>
          <a:solidFill>
            <a:srgbClr val="D84A4A"/>
          </a:solidFill>
          <a:ln w="0">
            <a:noFill/>
          </a:ln>
        </p:spPr>
        <p:txBody>
          <a:bodyPr/>
          <a:lstStyle/>
          <a:p>
            <a:endParaRPr lang="en-US" sz="3640"/>
          </a:p>
        </p:txBody>
      </p:sp>
      <p:sp>
        <p:nvSpPr>
          <p:cNvPr id="12" name="Oval 11">
            <a:extLst>
              <a:ext uri="{FF2B5EF4-FFF2-40B4-BE49-F238E27FC236}">
                <a16:creationId xmlns:a16="http://schemas.microsoft.com/office/drawing/2014/main" id="{84D38658-0C16-45B2-83AA-DB6FE8AEEE5B}"/>
              </a:ext>
            </a:extLst>
          </p:cNvPr>
          <p:cNvSpPr>
            <a:spLocks noGrp="1"/>
          </p:cNvSpPr>
          <p:nvPr/>
        </p:nvSpPr>
        <p:spPr>
          <a:xfrm>
            <a:off x="6532487" y="5377151"/>
            <a:ext cx="216711" cy="216711"/>
          </a:xfrm>
          <a:prstGeom prst="ellipse">
            <a:avLst/>
          </a:prstGeom>
          <a:solidFill>
            <a:srgbClr val="D84A4A"/>
          </a:solidFill>
          <a:ln w="0">
            <a:noFill/>
          </a:ln>
        </p:spPr>
        <p:txBody>
          <a:bodyPr/>
          <a:lstStyle/>
          <a:p>
            <a:endParaRPr lang="en-US" sz="3640"/>
          </a:p>
        </p:txBody>
      </p:sp>
      <p:sp>
        <p:nvSpPr>
          <p:cNvPr id="13" name="Oval 12">
            <a:extLst>
              <a:ext uri="{FF2B5EF4-FFF2-40B4-BE49-F238E27FC236}">
                <a16:creationId xmlns:a16="http://schemas.microsoft.com/office/drawing/2014/main" id="{CC2B7838-2FEA-4CCF-B101-FAFF1CCA6EC6}"/>
              </a:ext>
            </a:extLst>
          </p:cNvPr>
          <p:cNvSpPr>
            <a:spLocks noGrp="1"/>
          </p:cNvSpPr>
          <p:nvPr/>
        </p:nvSpPr>
        <p:spPr>
          <a:xfrm>
            <a:off x="9850880" y="4225872"/>
            <a:ext cx="216711" cy="216711"/>
          </a:xfrm>
          <a:prstGeom prst="ellipse">
            <a:avLst/>
          </a:prstGeom>
          <a:solidFill>
            <a:srgbClr val="2878B5"/>
          </a:solidFill>
          <a:ln w="0">
            <a:noFill/>
          </a:ln>
        </p:spPr>
        <p:txBody>
          <a:bodyPr/>
          <a:lstStyle/>
          <a:p>
            <a:endParaRPr lang="en-US" sz="3640"/>
          </a:p>
        </p:txBody>
      </p:sp>
      <p:sp>
        <p:nvSpPr>
          <p:cNvPr id="14" name="Oval 13">
            <a:extLst>
              <a:ext uri="{FF2B5EF4-FFF2-40B4-BE49-F238E27FC236}">
                <a16:creationId xmlns:a16="http://schemas.microsoft.com/office/drawing/2014/main" id="{3F53BA30-1642-49C8-BAA7-4BE6BE4FA363}"/>
              </a:ext>
            </a:extLst>
          </p:cNvPr>
          <p:cNvSpPr>
            <a:spLocks noGrp="1"/>
          </p:cNvSpPr>
          <p:nvPr/>
        </p:nvSpPr>
        <p:spPr>
          <a:xfrm>
            <a:off x="10798993" y="3616371"/>
            <a:ext cx="216711" cy="216711"/>
          </a:xfrm>
          <a:prstGeom prst="ellipse">
            <a:avLst/>
          </a:prstGeom>
          <a:solidFill>
            <a:srgbClr val="2878B5"/>
          </a:solidFill>
          <a:ln w="0">
            <a:noFill/>
          </a:ln>
        </p:spPr>
        <p:txBody>
          <a:bodyPr/>
          <a:lstStyle/>
          <a:p>
            <a:endParaRPr lang="en-US" sz="3640"/>
          </a:p>
        </p:txBody>
      </p:sp>
      <p:sp>
        <p:nvSpPr>
          <p:cNvPr id="15" name="Oval 14">
            <a:extLst>
              <a:ext uri="{FF2B5EF4-FFF2-40B4-BE49-F238E27FC236}">
                <a16:creationId xmlns:a16="http://schemas.microsoft.com/office/drawing/2014/main" id="{06132588-59A1-4248-9A38-C9007FC6AFE8}"/>
              </a:ext>
            </a:extLst>
          </p:cNvPr>
          <p:cNvSpPr>
            <a:spLocks noGrp="1"/>
          </p:cNvSpPr>
          <p:nvPr/>
        </p:nvSpPr>
        <p:spPr>
          <a:xfrm>
            <a:off x="11611660" y="4632206"/>
            <a:ext cx="216711" cy="216711"/>
          </a:xfrm>
          <a:prstGeom prst="ellipse">
            <a:avLst/>
          </a:prstGeom>
          <a:solidFill>
            <a:srgbClr val="2878B5"/>
          </a:solidFill>
          <a:ln w="0">
            <a:noFill/>
          </a:ln>
        </p:spPr>
        <p:txBody>
          <a:bodyPr/>
          <a:lstStyle/>
          <a:p>
            <a:endParaRPr lang="en-US" sz="3640"/>
          </a:p>
        </p:txBody>
      </p:sp>
      <p:sp>
        <p:nvSpPr>
          <p:cNvPr id="16" name="Oval 15">
            <a:extLst>
              <a:ext uri="{FF2B5EF4-FFF2-40B4-BE49-F238E27FC236}">
                <a16:creationId xmlns:a16="http://schemas.microsoft.com/office/drawing/2014/main" id="{C30B1678-F12D-4A85-9D17-326386BBB0B4}"/>
              </a:ext>
            </a:extLst>
          </p:cNvPr>
          <p:cNvSpPr>
            <a:spLocks noGrp="1"/>
          </p:cNvSpPr>
          <p:nvPr/>
        </p:nvSpPr>
        <p:spPr>
          <a:xfrm>
            <a:off x="12627495" y="3210037"/>
            <a:ext cx="216711" cy="216711"/>
          </a:xfrm>
          <a:prstGeom prst="ellipse">
            <a:avLst/>
          </a:prstGeom>
          <a:solidFill>
            <a:srgbClr val="2878B5"/>
          </a:solidFill>
          <a:ln w="0">
            <a:noFill/>
          </a:ln>
        </p:spPr>
        <p:txBody>
          <a:bodyPr/>
          <a:lstStyle/>
          <a:p>
            <a:endParaRPr lang="en-US" sz="3640"/>
          </a:p>
        </p:txBody>
      </p:sp>
      <p:sp>
        <p:nvSpPr>
          <p:cNvPr id="17" name="Oval 16">
            <a:extLst>
              <a:ext uri="{FF2B5EF4-FFF2-40B4-BE49-F238E27FC236}">
                <a16:creationId xmlns:a16="http://schemas.microsoft.com/office/drawing/2014/main" id="{E279B666-5D26-4AB9-AE0B-E8E98636C207}"/>
              </a:ext>
            </a:extLst>
          </p:cNvPr>
          <p:cNvSpPr>
            <a:spLocks noGrp="1"/>
          </p:cNvSpPr>
          <p:nvPr/>
        </p:nvSpPr>
        <p:spPr>
          <a:xfrm>
            <a:off x="13575607" y="4090427"/>
            <a:ext cx="216711" cy="216711"/>
          </a:xfrm>
          <a:prstGeom prst="ellipse">
            <a:avLst/>
          </a:prstGeom>
          <a:solidFill>
            <a:srgbClr val="2878B5"/>
          </a:solidFill>
          <a:ln w="0">
            <a:noFill/>
          </a:ln>
        </p:spPr>
        <p:txBody>
          <a:bodyPr/>
          <a:lstStyle/>
          <a:p>
            <a:endParaRPr lang="en-US" sz="3640"/>
          </a:p>
        </p:txBody>
      </p:sp>
      <p:sp>
        <p:nvSpPr>
          <p:cNvPr id="18" name="Oval 17">
            <a:extLst>
              <a:ext uri="{FF2B5EF4-FFF2-40B4-BE49-F238E27FC236}">
                <a16:creationId xmlns:a16="http://schemas.microsoft.com/office/drawing/2014/main" id="{CD47C223-9121-43FA-B4E9-169598A2A104}"/>
              </a:ext>
            </a:extLst>
          </p:cNvPr>
          <p:cNvSpPr>
            <a:spLocks noGrp="1"/>
          </p:cNvSpPr>
          <p:nvPr/>
        </p:nvSpPr>
        <p:spPr>
          <a:xfrm>
            <a:off x="8212000" y="4821828"/>
            <a:ext cx="379245" cy="379245"/>
          </a:xfrm>
          <a:prstGeom prst="ellipse">
            <a:avLst/>
          </a:prstGeom>
          <a:solidFill>
            <a:srgbClr val="FFD900"/>
          </a:solidFill>
          <a:ln w="0">
            <a:noFill/>
          </a:ln>
        </p:spPr>
        <p:txBody>
          <a:bodyPr/>
          <a:lstStyle/>
          <a:p>
            <a:endParaRPr lang="en-US" sz="3640"/>
          </a:p>
        </p:txBody>
      </p:sp>
      <p:sp>
        <p:nvSpPr>
          <p:cNvPr id="19" name="Rectangle 18">
            <a:extLst>
              <a:ext uri="{FF2B5EF4-FFF2-40B4-BE49-F238E27FC236}">
                <a16:creationId xmlns:a16="http://schemas.microsoft.com/office/drawing/2014/main" id="{C2403118-EAE4-4F5E-AC85-FCB3EE51B358}"/>
              </a:ext>
            </a:extLst>
          </p:cNvPr>
          <p:cNvSpPr>
            <a:spLocks noGrp="1"/>
          </p:cNvSpPr>
          <p:nvPr/>
        </p:nvSpPr>
        <p:spPr>
          <a:xfrm>
            <a:off x="6844010" y="4266505"/>
            <a:ext cx="3115226" cy="406334"/>
          </a:xfrm>
          <a:prstGeom prst="rect">
            <a:avLst/>
          </a:prstGeom>
          <a:noFill/>
          <a:ln w="0">
            <a:noFill/>
          </a:ln>
        </p:spPr>
        <p:txBody>
          <a:bodyPr>
            <a:noAutofit/>
          </a:bodyPr>
          <a:lstStyle/>
          <a:p>
            <a:pPr>
              <a:defRPr sz="1275" b="1">
                <a:solidFill>
                  <a:srgbClr val="111111"/>
                </a:solidFill>
                <a:latin typeface="Arial"/>
                <a:ea typeface="Arial"/>
                <a:cs typeface="Arial"/>
              </a:defRPr>
            </a:pPr>
            <a:r>
              <a:rPr sz="1813" b="1">
                <a:solidFill>
                  <a:srgbClr val="111111"/>
                </a:solidFill>
                <a:latin typeface="Arial"/>
                <a:ea typeface="Arial"/>
                <a:cs typeface="Arial"/>
              </a:rPr>
              <a:t>new observation</a:t>
            </a:r>
          </a:p>
        </p:txBody>
      </p:sp>
      <p:sp>
        <p:nvSpPr>
          <p:cNvPr id="20" name="Rectangle 19">
            <a:extLst>
              <a:ext uri="{FF2B5EF4-FFF2-40B4-BE49-F238E27FC236}">
                <a16:creationId xmlns:a16="http://schemas.microsoft.com/office/drawing/2014/main" id="{F9B9CE03-9E42-4774-988F-2B743D43CBD1}"/>
              </a:ext>
            </a:extLst>
          </p:cNvPr>
          <p:cNvSpPr>
            <a:spLocks noGrp="1"/>
          </p:cNvSpPr>
          <p:nvPr/>
        </p:nvSpPr>
        <p:spPr>
          <a:xfrm>
            <a:off x="2374338" y="8262121"/>
            <a:ext cx="12596349" cy="433423"/>
          </a:xfrm>
          <a:prstGeom prst="rect">
            <a:avLst/>
          </a:prstGeom>
          <a:noFill/>
          <a:ln w="0">
            <a:noFill/>
          </a:ln>
        </p:spPr>
        <p:txBody>
          <a:bodyPr>
            <a:noAutofit/>
          </a:bodyPr>
          <a:lstStyle/>
          <a:p>
            <a:pPr>
              <a:defRPr sz="1500" b="0">
                <a:solidFill>
                  <a:srgbClr val="5C5C5C"/>
                </a:solidFill>
                <a:latin typeface="Arial"/>
                <a:ea typeface="Arial"/>
                <a:cs typeface="Arial"/>
              </a:defRPr>
            </a:pPr>
            <a:r>
              <a:rPr sz="2133">
                <a:solidFill>
                  <a:srgbClr val="5C5C5C"/>
                </a:solidFill>
                <a:latin typeface="Arial"/>
                <a:ea typeface="Arial"/>
                <a:cs typeface="Arial"/>
              </a:rPr>
              <a:t>The K closest neighbours vote on the class</a:t>
            </a:r>
          </a:p>
        </p:txBody>
      </p:sp>
    </p:spTree>
    <p:extLst>
      <p:ext uri="{BB962C8B-B14F-4D97-AF65-F5344CB8AC3E}">
        <p14:creationId xmlns:p14="http://schemas.microsoft.com/office/powerpoint/2010/main" val="7068760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K-nearest neighbours</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700" b="0">
                <a:solidFill>
                  <a:srgbClr val="16181D"/>
                </a:solidFill>
                <a:latin typeface="Arial"/>
              </a:rPr>
              <a:t>▪   The simplest classifier there is. No equation and, in effect, no training.</a:t>
            </a:r>
          </a:p>
          <a:p>
            <a:pPr>
              <a:spcAft>
                <a:spcPts val="600"/>
              </a:spcAft>
            </a:pPr>
            <a:endParaRPr sz="2700" b="0">
              <a:solidFill>
                <a:srgbClr val="16181D"/>
              </a:solidFill>
              <a:latin typeface="Arial"/>
            </a:endParaRPr>
          </a:p>
          <a:p>
            <a:pPr>
              <a:spcAft>
                <a:spcPts val="1400"/>
              </a:spcAft>
            </a:pPr>
            <a:r>
              <a:rPr sz="2700" b="0">
                <a:solidFill>
                  <a:srgbClr val="16181D"/>
                </a:solidFill>
                <a:latin typeface="Arial"/>
              </a:rPr>
              <a:t>▪   To classify something new:</a:t>
            </a:r>
          </a:p>
          <a:p>
            <a:pPr>
              <a:spcAft>
                <a:spcPts val="800"/>
              </a:spcAft>
            </a:pPr>
            <a:r>
              <a:rPr sz="2200" b="0">
                <a:solidFill>
                  <a:srgbClr val="3A3F47"/>
                </a:solidFill>
                <a:latin typeface="Arial"/>
              </a:rPr>
              <a:t>        –   find the </a:t>
            </a:r>
            <a:r>
              <a:rPr sz="2200" b="1">
                <a:solidFill>
                  <a:srgbClr val="3A3F47"/>
                </a:solidFill>
                <a:latin typeface="Arial"/>
              </a:rPr>
              <a:t>k</a:t>
            </a:r>
            <a:r>
              <a:rPr sz="2200" b="0">
                <a:solidFill>
                  <a:srgbClr val="3A3F47"/>
                </a:solidFill>
                <a:latin typeface="Arial"/>
              </a:rPr>
              <a:t> examples in your data that are </a:t>
            </a:r>
            <a:r>
              <a:rPr sz="2200" b="1">
                <a:solidFill>
                  <a:srgbClr val="3A3F47"/>
                </a:solidFill>
                <a:latin typeface="Arial"/>
              </a:rPr>
              <a:t>closest</a:t>
            </a:r>
            <a:r>
              <a:rPr sz="2200" b="0">
                <a:solidFill>
                  <a:srgbClr val="3A3F47"/>
                </a:solidFill>
                <a:latin typeface="Arial"/>
              </a:rPr>
              <a:t> to it</a:t>
            </a:r>
          </a:p>
          <a:p>
            <a:pPr>
              <a:spcAft>
                <a:spcPts val="800"/>
              </a:spcAft>
            </a:pPr>
            <a:r>
              <a:rPr sz="2200" b="0">
                <a:solidFill>
                  <a:srgbClr val="3A3F47"/>
                </a:solidFill>
                <a:latin typeface="Arial"/>
              </a:rPr>
              <a:t>        –   let them </a:t>
            </a:r>
            <a:r>
              <a:rPr sz="2200" b="1">
                <a:solidFill>
                  <a:srgbClr val="3A3F47"/>
                </a:solidFill>
                <a:latin typeface="Arial"/>
              </a:rPr>
              <a:t>vote</a:t>
            </a:r>
            <a:r>
              <a:rPr sz="2200" b="0">
                <a:solidFill>
                  <a:srgbClr val="3A3F47"/>
                </a:solidFill>
                <a:latin typeface="Arial"/>
              </a:rPr>
              <a:t>, and take the majority answer</a:t>
            </a:r>
          </a:p>
          <a:p>
            <a:pPr>
              <a:spcAft>
                <a:spcPts val="600"/>
              </a:spcAft>
            </a:pPr>
            <a:endParaRPr sz="2200" b="0">
              <a:solidFill>
                <a:srgbClr val="3A3F47"/>
              </a:solidFill>
              <a:latin typeface="Arial"/>
            </a:endParaRPr>
          </a:p>
          <a:p>
            <a:pPr>
              <a:spcAft>
                <a:spcPts val="1400"/>
              </a:spcAft>
            </a:pPr>
            <a:r>
              <a:rPr sz="2700" b="0">
                <a:solidFill>
                  <a:srgbClr val="16181D"/>
                </a:solidFill>
                <a:latin typeface="Arial"/>
              </a:rPr>
              <a:t>▪   With k = 3 you look at the three most similar examples you have seen before.</a:t>
            </a:r>
          </a:p>
          <a:p>
            <a:pPr>
              <a:spcAft>
                <a:spcPts val="600"/>
              </a:spcAft>
            </a:pPr>
            <a:endParaRPr sz="2700" b="0">
              <a:solidFill>
                <a:srgbClr val="16181D"/>
              </a:solidFill>
              <a:latin typeface="Arial"/>
            </a:endParaRPr>
          </a:p>
          <a:p>
            <a:pPr>
              <a:spcAft>
                <a:spcPts val="1400"/>
              </a:spcAft>
            </a:pPr>
            <a:r>
              <a:rPr sz="2700" b="0">
                <a:solidFill>
                  <a:srgbClr val="16181D"/>
                </a:solidFill>
                <a:latin typeface="Arial"/>
              </a:rPr>
              <a:t>▪   "Training" is simply storing the data. All the work happens at prediction time.</a:t>
            </a:r>
          </a:p>
          <a:p>
            <a:pPr>
              <a:spcAft>
                <a:spcPts val="600"/>
              </a:spcAft>
            </a:pPr>
            <a:endParaRPr sz="2700" b="0">
              <a:solidFill>
                <a:srgbClr val="16181D"/>
              </a:solidFill>
              <a:latin typeface="Arial"/>
            </a:endParaRPr>
          </a:p>
          <a:p>
            <a:pPr>
              <a:spcAft>
                <a:spcPts val="1400"/>
              </a:spcAft>
            </a:pPr>
            <a:r>
              <a:rPr sz="2700" b="0">
                <a:solidFill>
                  <a:srgbClr val="16181D"/>
                </a:solidFill>
                <a:latin typeface="Arial"/>
              </a:rPr>
              <a:t>▪   The whole assumption: </a:t>
            </a:r>
            <a:r>
              <a:rPr sz="2700" b="1">
                <a:solidFill>
                  <a:srgbClr val="16181D"/>
                </a:solidFill>
                <a:latin typeface="Arial"/>
              </a:rPr>
              <a:t>things that are close together tend to be the same kind of thing.</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4A12BAEF-70C7-44C2-A8FC-B75B56D1E4FC}" type="slidenum">
              <a:rPr lang="en-US" sz="1200">
                <a:solidFill>
                  <a:srgbClr val="6B7280"/>
                </a:solidFill>
                <a:latin typeface="Arial"/>
              </a:rPr>
              <a:t>47</a:t>
            </a:fld>
            <a:endParaRPr lang="en-US" sz="1200">
              <a:solidFill>
                <a:srgbClr val="6B7280"/>
              </a:solidFill>
              <a:latin typeface="Arial"/>
            </a:endParaRPr>
          </a:p>
        </p:txBody>
      </p:sp>
    </p:spTree>
    <p:extLst>
      <p:ext uri="{BB962C8B-B14F-4D97-AF65-F5344CB8AC3E}">
        <p14:creationId xmlns:p14="http://schemas.microsoft.com/office/powerpoint/2010/main" val="18188089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2B361E-1149-0D92-1C9C-2B49F0FBACBC}"/>
              </a:ext>
            </a:extLst>
          </p:cNvPr>
          <p:cNvSpPr>
            <a:spLocks noGrp="1"/>
          </p:cNvSpPr>
          <p:nvPr>
            <p:ph type="ftr" sz="quarter" idx="11"/>
          </p:nvPr>
        </p:nvSpPr>
        <p:spPr/>
        <p:txBody>
          <a:bodyPr/>
          <a:lstStyle/>
          <a:p>
            <a:r>
              <a:rPr lang="nb-NO"/>
              <a:t>DAVE3625- Intro to A.I. by Umair M.I</a:t>
            </a:r>
          </a:p>
        </p:txBody>
      </p:sp>
      <p:pic>
        <p:nvPicPr>
          <p:cNvPr id="3" name="Picture 2" descr="File:KNN decision surface animation.gif">
            <a:extLst>
              <a:ext uri="{FF2B5EF4-FFF2-40B4-BE49-F238E27FC236}">
                <a16:creationId xmlns:a16="http://schemas.microsoft.com/office/drawing/2014/main" id="{30766659-0587-DDC2-E5C5-1C8FA9F4F424}"/>
              </a:ext>
            </a:extLst>
          </p:cNvPr>
          <p:cNvPicPr>
            <a:picLocks noChangeAspect="1"/>
          </p:cNvPicPr>
          <p:nvPr/>
        </p:nvPicPr>
        <p:blipFill>
          <a:blip r:embed="rId2"/>
          <a:stretch>
            <a:fillRect/>
          </a:stretch>
        </p:blipFill>
        <p:spPr>
          <a:xfrm>
            <a:off x="2576285" y="1828800"/>
            <a:ext cx="12366172" cy="6183086"/>
          </a:xfrm>
          <a:prstGeom prst="rect">
            <a:avLst/>
          </a:prstGeom>
        </p:spPr>
      </p:pic>
      <p:sp>
        <p:nvSpPr>
          <p:cNvPr id="5" name="TextBox 4">
            <a:extLst>
              <a:ext uri="{FF2B5EF4-FFF2-40B4-BE49-F238E27FC236}">
                <a16:creationId xmlns:a16="http://schemas.microsoft.com/office/drawing/2014/main" id="{E05B4810-7D93-5FE2-60C4-46266595C08B}"/>
              </a:ext>
            </a:extLst>
          </p:cNvPr>
          <p:cNvSpPr txBox="1"/>
          <p:nvPr/>
        </p:nvSpPr>
        <p:spPr>
          <a:xfrm>
            <a:off x="8316687" y="9052541"/>
            <a:ext cx="8055428" cy="369332"/>
          </a:xfrm>
          <a:prstGeom prst="rect">
            <a:avLst/>
          </a:prstGeom>
          <a:noFill/>
        </p:spPr>
        <p:txBody>
          <a:bodyPr wrap="square">
            <a:spAutoFit/>
          </a:bodyPr>
          <a:lstStyle/>
          <a:p>
            <a:r>
              <a:rPr lang="en-US" sz="1800" dirty="0"/>
              <a:t>https://</a:t>
            </a:r>
            <a:r>
              <a:rPr lang="en-US" sz="1800" dirty="0" err="1"/>
              <a:t>commons.wikimedia.org</a:t>
            </a:r>
            <a:r>
              <a:rPr lang="en-US" sz="1800" dirty="0"/>
              <a:t>/wiki/</a:t>
            </a:r>
            <a:r>
              <a:rPr lang="en-US" sz="1800" dirty="0" err="1"/>
              <a:t>File:KNN_decision_surface_animation.gif</a:t>
            </a:r>
            <a:endParaRPr lang="en-US" sz="1800" dirty="0"/>
          </a:p>
        </p:txBody>
      </p:sp>
    </p:spTree>
    <p:extLst>
      <p:ext uri="{BB962C8B-B14F-4D97-AF65-F5344CB8AC3E}">
        <p14:creationId xmlns:p14="http://schemas.microsoft.com/office/powerpoint/2010/main" val="1181105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38CA62-97F7-CE5F-7640-74CC1CED5C61}"/>
              </a:ext>
            </a:extLst>
          </p:cNvPr>
          <p:cNvSpPr>
            <a:spLocks noGrp="1"/>
          </p:cNvSpPr>
          <p:nvPr>
            <p:ph type="ftr" sz="quarter" idx="11"/>
          </p:nvPr>
        </p:nvSpPr>
        <p:spPr/>
        <p:txBody>
          <a:bodyPr/>
          <a:lstStyle/>
          <a:p>
            <a:r>
              <a:rPr lang="nb-NO"/>
              <a:t>DAVE3625- Intro to A.I. by Umair M.I</a:t>
            </a:r>
          </a:p>
        </p:txBody>
      </p:sp>
      <p:pic>
        <p:nvPicPr>
          <p:cNvPr id="3" name="Picture 2" descr="knn_neigh">
            <a:extLst>
              <a:ext uri="{FF2B5EF4-FFF2-40B4-BE49-F238E27FC236}">
                <a16:creationId xmlns:a16="http://schemas.microsoft.com/office/drawing/2014/main" id="{900B8036-E84D-8A80-4EB1-9534BD776CDE}"/>
              </a:ext>
            </a:extLst>
          </p:cNvPr>
          <p:cNvPicPr>
            <a:picLocks noChangeAspect="1"/>
          </p:cNvPicPr>
          <p:nvPr/>
        </p:nvPicPr>
        <p:blipFill>
          <a:blip r:embed="rId2"/>
          <a:stretch>
            <a:fillRect/>
          </a:stretch>
        </p:blipFill>
        <p:spPr>
          <a:xfrm>
            <a:off x="4252058" y="1623037"/>
            <a:ext cx="7772400" cy="5829300"/>
          </a:xfrm>
          <a:prstGeom prst="rect">
            <a:avLst/>
          </a:prstGeom>
        </p:spPr>
      </p:pic>
      <p:sp>
        <p:nvSpPr>
          <p:cNvPr id="4" name="TextBox 3">
            <a:extLst>
              <a:ext uri="{FF2B5EF4-FFF2-40B4-BE49-F238E27FC236}">
                <a16:creationId xmlns:a16="http://schemas.microsoft.com/office/drawing/2014/main" id="{00618F90-05FF-E43A-6892-F1C2DE5DC0FF}"/>
              </a:ext>
            </a:extLst>
          </p:cNvPr>
          <p:cNvSpPr txBox="1"/>
          <p:nvPr/>
        </p:nvSpPr>
        <p:spPr>
          <a:xfrm>
            <a:off x="8930341" y="8396892"/>
            <a:ext cx="8677834" cy="369332"/>
          </a:xfrm>
          <a:prstGeom prst="rect">
            <a:avLst/>
          </a:prstGeom>
          <a:noFill/>
        </p:spPr>
        <p:txBody>
          <a:bodyPr wrap="square">
            <a:spAutoFit/>
          </a:bodyPr>
          <a:lstStyle/>
          <a:p>
            <a:r>
              <a:rPr lang="en-US" sz="1800" dirty="0"/>
              <a:t>https://</a:t>
            </a:r>
            <a:r>
              <a:rPr lang="en-US" sz="1800" dirty="0" err="1"/>
              <a:t>importq.wordpress.com</a:t>
            </a:r>
            <a:r>
              <a:rPr lang="en-US" sz="1800" dirty="0"/>
              <a:t>/2017/11/24/</a:t>
            </a:r>
            <a:r>
              <a:rPr lang="en-US" sz="1800" dirty="0" err="1"/>
              <a:t>mnist</a:t>
            </a:r>
            <a:r>
              <a:rPr lang="en-US" sz="1800" dirty="0"/>
              <a:t>-analysis-using-</a:t>
            </a:r>
            <a:r>
              <a:rPr lang="en-US" sz="1800" dirty="0" err="1"/>
              <a:t>knn</a:t>
            </a:r>
            <a:r>
              <a:rPr lang="en-US" sz="1800" dirty="0"/>
              <a:t>/</a:t>
            </a:r>
          </a:p>
        </p:txBody>
      </p:sp>
    </p:spTree>
    <p:extLst>
      <p:ext uri="{BB962C8B-B14F-4D97-AF65-F5344CB8AC3E}">
        <p14:creationId xmlns:p14="http://schemas.microsoft.com/office/powerpoint/2010/main" val="26306326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18E9FD-0540-88D2-E780-173E4D77435F}"/>
              </a:ext>
            </a:extLst>
          </p:cNvPr>
          <p:cNvSpPr>
            <a:spLocks noGrp="1"/>
          </p:cNvSpPr>
          <p:nvPr>
            <p:ph type="ftr" sz="quarter" idx="11"/>
          </p:nvPr>
        </p:nvSpPr>
        <p:spPr/>
        <p:txBody>
          <a:bodyPr/>
          <a:lstStyle/>
          <a:p>
            <a:r>
              <a:rPr lang="nb-NO"/>
              <a:t>DAVE3625- Intro to A.I. by Umair M.I</a:t>
            </a:r>
          </a:p>
        </p:txBody>
      </p:sp>
      <p:pic>
        <p:nvPicPr>
          <p:cNvPr id="3" name="Picture 2" descr="knn_mov5">
            <a:extLst>
              <a:ext uri="{FF2B5EF4-FFF2-40B4-BE49-F238E27FC236}">
                <a16:creationId xmlns:a16="http://schemas.microsoft.com/office/drawing/2014/main" id="{55DC4B14-95C4-60CB-9719-9B95F92F5AF7}"/>
              </a:ext>
            </a:extLst>
          </p:cNvPr>
          <p:cNvPicPr>
            <a:picLocks noChangeAspect="1"/>
          </p:cNvPicPr>
          <p:nvPr/>
        </p:nvPicPr>
        <p:blipFill>
          <a:blip r:embed="rId2"/>
          <a:stretch>
            <a:fillRect/>
          </a:stretch>
        </p:blipFill>
        <p:spPr>
          <a:xfrm>
            <a:off x="615577" y="1775012"/>
            <a:ext cx="7772400" cy="5829300"/>
          </a:xfrm>
          <a:prstGeom prst="rect">
            <a:avLst/>
          </a:prstGeom>
        </p:spPr>
      </p:pic>
      <p:pic>
        <p:nvPicPr>
          <p:cNvPr id="4" name="Picture 3" descr="knn_mov30">
            <a:extLst>
              <a:ext uri="{FF2B5EF4-FFF2-40B4-BE49-F238E27FC236}">
                <a16:creationId xmlns:a16="http://schemas.microsoft.com/office/drawing/2014/main" id="{1DDD9B74-54DF-1F72-7583-CBFFFFF2272F}"/>
              </a:ext>
            </a:extLst>
          </p:cNvPr>
          <p:cNvPicPr>
            <a:picLocks noChangeAspect="1"/>
          </p:cNvPicPr>
          <p:nvPr/>
        </p:nvPicPr>
        <p:blipFill>
          <a:blip r:embed="rId3"/>
          <a:stretch>
            <a:fillRect/>
          </a:stretch>
        </p:blipFill>
        <p:spPr>
          <a:xfrm>
            <a:off x="9383058" y="1961356"/>
            <a:ext cx="7772400" cy="5829300"/>
          </a:xfrm>
          <a:prstGeom prst="rect">
            <a:avLst/>
          </a:prstGeom>
        </p:spPr>
      </p:pic>
      <p:sp>
        <p:nvSpPr>
          <p:cNvPr id="6" name="TextBox 5">
            <a:extLst>
              <a:ext uri="{FF2B5EF4-FFF2-40B4-BE49-F238E27FC236}">
                <a16:creationId xmlns:a16="http://schemas.microsoft.com/office/drawing/2014/main" id="{5217EE3E-F4CF-13EC-DD34-FAB35A5225F3}"/>
              </a:ext>
            </a:extLst>
          </p:cNvPr>
          <p:cNvSpPr txBox="1"/>
          <p:nvPr/>
        </p:nvSpPr>
        <p:spPr>
          <a:xfrm>
            <a:off x="8930341" y="8396892"/>
            <a:ext cx="8677834" cy="369332"/>
          </a:xfrm>
          <a:prstGeom prst="rect">
            <a:avLst/>
          </a:prstGeom>
          <a:noFill/>
        </p:spPr>
        <p:txBody>
          <a:bodyPr wrap="square">
            <a:spAutoFit/>
          </a:bodyPr>
          <a:lstStyle/>
          <a:p>
            <a:r>
              <a:rPr lang="en-US" sz="1800" dirty="0"/>
              <a:t>https://</a:t>
            </a:r>
            <a:r>
              <a:rPr lang="en-US" sz="1800" dirty="0" err="1"/>
              <a:t>importq.wordpress.com</a:t>
            </a:r>
            <a:r>
              <a:rPr lang="en-US" sz="1800" dirty="0"/>
              <a:t>/2017/11/24/</a:t>
            </a:r>
            <a:r>
              <a:rPr lang="en-US" sz="1800" dirty="0" err="1"/>
              <a:t>mnist</a:t>
            </a:r>
            <a:r>
              <a:rPr lang="en-US" sz="1800" dirty="0"/>
              <a:t>-analysis-using-</a:t>
            </a:r>
            <a:r>
              <a:rPr lang="en-US" sz="1800" dirty="0" err="1"/>
              <a:t>knn</a:t>
            </a:r>
            <a:r>
              <a:rPr lang="en-US" sz="1800" dirty="0"/>
              <a:t>/</a:t>
            </a:r>
          </a:p>
        </p:txBody>
      </p:sp>
    </p:spTree>
    <p:extLst>
      <p:ext uri="{BB962C8B-B14F-4D97-AF65-F5344CB8AC3E}">
        <p14:creationId xmlns:p14="http://schemas.microsoft.com/office/powerpoint/2010/main" val="2065723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21958DE-8BB8-41DB-895B-B05DE0508A37}"/>
              </a:ext>
            </a:extLst>
          </p:cNvPr>
          <p:cNvSpPr>
            <a:spLocks noGrp="1"/>
          </p:cNvSpPr>
          <p:nvPr/>
        </p:nvSpPr>
        <p:spPr>
          <a:xfrm>
            <a:off x="4057" y="0"/>
            <a:ext cx="17336911" cy="1110646"/>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42291F12-A523-4B77-9860-5EB81064B9C8}"/>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How KNN works</a:t>
            </a:r>
          </a:p>
        </p:txBody>
      </p:sp>
      <p:sp>
        <p:nvSpPr>
          <p:cNvPr id="3" name="Rectangle 2">
            <a:extLst>
              <a:ext uri="{FF2B5EF4-FFF2-40B4-BE49-F238E27FC236}">
                <a16:creationId xmlns:a16="http://schemas.microsoft.com/office/drawing/2014/main" id="{C74B829A-F2ED-465B-82F5-851CBCD3EFEE}"/>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3B92FAFA-EB15-41B8-A2D6-D1D806E7F112}"/>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E17DD7FE-3612-410B-9794-A9E6A88E35D6}"/>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17  MACHINE LEARNING II</a:t>
            </a:r>
          </a:p>
        </p:txBody>
      </p:sp>
      <p:sp>
        <p:nvSpPr>
          <p:cNvPr id="6" name="Rectangle 5">
            <a:extLst>
              <a:ext uri="{FF2B5EF4-FFF2-40B4-BE49-F238E27FC236}">
                <a16:creationId xmlns:a16="http://schemas.microsoft.com/office/drawing/2014/main" id="{E28126C2-43D8-4F34-998C-035FF02EE778}"/>
              </a:ext>
            </a:extLst>
          </p:cNvPr>
          <p:cNvSpPr>
            <a:spLocks noGrp="1"/>
          </p:cNvSpPr>
          <p:nvPr/>
        </p:nvSpPr>
        <p:spPr>
          <a:xfrm>
            <a:off x="2061121" y="1828503"/>
            <a:ext cx="948112" cy="744945"/>
          </a:xfrm>
          <a:prstGeom prst="rect">
            <a:avLst/>
          </a:prstGeom>
          <a:noFill/>
          <a:ln w="0">
            <a:noFill/>
          </a:ln>
        </p:spPr>
        <p:txBody>
          <a:bodyPr>
            <a:noAutofit/>
          </a:bodyPr>
          <a:lstStyle/>
          <a:p>
            <a:pPr>
              <a:defRPr sz="2625" b="1">
                <a:solidFill>
                  <a:srgbClr val="FFD900"/>
                </a:solidFill>
                <a:latin typeface="Arial"/>
                <a:ea typeface="Arial"/>
                <a:cs typeface="Arial"/>
              </a:defRPr>
            </a:pPr>
            <a:r>
              <a:rPr sz="3733" b="1">
                <a:solidFill>
                  <a:srgbClr val="FFD900"/>
                </a:solidFill>
                <a:latin typeface="Arial"/>
                <a:ea typeface="Arial"/>
                <a:cs typeface="Arial"/>
              </a:rPr>
              <a:t>1</a:t>
            </a:r>
          </a:p>
        </p:txBody>
      </p:sp>
      <p:sp>
        <p:nvSpPr>
          <p:cNvPr id="7" name="Rectangle 6">
            <a:extLst>
              <a:ext uri="{FF2B5EF4-FFF2-40B4-BE49-F238E27FC236}">
                <a16:creationId xmlns:a16="http://schemas.microsoft.com/office/drawing/2014/main" id="{4CC2DD0E-B301-4E14-8876-B5381BA24816}"/>
              </a:ext>
            </a:extLst>
          </p:cNvPr>
          <p:cNvSpPr>
            <a:spLocks noGrp="1"/>
          </p:cNvSpPr>
          <p:nvPr/>
        </p:nvSpPr>
        <p:spPr>
          <a:xfrm>
            <a:off x="884447" y="2912059"/>
            <a:ext cx="3301463" cy="3386115"/>
          </a:xfrm>
          <a:prstGeom prst="rect">
            <a:avLst/>
          </a:prstGeom>
          <a:solidFill>
            <a:srgbClr val="FFFFFF"/>
          </a:solidFill>
          <a:ln w="9525">
            <a:solidFill>
              <a:srgbClr val="111111"/>
            </a:solidFill>
          </a:ln>
        </p:spPr>
        <p:txBody>
          <a:bodyPr/>
          <a:lstStyle/>
          <a:p>
            <a:endParaRPr lang="en-US" sz="3640"/>
          </a:p>
        </p:txBody>
      </p:sp>
      <p:sp>
        <p:nvSpPr>
          <p:cNvPr id="8" name="Rectangle 7">
            <a:extLst>
              <a:ext uri="{FF2B5EF4-FFF2-40B4-BE49-F238E27FC236}">
                <a16:creationId xmlns:a16="http://schemas.microsoft.com/office/drawing/2014/main" id="{E22D9EEB-626A-4453-B33D-845B59D55E3D}"/>
              </a:ext>
            </a:extLst>
          </p:cNvPr>
          <p:cNvSpPr>
            <a:spLocks noGrp="1"/>
          </p:cNvSpPr>
          <p:nvPr/>
        </p:nvSpPr>
        <p:spPr>
          <a:xfrm>
            <a:off x="1128248" y="3453838"/>
            <a:ext cx="2813862" cy="568867"/>
          </a:xfrm>
          <a:prstGeom prst="rect">
            <a:avLst/>
          </a:prstGeom>
          <a:noFill/>
          <a:ln w="0">
            <a:noFill/>
          </a:ln>
        </p:spPr>
        <p:txBody>
          <a:bodyPr>
            <a:noAutofit/>
          </a:bodyPr>
          <a:lstStyle/>
          <a:p>
            <a:pPr>
              <a:defRPr sz="1575" b="1">
                <a:solidFill>
                  <a:srgbClr val="111111"/>
                </a:solidFill>
                <a:latin typeface="Arial"/>
                <a:ea typeface="Arial"/>
                <a:cs typeface="Arial"/>
              </a:defRPr>
            </a:pPr>
            <a:r>
              <a:rPr sz="2240" b="1">
                <a:solidFill>
                  <a:srgbClr val="111111"/>
                </a:solidFill>
                <a:latin typeface="Arial"/>
                <a:ea typeface="Arial"/>
                <a:cs typeface="Arial"/>
              </a:rPr>
              <a:t>Measure</a:t>
            </a:r>
          </a:p>
        </p:txBody>
      </p:sp>
      <p:sp>
        <p:nvSpPr>
          <p:cNvPr id="9" name="Rectangle 8">
            <a:extLst>
              <a:ext uri="{FF2B5EF4-FFF2-40B4-BE49-F238E27FC236}">
                <a16:creationId xmlns:a16="http://schemas.microsoft.com/office/drawing/2014/main" id="{8E6BC101-E9D2-4B94-9092-0B5D1BAAFE2C}"/>
              </a:ext>
            </a:extLst>
          </p:cNvPr>
          <p:cNvSpPr>
            <a:spLocks noGrp="1"/>
          </p:cNvSpPr>
          <p:nvPr/>
        </p:nvSpPr>
        <p:spPr>
          <a:xfrm>
            <a:off x="1223059" y="4537394"/>
            <a:ext cx="2624240" cy="1110646"/>
          </a:xfrm>
          <a:prstGeom prst="rect">
            <a:avLst/>
          </a:prstGeom>
          <a:noFill/>
          <a:ln w="0">
            <a:noFill/>
          </a:ln>
        </p:spPr>
        <p:txBody>
          <a:bodyPr>
            <a:noAutofit/>
          </a:bodyPr>
          <a:lstStyle/>
          <a:p>
            <a:pPr>
              <a:defRPr sz="1350" b="0">
                <a:solidFill>
                  <a:srgbClr val="5C5C5C"/>
                </a:solidFill>
                <a:latin typeface="Arial"/>
                <a:ea typeface="Arial"/>
                <a:cs typeface="Arial"/>
              </a:defRPr>
            </a:pPr>
            <a:r>
              <a:rPr sz="1920">
                <a:solidFill>
                  <a:srgbClr val="5C5C5C"/>
                </a:solidFill>
                <a:latin typeface="Arial"/>
                <a:ea typeface="Arial"/>
                <a:cs typeface="Arial"/>
              </a:rPr>
              <a:t>Calculate distances</a:t>
            </a:r>
          </a:p>
        </p:txBody>
      </p:sp>
      <p:sp>
        <p:nvSpPr>
          <p:cNvPr id="10" name="Rectangle 9">
            <a:extLst>
              <a:ext uri="{FF2B5EF4-FFF2-40B4-BE49-F238E27FC236}">
                <a16:creationId xmlns:a16="http://schemas.microsoft.com/office/drawing/2014/main" id="{D62A6B15-D49D-496B-BCD9-1F0FBD7F4B8C}"/>
              </a:ext>
            </a:extLst>
          </p:cNvPr>
          <p:cNvSpPr>
            <a:spLocks noGrp="1"/>
          </p:cNvSpPr>
          <p:nvPr/>
        </p:nvSpPr>
        <p:spPr>
          <a:xfrm>
            <a:off x="4226543" y="4266505"/>
            <a:ext cx="528234" cy="541778"/>
          </a:xfrm>
          <a:prstGeom prst="rect">
            <a:avLst/>
          </a:prstGeom>
          <a:noFill/>
          <a:ln w="0">
            <a:noFill/>
          </a:ln>
        </p:spPr>
        <p:txBody>
          <a:bodyPr>
            <a:noAutofit/>
          </a:bodyPr>
          <a:lstStyle/>
          <a:p>
            <a:pPr>
              <a:defRPr sz="2100" b="1">
                <a:solidFill>
                  <a:srgbClr val="111111"/>
                </a:solidFill>
                <a:latin typeface="Arial"/>
                <a:ea typeface="Arial"/>
                <a:cs typeface="Arial"/>
              </a:defRPr>
            </a:pPr>
            <a:r>
              <a:rPr sz="2986" b="1">
                <a:solidFill>
                  <a:srgbClr val="111111"/>
                </a:solidFill>
                <a:latin typeface="Arial"/>
                <a:ea typeface="Arial"/>
                <a:cs typeface="Arial"/>
              </a:rPr>
              <a:t>→</a:t>
            </a:r>
          </a:p>
        </p:txBody>
      </p:sp>
      <p:sp>
        <p:nvSpPr>
          <p:cNvPr id="11" name="Rectangle 10">
            <a:extLst>
              <a:ext uri="{FF2B5EF4-FFF2-40B4-BE49-F238E27FC236}">
                <a16:creationId xmlns:a16="http://schemas.microsoft.com/office/drawing/2014/main" id="{1881CFB6-A701-4005-AEB1-5C0B183184C0}"/>
              </a:ext>
            </a:extLst>
          </p:cNvPr>
          <p:cNvSpPr>
            <a:spLocks noGrp="1"/>
          </p:cNvSpPr>
          <p:nvPr/>
        </p:nvSpPr>
        <p:spPr>
          <a:xfrm>
            <a:off x="5972085" y="1828503"/>
            <a:ext cx="948112" cy="744945"/>
          </a:xfrm>
          <a:prstGeom prst="rect">
            <a:avLst/>
          </a:prstGeom>
          <a:noFill/>
          <a:ln w="0">
            <a:noFill/>
          </a:ln>
        </p:spPr>
        <p:txBody>
          <a:bodyPr>
            <a:noAutofit/>
          </a:bodyPr>
          <a:lstStyle/>
          <a:p>
            <a:pPr>
              <a:defRPr sz="2625" b="1">
                <a:solidFill>
                  <a:srgbClr val="FFD900"/>
                </a:solidFill>
                <a:latin typeface="Arial"/>
                <a:ea typeface="Arial"/>
                <a:cs typeface="Arial"/>
              </a:defRPr>
            </a:pPr>
            <a:r>
              <a:rPr sz="3733" b="1">
                <a:solidFill>
                  <a:srgbClr val="FFD900"/>
                </a:solidFill>
                <a:latin typeface="Arial"/>
                <a:ea typeface="Arial"/>
                <a:cs typeface="Arial"/>
              </a:rPr>
              <a:t>2</a:t>
            </a:r>
          </a:p>
        </p:txBody>
      </p:sp>
      <p:sp>
        <p:nvSpPr>
          <p:cNvPr id="12" name="Rectangle 11">
            <a:extLst>
              <a:ext uri="{FF2B5EF4-FFF2-40B4-BE49-F238E27FC236}">
                <a16:creationId xmlns:a16="http://schemas.microsoft.com/office/drawing/2014/main" id="{D3258665-7BA8-4869-9894-578B92A55CD7}"/>
              </a:ext>
            </a:extLst>
          </p:cNvPr>
          <p:cNvSpPr>
            <a:spLocks noGrp="1"/>
          </p:cNvSpPr>
          <p:nvPr/>
        </p:nvSpPr>
        <p:spPr>
          <a:xfrm>
            <a:off x="4795411" y="2912059"/>
            <a:ext cx="3301463" cy="3386115"/>
          </a:xfrm>
          <a:prstGeom prst="rect">
            <a:avLst/>
          </a:prstGeom>
          <a:solidFill>
            <a:srgbClr val="FFFFFF"/>
          </a:solidFill>
          <a:ln w="9525">
            <a:solidFill>
              <a:srgbClr val="111111"/>
            </a:solidFill>
          </a:ln>
        </p:spPr>
        <p:txBody>
          <a:bodyPr/>
          <a:lstStyle/>
          <a:p>
            <a:endParaRPr lang="en-US" sz="3640"/>
          </a:p>
        </p:txBody>
      </p:sp>
      <p:sp>
        <p:nvSpPr>
          <p:cNvPr id="13" name="Rectangle 12">
            <a:extLst>
              <a:ext uri="{FF2B5EF4-FFF2-40B4-BE49-F238E27FC236}">
                <a16:creationId xmlns:a16="http://schemas.microsoft.com/office/drawing/2014/main" id="{246E47F5-26CF-49BD-BD81-A71AFD035A75}"/>
              </a:ext>
            </a:extLst>
          </p:cNvPr>
          <p:cNvSpPr>
            <a:spLocks noGrp="1"/>
          </p:cNvSpPr>
          <p:nvPr/>
        </p:nvSpPr>
        <p:spPr>
          <a:xfrm>
            <a:off x="5039211" y="3453838"/>
            <a:ext cx="2813862" cy="568867"/>
          </a:xfrm>
          <a:prstGeom prst="rect">
            <a:avLst/>
          </a:prstGeom>
          <a:noFill/>
          <a:ln w="0">
            <a:noFill/>
          </a:ln>
        </p:spPr>
        <p:txBody>
          <a:bodyPr>
            <a:noAutofit/>
          </a:bodyPr>
          <a:lstStyle/>
          <a:p>
            <a:pPr>
              <a:defRPr sz="1575" b="1">
                <a:solidFill>
                  <a:srgbClr val="111111"/>
                </a:solidFill>
                <a:latin typeface="Arial"/>
                <a:ea typeface="Arial"/>
                <a:cs typeface="Arial"/>
              </a:defRPr>
            </a:pPr>
            <a:r>
              <a:rPr sz="2240" b="1">
                <a:solidFill>
                  <a:srgbClr val="111111"/>
                </a:solidFill>
                <a:latin typeface="Arial"/>
                <a:ea typeface="Arial"/>
                <a:cs typeface="Arial"/>
              </a:rPr>
              <a:t>Select</a:t>
            </a:r>
          </a:p>
        </p:txBody>
      </p:sp>
      <p:sp>
        <p:nvSpPr>
          <p:cNvPr id="14" name="Rectangle 13">
            <a:extLst>
              <a:ext uri="{FF2B5EF4-FFF2-40B4-BE49-F238E27FC236}">
                <a16:creationId xmlns:a16="http://schemas.microsoft.com/office/drawing/2014/main" id="{464AF046-6C45-4C42-B0EA-1C096BAC7130}"/>
              </a:ext>
            </a:extLst>
          </p:cNvPr>
          <p:cNvSpPr>
            <a:spLocks noGrp="1"/>
          </p:cNvSpPr>
          <p:nvPr/>
        </p:nvSpPr>
        <p:spPr>
          <a:xfrm>
            <a:off x="5134022" y="4537394"/>
            <a:ext cx="2624240" cy="1110646"/>
          </a:xfrm>
          <a:prstGeom prst="rect">
            <a:avLst/>
          </a:prstGeom>
          <a:noFill/>
          <a:ln w="0">
            <a:noFill/>
          </a:ln>
        </p:spPr>
        <p:txBody>
          <a:bodyPr>
            <a:noAutofit/>
          </a:bodyPr>
          <a:lstStyle/>
          <a:p>
            <a:pPr>
              <a:defRPr sz="1350" b="0">
                <a:solidFill>
                  <a:srgbClr val="5C5C5C"/>
                </a:solidFill>
                <a:latin typeface="Arial"/>
                <a:ea typeface="Arial"/>
                <a:cs typeface="Arial"/>
              </a:defRPr>
            </a:pPr>
            <a:r>
              <a:rPr sz="1920">
                <a:solidFill>
                  <a:srgbClr val="5C5C5C"/>
                </a:solidFill>
                <a:latin typeface="Arial"/>
                <a:ea typeface="Arial"/>
                <a:cs typeface="Arial"/>
              </a:rPr>
              <a:t>Find the K nearest examples</a:t>
            </a:r>
          </a:p>
        </p:txBody>
      </p:sp>
      <p:sp>
        <p:nvSpPr>
          <p:cNvPr id="15" name="Rectangle 14">
            <a:extLst>
              <a:ext uri="{FF2B5EF4-FFF2-40B4-BE49-F238E27FC236}">
                <a16:creationId xmlns:a16="http://schemas.microsoft.com/office/drawing/2014/main" id="{20531850-452C-4D94-8686-6E4E6E6E800C}"/>
              </a:ext>
            </a:extLst>
          </p:cNvPr>
          <p:cNvSpPr>
            <a:spLocks noGrp="1"/>
          </p:cNvSpPr>
          <p:nvPr/>
        </p:nvSpPr>
        <p:spPr>
          <a:xfrm>
            <a:off x="8137507" y="4266505"/>
            <a:ext cx="528234" cy="541778"/>
          </a:xfrm>
          <a:prstGeom prst="rect">
            <a:avLst/>
          </a:prstGeom>
          <a:noFill/>
          <a:ln w="0">
            <a:noFill/>
          </a:ln>
        </p:spPr>
        <p:txBody>
          <a:bodyPr>
            <a:noAutofit/>
          </a:bodyPr>
          <a:lstStyle/>
          <a:p>
            <a:pPr>
              <a:defRPr sz="2100" b="1">
                <a:solidFill>
                  <a:srgbClr val="111111"/>
                </a:solidFill>
                <a:latin typeface="Arial"/>
                <a:ea typeface="Arial"/>
                <a:cs typeface="Arial"/>
              </a:defRPr>
            </a:pPr>
            <a:r>
              <a:rPr sz="2986" b="1">
                <a:solidFill>
                  <a:srgbClr val="111111"/>
                </a:solidFill>
                <a:latin typeface="Arial"/>
                <a:ea typeface="Arial"/>
                <a:cs typeface="Arial"/>
              </a:rPr>
              <a:t>→</a:t>
            </a:r>
          </a:p>
        </p:txBody>
      </p:sp>
      <p:sp>
        <p:nvSpPr>
          <p:cNvPr id="16" name="Rectangle 15">
            <a:extLst>
              <a:ext uri="{FF2B5EF4-FFF2-40B4-BE49-F238E27FC236}">
                <a16:creationId xmlns:a16="http://schemas.microsoft.com/office/drawing/2014/main" id="{11C6C62F-08B7-4B14-BB33-60C8E36676F1}"/>
              </a:ext>
            </a:extLst>
          </p:cNvPr>
          <p:cNvSpPr>
            <a:spLocks noGrp="1"/>
          </p:cNvSpPr>
          <p:nvPr/>
        </p:nvSpPr>
        <p:spPr>
          <a:xfrm>
            <a:off x="9883049" y="1828503"/>
            <a:ext cx="948112" cy="744945"/>
          </a:xfrm>
          <a:prstGeom prst="rect">
            <a:avLst/>
          </a:prstGeom>
          <a:noFill/>
          <a:ln w="0">
            <a:noFill/>
          </a:ln>
        </p:spPr>
        <p:txBody>
          <a:bodyPr>
            <a:noAutofit/>
          </a:bodyPr>
          <a:lstStyle/>
          <a:p>
            <a:pPr>
              <a:defRPr sz="2625" b="1">
                <a:solidFill>
                  <a:srgbClr val="FFD900"/>
                </a:solidFill>
                <a:latin typeface="Arial"/>
                <a:ea typeface="Arial"/>
                <a:cs typeface="Arial"/>
              </a:defRPr>
            </a:pPr>
            <a:r>
              <a:rPr sz="3733" b="1">
                <a:solidFill>
                  <a:srgbClr val="FFD900"/>
                </a:solidFill>
                <a:latin typeface="Arial"/>
                <a:ea typeface="Arial"/>
                <a:cs typeface="Arial"/>
              </a:rPr>
              <a:t>3</a:t>
            </a:r>
          </a:p>
        </p:txBody>
      </p:sp>
      <p:sp>
        <p:nvSpPr>
          <p:cNvPr id="17" name="Rectangle 16">
            <a:extLst>
              <a:ext uri="{FF2B5EF4-FFF2-40B4-BE49-F238E27FC236}">
                <a16:creationId xmlns:a16="http://schemas.microsoft.com/office/drawing/2014/main" id="{940F359F-E71C-4018-A8F8-19084D4BE33B}"/>
              </a:ext>
            </a:extLst>
          </p:cNvPr>
          <p:cNvSpPr>
            <a:spLocks noGrp="1"/>
          </p:cNvSpPr>
          <p:nvPr/>
        </p:nvSpPr>
        <p:spPr>
          <a:xfrm>
            <a:off x="8706375" y="2912059"/>
            <a:ext cx="3301463" cy="3386115"/>
          </a:xfrm>
          <a:prstGeom prst="rect">
            <a:avLst/>
          </a:prstGeom>
          <a:solidFill>
            <a:srgbClr val="FFFFFF"/>
          </a:solidFill>
          <a:ln w="9525">
            <a:solidFill>
              <a:srgbClr val="111111"/>
            </a:solidFill>
          </a:ln>
        </p:spPr>
        <p:txBody>
          <a:bodyPr/>
          <a:lstStyle/>
          <a:p>
            <a:endParaRPr lang="en-US" sz="3640"/>
          </a:p>
        </p:txBody>
      </p:sp>
      <p:sp>
        <p:nvSpPr>
          <p:cNvPr id="18" name="Rectangle 17">
            <a:extLst>
              <a:ext uri="{FF2B5EF4-FFF2-40B4-BE49-F238E27FC236}">
                <a16:creationId xmlns:a16="http://schemas.microsoft.com/office/drawing/2014/main" id="{EF2A9763-CB8F-4EA1-BE59-238CB7644550}"/>
              </a:ext>
            </a:extLst>
          </p:cNvPr>
          <p:cNvSpPr>
            <a:spLocks noGrp="1"/>
          </p:cNvSpPr>
          <p:nvPr/>
        </p:nvSpPr>
        <p:spPr>
          <a:xfrm>
            <a:off x="8950175" y="3453838"/>
            <a:ext cx="2813862" cy="568867"/>
          </a:xfrm>
          <a:prstGeom prst="rect">
            <a:avLst/>
          </a:prstGeom>
          <a:noFill/>
          <a:ln w="0">
            <a:noFill/>
          </a:ln>
        </p:spPr>
        <p:txBody>
          <a:bodyPr>
            <a:noAutofit/>
          </a:bodyPr>
          <a:lstStyle/>
          <a:p>
            <a:pPr>
              <a:defRPr sz="1575" b="1">
                <a:solidFill>
                  <a:srgbClr val="111111"/>
                </a:solidFill>
                <a:latin typeface="Arial"/>
                <a:ea typeface="Arial"/>
                <a:cs typeface="Arial"/>
              </a:defRPr>
            </a:pPr>
            <a:r>
              <a:rPr sz="2240" b="1">
                <a:solidFill>
                  <a:srgbClr val="111111"/>
                </a:solidFill>
                <a:latin typeface="Arial"/>
                <a:ea typeface="Arial"/>
                <a:cs typeface="Arial"/>
              </a:rPr>
              <a:t>Vote</a:t>
            </a:r>
          </a:p>
        </p:txBody>
      </p:sp>
      <p:sp>
        <p:nvSpPr>
          <p:cNvPr id="19" name="Rectangle 18">
            <a:extLst>
              <a:ext uri="{FF2B5EF4-FFF2-40B4-BE49-F238E27FC236}">
                <a16:creationId xmlns:a16="http://schemas.microsoft.com/office/drawing/2014/main" id="{6A583835-CF2A-40E0-92BE-9280A78430DB}"/>
              </a:ext>
            </a:extLst>
          </p:cNvPr>
          <p:cNvSpPr>
            <a:spLocks noGrp="1"/>
          </p:cNvSpPr>
          <p:nvPr/>
        </p:nvSpPr>
        <p:spPr>
          <a:xfrm>
            <a:off x="9044986" y="4537394"/>
            <a:ext cx="2624240" cy="1110646"/>
          </a:xfrm>
          <a:prstGeom prst="rect">
            <a:avLst/>
          </a:prstGeom>
          <a:noFill/>
          <a:ln w="0">
            <a:noFill/>
          </a:ln>
        </p:spPr>
        <p:txBody>
          <a:bodyPr>
            <a:noAutofit/>
          </a:bodyPr>
          <a:lstStyle/>
          <a:p>
            <a:pPr>
              <a:defRPr sz="1350" b="0">
                <a:solidFill>
                  <a:srgbClr val="5C5C5C"/>
                </a:solidFill>
                <a:latin typeface="Arial"/>
                <a:ea typeface="Arial"/>
                <a:cs typeface="Arial"/>
              </a:defRPr>
            </a:pPr>
            <a:r>
              <a:rPr sz="1920">
                <a:solidFill>
                  <a:srgbClr val="5C5C5C"/>
                </a:solidFill>
                <a:latin typeface="Arial"/>
                <a:ea typeface="Arial"/>
                <a:cs typeface="Arial"/>
              </a:rPr>
              <a:t>Count their labels</a:t>
            </a:r>
          </a:p>
        </p:txBody>
      </p:sp>
      <p:sp>
        <p:nvSpPr>
          <p:cNvPr id="20" name="Rectangle 19">
            <a:extLst>
              <a:ext uri="{FF2B5EF4-FFF2-40B4-BE49-F238E27FC236}">
                <a16:creationId xmlns:a16="http://schemas.microsoft.com/office/drawing/2014/main" id="{C374A7E7-1E01-4CB1-85E9-4F7B31D0460A}"/>
              </a:ext>
            </a:extLst>
          </p:cNvPr>
          <p:cNvSpPr>
            <a:spLocks noGrp="1"/>
          </p:cNvSpPr>
          <p:nvPr/>
        </p:nvSpPr>
        <p:spPr>
          <a:xfrm>
            <a:off x="12048469" y="4266505"/>
            <a:ext cx="528234" cy="541778"/>
          </a:xfrm>
          <a:prstGeom prst="rect">
            <a:avLst/>
          </a:prstGeom>
          <a:noFill/>
          <a:ln w="0">
            <a:noFill/>
          </a:ln>
        </p:spPr>
        <p:txBody>
          <a:bodyPr>
            <a:noAutofit/>
          </a:bodyPr>
          <a:lstStyle/>
          <a:p>
            <a:pPr>
              <a:defRPr sz="2100" b="1">
                <a:solidFill>
                  <a:srgbClr val="111111"/>
                </a:solidFill>
                <a:latin typeface="Arial"/>
                <a:ea typeface="Arial"/>
                <a:cs typeface="Arial"/>
              </a:defRPr>
            </a:pPr>
            <a:r>
              <a:rPr sz="2986" b="1">
                <a:solidFill>
                  <a:srgbClr val="111111"/>
                </a:solidFill>
                <a:latin typeface="Arial"/>
                <a:ea typeface="Arial"/>
                <a:cs typeface="Arial"/>
              </a:rPr>
              <a:t>→</a:t>
            </a:r>
          </a:p>
        </p:txBody>
      </p:sp>
      <p:sp>
        <p:nvSpPr>
          <p:cNvPr id="21" name="Rectangle 20">
            <a:extLst>
              <a:ext uri="{FF2B5EF4-FFF2-40B4-BE49-F238E27FC236}">
                <a16:creationId xmlns:a16="http://schemas.microsoft.com/office/drawing/2014/main" id="{B6B733C3-547C-4FED-BFCE-89C079915C7C}"/>
              </a:ext>
            </a:extLst>
          </p:cNvPr>
          <p:cNvSpPr>
            <a:spLocks noGrp="1"/>
          </p:cNvSpPr>
          <p:nvPr/>
        </p:nvSpPr>
        <p:spPr>
          <a:xfrm>
            <a:off x="13794012" y="1828503"/>
            <a:ext cx="948112" cy="744945"/>
          </a:xfrm>
          <a:prstGeom prst="rect">
            <a:avLst/>
          </a:prstGeom>
          <a:noFill/>
          <a:ln w="0">
            <a:noFill/>
          </a:ln>
        </p:spPr>
        <p:txBody>
          <a:bodyPr>
            <a:noAutofit/>
          </a:bodyPr>
          <a:lstStyle/>
          <a:p>
            <a:pPr>
              <a:defRPr sz="2625" b="1">
                <a:solidFill>
                  <a:srgbClr val="FFD900"/>
                </a:solidFill>
                <a:latin typeface="Arial"/>
                <a:ea typeface="Arial"/>
                <a:cs typeface="Arial"/>
              </a:defRPr>
            </a:pPr>
            <a:r>
              <a:rPr sz="3733" b="1">
                <a:solidFill>
                  <a:srgbClr val="FFD900"/>
                </a:solidFill>
                <a:latin typeface="Arial"/>
                <a:ea typeface="Arial"/>
                <a:cs typeface="Arial"/>
              </a:rPr>
              <a:t>4</a:t>
            </a:r>
          </a:p>
        </p:txBody>
      </p:sp>
      <p:sp>
        <p:nvSpPr>
          <p:cNvPr id="22" name="Rectangle 21">
            <a:extLst>
              <a:ext uri="{FF2B5EF4-FFF2-40B4-BE49-F238E27FC236}">
                <a16:creationId xmlns:a16="http://schemas.microsoft.com/office/drawing/2014/main" id="{3B4EF6ED-D3A3-4D39-A8E0-E7E3DA559ABB}"/>
              </a:ext>
            </a:extLst>
          </p:cNvPr>
          <p:cNvSpPr>
            <a:spLocks noGrp="1"/>
          </p:cNvSpPr>
          <p:nvPr/>
        </p:nvSpPr>
        <p:spPr>
          <a:xfrm>
            <a:off x="12617337" y="2912059"/>
            <a:ext cx="3301463" cy="3386115"/>
          </a:xfrm>
          <a:prstGeom prst="rect">
            <a:avLst/>
          </a:prstGeom>
          <a:solidFill>
            <a:srgbClr val="FFFFFF"/>
          </a:solidFill>
          <a:ln w="9525">
            <a:solidFill>
              <a:srgbClr val="111111"/>
            </a:solidFill>
          </a:ln>
        </p:spPr>
        <p:txBody>
          <a:bodyPr/>
          <a:lstStyle/>
          <a:p>
            <a:endParaRPr lang="en-US" sz="3640"/>
          </a:p>
        </p:txBody>
      </p:sp>
      <p:sp>
        <p:nvSpPr>
          <p:cNvPr id="23" name="Rectangle 22">
            <a:extLst>
              <a:ext uri="{FF2B5EF4-FFF2-40B4-BE49-F238E27FC236}">
                <a16:creationId xmlns:a16="http://schemas.microsoft.com/office/drawing/2014/main" id="{61ECDDD0-314E-44E0-9FD0-8A2D21948C0F}"/>
              </a:ext>
            </a:extLst>
          </p:cNvPr>
          <p:cNvSpPr>
            <a:spLocks noGrp="1"/>
          </p:cNvSpPr>
          <p:nvPr/>
        </p:nvSpPr>
        <p:spPr>
          <a:xfrm>
            <a:off x="12861137" y="3453838"/>
            <a:ext cx="2813862" cy="568867"/>
          </a:xfrm>
          <a:prstGeom prst="rect">
            <a:avLst/>
          </a:prstGeom>
          <a:noFill/>
          <a:ln w="0">
            <a:noFill/>
          </a:ln>
        </p:spPr>
        <p:txBody>
          <a:bodyPr>
            <a:noAutofit/>
          </a:bodyPr>
          <a:lstStyle/>
          <a:p>
            <a:pPr>
              <a:defRPr sz="1575" b="1">
                <a:solidFill>
                  <a:srgbClr val="111111"/>
                </a:solidFill>
                <a:latin typeface="Arial"/>
                <a:ea typeface="Arial"/>
                <a:cs typeface="Arial"/>
              </a:defRPr>
            </a:pPr>
            <a:r>
              <a:rPr sz="2240" b="1">
                <a:solidFill>
                  <a:srgbClr val="111111"/>
                </a:solidFill>
                <a:latin typeface="Arial"/>
                <a:ea typeface="Arial"/>
                <a:cs typeface="Arial"/>
              </a:rPr>
              <a:t>Predict</a:t>
            </a:r>
          </a:p>
        </p:txBody>
      </p:sp>
      <p:sp>
        <p:nvSpPr>
          <p:cNvPr id="24" name="Rectangle 23">
            <a:extLst>
              <a:ext uri="{FF2B5EF4-FFF2-40B4-BE49-F238E27FC236}">
                <a16:creationId xmlns:a16="http://schemas.microsoft.com/office/drawing/2014/main" id="{C1B48019-E4D9-41F8-A634-172C2A80A628}"/>
              </a:ext>
            </a:extLst>
          </p:cNvPr>
          <p:cNvSpPr>
            <a:spLocks noGrp="1"/>
          </p:cNvSpPr>
          <p:nvPr/>
        </p:nvSpPr>
        <p:spPr>
          <a:xfrm>
            <a:off x="12955948" y="4537394"/>
            <a:ext cx="2624240" cy="1110646"/>
          </a:xfrm>
          <a:prstGeom prst="rect">
            <a:avLst/>
          </a:prstGeom>
          <a:noFill/>
          <a:ln w="0">
            <a:noFill/>
          </a:ln>
        </p:spPr>
        <p:txBody>
          <a:bodyPr>
            <a:noAutofit/>
          </a:bodyPr>
          <a:lstStyle/>
          <a:p>
            <a:pPr>
              <a:defRPr sz="1350" b="0">
                <a:solidFill>
                  <a:srgbClr val="5C5C5C"/>
                </a:solidFill>
                <a:latin typeface="Arial"/>
                <a:ea typeface="Arial"/>
                <a:cs typeface="Arial"/>
              </a:defRPr>
            </a:pPr>
            <a:r>
              <a:rPr sz="1920">
                <a:solidFill>
                  <a:srgbClr val="5C5C5C"/>
                </a:solidFill>
                <a:latin typeface="Arial"/>
                <a:ea typeface="Arial"/>
                <a:cs typeface="Arial"/>
              </a:rPr>
              <a:t>Return the majority class</a:t>
            </a:r>
          </a:p>
        </p:txBody>
      </p:sp>
    </p:spTree>
    <p:extLst>
      <p:ext uri="{BB962C8B-B14F-4D97-AF65-F5344CB8AC3E}">
        <p14:creationId xmlns:p14="http://schemas.microsoft.com/office/powerpoint/2010/main" val="6405483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CD96C8E-2C65-4D2D-83FE-4D422307727D}"/>
              </a:ext>
            </a:extLst>
          </p:cNvPr>
          <p:cNvSpPr>
            <a:spLocks noGrp="1"/>
          </p:cNvSpPr>
          <p:nvPr/>
        </p:nvSpPr>
        <p:spPr>
          <a:xfrm>
            <a:off x="4057" y="0"/>
            <a:ext cx="17336911" cy="1110646"/>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8729ED33-1771-4705-96C8-9A127C2A4F33}"/>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Euclidean distance</a:t>
            </a:r>
          </a:p>
        </p:txBody>
      </p:sp>
      <p:sp>
        <p:nvSpPr>
          <p:cNvPr id="3" name="Rectangle 2">
            <a:extLst>
              <a:ext uri="{FF2B5EF4-FFF2-40B4-BE49-F238E27FC236}">
                <a16:creationId xmlns:a16="http://schemas.microsoft.com/office/drawing/2014/main" id="{58F43372-6D93-4867-856B-524F5D96F0FC}"/>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208E12E3-DAF8-4D50-B114-FB5F85F809EA}"/>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03DC97D7-13B4-4EF0-BB9B-34E4BEF53842}"/>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18  MACHINE LEARNING II</a:t>
            </a:r>
          </a:p>
        </p:txBody>
      </p:sp>
      <p:sp>
        <p:nvSpPr>
          <p:cNvPr id="6" name="Rectangle 5">
            <a:extLst>
              <a:ext uri="{FF2B5EF4-FFF2-40B4-BE49-F238E27FC236}">
                <a16:creationId xmlns:a16="http://schemas.microsoft.com/office/drawing/2014/main" id="{F81DDAE4-2D8D-40E4-AAC2-0D69AA36DEE7}"/>
              </a:ext>
            </a:extLst>
          </p:cNvPr>
          <p:cNvSpPr>
            <a:spLocks noGrp="1"/>
          </p:cNvSpPr>
          <p:nvPr/>
        </p:nvSpPr>
        <p:spPr>
          <a:xfrm>
            <a:off x="1358503" y="1625336"/>
            <a:ext cx="14628019" cy="609501"/>
          </a:xfrm>
          <a:prstGeom prst="rect">
            <a:avLst/>
          </a:prstGeom>
          <a:noFill/>
          <a:ln w="0">
            <a:noFill/>
          </a:ln>
        </p:spPr>
        <p:txBody>
          <a:bodyPr>
            <a:noAutofit/>
          </a:bodyPr>
          <a:lstStyle/>
          <a:p>
            <a:pPr>
              <a:defRPr sz="2025" b="1">
                <a:solidFill>
                  <a:srgbClr val="111111"/>
                </a:solidFill>
                <a:latin typeface="Arial"/>
                <a:ea typeface="Arial"/>
                <a:cs typeface="Arial"/>
              </a:defRPr>
            </a:pPr>
            <a:r>
              <a:rPr sz="2880" b="1">
                <a:solidFill>
                  <a:srgbClr val="111111"/>
                </a:solidFill>
                <a:latin typeface="Arial"/>
                <a:ea typeface="Arial"/>
                <a:cs typeface="Arial"/>
              </a:rPr>
              <a:t>For two features, distance follows the Pythagorean theorem</a:t>
            </a:r>
          </a:p>
        </p:txBody>
      </p:sp>
      <p:sp>
        <p:nvSpPr>
          <p:cNvPr id="7" name="Rectangle 6">
            <a:extLst>
              <a:ext uri="{FF2B5EF4-FFF2-40B4-BE49-F238E27FC236}">
                <a16:creationId xmlns:a16="http://schemas.microsoft.com/office/drawing/2014/main" id="{93179032-3996-4068-A288-60A8D4344885}"/>
              </a:ext>
            </a:extLst>
          </p:cNvPr>
          <p:cNvSpPr>
            <a:spLocks noGrp="1"/>
          </p:cNvSpPr>
          <p:nvPr/>
        </p:nvSpPr>
        <p:spPr>
          <a:xfrm>
            <a:off x="1764837" y="3182948"/>
            <a:ext cx="13815351" cy="1219002"/>
          </a:xfrm>
          <a:prstGeom prst="rect">
            <a:avLst/>
          </a:prstGeom>
          <a:noFill/>
          <a:ln w="0">
            <a:noFill/>
          </a:ln>
        </p:spPr>
        <p:txBody>
          <a:bodyPr>
            <a:noAutofit/>
          </a:bodyPr>
          <a:lstStyle/>
          <a:p>
            <a:pPr>
              <a:defRPr sz="3150" b="1">
                <a:solidFill>
                  <a:srgbClr val="2878B5"/>
                </a:solidFill>
                <a:latin typeface="Arial"/>
                <a:ea typeface="Arial"/>
                <a:cs typeface="Arial"/>
              </a:defRPr>
            </a:pPr>
            <a:r>
              <a:rPr sz="4479" b="1">
                <a:solidFill>
                  <a:srgbClr val="2878B5"/>
                </a:solidFill>
                <a:latin typeface="Arial"/>
                <a:ea typeface="Arial"/>
                <a:cs typeface="Arial"/>
              </a:rPr>
              <a:t>d = √((x₂ − x₁)² + (y₂ − y₁)²)</a:t>
            </a:r>
          </a:p>
        </p:txBody>
      </p:sp>
      <p:sp>
        <p:nvSpPr>
          <p:cNvPr id="8" name="Rectangle 7">
            <a:extLst>
              <a:ext uri="{FF2B5EF4-FFF2-40B4-BE49-F238E27FC236}">
                <a16:creationId xmlns:a16="http://schemas.microsoft.com/office/drawing/2014/main" id="{DA0E9AD2-2486-43E6-BED4-30ECFF7F45ED}"/>
              </a:ext>
            </a:extLst>
          </p:cNvPr>
          <p:cNvSpPr>
            <a:spLocks noGrp="1"/>
          </p:cNvSpPr>
          <p:nvPr/>
        </p:nvSpPr>
        <p:spPr>
          <a:xfrm>
            <a:off x="2171171" y="5282340"/>
            <a:ext cx="13002683" cy="1625335"/>
          </a:xfrm>
          <a:prstGeom prst="rect">
            <a:avLst/>
          </a:prstGeom>
          <a:noFill/>
          <a:ln w="0">
            <a:noFill/>
          </a:ln>
        </p:spPr>
        <p:txBody>
          <a:bodyPr>
            <a:noAutofit/>
          </a:bodyPr>
          <a:lstStyle/>
          <a:p>
            <a:pPr>
              <a:defRPr sz="1650" b="0">
                <a:solidFill>
                  <a:srgbClr val="111111"/>
                </a:solidFill>
                <a:latin typeface="Arial"/>
                <a:ea typeface="Arial"/>
                <a:cs typeface="Arial"/>
              </a:defRPr>
            </a:pPr>
            <a:r>
              <a:rPr sz="2346">
                <a:solidFill>
                  <a:srgbClr val="111111"/>
                </a:solidFill>
                <a:latin typeface="Arial"/>
                <a:ea typeface="Arial"/>
                <a:cs typeface="Arial"/>
              </a:rPr>
              <a:t>Example: A = (2, 3), B = (5, 7)</a:t>
            </a:r>
          </a:p>
          <a:p>
            <a:endParaRPr sz="2346">
              <a:solidFill>
                <a:srgbClr val="111111"/>
              </a:solidFill>
              <a:latin typeface="Arial"/>
              <a:ea typeface="Arial"/>
              <a:cs typeface="Arial"/>
            </a:endParaRPr>
          </a:p>
          <a:p>
            <a:pPr>
              <a:defRPr sz="1650" b="0">
                <a:solidFill>
                  <a:srgbClr val="111111"/>
                </a:solidFill>
                <a:latin typeface="Arial"/>
                <a:ea typeface="Arial"/>
                <a:cs typeface="Arial"/>
              </a:defRPr>
            </a:pPr>
            <a:r>
              <a:rPr sz="2346">
                <a:solidFill>
                  <a:srgbClr val="111111"/>
                </a:solidFill>
                <a:latin typeface="Arial"/>
                <a:ea typeface="Arial"/>
                <a:cs typeface="Arial"/>
              </a:rPr>
              <a:t>d = √(3² + 4²) = 5</a:t>
            </a:r>
          </a:p>
        </p:txBody>
      </p:sp>
    </p:spTree>
    <p:extLst>
      <p:ext uri="{BB962C8B-B14F-4D97-AF65-F5344CB8AC3E}">
        <p14:creationId xmlns:p14="http://schemas.microsoft.com/office/powerpoint/2010/main" val="5998390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8384937-531B-4721-A744-5DAD3B8BEA38}"/>
              </a:ext>
            </a:extLst>
          </p:cNvPr>
          <p:cNvSpPr>
            <a:spLocks noGrp="1"/>
          </p:cNvSpPr>
          <p:nvPr/>
        </p:nvSpPr>
        <p:spPr>
          <a:xfrm>
            <a:off x="4057" y="0"/>
            <a:ext cx="17336911" cy="1110646"/>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78A7848D-EF91-4B24-BB85-0EE3BD0D3BE1}"/>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Choosing K</a:t>
            </a:r>
          </a:p>
        </p:txBody>
      </p:sp>
      <p:sp>
        <p:nvSpPr>
          <p:cNvPr id="3" name="Rectangle 2">
            <a:extLst>
              <a:ext uri="{FF2B5EF4-FFF2-40B4-BE49-F238E27FC236}">
                <a16:creationId xmlns:a16="http://schemas.microsoft.com/office/drawing/2014/main" id="{66D08C58-0B92-46DE-AB4E-6F74C2459E84}"/>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7CE7D6D6-09C5-427C-B0B5-FD9F0211B07C}"/>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602653FA-14CD-49E4-9618-883AB03B5DCE}"/>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19  MACHINE LEARNING II</a:t>
            </a:r>
          </a:p>
        </p:txBody>
      </p:sp>
      <p:sp>
        <p:nvSpPr>
          <p:cNvPr id="6" name="Rectangle 5">
            <a:extLst>
              <a:ext uri="{FF2B5EF4-FFF2-40B4-BE49-F238E27FC236}">
                <a16:creationId xmlns:a16="http://schemas.microsoft.com/office/drawing/2014/main" id="{1D76805C-8278-4332-AB5B-7C5A5FD8DF9F}"/>
              </a:ext>
            </a:extLst>
          </p:cNvPr>
          <p:cNvSpPr>
            <a:spLocks noGrp="1"/>
          </p:cNvSpPr>
          <p:nvPr/>
        </p:nvSpPr>
        <p:spPr>
          <a:xfrm>
            <a:off x="952169" y="1693058"/>
            <a:ext cx="108356" cy="582412"/>
          </a:xfrm>
          <a:prstGeom prst="rect">
            <a:avLst/>
          </a:prstGeom>
          <a:solidFill>
            <a:srgbClr val="D84A4A"/>
          </a:solidFill>
          <a:ln w="0">
            <a:noFill/>
          </a:ln>
        </p:spPr>
        <p:txBody>
          <a:bodyPr/>
          <a:lstStyle/>
          <a:p>
            <a:endParaRPr lang="en-US" sz="3640"/>
          </a:p>
        </p:txBody>
      </p:sp>
      <p:sp>
        <p:nvSpPr>
          <p:cNvPr id="7" name="Rectangle 6">
            <a:extLst>
              <a:ext uri="{FF2B5EF4-FFF2-40B4-BE49-F238E27FC236}">
                <a16:creationId xmlns:a16="http://schemas.microsoft.com/office/drawing/2014/main" id="{9A04ED19-2258-4082-BCC2-CAD9FCC75A6D}"/>
              </a:ext>
            </a:extLst>
          </p:cNvPr>
          <p:cNvSpPr>
            <a:spLocks noGrp="1"/>
          </p:cNvSpPr>
          <p:nvPr/>
        </p:nvSpPr>
        <p:spPr>
          <a:xfrm>
            <a:off x="1331414" y="1693058"/>
            <a:ext cx="4131061" cy="582412"/>
          </a:xfrm>
          <a:prstGeom prst="rect">
            <a:avLst/>
          </a:prstGeom>
          <a:noFill/>
          <a:ln w="0">
            <a:noFill/>
          </a:ln>
        </p:spPr>
        <p:txBody>
          <a:bodyPr>
            <a:noAutofit/>
          </a:bodyPr>
          <a:lstStyle/>
          <a:p>
            <a:pPr>
              <a:defRPr sz="1500" b="1">
                <a:solidFill>
                  <a:srgbClr val="D84A4A"/>
                </a:solidFill>
                <a:latin typeface="Arial"/>
                <a:ea typeface="Arial"/>
                <a:cs typeface="Arial"/>
              </a:defRPr>
            </a:pPr>
            <a:r>
              <a:rPr sz="2133" b="1">
                <a:solidFill>
                  <a:srgbClr val="D84A4A"/>
                </a:solidFill>
                <a:latin typeface="Arial"/>
                <a:ea typeface="Arial"/>
                <a:cs typeface="Arial"/>
              </a:rPr>
              <a:t>SMALL K</a:t>
            </a:r>
          </a:p>
        </p:txBody>
      </p:sp>
      <p:sp>
        <p:nvSpPr>
          <p:cNvPr id="8" name="Rectangle 7">
            <a:extLst>
              <a:ext uri="{FF2B5EF4-FFF2-40B4-BE49-F238E27FC236}">
                <a16:creationId xmlns:a16="http://schemas.microsoft.com/office/drawing/2014/main" id="{C5B874DD-20D8-43B1-B063-2281143AA6B6}"/>
              </a:ext>
            </a:extLst>
          </p:cNvPr>
          <p:cNvSpPr>
            <a:spLocks noGrp="1"/>
          </p:cNvSpPr>
          <p:nvPr/>
        </p:nvSpPr>
        <p:spPr>
          <a:xfrm>
            <a:off x="5692730" y="1693058"/>
            <a:ext cx="10429236" cy="582412"/>
          </a:xfrm>
          <a:prstGeom prst="rect">
            <a:avLst/>
          </a:prstGeom>
          <a:noFill/>
          <a:ln w="0">
            <a:noFill/>
          </a:ln>
        </p:spPr>
        <p:txBody>
          <a:bodyPr>
            <a:noAutofit/>
          </a:bodyPr>
          <a:lstStyle/>
          <a:p>
            <a:pPr>
              <a:defRPr sz="1500" b="0">
                <a:solidFill>
                  <a:srgbClr val="5C5C5C"/>
                </a:solidFill>
                <a:latin typeface="Arial"/>
                <a:ea typeface="Arial"/>
                <a:cs typeface="Arial"/>
              </a:defRPr>
            </a:pPr>
            <a:r>
              <a:rPr sz="2133">
                <a:solidFill>
                  <a:srgbClr val="5C5C5C"/>
                </a:solidFill>
                <a:latin typeface="Arial"/>
                <a:ea typeface="Arial"/>
                <a:cs typeface="Arial"/>
              </a:rPr>
              <a:t>Follows local detail but becomes sensitive to noise</a:t>
            </a:r>
          </a:p>
        </p:txBody>
      </p:sp>
      <p:sp>
        <p:nvSpPr>
          <p:cNvPr id="9" name="Rectangle 8">
            <a:extLst>
              <a:ext uri="{FF2B5EF4-FFF2-40B4-BE49-F238E27FC236}">
                <a16:creationId xmlns:a16="http://schemas.microsoft.com/office/drawing/2014/main" id="{CC666B99-9B07-4BCC-84DB-45B16D7A7E20}"/>
              </a:ext>
            </a:extLst>
          </p:cNvPr>
          <p:cNvSpPr>
            <a:spLocks noGrp="1"/>
          </p:cNvSpPr>
          <p:nvPr/>
        </p:nvSpPr>
        <p:spPr>
          <a:xfrm>
            <a:off x="952169" y="3115227"/>
            <a:ext cx="108356" cy="582412"/>
          </a:xfrm>
          <a:prstGeom prst="rect">
            <a:avLst/>
          </a:prstGeom>
          <a:solidFill>
            <a:srgbClr val="3A9D5D"/>
          </a:solidFill>
          <a:ln w="0">
            <a:noFill/>
          </a:ln>
        </p:spPr>
        <p:txBody>
          <a:bodyPr/>
          <a:lstStyle/>
          <a:p>
            <a:endParaRPr lang="en-US" sz="3640"/>
          </a:p>
        </p:txBody>
      </p:sp>
      <p:sp>
        <p:nvSpPr>
          <p:cNvPr id="10" name="Rectangle 9">
            <a:extLst>
              <a:ext uri="{FF2B5EF4-FFF2-40B4-BE49-F238E27FC236}">
                <a16:creationId xmlns:a16="http://schemas.microsoft.com/office/drawing/2014/main" id="{CEFF1F06-1E51-4E40-8E95-DB722E4A20D4}"/>
              </a:ext>
            </a:extLst>
          </p:cNvPr>
          <p:cNvSpPr>
            <a:spLocks noGrp="1"/>
          </p:cNvSpPr>
          <p:nvPr/>
        </p:nvSpPr>
        <p:spPr>
          <a:xfrm>
            <a:off x="1331414" y="3115227"/>
            <a:ext cx="4131061" cy="582412"/>
          </a:xfrm>
          <a:prstGeom prst="rect">
            <a:avLst/>
          </a:prstGeom>
          <a:noFill/>
          <a:ln w="0">
            <a:noFill/>
          </a:ln>
        </p:spPr>
        <p:txBody>
          <a:bodyPr>
            <a:noAutofit/>
          </a:bodyPr>
          <a:lstStyle/>
          <a:p>
            <a:pPr>
              <a:defRPr sz="1500" b="1">
                <a:solidFill>
                  <a:srgbClr val="3A9D5D"/>
                </a:solidFill>
                <a:latin typeface="Arial"/>
                <a:ea typeface="Arial"/>
                <a:cs typeface="Arial"/>
              </a:defRPr>
            </a:pPr>
            <a:r>
              <a:rPr sz="2133" b="1">
                <a:solidFill>
                  <a:srgbClr val="3A9D5D"/>
                </a:solidFill>
                <a:latin typeface="Arial"/>
                <a:ea typeface="Arial"/>
                <a:cs typeface="Arial"/>
              </a:rPr>
              <a:t>MEDIUM K</a:t>
            </a:r>
          </a:p>
        </p:txBody>
      </p:sp>
      <p:sp>
        <p:nvSpPr>
          <p:cNvPr id="11" name="Rectangle 10">
            <a:extLst>
              <a:ext uri="{FF2B5EF4-FFF2-40B4-BE49-F238E27FC236}">
                <a16:creationId xmlns:a16="http://schemas.microsoft.com/office/drawing/2014/main" id="{12B7604B-B6CC-4D34-8421-5F9D624DAA1B}"/>
              </a:ext>
            </a:extLst>
          </p:cNvPr>
          <p:cNvSpPr>
            <a:spLocks noGrp="1"/>
          </p:cNvSpPr>
          <p:nvPr/>
        </p:nvSpPr>
        <p:spPr>
          <a:xfrm>
            <a:off x="5692730" y="3115227"/>
            <a:ext cx="10429236" cy="582412"/>
          </a:xfrm>
          <a:prstGeom prst="rect">
            <a:avLst/>
          </a:prstGeom>
          <a:noFill/>
          <a:ln w="0">
            <a:noFill/>
          </a:ln>
        </p:spPr>
        <p:txBody>
          <a:bodyPr>
            <a:noAutofit/>
          </a:bodyPr>
          <a:lstStyle/>
          <a:p>
            <a:pPr>
              <a:defRPr sz="1500" b="0">
                <a:solidFill>
                  <a:srgbClr val="5C5C5C"/>
                </a:solidFill>
                <a:latin typeface="Arial"/>
                <a:ea typeface="Arial"/>
                <a:cs typeface="Arial"/>
              </a:defRPr>
            </a:pPr>
            <a:r>
              <a:rPr sz="2133">
                <a:solidFill>
                  <a:srgbClr val="5C5C5C"/>
                </a:solidFill>
                <a:latin typeface="Arial"/>
                <a:ea typeface="Arial"/>
                <a:cs typeface="Arial"/>
              </a:rPr>
              <a:t>Balances local information and stability</a:t>
            </a:r>
          </a:p>
        </p:txBody>
      </p:sp>
      <p:sp>
        <p:nvSpPr>
          <p:cNvPr id="12" name="Rectangle 11">
            <a:extLst>
              <a:ext uri="{FF2B5EF4-FFF2-40B4-BE49-F238E27FC236}">
                <a16:creationId xmlns:a16="http://schemas.microsoft.com/office/drawing/2014/main" id="{32F00DE3-4D17-478A-9106-63E6896601AA}"/>
              </a:ext>
            </a:extLst>
          </p:cNvPr>
          <p:cNvSpPr>
            <a:spLocks noGrp="1"/>
          </p:cNvSpPr>
          <p:nvPr/>
        </p:nvSpPr>
        <p:spPr>
          <a:xfrm>
            <a:off x="952169" y="4537395"/>
            <a:ext cx="108356" cy="582412"/>
          </a:xfrm>
          <a:prstGeom prst="rect">
            <a:avLst/>
          </a:prstGeom>
          <a:solidFill>
            <a:srgbClr val="2878B5"/>
          </a:solidFill>
          <a:ln w="0">
            <a:noFill/>
          </a:ln>
        </p:spPr>
        <p:txBody>
          <a:bodyPr/>
          <a:lstStyle/>
          <a:p>
            <a:endParaRPr lang="en-US" sz="3640"/>
          </a:p>
        </p:txBody>
      </p:sp>
      <p:sp>
        <p:nvSpPr>
          <p:cNvPr id="13" name="Rectangle 12">
            <a:extLst>
              <a:ext uri="{FF2B5EF4-FFF2-40B4-BE49-F238E27FC236}">
                <a16:creationId xmlns:a16="http://schemas.microsoft.com/office/drawing/2014/main" id="{53A206D6-E72C-4617-A4D0-CFA67BE99341}"/>
              </a:ext>
            </a:extLst>
          </p:cNvPr>
          <p:cNvSpPr>
            <a:spLocks noGrp="1"/>
          </p:cNvSpPr>
          <p:nvPr/>
        </p:nvSpPr>
        <p:spPr>
          <a:xfrm>
            <a:off x="1331414" y="4537395"/>
            <a:ext cx="4131061" cy="582412"/>
          </a:xfrm>
          <a:prstGeom prst="rect">
            <a:avLst/>
          </a:prstGeom>
          <a:noFill/>
          <a:ln w="0">
            <a:noFill/>
          </a:ln>
        </p:spPr>
        <p:txBody>
          <a:bodyPr>
            <a:noAutofit/>
          </a:bodyPr>
          <a:lstStyle/>
          <a:p>
            <a:pPr>
              <a:defRPr sz="1500" b="1">
                <a:solidFill>
                  <a:srgbClr val="2878B5"/>
                </a:solidFill>
                <a:latin typeface="Arial"/>
                <a:ea typeface="Arial"/>
                <a:cs typeface="Arial"/>
              </a:defRPr>
            </a:pPr>
            <a:r>
              <a:rPr sz="2133" b="1">
                <a:solidFill>
                  <a:srgbClr val="2878B5"/>
                </a:solidFill>
                <a:latin typeface="Arial"/>
                <a:ea typeface="Arial"/>
                <a:cs typeface="Arial"/>
              </a:rPr>
              <a:t>LARGE K</a:t>
            </a:r>
          </a:p>
        </p:txBody>
      </p:sp>
      <p:sp>
        <p:nvSpPr>
          <p:cNvPr id="14" name="Rectangle 13">
            <a:extLst>
              <a:ext uri="{FF2B5EF4-FFF2-40B4-BE49-F238E27FC236}">
                <a16:creationId xmlns:a16="http://schemas.microsoft.com/office/drawing/2014/main" id="{F46D3166-5908-426D-AFCB-0F6D89A21724}"/>
              </a:ext>
            </a:extLst>
          </p:cNvPr>
          <p:cNvSpPr>
            <a:spLocks noGrp="1"/>
          </p:cNvSpPr>
          <p:nvPr/>
        </p:nvSpPr>
        <p:spPr>
          <a:xfrm>
            <a:off x="5692730" y="4537395"/>
            <a:ext cx="10429236" cy="582412"/>
          </a:xfrm>
          <a:prstGeom prst="rect">
            <a:avLst/>
          </a:prstGeom>
          <a:noFill/>
          <a:ln w="0">
            <a:noFill/>
          </a:ln>
        </p:spPr>
        <p:txBody>
          <a:bodyPr>
            <a:noAutofit/>
          </a:bodyPr>
          <a:lstStyle/>
          <a:p>
            <a:pPr>
              <a:defRPr sz="1500" b="0">
                <a:solidFill>
                  <a:srgbClr val="5C5C5C"/>
                </a:solidFill>
                <a:latin typeface="Arial"/>
                <a:ea typeface="Arial"/>
                <a:cs typeface="Arial"/>
              </a:defRPr>
            </a:pPr>
            <a:r>
              <a:rPr sz="2133">
                <a:solidFill>
                  <a:srgbClr val="5C5C5C"/>
                </a:solidFill>
                <a:latin typeface="Arial"/>
                <a:ea typeface="Arial"/>
                <a:cs typeface="Arial"/>
              </a:rPr>
              <a:t>Creates smoother decisions but may hide smaller patterns</a:t>
            </a:r>
          </a:p>
        </p:txBody>
      </p:sp>
      <p:sp>
        <p:nvSpPr>
          <p:cNvPr id="15" name="Rectangle 14">
            <a:extLst>
              <a:ext uri="{FF2B5EF4-FFF2-40B4-BE49-F238E27FC236}">
                <a16:creationId xmlns:a16="http://schemas.microsoft.com/office/drawing/2014/main" id="{3B84BD1C-2681-4D77-BAC3-924FF43B4071}"/>
              </a:ext>
            </a:extLst>
          </p:cNvPr>
          <p:cNvSpPr>
            <a:spLocks noGrp="1"/>
          </p:cNvSpPr>
          <p:nvPr/>
        </p:nvSpPr>
        <p:spPr>
          <a:xfrm>
            <a:off x="952169" y="5959564"/>
            <a:ext cx="108356" cy="582412"/>
          </a:xfrm>
          <a:prstGeom prst="rect">
            <a:avLst/>
          </a:prstGeom>
          <a:solidFill>
            <a:srgbClr val="7651A8"/>
          </a:solidFill>
          <a:ln w="0">
            <a:noFill/>
          </a:ln>
        </p:spPr>
        <p:txBody>
          <a:bodyPr/>
          <a:lstStyle/>
          <a:p>
            <a:endParaRPr lang="en-US" sz="3640"/>
          </a:p>
        </p:txBody>
      </p:sp>
      <p:sp>
        <p:nvSpPr>
          <p:cNvPr id="16" name="Rectangle 15">
            <a:extLst>
              <a:ext uri="{FF2B5EF4-FFF2-40B4-BE49-F238E27FC236}">
                <a16:creationId xmlns:a16="http://schemas.microsoft.com/office/drawing/2014/main" id="{ED1CB4DB-6057-47C5-BFDC-5B139DF74457}"/>
              </a:ext>
            </a:extLst>
          </p:cNvPr>
          <p:cNvSpPr>
            <a:spLocks noGrp="1"/>
          </p:cNvSpPr>
          <p:nvPr/>
        </p:nvSpPr>
        <p:spPr>
          <a:xfrm>
            <a:off x="1331414" y="5959564"/>
            <a:ext cx="4131061" cy="582412"/>
          </a:xfrm>
          <a:prstGeom prst="rect">
            <a:avLst/>
          </a:prstGeom>
          <a:noFill/>
          <a:ln w="0">
            <a:noFill/>
          </a:ln>
        </p:spPr>
        <p:txBody>
          <a:bodyPr>
            <a:noAutofit/>
          </a:bodyPr>
          <a:lstStyle/>
          <a:p>
            <a:pPr>
              <a:defRPr sz="1500" b="1">
                <a:solidFill>
                  <a:srgbClr val="7651A8"/>
                </a:solidFill>
                <a:latin typeface="Arial"/>
                <a:ea typeface="Arial"/>
                <a:cs typeface="Arial"/>
              </a:defRPr>
            </a:pPr>
            <a:r>
              <a:rPr sz="2133" b="1">
                <a:solidFill>
                  <a:srgbClr val="7651A8"/>
                </a:solidFill>
                <a:latin typeface="Arial"/>
                <a:ea typeface="Arial"/>
                <a:cs typeface="Arial"/>
              </a:rPr>
              <a:t>VALIDATION</a:t>
            </a:r>
          </a:p>
        </p:txBody>
      </p:sp>
      <p:sp>
        <p:nvSpPr>
          <p:cNvPr id="17" name="Rectangle 16">
            <a:extLst>
              <a:ext uri="{FF2B5EF4-FFF2-40B4-BE49-F238E27FC236}">
                <a16:creationId xmlns:a16="http://schemas.microsoft.com/office/drawing/2014/main" id="{04A4C61F-8392-4709-9394-D87CAD50C085}"/>
              </a:ext>
            </a:extLst>
          </p:cNvPr>
          <p:cNvSpPr>
            <a:spLocks noGrp="1"/>
          </p:cNvSpPr>
          <p:nvPr/>
        </p:nvSpPr>
        <p:spPr>
          <a:xfrm>
            <a:off x="5692730" y="5959564"/>
            <a:ext cx="10429236" cy="582412"/>
          </a:xfrm>
          <a:prstGeom prst="rect">
            <a:avLst/>
          </a:prstGeom>
          <a:noFill/>
          <a:ln w="0">
            <a:noFill/>
          </a:ln>
        </p:spPr>
        <p:txBody>
          <a:bodyPr>
            <a:noAutofit/>
          </a:bodyPr>
          <a:lstStyle/>
          <a:p>
            <a:pPr>
              <a:defRPr sz="1500" b="0">
                <a:solidFill>
                  <a:srgbClr val="5C5C5C"/>
                </a:solidFill>
                <a:latin typeface="Arial"/>
                <a:ea typeface="Arial"/>
                <a:cs typeface="Arial"/>
              </a:defRPr>
            </a:pPr>
            <a:r>
              <a:rPr sz="2133">
                <a:solidFill>
                  <a:srgbClr val="5C5C5C"/>
                </a:solidFill>
                <a:latin typeface="Arial"/>
                <a:ea typeface="Arial"/>
                <a:cs typeface="Arial"/>
              </a:rPr>
              <a:t>Choose K using validation data, not the final test set</a:t>
            </a:r>
          </a:p>
        </p:txBody>
      </p:sp>
    </p:spTree>
    <p:extLst>
      <p:ext uri="{BB962C8B-B14F-4D97-AF65-F5344CB8AC3E}">
        <p14:creationId xmlns:p14="http://schemas.microsoft.com/office/powerpoint/2010/main" val="817561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E0D24EF-B34F-4089-8BFC-851178284FA3}"/>
              </a:ext>
            </a:extLst>
          </p:cNvPr>
          <p:cNvSpPr>
            <a:spLocks noGrp="1"/>
          </p:cNvSpPr>
          <p:nvPr/>
        </p:nvSpPr>
        <p:spPr>
          <a:xfrm>
            <a:off x="4057" y="0"/>
            <a:ext cx="17336911" cy="1110646"/>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4CCC2257-9810-4EB8-9455-344B4D31F10C}"/>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Why scaling matters</a:t>
            </a:r>
          </a:p>
        </p:txBody>
      </p:sp>
      <p:sp>
        <p:nvSpPr>
          <p:cNvPr id="3" name="Rectangle 2">
            <a:extLst>
              <a:ext uri="{FF2B5EF4-FFF2-40B4-BE49-F238E27FC236}">
                <a16:creationId xmlns:a16="http://schemas.microsoft.com/office/drawing/2014/main" id="{663DFECF-7C2F-40DC-BED5-6E267B440DD4}"/>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07D0F534-4869-489F-846C-A6F70845BD68}"/>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B2F3FDE9-A31C-4674-85AE-3357E8DCD8A1}"/>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20  MACHINE LEARNING II</a:t>
            </a:r>
          </a:p>
        </p:txBody>
      </p:sp>
      <p:sp>
        <p:nvSpPr>
          <p:cNvPr id="6" name="Rectangle 5">
            <a:extLst>
              <a:ext uri="{FF2B5EF4-FFF2-40B4-BE49-F238E27FC236}">
                <a16:creationId xmlns:a16="http://schemas.microsoft.com/office/drawing/2014/main" id="{E1C56C9F-C33D-4CFE-98FD-925C9DD05296}"/>
              </a:ext>
            </a:extLst>
          </p:cNvPr>
          <p:cNvSpPr>
            <a:spLocks noGrp="1"/>
          </p:cNvSpPr>
          <p:nvPr/>
        </p:nvSpPr>
        <p:spPr>
          <a:xfrm>
            <a:off x="1019891" y="1963947"/>
            <a:ext cx="7449454" cy="5417785"/>
          </a:xfrm>
          <a:prstGeom prst="rect">
            <a:avLst/>
          </a:prstGeom>
          <a:solidFill>
            <a:srgbClr val="FFFFFF"/>
          </a:solidFill>
          <a:ln w="9525">
            <a:solidFill>
              <a:srgbClr val="D84A4A"/>
            </a:solidFill>
          </a:ln>
        </p:spPr>
        <p:txBody>
          <a:bodyPr/>
          <a:lstStyle/>
          <a:p>
            <a:endParaRPr lang="en-US" sz="3640"/>
          </a:p>
        </p:txBody>
      </p:sp>
      <p:sp>
        <p:nvSpPr>
          <p:cNvPr id="7" name="Rectangle 6">
            <a:extLst>
              <a:ext uri="{FF2B5EF4-FFF2-40B4-BE49-F238E27FC236}">
                <a16:creationId xmlns:a16="http://schemas.microsoft.com/office/drawing/2014/main" id="{B2FA5F4E-A000-4550-BB4F-227687084BB6}"/>
              </a:ext>
            </a:extLst>
          </p:cNvPr>
          <p:cNvSpPr>
            <a:spLocks noGrp="1"/>
          </p:cNvSpPr>
          <p:nvPr/>
        </p:nvSpPr>
        <p:spPr>
          <a:xfrm>
            <a:off x="1493947" y="2505725"/>
            <a:ext cx="6501342" cy="568867"/>
          </a:xfrm>
          <a:prstGeom prst="rect">
            <a:avLst/>
          </a:prstGeom>
          <a:noFill/>
          <a:ln w="0">
            <a:noFill/>
          </a:ln>
        </p:spPr>
        <p:txBody>
          <a:bodyPr>
            <a:noAutofit/>
          </a:bodyPr>
          <a:lstStyle/>
          <a:p>
            <a:pPr>
              <a:defRPr sz="1950" b="1">
                <a:solidFill>
                  <a:srgbClr val="D84A4A"/>
                </a:solidFill>
                <a:latin typeface="Arial"/>
                <a:ea typeface="Arial"/>
                <a:cs typeface="Arial"/>
              </a:defRPr>
            </a:pPr>
            <a:r>
              <a:rPr sz="2773" b="1">
                <a:solidFill>
                  <a:srgbClr val="D84A4A"/>
                </a:solidFill>
                <a:latin typeface="Arial"/>
                <a:ea typeface="Arial"/>
                <a:cs typeface="Arial"/>
              </a:rPr>
              <a:t>BEFORE SCALING</a:t>
            </a:r>
          </a:p>
        </p:txBody>
      </p:sp>
      <p:sp>
        <p:nvSpPr>
          <p:cNvPr id="8" name="Rectangle 7">
            <a:extLst>
              <a:ext uri="{FF2B5EF4-FFF2-40B4-BE49-F238E27FC236}">
                <a16:creationId xmlns:a16="http://schemas.microsoft.com/office/drawing/2014/main" id="{1C67F99B-474D-40B3-BFF5-FC16D1783A66}"/>
              </a:ext>
            </a:extLst>
          </p:cNvPr>
          <p:cNvSpPr>
            <a:spLocks noGrp="1"/>
          </p:cNvSpPr>
          <p:nvPr/>
        </p:nvSpPr>
        <p:spPr>
          <a:xfrm>
            <a:off x="1764837" y="3657005"/>
            <a:ext cx="5959563" cy="2641170"/>
          </a:xfrm>
          <a:prstGeom prst="rect">
            <a:avLst/>
          </a:prstGeom>
          <a:noFill/>
          <a:ln w="0">
            <a:noFill/>
          </a:ln>
        </p:spPr>
        <p:txBody>
          <a:bodyPr>
            <a:noAutofit/>
          </a:bodyPr>
          <a:lstStyle/>
          <a:p>
            <a:pPr>
              <a:defRPr sz="1575" b="0">
                <a:solidFill>
                  <a:srgbClr val="111111"/>
                </a:solidFill>
                <a:latin typeface="Arial"/>
                <a:ea typeface="Arial"/>
                <a:cs typeface="Arial"/>
              </a:defRPr>
            </a:pPr>
            <a:r>
              <a:rPr sz="2240">
                <a:solidFill>
                  <a:srgbClr val="111111"/>
                </a:solidFill>
                <a:latin typeface="Arial"/>
                <a:ea typeface="Arial"/>
                <a:cs typeface="Arial"/>
              </a:rPr>
              <a:t>Age: 18 to 80</a:t>
            </a:r>
          </a:p>
          <a:p>
            <a:pPr>
              <a:defRPr sz="1575" b="0">
                <a:solidFill>
                  <a:srgbClr val="111111"/>
                </a:solidFill>
                <a:latin typeface="Arial"/>
                <a:ea typeface="Arial"/>
                <a:cs typeface="Arial"/>
              </a:defRPr>
            </a:pPr>
            <a:r>
              <a:rPr sz="2240">
                <a:solidFill>
                  <a:srgbClr val="111111"/>
                </a:solidFill>
                <a:latin typeface="Arial"/>
                <a:ea typeface="Arial"/>
                <a:cs typeface="Arial"/>
              </a:rPr>
              <a:t>Income: 200,000 to 2,000,000</a:t>
            </a:r>
          </a:p>
          <a:p>
            <a:endParaRPr sz="2240">
              <a:solidFill>
                <a:srgbClr val="111111"/>
              </a:solidFill>
              <a:latin typeface="Arial"/>
              <a:ea typeface="Arial"/>
              <a:cs typeface="Arial"/>
            </a:endParaRPr>
          </a:p>
          <a:p>
            <a:pPr>
              <a:defRPr sz="1575" b="0">
                <a:solidFill>
                  <a:srgbClr val="111111"/>
                </a:solidFill>
                <a:latin typeface="Arial"/>
                <a:ea typeface="Arial"/>
                <a:cs typeface="Arial"/>
              </a:defRPr>
            </a:pPr>
            <a:r>
              <a:rPr sz="2240">
                <a:solidFill>
                  <a:srgbClr val="111111"/>
                </a:solidFill>
                <a:latin typeface="Arial"/>
                <a:ea typeface="Arial"/>
                <a:cs typeface="Arial"/>
              </a:rPr>
              <a:t>Income dominates the distance calculation.</a:t>
            </a:r>
          </a:p>
        </p:txBody>
      </p:sp>
      <p:sp>
        <p:nvSpPr>
          <p:cNvPr id="9" name="Rectangle 8">
            <a:extLst>
              <a:ext uri="{FF2B5EF4-FFF2-40B4-BE49-F238E27FC236}">
                <a16:creationId xmlns:a16="http://schemas.microsoft.com/office/drawing/2014/main" id="{259036E3-D56D-456D-BEC7-33AF99348ED7}"/>
              </a:ext>
            </a:extLst>
          </p:cNvPr>
          <p:cNvSpPr>
            <a:spLocks noGrp="1"/>
          </p:cNvSpPr>
          <p:nvPr/>
        </p:nvSpPr>
        <p:spPr>
          <a:xfrm>
            <a:off x="8875679" y="1963947"/>
            <a:ext cx="7449454" cy="5417785"/>
          </a:xfrm>
          <a:prstGeom prst="rect">
            <a:avLst/>
          </a:prstGeom>
          <a:solidFill>
            <a:srgbClr val="FFFFFF"/>
          </a:solidFill>
          <a:ln w="9525">
            <a:solidFill>
              <a:srgbClr val="3A9D5D"/>
            </a:solidFill>
          </a:ln>
        </p:spPr>
        <p:txBody>
          <a:bodyPr/>
          <a:lstStyle/>
          <a:p>
            <a:endParaRPr lang="en-US" sz="3640"/>
          </a:p>
        </p:txBody>
      </p:sp>
      <p:sp>
        <p:nvSpPr>
          <p:cNvPr id="10" name="Rectangle 9">
            <a:extLst>
              <a:ext uri="{FF2B5EF4-FFF2-40B4-BE49-F238E27FC236}">
                <a16:creationId xmlns:a16="http://schemas.microsoft.com/office/drawing/2014/main" id="{DE8707C7-D142-4E79-BDA7-3926915D1F42}"/>
              </a:ext>
            </a:extLst>
          </p:cNvPr>
          <p:cNvSpPr>
            <a:spLocks noGrp="1"/>
          </p:cNvSpPr>
          <p:nvPr/>
        </p:nvSpPr>
        <p:spPr>
          <a:xfrm>
            <a:off x="9349735" y="2505725"/>
            <a:ext cx="6501342" cy="568867"/>
          </a:xfrm>
          <a:prstGeom prst="rect">
            <a:avLst/>
          </a:prstGeom>
          <a:noFill/>
          <a:ln w="0">
            <a:noFill/>
          </a:ln>
        </p:spPr>
        <p:txBody>
          <a:bodyPr>
            <a:noAutofit/>
          </a:bodyPr>
          <a:lstStyle/>
          <a:p>
            <a:pPr>
              <a:defRPr sz="1950" b="1">
                <a:solidFill>
                  <a:srgbClr val="3A9D5D"/>
                </a:solidFill>
                <a:latin typeface="Arial"/>
                <a:ea typeface="Arial"/>
                <a:cs typeface="Arial"/>
              </a:defRPr>
            </a:pPr>
            <a:r>
              <a:rPr sz="2773" b="1">
                <a:solidFill>
                  <a:srgbClr val="3A9D5D"/>
                </a:solidFill>
                <a:latin typeface="Arial"/>
                <a:ea typeface="Arial"/>
                <a:cs typeface="Arial"/>
              </a:rPr>
              <a:t>AFTER SCALING</a:t>
            </a:r>
          </a:p>
        </p:txBody>
      </p:sp>
      <p:sp>
        <p:nvSpPr>
          <p:cNvPr id="11" name="Rectangle 10">
            <a:extLst>
              <a:ext uri="{FF2B5EF4-FFF2-40B4-BE49-F238E27FC236}">
                <a16:creationId xmlns:a16="http://schemas.microsoft.com/office/drawing/2014/main" id="{306E2ADC-3800-4374-8E54-ABC14CCC900C}"/>
              </a:ext>
            </a:extLst>
          </p:cNvPr>
          <p:cNvSpPr>
            <a:spLocks noGrp="1"/>
          </p:cNvSpPr>
          <p:nvPr/>
        </p:nvSpPr>
        <p:spPr>
          <a:xfrm>
            <a:off x="9620624" y="3657005"/>
            <a:ext cx="5959563" cy="2641170"/>
          </a:xfrm>
          <a:prstGeom prst="rect">
            <a:avLst/>
          </a:prstGeom>
          <a:noFill/>
          <a:ln w="0">
            <a:noFill/>
          </a:ln>
        </p:spPr>
        <p:txBody>
          <a:bodyPr>
            <a:noAutofit/>
          </a:bodyPr>
          <a:lstStyle/>
          <a:p>
            <a:pPr>
              <a:defRPr sz="1575" b="0">
                <a:solidFill>
                  <a:srgbClr val="111111"/>
                </a:solidFill>
                <a:latin typeface="Arial"/>
                <a:ea typeface="Arial"/>
                <a:cs typeface="Arial"/>
              </a:defRPr>
            </a:pPr>
            <a:r>
              <a:rPr sz="2240">
                <a:solidFill>
                  <a:srgbClr val="111111"/>
                </a:solidFill>
                <a:latin typeface="Arial"/>
                <a:ea typeface="Arial"/>
                <a:cs typeface="Arial"/>
              </a:rPr>
              <a:t>Both features use comparable numerical ranges.</a:t>
            </a:r>
          </a:p>
          <a:p>
            <a:endParaRPr sz="2240">
              <a:solidFill>
                <a:srgbClr val="111111"/>
              </a:solidFill>
              <a:latin typeface="Arial"/>
              <a:ea typeface="Arial"/>
              <a:cs typeface="Arial"/>
            </a:endParaRPr>
          </a:p>
          <a:p>
            <a:pPr>
              <a:defRPr sz="1575" b="0">
                <a:solidFill>
                  <a:srgbClr val="111111"/>
                </a:solidFill>
                <a:latin typeface="Arial"/>
                <a:ea typeface="Arial"/>
                <a:cs typeface="Arial"/>
              </a:defRPr>
            </a:pPr>
            <a:r>
              <a:rPr sz="2240">
                <a:solidFill>
                  <a:srgbClr val="111111"/>
                </a:solidFill>
                <a:latin typeface="Arial"/>
                <a:ea typeface="Arial"/>
                <a:cs typeface="Arial"/>
              </a:rPr>
              <a:t>Each feature can contribute more fairly.</a:t>
            </a:r>
          </a:p>
        </p:txBody>
      </p:sp>
    </p:spTree>
    <p:extLst>
      <p:ext uri="{BB962C8B-B14F-4D97-AF65-F5344CB8AC3E}">
        <p14:creationId xmlns:p14="http://schemas.microsoft.com/office/powerpoint/2010/main" val="17973126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B7B437-7BFB-4EEA-B270-B54638631D7F}"/>
              </a:ext>
            </a:extLst>
          </p:cNvPr>
          <p:cNvSpPr>
            <a:spLocks noGrp="1"/>
          </p:cNvSpPr>
          <p:nvPr/>
        </p:nvSpPr>
        <p:spPr>
          <a:xfrm>
            <a:off x="4057" y="0"/>
            <a:ext cx="17336911" cy="1110646"/>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8A52B14E-E544-49B8-9DBB-411FFB6E964B}"/>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KNN in scikit-learn</a:t>
            </a:r>
          </a:p>
        </p:txBody>
      </p:sp>
      <p:sp>
        <p:nvSpPr>
          <p:cNvPr id="3" name="Rectangle 2">
            <a:extLst>
              <a:ext uri="{FF2B5EF4-FFF2-40B4-BE49-F238E27FC236}">
                <a16:creationId xmlns:a16="http://schemas.microsoft.com/office/drawing/2014/main" id="{CA8CFAEB-E816-4530-9EDB-4439D8F6B8BA}"/>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F20E6F20-CC4A-410C-87CB-FDFD9816637A}"/>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E3288261-CB8C-475A-A9D8-4C236EA44751}"/>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21  MACHINE LEARNING II</a:t>
            </a:r>
          </a:p>
        </p:txBody>
      </p:sp>
      <p:sp>
        <p:nvSpPr>
          <p:cNvPr id="6" name="Rectangle 5">
            <a:extLst>
              <a:ext uri="{FF2B5EF4-FFF2-40B4-BE49-F238E27FC236}">
                <a16:creationId xmlns:a16="http://schemas.microsoft.com/office/drawing/2014/main" id="{3C77E430-55BC-43E3-AC43-34729197917F}"/>
              </a:ext>
            </a:extLst>
          </p:cNvPr>
          <p:cNvSpPr>
            <a:spLocks noGrp="1"/>
          </p:cNvSpPr>
          <p:nvPr/>
        </p:nvSpPr>
        <p:spPr>
          <a:xfrm>
            <a:off x="1019891" y="1693058"/>
            <a:ext cx="15305242" cy="5485507"/>
          </a:xfrm>
          <a:prstGeom prst="rect">
            <a:avLst/>
          </a:prstGeom>
          <a:solidFill>
            <a:srgbClr val="161B22"/>
          </a:solidFill>
          <a:ln w="0">
            <a:noFill/>
          </a:ln>
        </p:spPr>
        <p:txBody>
          <a:bodyPr/>
          <a:lstStyle/>
          <a:p>
            <a:endParaRPr lang="en-US" sz="3640"/>
          </a:p>
        </p:txBody>
      </p:sp>
      <p:sp>
        <p:nvSpPr>
          <p:cNvPr id="7" name="Rectangle 6">
            <a:extLst>
              <a:ext uri="{FF2B5EF4-FFF2-40B4-BE49-F238E27FC236}">
                <a16:creationId xmlns:a16="http://schemas.microsoft.com/office/drawing/2014/main" id="{B3AB3232-2F77-47BF-A913-B051C50FDAF8}"/>
              </a:ext>
            </a:extLst>
          </p:cNvPr>
          <p:cNvSpPr>
            <a:spLocks noGrp="1"/>
          </p:cNvSpPr>
          <p:nvPr/>
        </p:nvSpPr>
        <p:spPr>
          <a:xfrm>
            <a:off x="1426225" y="2031669"/>
            <a:ext cx="14492574" cy="4740562"/>
          </a:xfrm>
          <a:prstGeom prst="rect">
            <a:avLst/>
          </a:prstGeom>
          <a:noFill/>
          <a:ln w="0">
            <a:noFill/>
          </a:ln>
        </p:spPr>
        <p:txBody>
          <a:bodyPr>
            <a:noAutofit/>
          </a:bodyPr>
          <a:lstStyle/>
          <a:p>
            <a:pPr>
              <a:defRPr sz="1575" b="0">
                <a:solidFill>
                  <a:srgbClr val="E6EDF3"/>
                </a:solidFill>
                <a:latin typeface="Arial"/>
                <a:ea typeface="Arial"/>
                <a:cs typeface="Arial"/>
              </a:defRPr>
            </a:pPr>
            <a:r>
              <a:rPr sz="2240">
                <a:solidFill>
                  <a:srgbClr val="E6EDF3"/>
                </a:solidFill>
                <a:latin typeface="Arial"/>
                <a:ea typeface="Arial"/>
                <a:cs typeface="Arial"/>
              </a:rPr>
              <a:t>from sklearn.pipeline import make_pipeline</a:t>
            </a:r>
          </a:p>
          <a:p>
            <a:pPr>
              <a:defRPr sz="1575" b="0">
                <a:solidFill>
                  <a:srgbClr val="E6EDF3"/>
                </a:solidFill>
                <a:latin typeface="Arial"/>
                <a:ea typeface="Arial"/>
                <a:cs typeface="Arial"/>
              </a:defRPr>
            </a:pPr>
            <a:r>
              <a:rPr sz="2240">
                <a:solidFill>
                  <a:srgbClr val="E6EDF3"/>
                </a:solidFill>
                <a:latin typeface="Arial"/>
                <a:ea typeface="Arial"/>
                <a:cs typeface="Arial"/>
              </a:rPr>
              <a:t>from sklearn.preprocessing import StandardScaler</a:t>
            </a:r>
          </a:p>
          <a:p>
            <a:pPr>
              <a:defRPr sz="1575" b="0">
                <a:solidFill>
                  <a:srgbClr val="E6EDF3"/>
                </a:solidFill>
                <a:latin typeface="Arial"/>
                <a:ea typeface="Arial"/>
                <a:cs typeface="Arial"/>
              </a:defRPr>
            </a:pPr>
            <a:r>
              <a:rPr sz="2240">
                <a:solidFill>
                  <a:srgbClr val="E6EDF3"/>
                </a:solidFill>
                <a:latin typeface="Arial"/>
                <a:ea typeface="Arial"/>
                <a:cs typeface="Arial"/>
              </a:rPr>
              <a:t>from sklearn.neighbors import KNeighborsClassifier</a:t>
            </a:r>
          </a:p>
          <a:p>
            <a:endParaRPr sz="2240">
              <a:solidFill>
                <a:srgbClr val="E6EDF3"/>
              </a:solidFill>
              <a:latin typeface="Arial"/>
              <a:ea typeface="Arial"/>
              <a:cs typeface="Arial"/>
            </a:endParaRPr>
          </a:p>
          <a:p>
            <a:pPr>
              <a:defRPr sz="1575" b="0">
                <a:solidFill>
                  <a:srgbClr val="E6EDF3"/>
                </a:solidFill>
                <a:latin typeface="Arial"/>
                <a:ea typeface="Arial"/>
                <a:cs typeface="Arial"/>
              </a:defRPr>
            </a:pPr>
            <a:r>
              <a:rPr sz="2240">
                <a:solidFill>
                  <a:srgbClr val="E6EDF3"/>
                </a:solidFill>
                <a:latin typeface="Arial"/>
                <a:ea typeface="Arial"/>
                <a:cs typeface="Arial"/>
              </a:rPr>
              <a:t>model = make_pipeline(</a:t>
            </a:r>
          </a:p>
          <a:p>
            <a:pPr>
              <a:defRPr sz="1575" b="0">
                <a:solidFill>
                  <a:srgbClr val="E6EDF3"/>
                </a:solidFill>
                <a:latin typeface="Arial"/>
                <a:ea typeface="Arial"/>
                <a:cs typeface="Arial"/>
              </a:defRPr>
            </a:pPr>
            <a:r>
              <a:rPr sz="2240">
                <a:solidFill>
                  <a:srgbClr val="E6EDF3"/>
                </a:solidFill>
                <a:latin typeface="Arial"/>
                <a:ea typeface="Arial"/>
                <a:cs typeface="Arial"/>
              </a:rPr>
              <a:t>    StandardScaler(),</a:t>
            </a:r>
          </a:p>
          <a:p>
            <a:pPr>
              <a:defRPr sz="1575" b="0">
                <a:solidFill>
                  <a:srgbClr val="E6EDF3"/>
                </a:solidFill>
                <a:latin typeface="Arial"/>
                <a:ea typeface="Arial"/>
                <a:cs typeface="Arial"/>
              </a:defRPr>
            </a:pPr>
            <a:r>
              <a:rPr sz="2240">
                <a:solidFill>
                  <a:srgbClr val="E6EDF3"/>
                </a:solidFill>
                <a:latin typeface="Arial"/>
                <a:ea typeface="Arial"/>
                <a:cs typeface="Arial"/>
              </a:rPr>
              <a:t>    KNeighborsClassifier(n_neighbors=5)</a:t>
            </a:r>
          </a:p>
          <a:p>
            <a:pPr>
              <a:defRPr sz="1575" b="0">
                <a:solidFill>
                  <a:srgbClr val="E6EDF3"/>
                </a:solidFill>
                <a:latin typeface="Arial"/>
                <a:ea typeface="Arial"/>
                <a:cs typeface="Arial"/>
              </a:defRPr>
            </a:pPr>
            <a:r>
              <a:rPr sz="2240">
                <a:solidFill>
                  <a:srgbClr val="E6EDF3"/>
                </a:solidFill>
                <a:latin typeface="Arial"/>
                <a:ea typeface="Arial"/>
                <a:cs typeface="Arial"/>
              </a:rPr>
              <a:t>)</a:t>
            </a:r>
          </a:p>
          <a:p>
            <a:pPr>
              <a:defRPr sz="1575" b="0">
                <a:solidFill>
                  <a:srgbClr val="E6EDF3"/>
                </a:solidFill>
                <a:latin typeface="Arial"/>
                <a:ea typeface="Arial"/>
                <a:cs typeface="Arial"/>
              </a:defRPr>
            </a:pPr>
            <a:r>
              <a:rPr sz="2240">
                <a:solidFill>
                  <a:srgbClr val="E6EDF3"/>
                </a:solidFill>
                <a:latin typeface="Arial"/>
                <a:ea typeface="Arial"/>
                <a:cs typeface="Arial"/>
              </a:rPr>
              <a:t>model.fit(X_train, y_train)</a:t>
            </a:r>
          </a:p>
          <a:p>
            <a:pPr>
              <a:defRPr sz="1575" b="0">
                <a:solidFill>
                  <a:srgbClr val="E6EDF3"/>
                </a:solidFill>
                <a:latin typeface="Arial"/>
                <a:ea typeface="Arial"/>
                <a:cs typeface="Arial"/>
              </a:defRPr>
            </a:pPr>
            <a:r>
              <a:rPr sz="2240">
                <a:solidFill>
                  <a:srgbClr val="E6EDF3"/>
                </a:solidFill>
                <a:latin typeface="Arial"/>
                <a:ea typeface="Arial"/>
                <a:cs typeface="Arial"/>
              </a:rPr>
              <a:t>predictions = model.predict(X_test)</a:t>
            </a:r>
          </a:p>
        </p:txBody>
      </p:sp>
      <p:sp>
        <p:nvSpPr>
          <p:cNvPr id="8" name="Rectangle 7">
            <a:extLst>
              <a:ext uri="{FF2B5EF4-FFF2-40B4-BE49-F238E27FC236}">
                <a16:creationId xmlns:a16="http://schemas.microsoft.com/office/drawing/2014/main" id="{571C507B-8B13-4181-8653-BCF989E0F808}"/>
              </a:ext>
            </a:extLst>
          </p:cNvPr>
          <p:cNvSpPr>
            <a:spLocks noGrp="1"/>
          </p:cNvSpPr>
          <p:nvPr/>
        </p:nvSpPr>
        <p:spPr>
          <a:xfrm>
            <a:off x="1764837" y="7652621"/>
            <a:ext cx="13815351" cy="541778"/>
          </a:xfrm>
          <a:prstGeom prst="rect">
            <a:avLst/>
          </a:prstGeom>
          <a:noFill/>
          <a:ln w="0">
            <a:noFill/>
          </a:ln>
        </p:spPr>
        <p:txBody>
          <a:bodyPr>
            <a:noAutofit/>
          </a:bodyPr>
          <a:lstStyle/>
          <a:p>
            <a:pPr>
              <a:defRPr sz="1650" b="1">
                <a:solidFill>
                  <a:srgbClr val="111111"/>
                </a:solidFill>
                <a:latin typeface="Arial"/>
                <a:ea typeface="Arial"/>
                <a:cs typeface="Arial"/>
              </a:defRPr>
            </a:pPr>
            <a:r>
              <a:rPr sz="2346" b="1">
                <a:solidFill>
                  <a:srgbClr val="111111"/>
                </a:solidFill>
                <a:latin typeface="Arial"/>
                <a:ea typeface="Arial"/>
                <a:cs typeface="Arial"/>
              </a:rPr>
              <a:t>A pipeline applies the same scaling during training and prediction</a:t>
            </a:r>
          </a:p>
        </p:txBody>
      </p:sp>
    </p:spTree>
    <p:extLst>
      <p:ext uri="{BB962C8B-B14F-4D97-AF65-F5344CB8AC3E}">
        <p14:creationId xmlns:p14="http://schemas.microsoft.com/office/powerpoint/2010/main" val="9295049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E442DC8-18D5-436F-B823-87CA7CD23271}"/>
              </a:ext>
            </a:extLst>
          </p:cNvPr>
          <p:cNvSpPr>
            <a:spLocks noGrp="1"/>
          </p:cNvSpPr>
          <p:nvPr/>
        </p:nvSpPr>
        <p:spPr>
          <a:xfrm>
            <a:off x="4057" y="0"/>
            <a:ext cx="17336911" cy="1110646"/>
          </a:xfrm>
          <a:prstGeom prst="rect">
            <a:avLst/>
          </a:prstGeom>
          <a:solidFill>
            <a:srgbClr val="FFD900"/>
          </a:solidFill>
          <a:ln w="0">
            <a:noFill/>
          </a:ln>
        </p:spPr>
        <p:txBody>
          <a:bodyPr/>
          <a:lstStyle/>
          <a:p>
            <a:endParaRPr lang="en-US" sz="3640"/>
          </a:p>
        </p:txBody>
      </p:sp>
      <p:sp>
        <p:nvSpPr>
          <p:cNvPr id="2" name="Rectangle 1">
            <a:extLst>
              <a:ext uri="{FF2B5EF4-FFF2-40B4-BE49-F238E27FC236}">
                <a16:creationId xmlns:a16="http://schemas.microsoft.com/office/drawing/2014/main" id="{358529BA-2654-40C5-9867-576D2BD1F679}"/>
              </a:ext>
            </a:extLst>
          </p:cNvPr>
          <p:cNvSpPr>
            <a:spLocks noGrp="1"/>
          </p:cNvSpPr>
          <p:nvPr/>
        </p:nvSpPr>
        <p:spPr>
          <a:xfrm>
            <a:off x="762546" y="162533"/>
            <a:ext cx="15711576" cy="785579"/>
          </a:xfrm>
          <a:prstGeom prst="rect">
            <a:avLst/>
          </a:prstGeom>
          <a:noFill/>
          <a:ln w="0">
            <a:noFill/>
          </a:ln>
        </p:spPr>
        <p:txBody>
          <a:bodyPr>
            <a:noAutofit/>
          </a:bodyPr>
          <a:lstStyle/>
          <a:p>
            <a:pPr>
              <a:defRPr sz="2250" b="1">
                <a:solidFill>
                  <a:srgbClr val="111111"/>
                </a:solidFill>
                <a:latin typeface="Arial"/>
                <a:ea typeface="Arial"/>
                <a:cs typeface="Arial"/>
              </a:defRPr>
            </a:pPr>
            <a:r>
              <a:rPr sz="3200" b="1">
                <a:solidFill>
                  <a:srgbClr val="111111"/>
                </a:solidFill>
                <a:latin typeface="Arial"/>
                <a:ea typeface="Arial"/>
                <a:cs typeface="Arial"/>
              </a:rPr>
              <a:t>KNN strengths and limitations</a:t>
            </a:r>
          </a:p>
        </p:txBody>
      </p:sp>
      <p:sp>
        <p:nvSpPr>
          <p:cNvPr id="3" name="Rectangle 2">
            <a:extLst>
              <a:ext uri="{FF2B5EF4-FFF2-40B4-BE49-F238E27FC236}">
                <a16:creationId xmlns:a16="http://schemas.microsoft.com/office/drawing/2014/main" id="{1179C6A3-0E01-4208-8418-05D7C2729664}"/>
              </a:ext>
            </a:extLst>
          </p:cNvPr>
          <p:cNvSpPr>
            <a:spLocks noGrp="1"/>
          </p:cNvSpPr>
          <p:nvPr/>
        </p:nvSpPr>
        <p:spPr>
          <a:xfrm>
            <a:off x="572924" y="9237323"/>
            <a:ext cx="433422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OSLO METROPOLITAN UNIVERSITY</a:t>
            </a:r>
          </a:p>
        </p:txBody>
      </p:sp>
      <p:sp>
        <p:nvSpPr>
          <p:cNvPr id="4" name="Rectangle 3">
            <a:extLst>
              <a:ext uri="{FF2B5EF4-FFF2-40B4-BE49-F238E27FC236}">
                <a16:creationId xmlns:a16="http://schemas.microsoft.com/office/drawing/2014/main" id="{9ACE53B5-99AD-46EC-9D6C-39D99AFD9C11}"/>
              </a:ext>
            </a:extLst>
          </p:cNvPr>
          <p:cNvSpPr>
            <a:spLocks noGrp="1"/>
          </p:cNvSpPr>
          <p:nvPr/>
        </p:nvSpPr>
        <p:spPr>
          <a:xfrm>
            <a:off x="5828175" y="9237323"/>
            <a:ext cx="5688674"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DAVE3625 · UMAIR MEHMOOD IMAM</a:t>
            </a:r>
          </a:p>
        </p:txBody>
      </p:sp>
      <p:sp>
        <p:nvSpPr>
          <p:cNvPr id="5" name="Rectangle 4">
            <a:extLst>
              <a:ext uri="{FF2B5EF4-FFF2-40B4-BE49-F238E27FC236}">
                <a16:creationId xmlns:a16="http://schemas.microsoft.com/office/drawing/2014/main" id="{57E7FD79-3A79-4141-B7F1-69D3D6540E83}"/>
              </a:ext>
            </a:extLst>
          </p:cNvPr>
          <p:cNvSpPr>
            <a:spLocks noGrp="1"/>
          </p:cNvSpPr>
          <p:nvPr/>
        </p:nvSpPr>
        <p:spPr>
          <a:xfrm>
            <a:off x="13277630" y="9237323"/>
            <a:ext cx="3453838" cy="243800"/>
          </a:xfrm>
          <a:prstGeom prst="rect">
            <a:avLst/>
          </a:prstGeom>
          <a:noFill/>
          <a:ln w="0">
            <a:noFill/>
          </a:ln>
        </p:spPr>
        <p:txBody>
          <a:bodyPr>
            <a:noAutofit/>
          </a:bodyPr>
          <a:lstStyle/>
          <a:p>
            <a:pPr>
              <a:defRPr sz="750" b="0">
                <a:solidFill>
                  <a:srgbClr val="777777"/>
                </a:solidFill>
                <a:latin typeface="Arial"/>
                <a:ea typeface="Arial"/>
                <a:cs typeface="Arial"/>
              </a:defRPr>
            </a:pPr>
            <a:r>
              <a:rPr sz="1067">
                <a:solidFill>
                  <a:srgbClr val="777777"/>
                </a:solidFill>
                <a:latin typeface="Arial"/>
                <a:ea typeface="Arial"/>
                <a:cs typeface="Arial"/>
              </a:rPr>
              <a:t>22  MACHINE LEARNING II</a:t>
            </a:r>
          </a:p>
        </p:txBody>
      </p:sp>
      <p:sp>
        <p:nvSpPr>
          <p:cNvPr id="6" name="Rectangle 5">
            <a:extLst>
              <a:ext uri="{FF2B5EF4-FFF2-40B4-BE49-F238E27FC236}">
                <a16:creationId xmlns:a16="http://schemas.microsoft.com/office/drawing/2014/main" id="{EE96A6E8-9861-4D08-BCA5-99BAA2052044}"/>
              </a:ext>
            </a:extLst>
          </p:cNvPr>
          <p:cNvSpPr>
            <a:spLocks noGrp="1"/>
          </p:cNvSpPr>
          <p:nvPr/>
        </p:nvSpPr>
        <p:spPr>
          <a:xfrm>
            <a:off x="1019891" y="1963947"/>
            <a:ext cx="7449454" cy="5417785"/>
          </a:xfrm>
          <a:prstGeom prst="rect">
            <a:avLst/>
          </a:prstGeom>
          <a:solidFill>
            <a:srgbClr val="FFFFFF"/>
          </a:solidFill>
          <a:ln w="9525">
            <a:solidFill>
              <a:srgbClr val="3A9D5D"/>
            </a:solidFill>
          </a:ln>
        </p:spPr>
        <p:txBody>
          <a:bodyPr/>
          <a:lstStyle/>
          <a:p>
            <a:endParaRPr lang="en-US" sz="3640"/>
          </a:p>
        </p:txBody>
      </p:sp>
      <p:sp>
        <p:nvSpPr>
          <p:cNvPr id="7" name="Rectangle 6">
            <a:extLst>
              <a:ext uri="{FF2B5EF4-FFF2-40B4-BE49-F238E27FC236}">
                <a16:creationId xmlns:a16="http://schemas.microsoft.com/office/drawing/2014/main" id="{33C00C0D-1E92-4339-8121-C03F8A1117BF}"/>
              </a:ext>
            </a:extLst>
          </p:cNvPr>
          <p:cNvSpPr>
            <a:spLocks noGrp="1"/>
          </p:cNvSpPr>
          <p:nvPr/>
        </p:nvSpPr>
        <p:spPr>
          <a:xfrm>
            <a:off x="1493947" y="2505725"/>
            <a:ext cx="6501342" cy="568867"/>
          </a:xfrm>
          <a:prstGeom prst="rect">
            <a:avLst/>
          </a:prstGeom>
          <a:noFill/>
          <a:ln w="0">
            <a:noFill/>
          </a:ln>
        </p:spPr>
        <p:txBody>
          <a:bodyPr>
            <a:noAutofit/>
          </a:bodyPr>
          <a:lstStyle/>
          <a:p>
            <a:pPr>
              <a:defRPr sz="1950" b="1">
                <a:solidFill>
                  <a:srgbClr val="3A9D5D"/>
                </a:solidFill>
                <a:latin typeface="Arial"/>
                <a:ea typeface="Arial"/>
                <a:cs typeface="Arial"/>
              </a:defRPr>
            </a:pPr>
            <a:r>
              <a:rPr sz="2773" b="1">
                <a:solidFill>
                  <a:srgbClr val="3A9D5D"/>
                </a:solidFill>
                <a:latin typeface="Arial"/>
                <a:ea typeface="Arial"/>
                <a:cs typeface="Arial"/>
              </a:rPr>
              <a:t>STRENGTHS</a:t>
            </a:r>
          </a:p>
        </p:txBody>
      </p:sp>
      <p:sp>
        <p:nvSpPr>
          <p:cNvPr id="8" name="Rectangle 7">
            <a:extLst>
              <a:ext uri="{FF2B5EF4-FFF2-40B4-BE49-F238E27FC236}">
                <a16:creationId xmlns:a16="http://schemas.microsoft.com/office/drawing/2014/main" id="{DBF86B9B-9617-423B-A8EA-1F090E338E8C}"/>
              </a:ext>
            </a:extLst>
          </p:cNvPr>
          <p:cNvSpPr>
            <a:spLocks noGrp="1"/>
          </p:cNvSpPr>
          <p:nvPr/>
        </p:nvSpPr>
        <p:spPr>
          <a:xfrm>
            <a:off x="1764837" y="3657005"/>
            <a:ext cx="5959563" cy="2641170"/>
          </a:xfrm>
          <a:prstGeom prst="rect">
            <a:avLst/>
          </a:prstGeom>
          <a:noFill/>
          <a:ln w="0">
            <a:noFill/>
          </a:ln>
        </p:spPr>
        <p:txBody>
          <a:bodyPr>
            <a:noAutofit/>
          </a:bodyPr>
          <a:lstStyle/>
          <a:p>
            <a:pPr>
              <a:defRPr sz="1575" b="0">
                <a:solidFill>
                  <a:srgbClr val="111111"/>
                </a:solidFill>
                <a:latin typeface="Arial"/>
                <a:ea typeface="Arial"/>
                <a:cs typeface="Arial"/>
              </a:defRPr>
            </a:pPr>
            <a:r>
              <a:rPr sz="2240">
                <a:solidFill>
                  <a:srgbClr val="111111"/>
                </a:solidFill>
                <a:latin typeface="Arial"/>
                <a:ea typeface="Arial"/>
                <a:cs typeface="Arial"/>
              </a:rPr>
              <a:t>Simple idea</a:t>
            </a:r>
          </a:p>
          <a:p>
            <a:pPr>
              <a:defRPr sz="1575" b="0">
                <a:solidFill>
                  <a:srgbClr val="111111"/>
                </a:solidFill>
                <a:latin typeface="Arial"/>
                <a:ea typeface="Arial"/>
                <a:cs typeface="Arial"/>
              </a:defRPr>
            </a:pPr>
            <a:r>
              <a:rPr sz="2240">
                <a:solidFill>
                  <a:srgbClr val="111111"/>
                </a:solidFill>
                <a:latin typeface="Arial"/>
                <a:ea typeface="Arial"/>
                <a:cs typeface="Arial"/>
              </a:rPr>
              <a:t>Flexible decision boundary</a:t>
            </a:r>
          </a:p>
          <a:p>
            <a:pPr>
              <a:defRPr sz="1575" b="0">
                <a:solidFill>
                  <a:srgbClr val="111111"/>
                </a:solidFill>
                <a:latin typeface="Arial"/>
                <a:ea typeface="Arial"/>
                <a:cs typeface="Arial"/>
              </a:defRPr>
            </a:pPr>
            <a:r>
              <a:rPr sz="2240">
                <a:solidFill>
                  <a:srgbClr val="111111"/>
                </a:solidFill>
                <a:latin typeface="Arial"/>
                <a:ea typeface="Arial"/>
                <a:cs typeface="Arial"/>
              </a:rPr>
              <a:t>Works with several classes</a:t>
            </a:r>
          </a:p>
          <a:p>
            <a:pPr>
              <a:defRPr sz="1575" b="0">
                <a:solidFill>
                  <a:srgbClr val="111111"/>
                </a:solidFill>
                <a:latin typeface="Arial"/>
                <a:ea typeface="Arial"/>
                <a:cs typeface="Arial"/>
              </a:defRPr>
            </a:pPr>
            <a:r>
              <a:rPr sz="2240">
                <a:solidFill>
                  <a:srgbClr val="111111"/>
                </a:solidFill>
                <a:latin typeface="Arial"/>
                <a:ea typeface="Arial"/>
                <a:cs typeface="Arial"/>
              </a:rPr>
              <a:t>Useful baseline</a:t>
            </a:r>
          </a:p>
        </p:txBody>
      </p:sp>
      <p:sp>
        <p:nvSpPr>
          <p:cNvPr id="9" name="Rectangle 8">
            <a:extLst>
              <a:ext uri="{FF2B5EF4-FFF2-40B4-BE49-F238E27FC236}">
                <a16:creationId xmlns:a16="http://schemas.microsoft.com/office/drawing/2014/main" id="{2EB9BD07-A242-41C5-841F-8002FD613C8D}"/>
              </a:ext>
            </a:extLst>
          </p:cNvPr>
          <p:cNvSpPr>
            <a:spLocks noGrp="1"/>
          </p:cNvSpPr>
          <p:nvPr/>
        </p:nvSpPr>
        <p:spPr>
          <a:xfrm>
            <a:off x="8875679" y="1963947"/>
            <a:ext cx="7449454" cy="5417785"/>
          </a:xfrm>
          <a:prstGeom prst="rect">
            <a:avLst/>
          </a:prstGeom>
          <a:solidFill>
            <a:srgbClr val="FFFFFF"/>
          </a:solidFill>
          <a:ln w="9525">
            <a:solidFill>
              <a:srgbClr val="D84A4A"/>
            </a:solidFill>
          </a:ln>
        </p:spPr>
        <p:txBody>
          <a:bodyPr/>
          <a:lstStyle/>
          <a:p>
            <a:endParaRPr lang="en-US" sz="3640"/>
          </a:p>
        </p:txBody>
      </p:sp>
      <p:sp>
        <p:nvSpPr>
          <p:cNvPr id="10" name="Rectangle 9">
            <a:extLst>
              <a:ext uri="{FF2B5EF4-FFF2-40B4-BE49-F238E27FC236}">
                <a16:creationId xmlns:a16="http://schemas.microsoft.com/office/drawing/2014/main" id="{E9328297-C14A-4ED8-AB22-6D73C5AD6365}"/>
              </a:ext>
            </a:extLst>
          </p:cNvPr>
          <p:cNvSpPr>
            <a:spLocks noGrp="1"/>
          </p:cNvSpPr>
          <p:nvPr/>
        </p:nvSpPr>
        <p:spPr>
          <a:xfrm>
            <a:off x="9349735" y="2505725"/>
            <a:ext cx="6501342" cy="568867"/>
          </a:xfrm>
          <a:prstGeom prst="rect">
            <a:avLst/>
          </a:prstGeom>
          <a:noFill/>
          <a:ln w="0">
            <a:noFill/>
          </a:ln>
        </p:spPr>
        <p:txBody>
          <a:bodyPr>
            <a:noAutofit/>
          </a:bodyPr>
          <a:lstStyle/>
          <a:p>
            <a:pPr>
              <a:defRPr sz="1950" b="1">
                <a:solidFill>
                  <a:srgbClr val="D84A4A"/>
                </a:solidFill>
                <a:latin typeface="Arial"/>
                <a:ea typeface="Arial"/>
                <a:cs typeface="Arial"/>
              </a:defRPr>
            </a:pPr>
            <a:r>
              <a:rPr sz="2773" b="1">
                <a:solidFill>
                  <a:srgbClr val="D84A4A"/>
                </a:solidFill>
                <a:latin typeface="Arial"/>
                <a:ea typeface="Arial"/>
                <a:cs typeface="Arial"/>
              </a:rPr>
              <a:t>LIMITATIONS</a:t>
            </a:r>
          </a:p>
        </p:txBody>
      </p:sp>
      <p:sp>
        <p:nvSpPr>
          <p:cNvPr id="11" name="Rectangle 10">
            <a:extLst>
              <a:ext uri="{FF2B5EF4-FFF2-40B4-BE49-F238E27FC236}">
                <a16:creationId xmlns:a16="http://schemas.microsoft.com/office/drawing/2014/main" id="{CEA347A8-9857-4E86-AFFD-F1EE83F09A30}"/>
              </a:ext>
            </a:extLst>
          </p:cNvPr>
          <p:cNvSpPr>
            <a:spLocks noGrp="1"/>
          </p:cNvSpPr>
          <p:nvPr/>
        </p:nvSpPr>
        <p:spPr>
          <a:xfrm>
            <a:off x="9620624" y="3657005"/>
            <a:ext cx="5959563" cy="2641170"/>
          </a:xfrm>
          <a:prstGeom prst="rect">
            <a:avLst/>
          </a:prstGeom>
          <a:noFill/>
          <a:ln w="0">
            <a:noFill/>
          </a:ln>
        </p:spPr>
        <p:txBody>
          <a:bodyPr>
            <a:noAutofit/>
          </a:bodyPr>
          <a:lstStyle/>
          <a:p>
            <a:pPr>
              <a:defRPr sz="1575" b="0">
                <a:solidFill>
                  <a:srgbClr val="111111"/>
                </a:solidFill>
                <a:latin typeface="Arial"/>
                <a:ea typeface="Arial"/>
                <a:cs typeface="Arial"/>
              </a:defRPr>
            </a:pPr>
            <a:r>
              <a:rPr sz="2240">
                <a:solidFill>
                  <a:srgbClr val="111111"/>
                </a:solidFill>
                <a:latin typeface="Arial"/>
                <a:ea typeface="Arial"/>
                <a:cs typeface="Arial"/>
              </a:rPr>
              <a:t>Prediction can be slow</a:t>
            </a:r>
          </a:p>
          <a:p>
            <a:pPr>
              <a:defRPr sz="1575" b="0">
                <a:solidFill>
                  <a:srgbClr val="111111"/>
                </a:solidFill>
                <a:latin typeface="Arial"/>
                <a:ea typeface="Arial"/>
                <a:cs typeface="Arial"/>
              </a:defRPr>
            </a:pPr>
            <a:r>
              <a:rPr sz="2240">
                <a:solidFill>
                  <a:srgbClr val="111111"/>
                </a:solidFill>
                <a:latin typeface="Arial"/>
                <a:ea typeface="Arial"/>
                <a:cs typeface="Arial"/>
              </a:rPr>
              <a:t>Sensitive to scaling</a:t>
            </a:r>
          </a:p>
          <a:p>
            <a:pPr>
              <a:defRPr sz="1575" b="0">
                <a:solidFill>
                  <a:srgbClr val="111111"/>
                </a:solidFill>
                <a:latin typeface="Arial"/>
                <a:ea typeface="Arial"/>
                <a:cs typeface="Arial"/>
              </a:defRPr>
            </a:pPr>
            <a:r>
              <a:rPr sz="2240">
                <a:solidFill>
                  <a:srgbClr val="111111"/>
                </a:solidFill>
                <a:latin typeface="Arial"/>
                <a:ea typeface="Arial"/>
                <a:cs typeface="Arial"/>
              </a:rPr>
              <a:t>Affected by irrelevant features</a:t>
            </a:r>
          </a:p>
          <a:p>
            <a:pPr>
              <a:defRPr sz="1575" b="0">
                <a:solidFill>
                  <a:srgbClr val="111111"/>
                </a:solidFill>
                <a:latin typeface="Arial"/>
                <a:ea typeface="Arial"/>
                <a:cs typeface="Arial"/>
              </a:defRPr>
            </a:pPr>
            <a:r>
              <a:rPr sz="2240">
                <a:solidFill>
                  <a:srgbClr val="111111"/>
                </a:solidFill>
                <a:latin typeface="Arial"/>
                <a:ea typeface="Arial"/>
                <a:cs typeface="Arial"/>
              </a:rPr>
              <a:t>Struggles in many dimensions</a:t>
            </a:r>
          </a:p>
        </p:txBody>
      </p:sp>
    </p:spTree>
    <p:extLst>
      <p:ext uri="{BB962C8B-B14F-4D97-AF65-F5344CB8AC3E}">
        <p14:creationId xmlns:p14="http://schemas.microsoft.com/office/powerpoint/2010/main" val="4448771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Decision trees</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A series of yes/no questions, arranged as a tree. You can read the rule out loud.</a:t>
            </a:r>
          </a:p>
        </p:txBody>
      </p:sp>
      <p:sp>
        <p:nvSpPr>
          <p:cNvPr id="5" name="Rectangle 4"/>
          <p:cNvSpPr/>
          <p:nvPr/>
        </p:nvSpPr>
        <p:spPr>
          <a:xfrm>
            <a:off x="969264" y="2606040"/>
            <a:ext cx="15371063" cy="5568696"/>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556869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5294376"/>
          </a:xfrm>
          <a:prstGeom prst="rect">
            <a:avLst/>
          </a:prstGeom>
          <a:noFill/>
        </p:spPr>
        <p:txBody>
          <a:bodyPr wrap="none">
            <a:spAutoFit/>
          </a:bodyPr>
          <a:lstStyle/>
          <a:p>
            <a:pPr>
              <a:spcAft>
                <a:spcPts val="200"/>
              </a:spcAft>
            </a:pPr>
            <a:r>
              <a:rPr sz="2100">
                <a:solidFill>
                  <a:srgbClr val="16181D"/>
                </a:solidFill>
                <a:latin typeface="Consolas"/>
              </a:rPr>
              <a:t>                       Is the fare above 30 ?</a:t>
            </a:r>
          </a:p>
          <a:p>
            <a:pPr>
              <a:spcAft>
                <a:spcPts val="200"/>
              </a:spcAft>
            </a:pPr>
            <a:r>
              <a:rPr sz="2100">
                <a:solidFill>
                  <a:srgbClr val="16181D"/>
                </a:solidFill>
                <a:latin typeface="Consolas"/>
              </a:rPr>
              <a:t>                      /                     \</a:t>
            </a:r>
          </a:p>
          <a:p>
            <a:pPr>
              <a:spcAft>
                <a:spcPts val="200"/>
              </a:spcAft>
            </a:pPr>
            <a:r>
              <a:rPr sz="2100">
                <a:solidFill>
                  <a:srgbClr val="16181D"/>
                </a:solidFill>
                <a:latin typeface="Consolas"/>
              </a:rPr>
              <a:t>                    no                       yes</a:t>
            </a:r>
          </a:p>
          <a:p>
            <a:pPr>
              <a:spcAft>
                <a:spcPts val="200"/>
              </a:spcAft>
            </a:pPr>
            <a:r>
              <a:rPr sz="2100">
                <a:solidFill>
                  <a:srgbClr val="16181D"/>
                </a:solidFill>
                <a:latin typeface="Consolas"/>
              </a:rPr>
              <a:t>                    /                         \</a:t>
            </a:r>
          </a:p>
          <a:p>
            <a:pPr>
              <a:spcAft>
                <a:spcPts val="200"/>
              </a:spcAft>
            </a:pPr>
            <a:r>
              <a:rPr sz="2100">
                <a:solidFill>
                  <a:srgbClr val="16181D"/>
                </a:solidFill>
                <a:latin typeface="Consolas"/>
              </a:rPr>
              <a:t>         Is the passenger male ?          survived: YES</a:t>
            </a:r>
          </a:p>
          <a:p>
            <a:pPr>
              <a:spcAft>
                <a:spcPts val="200"/>
              </a:spcAft>
            </a:pPr>
            <a:r>
              <a:rPr sz="2100">
                <a:solidFill>
                  <a:srgbClr val="16181D"/>
                </a:solidFill>
                <a:latin typeface="Consolas"/>
              </a:rPr>
              <a:t>           /              \</a:t>
            </a:r>
          </a:p>
          <a:p>
            <a:pPr>
              <a:spcAft>
                <a:spcPts val="200"/>
              </a:spcAft>
            </a:pPr>
            <a:r>
              <a:rPr sz="2100">
                <a:solidFill>
                  <a:srgbClr val="16181D"/>
                </a:solidFill>
                <a:latin typeface="Consolas"/>
              </a:rPr>
              <a:t>         yes               no</a:t>
            </a:r>
          </a:p>
          <a:p>
            <a:pPr>
              <a:spcAft>
                <a:spcPts val="200"/>
              </a:spcAft>
            </a:pPr>
            <a:r>
              <a:rPr sz="2100">
                <a:solidFill>
                  <a:srgbClr val="16181D"/>
                </a:solidFill>
                <a:latin typeface="Consolas"/>
              </a:rPr>
              <a:t>          |                 |</a:t>
            </a:r>
          </a:p>
          <a:p>
            <a:pPr>
              <a:spcAft>
                <a:spcPts val="200"/>
              </a:spcAft>
            </a:pPr>
            <a:r>
              <a:rPr sz="2100">
                <a:solidFill>
                  <a:srgbClr val="16181D"/>
                </a:solidFill>
                <a:latin typeface="Consolas"/>
              </a:rPr>
              <a:t>     died: NO          survived: YES</a:t>
            </a:r>
          </a:p>
          <a:p>
            <a:pPr>
              <a:spcAft>
                <a:spcPts val="200"/>
              </a:spcAft>
            </a:pPr>
            <a:endParaRPr sz="2100">
              <a:solidFill>
                <a:srgbClr val="16181D"/>
              </a:solidFill>
              <a:latin typeface="Consolas"/>
            </a:endParaRPr>
          </a:p>
          <a:p>
            <a:pPr>
              <a:spcAft>
                <a:spcPts val="200"/>
              </a:spcAft>
            </a:pPr>
            <a:endParaRPr sz="2100">
              <a:solidFill>
                <a:srgbClr val="16181D"/>
              </a:solidFill>
              <a:latin typeface="Consolas"/>
            </a:endParaRPr>
          </a:p>
          <a:p>
            <a:pPr>
              <a:spcAft>
                <a:spcPts val="200"/>
              </a:spcAft>
            </a:pPr>
            <a:r>
              <a:rPr sz="2100">
                <a:solidFill>
                  <a:srgbClr val="16181D"/>
                </a:solidFill>
                <a:latin typeface="Consolas"/>
              </a:rPr>
              <a:t>   "A woman travelling on a cheap ticket probably survived.</a:t>
            </a:r>
          </a:p>
          <a:p>
            <a:pPr>
              <a:spcAft>
                <a:spcPts val="200"/>
              </a:spcAft>
            </a:pPr>
            <a:r>
              <a:rPr sz="2100">
                <a:solidFill>
                  <a:srgbClr val="16181D"/>
                </a:solidFill>
                <a:latin typeface="Consolas"/>
              </a:rPr>
              <a:t>    A man on a cheap ticket probably did not."</a:t>
            </a:r>
          </a:p>
        </p:txBody>
      </p:sp>
      <p:sp>
        <p:nvSpPr>
          <p:cNvPr id="8" name="TextBox 7"/>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910559" y="8705088"/>
            <a:ext cx="438912" cy="365760"/>
          </a:xfrm>
          <a:prstGeom prst="rect">
            <a:avLst/>
          </a:prstGeom>
          <a:noFill/>
        </p:spPr>
        <p:txBody>
          <a:bodyPr wrap="none">
            <a:spAutoFit/>
          </a:bodyPr>
          <a:lstStyle/>
          <a:p>
            <a:pPr algn="r"/>
            <a:fld id="{7A158E13-AE56-4A57-9B09-4F4B35B6B714}" type="slidenum">
              <a:rPr lang="en-US" sz="1200">
                <a:solidFill>
                  <a:srgbClr val="6B7280"/>
                </a:solidFill>
                <a:latin typeface="Arial"/>
              </a:rPr>
              <a:t>57</a:t>
            </a:fld>
            <a:endParaRPr lang="en-US" sz="1200">
              <a:solidFill>
                <a:srgbClr val="6B7280"/>
              </a:solidFill>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How the tree chooses its questions</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500" b="0">
                <a:solidFill>
                  <a:srgbClr val="16181D"/>
                </a:solidFill>
                <a:latin typeface="Arial"/>
              </a:rPr>
              <a:t>▪   At each step it tries </a:t>
            </a:r>
            <a:r>
              <a:rPr sz="2500" b="1">
                <a:solidFill>
                  <a:srgbClr val="16181D"/>
                </a:solidFill>
                <a:latin typeface="Arial"/>
              </a:rPr>
              <a:t>every feature and every threshold</a:t>
            </a:r>
            <a:r>
              <a:rPr sz="2500" b="0">
                <a:solidFill>
                  <a:srgbClr val="16181D"/>
                </a:solidFill>
                <a:latin typeface="Arial"/>
              </a:rPr>
              <a:t>, and keeps the split</a:t>
            </a:r>
          </a:p>
          <a:p>
            <a:pPr>
              <a:spcAft>
                <a:spcPts val="1400"/>
              </a:spcAft>
            </a:pPr>
            <a:r>
              <a:rPr sz="2500" b="0">
                <a:solidFill>
                  <a:srgbClr val="16181D"/>
                </a:solidFill>
                <a:latin typeface="Arial"/>
              </a:rPr>
              <a:t>▪   that separates the classes best.</a:t>
            </a:r>
          </a:p>
          <a:p>
            <a:pPr>
              <a:spcAft>
                <a:spcPts val="600"/>
              </a:spcAft>
            </a:pPr>
            <a:endParaRPr sz="2500" b="0">
              <a:solidFill>
                <a:srgbClr val="16181D"/>
              </a:solidFill>
              <a:latin typeface="Arial"/>
            </a:endParaRPr>
          </a:p>
          <a:p>
            <a:pPr>
              <a:spcAft>
                <a:spcPts val="1400"/>
              </a:spcAft>
            </a:pPr>
            <a:r>
              <a:rPr sz="2500" b="0">
                <a:solidFill>
                  <a:srgbClr val="16181D"/>
                </a:solidFill>
                <a:latin typeface="Arial"/>
              </a:rPr>
              <a:t>▪   "Best" means the split that leaves each side as </a:t>
            </a:r>
            <a:r>
              <a:rPr sz="2500" b="1">
                <a:solidFill>
                  <a:srgbClr val="16181D"/>
                </a:solidFill>
                <a:latin typeface="Arial"/>
              </a:rPr>
              <a:t>pure</a:t>
            </a:r>
            <a:r>
              <a:rPr sz="2500" b="0">
                <a:solidFill>
                  <a:srgbClr val="16181D"/>
                </a:solidFill>
                <a:latin typeface="Arial"/>
              </a:rPr>
              <a:t> as possible — as close as</a:t>
            </a:r>
          </a:p>
          <a:p>
            <a:pPr>
              <a:spcAft>
                <a:spcPts val="1400"/>
              </a:spcAft>
            </a:pPr>
            <a:r>
              <a:rPr sz="2500" b="0">
                <a:solidFill>
                  <a:srgbClr val="16181D"/>
                </a:solidFill>
                <a:latin typeface="Arial"/>
              </a:rPr>
              <a:t>▪   it can get to all-one-class. Measured by Gini impurity or entropy.</a:t>
            </a:r>
          </a:p>
          <a:p>
            <a:pPr>
              <a:spcAft>
                <a:spcPts val="600"/>
              </a:spcAft>
            </a:pPr>
            <a:endParaRPr sz="2500" b="0">
              <a:solidFill>
                <a:srgbClr val="16181D"/>
              </a:solidFill>
              <a:latin typeface="Arial"/>
            </a:endParaRPr>
          </a:p>
          <a:p>
            <a:pPr>
              <a:spcAft>
                <a:spcPts val="1400"/>
              </a:spcAft>
            </a:pPr>
            <a:r>
              <a:rPr sz="2500" b="0">
                <a:solidFill>
                  <a:srgbClr val="16181D"/>
                </a:solidFill>
                <a:latin typeface="Arial"/>
              </a:rPr>
              <a:t>▪   Then it repeats on each side, and keeps going.</a:t>
            </a:r>
          </a:p>
          <a:p>
            <a:pPr>
              <a:spcAft>
                <a:spcPts val="600"/>
              </a:spcAft>
            </a:pPr>
            <a:endParaRPr sz="2500" b="0">
              <a:solidFill>
                <a:srgbClr val="16181D"/>
              </a:solidFill>
              <a:latin typeface="Arial"/>
            </a:endParaRPr>
          </a:p>
          <a:p>
            <a:pPr>
              <a:spcAft>
                <a:spcPts val="1400"/>
              </a:spcAft>
            </a:pPr>
            <a:r>
              <a:rPr sz="2500" b="0">
                <a:solidFill>
                  <a:srgbClr val="16181D"/>
                </a:solidFill>
                <a:latin typeface="Arial"/>
              </a:rPr>
              <a:t>▪   </a:t>
            </a:r>
            <a:r>
              <a:rPr sz="2500" b="1">
                <a:solidFill>
                  <a:srgbClr val="16181D"/>
                </a:solidFill>
                <a:latin typeface="Arial"/>
              </a:rPr>
              <a:t>Left alone, a tree keeps splitting until every training row has its own leaf.</a:t>
            </a:r>
          </a:p>
          <a:p>
            <a:pPr>
              <a:spcAft>
                <a:spcPts val="800"/>
              </a:spcAft>
            </a:pPr>
            <a:r>
              <a:rPr sz="2000" b="0">
                <a:solidFill>
                  <a:srgbClr val="3A3F47"/>
                </a:solidFill>
                <a:latin typeface="Arial"/>
              </a:rPr>
              <a:t>        –   perfect on the training data, useless on anything new — this is overfitting</a:t>
            </a:r>
          </a:p>
          <a:p>
            <a:pPr>
              <a:spcAft>
                <a:spcPts val="800"/>
              </a:spcAft>
            </a:pPr>
            <a:r>
              <a:rPr sz="2000" b="0">
                <a:solidFill>
                  <a:srgbClr val="3A3F47"/>
                </a:solidFill>
                <a:latin typeface="Arial"/>
              </a:rPr>
              <a:t>        –   so you limit it: maximum depth, or a minimum number of rows per leaf</a:t>
            </a:r>
          </a:p>
          <a:p>
            <a:pPr>
              <a:spcAft>
                <a:spcPts val="600"/>
              </a:spcAft>
            </a:pPr>
            <a:endParaRPr sz="2000" b="0">
              <a:solidFill>
                <a:srgbClr val="3A3F47"/>
              </a:solidFill>
              <a:latin typeface="Arial"/>
            </a:endParaRPr>
          </a:p>
          <a:p>
            <a:pPr>
              <a:spcAft>
                <a:spcPts val="1400"/>
              </a:spcAft>
            </a:pPr>
            <a:r>
              <a:rPr sz="2500" b="0">
                <a:solidFill>
                  <a:srgbClr val="16181D"/>
                </a:solidFill>
                <a:latin typeface="Arial"/>
              </a:rPr>
              <a:t>▪   Many trees trained on different samples and allowed to vote is a </a:t>
            </a:r>
            <a:r>
              <a:rPr sz="2500" b="1">
                <a:solidFill>
                  <a:srgbClr val="16181D"/>
                </a:solidFill>
                <a:latin typeface="Arial"/>
              </a:rPr>
              <a:t>random forest</a:t>
            </a:r>
            <a:r>
              <a:rPr sz="2500" b="0">
                <a:solidFill>
                  <a:srgbClr val="16181D"/>
                </a:solidFill>
                <a:latin typeface="Arial"/>
              </a:rPr>
              <a:t>.</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818967A5-F605-448E-8F14-12D224D524BA}" type="slidenum">
              <a:rPr lang="en-US" sz="1200">
                <a:solidFill>
                  <a:srgbClr val="6B7280"/>
                </a:solidFill>
                <a:latin typeface="Arial"/>
              </a:rPr>
              <a:t>58</a:t>
            </a:fld>
            <a:endParaRPr lang="en-US" sz="1200">
              <a:solidFill>
                <a:srgbClr val="6B7280"/>
              </a:solidFill>
              <a:latin typeface="Arial"/>
            </a:endParaRPr>
          </a:p>
        </p:txBody>
      </p:sp>
    </p:spTree>
  </p:cSld>
  <p:clrMapOvr>
    <a:masterClrMapping/>
  </p:clrMapOvr>
</p:sld>
</file>

<file path=ppt/theme/theme1.xml><?xml version="1.0" encoding="utf-8"?>
<a:theme xmlns:a="http://schemas.openxmlformats.org/drawingml/2006/main" name="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20D9E6D3-32F2-4C7A-B997-1D5DBD08A3A1}"/>
    </a:ext>
  </a:extLst>
</a:theme>
</file>

<file path=ppt/theme/theme2.xml><?xml version="1.0" encoding="utf-8"?>
<a:theme xmlns:a="http://schemas.openxmlformats.org/drawingml/2006/main" name="1_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B571884E-641B-4B14-A4C2-E6C27909D956}"/>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818A354CD664446AEC35BBAE2499562" ma:contentTypeVersion="13" ma:contentTypeDescription="Opprett et nytt dokument." ma:contentTypeScope="" ma:versionID="c05c63c057be531b98f917e986ab73c0">
  <xsd:schema xmlns:xsd="http://www.w3.org/2001/XMLSchema" xmlns:xs="http://www.w3.org/2001/XMLSchema" xmlns:p="http://schemas.microsoft.com/office/2006/metadata/properties" xmlns:ns3="38664639-412d-4c21-8e39-7e7d568987ec" xmlns:ns4="3aca559b-e256-4fa3-843e-2d1bb256df5f" targetNamespace="http://schemas.microsoft.com/office/2006/metadata/properties" ma:root="true" ma:fieldsID="d1ab16c94bf7e86b8919e30ac7bb9e89" ns3:_="" ns4:_="">
    <xsd:import namespace="38664639-412d-4c21-8e39-7e7d568987ec"/>
    <xsd:import namespace="3aca559b-e256-4fa3-843e-2d1bb256df5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664639-412d-4c21-8e39-7e7d568987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ca559b-e256-4fa3-843e-2d1bb256df5f"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SharingHintHash" ma:index="18"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737683-68CB-4077-9859-434B8A1CE3E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8664639-412d-4c21-8e39-7e7d568987ec"/>
    <ds:schemaRef ds:uri="3aca559b-e256-4fa3-843e-2d1bb256df5f"/>
    <ds:schemaRef ds:uri="http://www.w3.org/XML/1998/namespace"/>
    <ds:schemaRef ds:uri="http://purl.org/dc/dcmitype/"/>
  </ds:schemaRefs>
</ds:datastoreItem>
</file>

<file path=customXml/itemProps2.xml><?xml version="1.0" encoding="utf-8"?>
<ds:datastoreItem xmlns:ds="http://schemas.openxmlformats.org/officeDocument/2006/customXml" ds:itemID="{9BA0E907-83E9-4FEC-BCF8-F9D0EC14FF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664639-412d-4c21-8e39-7e7d568987ec"/>
    <ds:schemaRef ds:uri="3aca559b-e256-4fa3-843e-2d1bb256df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E28474-1722-4CE4-848A-F0F44280BE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 OsloMet_english</Template>
  <TotalTime>2507</TotalTime>
  <Words>6163</Words>
  <Application>Microsoft Macintosh PowerPoint</Application>
  <PresentationFormat>Custom</PresentationFormat>
  <Paragraphs>606</Paragraphs>
  <Slides>58</Slides>
  <Notes>49</Notes>
  <HiddenSlides>2</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58</vt:i4>
      </vt:variant>
    </vt:vector>
  </HeadingPairs>
  <TitlesOfParts>
    <vt:vector size="65" baseType="lpstr">
      <vt:lpstr>Arial</vt:lpstr>
      <vt:lpstr>Calibri</vt:lpstr>
      <vt:lpstr>Consolas</vt:lpstr>
      <vt:lpstr>STIXGeneral</vt:lpstr>
      <vt:lpstr>Office-tema</vt:lpstr>
      <vt:lpstr>1_Office-tema</vt:lpstr>
      <vt:lpstr>ChatGPT</vt:lpstr>
      <vt:lpstr>PowerPoint Presentation</vt:lpstr>
      <vt:lpstr>PowerPoint Presentation</vt:lpstr>
      <vt:lpstr>Supervised Machine Learning</vt:lpstr>
      <vt:lpstr>Supervised learning</vt:lpstr>
      <vt:lpstr>PowerPoint Presentation</vt:lpstr>
      <vt:lpstr>How to work with Supervised machine learning</vt:lpstr>
      <vt:lpstr>PowerPoint Presentation</vt:lpstr>
      <vt:lpstr>PowerPoint Presentation</vt:lpstr>
      <vt:lpstr>PowerPoint Presentation</vt:lpstr>
      <vt:lpstr>PowerPoint Presentation</vt:lpstr>
      <vt:lpstr>Classification</vt:lpstr>
      <vt:lpstr>PowerPoint Presentation</vt:lpstr>
      <vt:lpstr>PowerPoint Presentation</vt:lpstr>
      <vt:lpstr>Classification versus Clustering algorithms</vt:lpstr>
      <vt:lpstr>Classification versus Clustering algorithms</vt:lpstr>
      <vt:lpstr>Classification -&gt; Logistic regression</vt:lpstr>
      <vt:lpstr>PowerPoint Presentation</vt:lpstr>
      <vt:lpstr>Uses</vt:lpstr>
      <vt:lpstr>Types of Logistic regression</vt:lpstr>
      <vt:lpstr>PowerPoint Presentation</vt:lpstr>
      <vt:lpstr>2. Evaluate the algorithm</vt:lpstr>
      <vt:lpstr>Develop (using binary logistic regression)</vt:lpstr>
      <vt:lpstr>Step 2: Sigmoid activation (a bit of maths) </vt:lpstr>
      <vt:lpstr>Step 3: Decision boundary </vt:lpstr>
      <vt:lpstr>Step 4: Making predictions</vt:lpstr>
      <vt:lpstr>Second stage: evaluate the algorithm</vt:lpstr>
      <vt:lpstr>Evaluate using cost function</vt:lpstr>
      <vt:lpstr>PowerPoint Presentation</vt:lpstr>
      <vt:lpstr>Cost function: Gradient descent</vt:lpstr>
      <vt:lpstr>Develop: Map probabbilities to classes</vt:lpstr>
      <vt:lpstr>Final stage: Finish it up</vt:lpstr>
      <vt:lpstr>2. Naive Bayes classification algorithm (classification)</vt:lpstr>
      <vt:lpstr>PowerPoint Presentation</vt:lpstr>
      <vt:lpstr>PowerPoint Presentation</vt:lpstr>
      <vt:lpstr>BAYES THEOREM</vt:lpstr>
      <vt:lpstr>PowerPoint Presentation</vt:lpstr>
      <vt:lpstr>PowerPoint Presentation</vt:lpstr>
      <vt:lpstr>Naive Bayes use in Natural Language Processing</vt:lpstr>
      <vt:lpstr>3. Support vector machines (classification)</vt:lpstr>
      <vt:lpstr>PowerPoint Presentation</vt:lpstr>
      <vt:lpstr>Hyperplanes</vt:lpstr>
      <vt:lpstr>PowerPoint Presentation</vt:lpstr>
      <vt:lpstr>Uses of support vector machines</vt:lpstr>
      <vt:lpstr>Pros and cons</vt:lpstr>
      <vt:lpstr>Other classification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Høgskolen i Oslo og Akershus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OsloMet –  Oslo Metropolitan University </dc:title>
  <dc:creator>Gustavo Mello</dc:creator>
  <dc:description>template by officeconsult.no</dc:description>
  <cp:lastModifiedBy>Umair M.Imam</cp:lastModifiedBy>
  <cp:revision>361</cp:revision>
  <dcterms:created xsi:type="dcterms:W3CDTF">2020-07-02T15:35:18Z</dcterms:created>
  <dcterms:modified xsi:type="dcterms:W3CDTF">2026-09-15T14:22:04Z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0x0101001818A354CD664446AEC35BBAE2499562</vt:lpwstr>
  </property>
</Properties>
</file>