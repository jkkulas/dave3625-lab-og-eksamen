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2" r:id="rId5"/>
  </p:sldMasterIdLst>
  <p:notesMasterIdLst>
    <p:notesMasterId r:id="rId105"/>
  </p:notesMasterIdLst>
  <p:sldIdLst>
    <p:sldId id="256" r:id="rId6"/>
    <p:sldId id="257" r:id="rId7"/>
    <p:sldId id="258" r:id="rId8"/>
    <p:sldId id="259" r:id="rId9"/>
    <p:sldId id="260" r:id="rId10"/>
    <p:sldId id="261" r:id="rId11"/>
    <p:sldId id="262" r:id="rId12"/>
    <p:sldId id="263" r:id="rId13"/>
    <p:sldId id="264" r:id="rId14"/>
    <p:sldId id="265" r:id="rId15"/>
    <p:sldId id="266" r:id="rId16"/>
    <p:sldId id="269" r:id="rId17"/>
    <p:sldId id="271" r:id="rId18"/>
    <p:sldId id="354" r:id="rId19"/>
    <p:sldId id="267" r:id="rId20"/>
    <p:sldId id="268" r:id="rId21"/>
    <p:sldId id="272" r:id="rId22"/>
    <p:sldId id="273" r:id="rId23"/>
    <p:sldId id="356" r:id="rId24"/>
    <p:sldId id="274" r:id="rId25"/>
    <p:sldId id="275" r:id="rId26"/>
    <p:sldId id="276" r:id="rId27"/>
    <p:sldId id="277" r:id="rId28"/>
    <p:sldId id="278" r:id="rId29"/>
    <p:sldId id="280" r:id="rId30"/>
    <p:sldId id="279" r:id="rId31"/>
    <p:sldId id="281" r:id="rId32"/>
    <p:sldId id="286" r:id="rId33"/>
    <p:sldId id="287" r:id="rId34"/>
    <p:sldId id="289" r:id="rId35"/>
    <p:sldId id="282" r:id="rId36"/>
    <p:sldId id="283" r:id="rId37"/>
    <p:sldId id="284" r:id="rId38"/>
    <p:sldId id="285" r:id="rId39"/>
    <p:sldId id="288" r:id="rId40"/>
    <p:sldId id="290" r:id="rId41"/>
    <p:sldId id="291" r:id="rId42"/>
    <p:sldId id="292" r:id="rId43"/>
    <p:sldId id="293" r:id="rId44"/>
    <p:sldId id="294" r:id="rId45"/>
    <p:sldId id="296" r:id="rId46"/>
    <p:sldId id="297" r:id="rId47"/>
    <p:sldId id="298" r:id="rId48"/>
    <p:sldId id="299" r:id="rId49"/>
    <p:sldId id="300" r:id="rId50"/>
    <p:sldId id="303" r:id="rId51"/>
    <p:sldId id="371" r:id="rId52"/>
    <p:sldId id="304" r:id="rId53"/>
    <p:sldId id="305" r:id="rId54"/>
    <p:sldId id="306" r:id="rId55"/>
    <p:sldId id="301" r:id="rId56"/>
    <p:sldId id="307" r:id="rId57"/>
    <p:sldId id="308" r:id="rId58"/>
    <p:sldId id="309" r:id="rId59"/>
    <p:sldId id="310" r:id="rId60"/>
    <p:sldId id="311" r:id="rId61"/>
    <p:sldId id="312" r:id="rId62"/>
    <p:sldId id="313" r:id="rId63"/>
    <p:sldId id="314" r:id="rId64"/>
    <p:sldId id="315" r:id="rId65"/>
    <p:sldId id="316" r:id="rId66"/>
    <p:sldId id="318" r:id="rId67"/>
    <p:sldId id="319" r:id="rId68"/>
    <p:sldId id="320" r:id="rId69"/>
    <p:sldId id="322" r:id="rId70"/>
    <p:sldId id="358" r:id="rId71"/>
    <p:sldId id="359" r:id="rId72"/>
    <p:sldId id="360" r:id="rId73"/>
    <p:sldId id="36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63" r:id="rId88"/>
    <p:sldId id="364" r:id="rId89"/>
    <p:sldId id="365" r:id="rId90"/>
    <p:sldId id="353" r:id="rId91"/>
    <p:sldId id="366" r:id="rId92"/>
    <p:sldId id="367" r:id="rId93"/>
    <p:sldId id="368" r:id="rId94"/>
    <p:sldId id="336" r:id="rId95"/>
    <p:sldId id="337" r:id="rId96"/>
    <p:sldId id="338" r:id="rId97"/>
    <p:sldId id="339" r:id="rId98"/>
    <p:sldId id="369" r:id="rId99"/>
    <p:sldId id="341" r:id="rId100"/>
    <p:sldId id="345" r:id="rId101"/>
    <p:sldId id="347" r:id="rId102"/>
    <p:sldId id="350" r:id="rId103"/>
    <p:sldId id="351" r:id="rId104"/>
  </p:sldIdLst>
  <p:sldSz cx="17345025" cy="9752013"/>
  <p:notesSz cx="6858000" cy="1866900"/>
  <p:defaultTextStyle>
    <a:defPPr>
      <a:defRPr lang="nb-NO"/>
    </a:defPPr>
    <a:lvl1pPr marL="0" algn="l" defTabSz="1300643" rtl="0" eaLnBrk="1" latinLnBrk="0" hangingPunct="1">
      <a:defRPr sz="2560" kern="1200">
        <a:solidFill>
          <a:schemeClr val="tx1"/>
        </a:solidFill>
        <a:latin typeface="+mn-lt"/>
        <a:ea typeface="+mn-ea"/>
        <a:cs typeface="+mn-cs"/>
      </a:defRPr>
    </a:lvl1pPr>
    <a:lvl2pPr marL="650321" algn="l" defTabSz="1300643" rtl="0" eaLnBrk="1" latinLnBrk="0" hangingPunct="1">
      <a:defRPr sz="2560" kern="1200">
        <a:solidFill>
          <a:schemeClr val="tx1"/>
        </a:solidFill>
        <a:latin typeface="+mn-lt"/>
        <a:ea typeface="+mn-ea"/>
        <a:cs typeface="+mn-cs"/>
      </a:defRPr>
    </a:lvl2pPr>
    <a:lvl3pPr marL="1300643" algn="l" defTabSz="1300643" rtl="0" eaLnBrk="1" latinLnBrk="0" hangingPunct="1">
      <a:defRPr sz="2560" kern="1200">
        <a:solidFill>
          <a:schemeClr val="tx1"/>
        </a:solidFill>
        <a:latin typeface="+mn-lt"/>
        <a:ea typeface="+mn-ea"/>
        <a:cs typeface="+mn-cs"/>
      </a:defRPr>
    </a:lvl3pPr>
    <a:lvl4pPr marL="1950964" algn="l" defTabSz="1300643" rtl="0" eaLnBrk="1" latinLnBrk="0" hangingPunct="1">
      <a:defRPr sz="2560" kern="1200">
        <a:solidFill>
          <a:schemeClr val="tx1"/>
        </a:solidFill>
        <a:latin typeface="+mn-lt"/>
        <a:ea typeface="+mn-ea"/>
        <a:cs typeface="+mn-cs"/>
      </a:defRPr>
    </a:lvl4pPr>
    <a:lvl5pPr marL="2601285" algn="l" defTabSz="1300643" rtl="0" eaLnBrk="1" latinLnBrk="0" hangingPunct="1">
      <a:defRPr sz="2560" kern="1200">
        <a:solidFill>
          <a:schemeClr val="tx1"/>
        </a:solidFill>
        <a:latin typeface="+mn-lt"/>
        <a:ea typeface="+mn-ea"/>
        <a:cs typeface="+mn-cs"/>
      </a:defRPr>
    </a:lvl5pPr>
    <a:lvl6pPr marL="3251606" algn="l" defTabSz="1300643" rtl="0" eaLnBrk="1" latinLnBrk="0" hangingPunct="1">
      <a:defRPr sz="2560" kern="1200">
        <a:solidFill>
          <a:schemeClr val="tx1"/>
        </a:solidFill>
        <a:latin typeface="+mn-lt"/>
        <a:ea typeface="+mn-ea"/>
        <a:cs typeface="+mn-cs"/>
      </a:defRPr>
    </a:lvl6pPr>
    <a:lvl7pPr marL="3901928" algn="l" defTabSz="1300643" rtl="0" eaLnBrk="1" latinLnBrk="0" hangingPunct="1">
      <a:defRPr sz="2560" kern="1200">
        <a:solidFill>
          <a:schemeClr val="tx1"/>
        </a:solidFill>
        <a:latin typeface="+mn-lt"/>
        <a:ea typeface="+mn-ea"/>
        <a:cs typeface="+mn-cs"/>
      </a:defRPr>
    </a:lvl7pPr>
    <a:lvl8pPr marL="4552249" algn="l" defTabSz="1300643" rtl="0" eaLnBrk="1" latinLnBrk="0" hangingPunct="1">
      <a:defRPr sz="2560" kern="1200">
        <a:solidFill>
          <a:schemeClr val="tx1"/>
        </a:solidFill>
        <a:latin typeface="+mn-lt"/>
        <a:ea typeface="+mn-ea"/>
        <a:cs typeface="+mn-cs"/>
      </a:defRPr>
    </a:lvl8pPr>
    <a:lvl9pPr marL="5202570" algn="l" defTabSz="1300643" rtl="0" eaLnBrk="1" latinLnBrk="0" hangingPunct="1">
      <a:defRPr sz="256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F0DDD49-8066-4352-B6B5-FC1A8E5854EA}">
  <a:tblStyle styleId="{5F0DDD49-8066-4352-B6B5-FC1A8E5854EA}" styleName="Oslo Met tabellstil">
    <a:wholeTbl>
      <a:tcTxStyle>
        <a:fontRef idx="minor">
          <a:prstClr val="black"/>
        </a:fontRef>
        <a:schemeClr val="dk1"/>
      </a:tcTxStyle>
      <a:tcStyle>
        <a:tcBdr>
          <a:left>
            <a:ln w="0" cmpd="sng">
              <a:solidFill>
                <a:schemeClr val="lt1"/>
              </a:solidFill>
            </a:ln>
          </a:left>
          <a:right>
            <a:ln w="0" cmpd="sng">
              <a:solidFill>
                <a:schemeClr val="lt1"/>
              </a:solidFill>
            </a:ln>
          </a:right>
          <a:top>
            <a:ln w="6350" cmpd="sng">
              <a:solidFill>
                <a:srgbClr val="D7D7D7"/>
              </a:solidFill>
            </a:ln>
          </a:top>
          <a:bottom>
            <a:ln w="6350" cmpd="sng">
              <a:solidFill>
                <a:srgbClr val="D7D7D7"/>
              </a:solidFill>
            </a:ln>
          </a:bottom>
          <a:insideH>
            <a:ln w="6350" cmpd="sng">
              <a:solidFill>
                <a:srgbClr val="D7D7D7"/>
              </a:solidFill>
            </a:ln>
          </a:insideH>
          <a:insideV>
            <a:ln w="0" cmpd="sng">
              <a:solidFill>
                <a:schemeClr val="lt1"/>
              </a:solidFill>
            </a:ln>
          </a:insideV>
        </a:tcBdr>
        <a:fill>
          <a:solidFill>
            <a:schemeClr val="lt1"/>
          </a:solidFill>
        </a:fill>
      </a:tcStyle>
    </a:wholeTbl>
    <a:band1H>
      <a:tcStyle>
        <a:tcBdr/>
      </a:tcStyle>
    </a:band1H>
    <a:band2H>
      <a:tcStyle>
        <a:tcBdr/>
      </a:tcStyle>
    </a:band2H>
    <a:band1V>
      <a:tcStyle>
        <a:tcBdr/>
      </a:tcStyle>
    </a:band1V>
    <a:band2V>
      <a:tcStyle>
        <a:tcBdr/>
      </a:tcStyle>
    </a:band2V>
    <a:lastCol>
      <a:tcTxStyle b="on">
        <a:fontRef idx="minor">
          <a:prstClr val="black"/>
        </a:fontRef>
        <a:schemeClr val="dk1"/>
      </a:tcTxStyle>
      <a:tcStyle>
        <a:tcBdr/>
        <a:fill>
          <a:solidFill>
            <a:schemeClr val="lt1"/>
          </a:solidFill>
        </a:fill>
      </a:tcStyle>
    </a:lastCol>
    <a:firstCol>
      <a:tcTxStyle b="on">
        <a:fontRef idx="minor">
          <a:prstClr val="black"/>
        </a:fontRef>
        <a:schemeClr val="dk1"/>
      </a:tcTxStyle>
      <a:tcStyle>
        <a:tcBdr/>
        <a:fill>
          <a:solidFill>
            <a:schemeClr val="lt1"/>
          </a:solidFill>
        </a:fill>
      </a:tcStyle>
    </a:firstCol>
    <a:lastRow>
      <a:tcTxStyle b="on">
        <a:fontRef idx="minor">
          <a:prstClr val="black"/>
        </a:fontRef>
        <a:schemeClr val="dk1"/>
      </a:tcTxStyle>
      <a:tcStyle>
        <a:tcBdr>
          <a:top>
            <a:ln w="19050" cmpd="sng">
              <a:solidFill>
                <a:schemeClr val="accent1"/>
              </a:solidFill>
            </a:ln>
          </a:top>
          <a:bottom>
            <a:ln w="19050" cmpd="sng">
              <a:solidFill>
                <a:schemeClr val="accent1"/>
              </a:solidFill>
            </a:ln>
          </a:bottom>
        </a:tcBdr>
        <a:fill>
          <a:noFill/>
        </a:fill>
      </a:tcStyle>
    </a:lastRow>
    <a:firstRow>
      <a:tcTxStyle b="on">
        <a:fontRef idx="minor">
          <a:prstClr val="black"/>
        </a:fontRef>
        <a:schemeClr val="dk1"/>
      </a:tcTxStyle>
      <a:tcStyle>
        <a:tcBdr>
          <a:bottom>
            <a:ln w="19050" cmpd="sng">
              <a:solidFill>
                <a:schemeClr val="accent1"/>
              </a:solidFill>
            </a:ln>
          </a:bottom>
        </a:tcBdr>
        <a:fill>
          <a:noFill/>
        </a:fill>
      </a:tcStyle>
    </a:firstRow>
  </a:tblStyle>
  <a:tblStyle styleId="{5C22544A-7EE6-4342-B048-85BDC9FD1C3A}" styleName="Middels stil 2 – uthev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ys stil 1 – utheving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ys stil 2 – utheving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2" autoAdjust="0"/>
    <p:restoredTop sz="79462" autoAdjust="0"/>
  </p:normalViewPr>
  <p:slideViewPr>
    <p:cSldViewPr snapToGrid="0">
      <p:cViewPr varScale="1">
        <p:scale>
          <a:sx n="79" d="100"/>
          <a:sy n="79" d="100"/>
        </p:scale>
        <p:origin x="1528" y="216"/>
      </p:cViewPr>
      <p:guideLst/>
    </p:cSldViewPr>
  </p:slideViewPr>
  <p:outlineViewPr>
    <p:cViewPr>
      <p:scale>
        <a:sx n="33" d="100"/>
        <a:sy n="33" d="100"/>
      </p:scale>
      <p:origin x="0" y="-422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6" Type="http://schemas.openxmlformats.org/officeDocument/2006/relationships/slide" Target="slides/slide11.xml"/><Relationship Id="rId107" Type="http://schemas.openxmlformats.org/officeDocument/2006/relationships/viewProps" Target="viewProps.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theme" Target="theme/theme1.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presProps" Target="pres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tableStyles" Target="tableStyles.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B7B040-7AAC-4A31-805D-A772300221D6}" type="datetimeFigureOut">
              <a:rPr lang="en-US" smtClean="0"/>
              <a:t>9/1/26</a:t>
            </a:fld>
            <a:endParaRPr lang="en-US"/>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C6333F-E368-4746-A020-FE91A90E005B}" type="slidenum">
              <a:rPr lang="en-US" smtClean="0"/>
              <a:t>‹#›</a:t>
            </a:fld>
            <a:endParaRPr lang="en-US"/>
          </a:p>
        </p:txBody>
      </p:sp>
    </p:spTree>
    <p:extLst>
      <p:ext uri="{BB962C8B-B14F-4D97-AF65-F5344CB8AC3E}">
        <p14:creationId xmlns:p14="http://schemas.microsoft.com/office/powerpoint/2010/main" val="1894998186"/>
      </p:ext>
    </p:extLst>
  </p:cSld>
  <p:clrMap bg1="lt1" tx1="dk1" bg2="lt2" tx2="dk2" accent1="accent1" accent2="accent2" accent3="accent3" accent4="accent4" accent5="accent5" accent6="accent6" hlink="hlink" folHlink="folHlink"/>
  <p:notesStyle>
    <a:lvl1pPr marL="0" algn="l" defTabSz="1300643" rtl="0" eaLnBrk="1" latinLnBrk="0" hangingPunct="1">
      <a:defRPr sz="1707" kern="1200">
        <a:solidFill>
          <a:schemeClr val="tx1"/>
        </a:solidFill>
        <a:latin typeface="+mn-lt"/>
        <a:ea typeface="+mn-ea"/>
        <a:cs typeface="+mn-cs"/>
      </a:defRPr>
    </a:lvl1pPr>
    <a:lvl2pPr marL="650321" algn="l" defTabSz="1300643" rtl="0" eaLnBrk="1" latinLnBrk="0" hangingPunct="1">
      <a:defRPr sz="1707" kern="1200">
        <a:solidFill>
          <a:schemeClr val="tx1"/>
        </a:solidFill>
        <a:latin typeface="+mn-lt"/>
        <a:ea typeface="+mn-ea"/>
        <a:cs typeface="+mn-cs"/>
      </a:defRPr>
    </a:lvl2pPr>
    <a:lvl3pPr marL="1300643" algn="l" defTabSz="1300643" rtl="0" eaLnBrk="1" latinLnBrk="0" hangingPunct="1">
      <a:defRPr sz="1707" kern="1200">
        <a:solidFill>
          <a:schemeClr val="tx1"/>
        </a:solidFill>
        <a:latin typeface="+mn-lt"/>
        <a:ea typeface="+mn-ea"/>
        <a:cs typeface="+mn-cs"/>
      </a:defRPr>
    </a:lvl3pPr>
    <a:lvl4pPr marL="1950964" algn="l" defTabSz="1300643" rtl="0" eaLnBrk="1" latinLnBrk="0" hangingPunct="1">
      <a:defRPr sz="1707" kern="1200">
        <a:solidFill>
          <a:schemeClr val="tx1"/>
        </a:solidFill>
        <a:latin typeface="+mn-lt"/>
        <a:ea typeface="+mn-ea"/>
        <a:cs typeface="+mn-cs"/>
      </a:defRPr>
    </a:lvl4pPr>
    <a:lvl5pPr marL="2601285" algn="l" defTabSz="1300643" rtl="0" eaLnBrk="1" latinLnBrk="0" hangingPunct="1">
      <a:defRPr sz="1707" kern="1200">
        <a:solidFill>
          <a:schemeClr val="tx1"/>
        </a:solidFill>
        <a:latin typeface="+mn-lt"/>
        <a:ea typeface="+mn-ea"/>
        <a:cs typeface="+mn-cs"/>
      </a:defRPr>
    </a:lvl5pPr>
    <a:lvl6pPr marL="3251606" algn="l" defTabSz="1300643" rtl="0" eaLnBrk="1" latinLnBrk="0" hangingPunct="1">
      <a:defRPr sz="1707" kern="1200">
        <a:solidFill>
          <a:schemeClr val="tx1"/>
        </a:solidFill>
        <a:latin typeface="+mn-lt"/>
        <a:ea typeface="+mn-ea"/>
        <a:cs typeface="+mn-cs"/>
      </a:defRPr>
    </a:lvl6pPr>
    <a:lvl7pPr marL="3901928" algn="l" defTabSz="1300643" rtl="0" eaLnBrk="1" latinLnBrk="0" hangingPunct="1">
      <a:defRPr sz="1707" kern="1200">
        <a:solidFill>
          <a:schemeClr val="tx1"/>
        </a:solidFill>
        <a:latin typeface="+mn-lt"/>
        <a:ea typeface="+mn-ea"/>
        <a:cs typeface="+mn-cs"/>
      </a:defRPr>
    </a:lvl7pPr>
    <a:lvl8pPr marL="4552249" algn="l" defTabSz="1300643" rtl="0" eaLnBrk="1" latinLnBrk="0" hangingPunct="1">
      <a:defRPr sz="1707" kern="1200">
        <a:solidFill>
          <a:schemeClr val="tx1"/>
        </a:solidFill>
        <a:latin typeface="+mn-lt"/>
        <a:ea typeface="+mn-ea"/>
        <a:cs typeface="+mn-cs"/>
      </a:defRPr>
    </a:lvl8pPr>
    <a:lvl9pPr marL="5202570" algn="l" defTabSz="1300643" rtl="0" eaLnBrk="1" latinLnBrk="0" hangingPunct="1">
      <a:defRPr sz="170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CONTEXT — Launched 11 December 1998, arrived 23 September 1999. It fired its engine to enter orbit, passed roughly 57 km above the surface instead of the planned 226 km, and was destroyed by atmospheric stress. Total mission cost is usually cited at about $327.6M — around $193M spacecraft, $92M launch, $43M operations.</a:t>
            </a:r>
          </a:p>
          <a:p>
            <a:endParaRPr dirty="0"/>
          </a:p>
          <a:p>
            <a:r>
              <a:rPr dirty="0"/>
              <a:t>LINK — Sources are in </a:t>
            </a:r>
            <a:r>
              <a:rPr dirty="0" err="1"/>
              <a:t>PREP.md</a:t>
            </a:r>
            <a:r>
              <a:rPr dirty="0"/>
              <a:t> section 4 in case a student challenges the number.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CONTEXT — Lockheed Martin's ground software produced impulse figures in imperial units; NASA JPL's navigation software expected metric. Each program was internally correct and passed its own tests. A newton is about 0.225 pound-force, so the trajectory was off by a factor of roughly 4.45 — accumulating silently over nine months of small trajectory corrections. The NASA failure board's own summary named the units mismatch as the root cause.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dirty="0"/>
          </a:p>
          <a:p>
            <a:r>
              <a:rPr lang="en-US" dirty="0"/>
              <a:t>C</a:t>
            </a:r>
            <a:r>
              <a:rPr dirty="0"/>
              <a:t>ONTEXT — Public Health England, reported 4 October 2020. Cases from 25 September to 2 October were missing from the contact-tracing system. Roughly 48 000 close contacts of infected people were not reached in the window where isolation would have mattered. The consequence of a data-handling default was measured in transmission, not in money.</a:t>
            </a:r>
          </a:p>
          <a:p>
            <a:endParaRPr lang="en-US" dirty="0"/>
          </a:p>
          <a:p>
            <a:r>
              <a:rPr lang="en-US" dirty="0"/>
              <a:t>LINK — Same root cause family as the Excel gene story two slides from now.</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Lab results were transferred as CSV, then loaded into the legacy .</a:t>
            </a:r>
            <a:r>
              <a:rPr dirty="0" err="1"/>
              <a:t>xls</a:t>
            </a:r>
            <a:r>
              <a:rPr dirty="0"/>
              <a:t> format, which has a hard limit of 65 536 rows and 256 columns. Each template held a fixed number of cases; once full, additional rows were simply not included. Nothing crashed. The modern .xlsx format allows 1 048 576 rows, so the fix was trivial — the failure was that nobody was checking row counts.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CONTEXT — The HUGO Gene Nomenclature Committee updated its guidelines in 2020 and renamed symbols that spreadsheets corrupt: SEPT2 became SEPTIN2, MARCH1 became MARCHF1. Excel's default type inference converted the symbols to dates on import, and published gene lists in supplementary files were measurably affected — studies have found date-corrupted gene names in a fifth of papers with Excel supplements. Rather than fight the tool, an entire field changed its vocabulary.</a:t>
            </a:r>
          </a:p>
          <a:p>
            <a:endParaRPr dirty="0"/>
          </a:p>
          <a:p>
            <a:r>
              <a:rPr dirty="0"/>
              <a:t>LINK — Slides 31–34: the messy Norwegian CSV, and </a:t>
            </a:r>
            <a:r>
              <a:rPr dirty="0" err="1"/>
              <a:t>read_csv</a:t>
            </a:r>
            <a:r>
              <a:rPr dirty="0"/>
              <a:t> written defensively.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CONTEXT — Three failures: a units mismatch, a silent row limit, and type inference corrupting identifiers. No model was involved in any of them. Every one was preventable by someone looking at the data and asking what the values meant. That is the skill this lecture teaches, and it is the skill Assignment 1 assesses.</a:t>
            </a:r>
          </a:p>
          <a:p>
            <a:endParaRPr dirty="0"/>
          </a:p>
          <a:p>
            <a:r>
              <a:rPr dirty="0" err="1"/>
              <a:t>Emneplan</a:t>
            </a:r>
            <a:r>
              <a:rPr dirty="0"/>
              <a:t> learning outcome: 'can evaluate the technical quality and practical value of various types of artificial intelligence.' It starts with the data.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CONTEXT — Concretely: fixing a </a:t>
            </a:r>
            <a:r>
              <a:rPr dirty="0" err="1"/>
              <a:t>mislabelled</a:t>
            </a:r>
            <a:r>
              <a:rPr dirty="0"/>
              <a:t> target, adding one well-chosen engineered feature, or collecting 500 more examples of a rare class will usually beat swapping logistic regression for a gradient-boosted ensemble. Andrew Ng makes the same argument at length in Machine Learning Yearning, which is on the reading list — error analysis before model complexity.</a:t>
            </a:r>
          </a:p>
          <a:p>
            <a:endParaRPr dirty="0"/>
          </a:p>
          <a:p>
            <a:r>
              <a:rPr dirty="0"/>
              <a:t>LINK — Machine Learning Yearning chapters 13–19 (error analysis)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B4408-692F-95A5-488C-5475C5A9BC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C4A61F-FDE3-9195-D8AB-A17BE1BA659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8FB52F7-4698-D38F-224C-91AEEFE650B2}"/>
              </a:ext>
            </a:extLst>
          </p:cNvPr>
          <p:cNvSpPr>
            <a:spLocks noGrp="1"/>
          </p:cNvSpPr>
          <p:nvPr>
            <p:ph type="body" sz="quarter" idx="3"/>
          </p:nvPr>
        </p:nvSpPr>
        <p:spPr/>
        <p:txBody>
          <a:bodyPr/>
          <a:lstStyle/>
          <a:p>
            <a:endParaRPr dirty="0"/>
          </a:p>
          <a:p>
            <a:r>
              <a:rPr dirty="0"/>
              <a:t>CONTEXT — </a:t>
            </a:r>
            <a:r>
              <a:rPr dirty="0" err="1"/>
              <a:t>Rogati's</a:t>
            </a:r>
            <a:r>
              <a:rPr dirty="0"/>
              <a:t> analogy is Maslow's hierarchy: you cannot </a:t>
            </a:r>
            <a:r>
              <a:rPr dirty="0" err="1"/>
              <a:t>self-actualise</a:t>
            </a:r>
            <a:r>
              <a:rPr dirty="0"/>
              <a:t> while starving. An </a:t>
            </a:r>
            <a:r>
              <a:rPr dirty="0" err="1"/>
              <a:t>organisation</a:t>
            </a:r>
            <a:r>
              <a:rPr dirty="0"/>
              <a:t> with no reliable logging and no data warehouse cannot do deep learning, regardless of budget — which is why so many 'AI strategies' quietly become data platform projects in year one. </a:t>
            </a:r>
          </a:p>
        </p:txBody>
      </p:sp>
      <p:sp>
        <p:nvSpPr>
          <p:cNvPr id="4" name="Slide Number Placeholder 3">
            <a:extLst>
              <a:ext uri="{FF2B5EF4-FFF2-40B4-BE49-F238E27FC236}">
                <a16:creationId xmlns:a16="http://schemas.microsoft.com/office/drawing/2014/main" id="{10942720-97C1-6850-8091-E63A6931ED66}"/>
              </a:ext>
            </a:extLst>
          </p:cNvPr>
          <p:cNvSpPr>
            <a:spLocks noGrp="1"/>
          </p:cNvSpPr>
          <p:nvPr>
            <p:ph type="sldNum" sz="quarter" idx="5"/>
          </p:nvPr>
        </p:nvSpPr>
        <p:spPr/>
      </p:sp>
    </p:spTree>
    <p:extLst>
      <p:ext uri="{BB962C8B-B14F-4D97-AF65-F5344CB8AC3E}">
        <p14:creationId xmlns:p14="http://schemas.microsoft.com/office/powerpoint/2010/main" val="33322521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CONTEXT — Same five steps as previous years, deliberately — this is the frame students will see again in every later lecture. Note the order: the problem comes before the data, and the data before the algorithm. Choosing a model before you have looked at your data is the most common way student projects go wrong.</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The asymmetry is the point. Any student in this room can install the same libraries as any AI team in the country, tonight, for free. What they cannot install is Ruter's travel data, a hospital's patient records, or a bank's transaction history. This is also why data access, not model choice, is what negotiations in industry are actually about — and why GDPR is a strategic constraint rather than paperwork.</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A Kaggle dataset with 40 000 downloads has already been cleaned by someone else, so </a:t>
            </a:r>
            <a:r>
              <a:rPr dirty="0" err="1"/>
              <a:t>practising</a:t>
            </a:r>
            <a:r>
              <a:rPr dirty="0"/>
              <a:t> on it hides the exact skill we are teaching. Norwegian public data is the opposite — SSB and municipal exports arrive with semicolon separators, decimal commas, '..' for missing values and Latin-1 encoding, which is why the lab uses them. Also flag that 'private </a:t>
            </a:r>
            <a:r>
              <a:rPr dirty="0" err="1"/>
              <a:t>organisational</a:t>
            </a:r>
            <a:r>
              <a:rPr dirty="0"/>
              <a:t> data' is where they will actually work, and that its quality is typically far worse than anything they have seen in a course.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a:t>
            </a:r>
            <a:endParaRPr lang="nb-NO" dirty="0"/>
          </a:p>
          <a:p>
            <a:r>
              <a:rPr dirty="0"/>
              <a:t>Question 1 guards against the most common project failure: a large dataset that cannot answer the question because it was collected for a different one. </a:t>
            </a:r>
            <a:endParaRPr lang="nb-NO" dirty="0"/>
          </a:p>
          <a:p>
            <a:r>
              <a:rPr dirty="0"/>
              <a:t>Question 2 is GDPR Article 6 in plain language. </a:t>
            </a:r>
            <a:endParaRPr lang="nb-NO" dirty="0"/>
          </a:p>
          <a:p>
            <a:r>
              <a:rPr dirty="0"/>
              <a:t>Question 3 is data </a:t>
            </a:r>
            <a:r>
              <a:rPr dirty="0" err="1"/>
              <a:t>minimisation</a:t>
            </a:r>
            <a:r>
              <a:rPr dirty="0"/>
              <a:t> — a legal principle that also happens to reduce your own risk.</a:t>
            </a:r>
            <a:endParaRPr lang="nb-NO" dirty="0"/>
          </a:p>
          <a:p>
            <a:endParaRPr lang="en-US" dirty="0"/>
          </a:p>
          <a:p>
            <a:r>
              <a:rPr dirty="0"/>
              <a:t> Question 4 is distribution shift, and it is the reason models degrade after deployment even when nothing in the code changed.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Churn prediction is the canonical business ML problem and one your students will meet in interviews. Note the details that make it feel legitimate: a proper train/test split is implied, the model is boring and standard, and the number is not 100% — which is exactly what makes a leaking model convincing rather than obviously broken.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The offending column is bottom-left, deliberately placed where the eye lands last after scanning the top row. Everything else in the list is a legitimate feature. `</a:t>
            </a:r>
            <a:r>
              <a:rPr dirty="0" err="1"/>
              <a:t>churned_next_month</a:t>
            </a:r>
            <a:r>
              <a:rPr dirty="0"/>
              <a:t>` is the target; `</a:t>
            </a:r>
            <a:r>
              <a:rPr dirty="0" err="1"/>
              <a:t>customer_id</a:t>
            </a:r>
            <a:r>
              <a:rPr dirty="0"/>
              <a:t>` is an identifier that should also be dropped, and a sharp student may spot that one first — accept it as a good answer and keep hunting.</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For a customer who has not cancelled, the field is empty; for one who has, it is filled in. So the model's most powerful feature is effectively 'has this person already cancelled?'. In production the column is null for every customer you actually want to score, and accuracy collapses to near the base rate. Note what makes this dangerous rather than merely wrong: nothing in the code is broken, no exception is raised, and the validation score agrees with the test score.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CONTEXT — The first line is a test they can apply to every column mechanically, without domain expertise. The second is the professional instinct: in real tabular problems, suspiciously good results are far more often a bug than a breakthrough. Teaching students to distrust their own good news is one of the more useful things this course can do.</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a:t>
            </a:r>
            <a:endParaRPr lang="nb-NO" dirty="0"/>
          </a:p>
          <a:p>
            <a:r>
              <a:rPr dirty="0"/>
              <a:t>Type 1 is a data-collection problem and needs domain knowledge to spot. </a:t>
            </a:r>
            <a:endParaRPr lang="nb-NO" dirty="0"/>
          </a:p>
          <a:p>
            <a:r>
              <a:rPr dirty="0"/>
              <a:t>Type 2 is a code-ordering problem: `</a:t>
            </a:r>
            <a:r>
              <a:rPr dirty="0" err="1"/>
              <a:t>StandardScaler</a:t>
            </a:r>
            <a:r>
              <a:rPr dirty="0"/>
              <a:t>().</a:t>
            </a:r>
            <a:r>
              <a:rPr dirty="0" err="1"/>
              <a:t>fit_transform</a:t>
            </a:r>
            <a:r>
              <a:rPr dirty="0"/>
              <a:t>(X)` before the split lets the test set's mean and variance influence training, which inflates the score by a small but real margin — and it looks like tidy code, which is why it survives review. </a:t>
            </a:r>
            <a:endParaRPr lang="nb-NO" dirty="0"/>
          </a:p>
          <a:p>
            <a:endParaRPr lang="en-US" dirty="0"/>
          </a:p>
          <a:p>
            <a:r>
              <a:rPr dirty="0"/>
              <a:t>Type 3 is why we check duplicates before splitting rather than after.</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There are at least nine defects and most rooms find four or five. The value is in the gap: they will find the obvious formatting issues and miss the duplicate row and the '..' sentinel, which are the two that actually corrupt results. Keep the board list visible while you reveal, so they can see which ones they missed.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Details if challenged: '..' is SSB's convention for 'not available'; the space in '1 234,50' is a Norwegian thousands separator, so pandas sees a string; the two date formats are unrecoverable if you cannot tell which convention a row used, and `</a:t>
            </a:r>
            <a:r>
              <a:rPr dirty="0" err="1"/>
              <a:t>to_datetime</a:t>
            </a:r>
            <a:r>
              <a:rPr dirty="0"/>
              <a:t>` will guess wrong on the ambiguous ones. −1 in `</a:t>
            </a:r>
            <a:r>
              <a:rPr dirty="0" err="1"/>
              <a:t>antall</a:t>
            </a:r>
            <a:r>
              <a:rPr dirty="0"/>
              <a:t>` is a numeric sentinel meaning 'unknown', which is worse than a blank because it survives `</a:t>
            </a:r>
            <a:r>
              <a:rPr dirty="0" err="1"/>
              <a:t>isnull</a:t>
            </a:r>
            <a:r>
              <a:rPr dirty="0"/>
              <a:t>()` and enters the mean.</a:t>
            </a:r>
          </a:p>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575732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Worth keeping only as a diagnostic index: symptom on the left, so a student debugging in the lab can find their case. The mojibake row is the useful one — '</a:t>
            </a:r>
            <a:r>
              <a:rPr dirty="0" err="1"/>
              <a:t>Ã</a:t>
            </a:r>
            <a:r>
              <a:rPr dirty="0"/>
              <a:t>¦ </a:t>
            </a:r>
            <a:r>
              <a:rPr dirty="0" err="1"/>
              <a:t>Ã</a:t>
            </a:r>
            <a:r>
              <a:rPr dirty="0"/>
              <a:t>¸ </a:t>
            </a:r>
            <a:r>
              <a:rPr dirty="0" err="1"/>
              <a:t>Ã</a:t>
            </a:r>
            <a:r>
              <a:rPr dirty="0"/>
              <a:t>¥' is UTF-8 bytes being read as Latin-1, and </a:t>
            </a:r>
            <a:r>
              <a:rPr dirty="0" err="1"/>
              <a:t>recognising</a:t>
            </a:r>
            <a:r>
              <a:rPr dirty="0"/>
              <a:t> the pattern saves an hour.</a:t>
            </a:r>
          </a:p>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662073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Titanic is the running example all term, so establish it now: 891 rows, 12 columns, target `Survived`. The X/y convention is not arbitrary — every scikit-learn call today takes X and y in that order, so the notation on this slide is the notation in the code. Note that 'label' specifically implies a human supplied the value, which is why Part 10 on annotation matters.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CONTEXT — This table is the map for Parts 6 and 7: which treatment a column gets is decided by its type, not by taste. Nominal versus ordinal is the distinction that carries real consequences (slide 63). The identifier row matters because an ID contains no predictive information yet a flexible model will still find spurious structure in it — especially if IDs were assigned in a meaningful order, which they usually were.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Answers: </a:t>
            </a:r>
            <a:endParaRPr lang="nb-NO" dirty="0"/>
          </a:p>
          <a:p>
            <a:r>
              <a:rPr dirty="0" err="1"/>
              <a:t>Pclass</a:t>
            </a:r>
            <a:r>
              <a:rPr dirty="0"/>
              <a:t> is an ordinal category — its mean of 2.31 is not a class and cannot be interpreted.</a:t>
            </a:r>
            <a:endParaRPr lang="nb-NO" dirty="0"/>
          </a:p>
          <a:p>
            <a:r>
              <a:rPr dirty="0" err="1"/>
              <a:t>postnummer</a:t>
            </a:r>
            <a:r>
              <a:rPr dirty="0"/>
              <a:t> is nominal and must be a string, or 0150 becomes 150. </a:t>
            </a:r>
            <a:endParaRPr lang="nb-NO" dirty="0"/>
          </a:p>
          <a:p>
            <a:r>
              <a:rPr dirty="0" err="1"/>
              <a:t>shoe_size</a:t>
            </a:r>
            <a:r>
              <a:rPr dirty="0"/>
              <a:t> is genuinely ordered and roughly interval, so treating it as numeric is defensible. </a:t>
            </a:r>
            <a:endParaRPr lang="nb-NO" dirty="0"/>
          </a:p>
          <a:p>
            <a:r>
              <a:rPr dirty="0" err="1"/>
              <a:t>phone_number</a:t>
            </a:r>
            <a:r>
              <a:rPr dirty="0"/>
              <a:t> is an identifier — never a feature. </a:t>
            </a:r>
            <a:endParaRPr lang="nb-NO" dirty="0"/>
          </a:p>
          <a:p>
            <a:r>
              <a:rPr dirty="0" err="1"/>
              <a:t>n_children</a:t>
            </a:r>
            <a:r>
              <a:rPr dirty="0"/>
              <a:t> is a real count and the only unambiguously numeric one. The closing line is the teaching point: pandas will happily average all five, so the tool cannot protect you.</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CONTEXT — Hadley Wickham's tidy-data formulation. It matters here because every pandas and scikit-learn operation today assumes one row per observation — group-by, train/test split and fit all break in confusing ways on wide or nested data. The month-columns shape is what students get from Excel exports; the answer is `melt` to long format before anything else.</a:t>
            </a:r>
          </a:p>
          <a:p>
            <a:endParaRPr dirty="0"/>
          </a:p>
          <a:p>
            <a:r>
              <a:rPr dirty="0"/>
              <a:t>LINK — Handout section 3. Reference slide.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a:t>
            </a:r>
            <a:r>
              <a:rPr dirty="0" err="1"/>
              <a:t>na_values</a:t>
            </a:r>
            <a:r>
              <a:rPr dirty="0"/>
              <a:t>` at load time is the cheapest fix in the lecture: it converts the disguised missing values before they can hide from `</a:t>
            </a:r>
            <a:r>
              <a:rPr dirty="0" err="1"/>
              <a:t>isnull</a:t>
            </a:r>
            <a:r>
              <a:rPr dirty="0"/>
              <a:t>()`. `</a:t>
            </a:r>
            <a:r>
              <a:rPr dirty="0" err="1"/>
              <a:t>dtype</a:t>
            </a:r>
            <a:r>
              <a:rPr dirty="0"/>
              <a:t>={'</a:t>
            </a:r>
            <a:r>
              <a:rPr dirty="0" err="1"/>
              <a:t>postnr</a:t>
            </a:r>
            <a:r>
              <a:rPr dirty="0"/>
              <a:t>': 'string'}` is the fix for the gene/postcode class of bug — you override type inference instead of trusting it. If they hit an unknown separator, `</a:t>
            </a:r>
            <a:r>
              <a:rPr dirty="0" err="1"/>
              <a:t>sep</a:t>
            </a:r>
            <a:r>
              <a:rPr dirty="0"/>
              <a:t>=None, engine='python'` will sniff it. Mention that the same arguments exist for `</a:t>
            </a:r>
            <a:r>
              <a:rPr dirty="0" err="1"/>
              <a:t>read_excel</a:t>
            </a:r>
            <a:r>
              <a:rPr dirty="0"/>
              <a:t>` apart from `</a:t>
            </a:r>
            <a:r>
              <a:rPr dirty="0" err="1"/>
              <a:t>sep</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`errors='coerce'` converts what it can and turns the rest into </a:t>
            </a:r>
            <a:r>
              <a:rPr dirty="0" err="1"/>
              <a:t>NaN</a:t>
            </a:r>
            <a:r>
              <a:rPr dirty="0"/>
              <a:t>, so </a:t>
            </a:r>
            <a:r>
              <a:rPr dirty="0" err="1"/>
              <a:t>unparseable</a:t>
            </a:r>
            <a:r>
              <a:rPr dirty="0"/>
              <a:t> junk becomes a *visible* missing value instead of an exception or a column stuck as text. That is the right trade — but it silently discards data, so you must count what you created, which is why the last line exists. `</a:t>
            </a:r>
            <a:r>
              <a:rPr dirty="0" err="1"/>
              <a:t>astype</a:t>
            </a:r>
            <a:r>
              <a:rPr dirty="0"/>
              <a:t>('category')` cuts memory substantially on repeated strings and documents your intent that the column is not numeric.</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The order is deliberate: size, then a look at real values, then structure and missingness, then distributions. `shape` returns a tuple `(rows, columns)` — `</a:t>
            </a:r>
            <a:r>
              <a:rPr dirty="0" err="1"/>
              <a:t>df.size</a:t>
            </a:r>
            <a:r>
              <a:rPr dirty="0"/>
              <a:t>` is the element count, and the exam uses that as a distractor. `describe()` silently covers numerical columns only, which is why the fifth line exists; students routinely conclude a dataset has no categorical columns because `describe()` did not mention them.</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This is the diagnostic skill, not a command list. Point 2 is the highest-value signal: an `object` </a:t>
            </a:r>
            <a:r>
              <a:rPr dirty="0" err="1"/>
              <a:t>dtype</a:t>
            </a:r>
            <a:r>
              <a:rPr dirty="0"/>
              <a:t> on a column whose name promises a number means text is hiding in there — a stray 'N/A', a decimal comma, a '</a:t>
            </a:r>
            <a:r>
              <a:rPr dirty="0" err="1"/>
              <a:t>ukjent</a:t>
            </a:r>
            <a:r>
              <a:rPr dirty="0"/>
              <a:t>'. Point 3 catches the `Unnamed: 0` column that appears whenever someone saved a CSV with `index=True`.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a:t>
            </a:r>
            <a:r>
              <a:rPr dirty="0" err="1"/>
              <a:t>value_counts</a:t>
            </a:r>
            <a:r>
              <a:rPr dirty="0"/>
              <a:t>()` hides </a:t>
            </a:r>
            <a:r>
              <a:rPr dirty="0" err="1"/>
              <a:t>NaNs</a:t>
            </a:r>
            <a:r>
              <a:rPr dirty="0"/>
              <a:t> by default, which means the default hides exactly what you are looking for — a small habit with a large payoff. On `</a:t>
            </a:r>
            <a:r>
              <a:rPr dirty="0" err="1"/>
              <a:t>corr</a:t>
            </a:r>
            <a:r>
              <a:rPr dirty="0"/>
              <a:t>()`: it measures *linear* association between numerical columns only, and it has two genuine uses at this stage — a feature suspiciously correlated with the target suggests leakage, and two features correlated around 0.95 mean one is redundant. Say the obligatory line: correlation is not causation. Ice-cream sales correlate with drownings; summer causes both.</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This is the best reveal in the lecture because the answer feels wrong. Column A has `</a:t>
            </a:r>
            <a:r>
              <a:rPr dirty="0" err="1"/>
              <a:t>np.nan</a:t>
            </a:r>
            <a:r>
              <a:rPr dirty="0"/>
              <a:t>` and `None`, both null → 2. Column B has one `None` → 1. Column C has an empty string, the four-character string 'None', and a single space — all valid strings, so 0. The pedagogical value is that it separates 'looks missing to a human' from 'is missing to pandas'.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The answer is A. B is the intuitive wrong answer — 'three of those look empty'. D catches those who count only the empty string. Writing the counts on the board makes the correction public and memorable, and it tells you how the cohort thinks.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Only `</a:t>
            </a:r>
            <a:r>
              <a:rPr dirty="0" err="1"/>
              <a:t>np.nan</a:t>
            </a:r>
            <a:r>
              <a:rPr dirty="0"/>
              <a:t>`, `None` and `</a:t>
            </a:r>
            <a:r>
              <a:rPr dirty="0" err="1"/>
              <a:t>pd.NA</a:t>
            </a:r>
            <a:r>
              <a:rPr dirty="0"/>
              <a:t>` register as null. Everything else — empty strings, whitespace, 'None', 'N/A', '-', '..', and numeric sentinels like -1 or 999 — passes every null check. This is the same failure mode as the '..' in the Norwegian CSV two sections ago, which is why that exercise came first.</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Order matters: strip whitespace, then replace the empty string, or ' ' survives. Numeric sentinels are worse than string ones because they are the right </a:t>
            </a:r>
            <a:r>
              <a:rPr dirty="0" err="1"/>
              <a:t>dtype</a:t>
            </a:r>
            <a:r>
              <a:rPr dirty="0"/>
              <a:t>, so they pass every check and go straight into the mean — an unrecorded age of 999 in a hundred rows will visibly move a distribution, and a 0 blood pressure will not even look odd in `describe()` unless you know that 0 is impossible. This is where domain knowledge stops being optional.</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Concrete backing: </a:t>
            </a:r>
            <a:r>
              <a:rPr dirty="0" err="1"/>
              <a:t>Buolamwini</a:t>
            </a:r>
            <a:r>
              <a:rPr dirty="0"/>
              <a:t> and Gebru's Gender Shades (2018) measured error rates up to 34% for darker-skinned women against under 1% for lighter-skinned men in commercial gender-classification systems; NIST's 2019 FRVT study found demographic differentials across most algorithms tested. Reuters reported in 2018 that Amazon scrapped an internal CV-screening tool that </a:t>
            </a:r>
            <a:r>
              <a:rPr dirty="0" err="1"/>
              <a:t>penalised</a:t>
            </a:r>
            <a:r>
              <a:rPr dirty="0"/>
              <a:t> CVs containing 'women's' — trained on a decade of mostly male hires. The proxy-variable point is the subtle one: removing a protected attribute does not remove it from the data, because postcode, sports club and school reconstruct it.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BD5F9-832E-C03F-7C54-6D2525BED7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5450C2-E648-4304-8522-70D7E0C6653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715DDAC-3B7C-7314-A74E-CFD70038B08B}"/>
              </a:ext>
            </a:extLst>
          </p:cNvPr>
          <p:cNvSpPr>
            <a:spLocks noGrp="1"/>
          </p:cNvSpPr>
          <p:nvPr>
            <p:ph type="body" sz="quarter" idx="3"/>
          </p:nvPr>
        </p:nvSpPr>
        <p:spPr/>
        <p:txBody>
          <a:bodyPr/>
          <a:lstStyle/>
          <a:p>
            <a:endParaRPr dirty="0"/>
          </a:p>
          <a:p>
            <a:r>
              <a:rPr dirty="0"/>
              <a:t>CONTEXT — Carried over from previous years because the list is still right. Seasonality is the one with a Norwegian edge: </a:t>
            </a:r>
            <a:r>
              <a:rPr dirty="0" err="1"/>
              <a:t>fellesferie</a:t>
            </a:r>
            <a:r>
              <a:rPr dirty="0"/>
              <a:t> in July, Easter moving between March and April, and the </a:t>
            </a:r>
            <a:r>
              <a:rPr dirty="0" err="1"/>
              <a:t>påskeferie</a:t>
            </a:r>
            <a:r>
              <a:rPr dirty="0"/>
              <a:t> effect on transport data — a model that has not been told about the calendar will read all of these as trend. The denominator point </a:t>
            </a:r>
            <a:r>
              <a:rPr dirty="0" err="1"/>
              <a:t>generalises</a:t>
            </a:r>
            <a:r>
              <a:rPr dirty="0"/>
              <a:t>: a percentage without its base is not information.</a:t>
            </a:r>
          </a:p>
        </p:txBody>
      </p:sp>
      <p:sp>
        <p:nvSpPr>
          <p:cNvPr id="4" name="Slide Number Placeholder 3">
            <a:extLst>
              <a:ext uri="{FF2B5EF4-FFF2-40B4-BE49-F238E27FC236}">
                <a16:creationId xmlns:a16="http://schemas.microsoft.com/office/drawing/2014/main" id="{A61DBD3B-8766-E23D-406E-B084D0B816A0}"/>
              </a:ext>
            </a:extLst>
          </p:cNvPr>
          <p:cNvSpPr>
            <a:spLocks noGrp="1"/>
          </p:cNvSpPr>
          <p:nvPr>
            <p:ph type="sldNum" sz="quarter" idx="5"/>
          </p:nvPr>
        </p:nvSpPr>
        <p:spPr/>
      </p:sp>
    </p:spTree>
    <p:extLst>
      <p:ext uri="{BB962C8B-B14F-4D97-AF65-F5344CB8AC3E}">
        <p14:creationId xmlns:p14="http://schemas.microsoft.com/office/powerpoint/2010/main" val="11246691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b-NO" dirty="0"/>
              <a:t>A simple </a:t>
            </a:r>
            <a:r>
              <a:rPr lang="nb-NO" dirty="0" err="1"/>
              <a:t>exercise</a:t>
            </a:r>
            <a:r>
              <a:rPr lang="nb-NO" dirty="0"/>
              <a:t> in </a:t>
            </a:r>
            <a:r>
              <a:rPr lang="nb-NO" dirty="0" err="1"/>
              <a:t>the</a:t>
            </a:r>
            <a:r>
              <a:rPr lang="nb-NO" dirty="0"/>
              <a:t> </a:t>
            </a:r>
            <a:r>
              <a:rPr lang="nb-NO" dirty="0" err="1"/>
              <a:t>class</a:t>
            </a:r>
            <a:endParaRPr lang="nb-NO"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Latanya Sweeney's work in the 1990s showed that combinations of a handful of demographic fields identify the large majority of a population — the classic result used ZIP code, birth date and sex to re-identify individuals in 'anonymous' health records, including the governor of Massachusetts. The fields are called quasi-identifiers. The practical consequence for their assignments: dropping the name column is not </a:t>
            </a:r>
            <a:r>
              <a:rPr dirty="0" err="1"/>
              <a:t>anonymisation</a:t>
            </a:r>
            <a:r>
              <a:rPr dirty="0"/>
              <a:t>, and calling it that in a report is wrong.</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This is the artefact Assignment 1 expects them to work through in writing, which is why it exists as a slide at all — students need to see that 'check the data quality' is a finite, enumerable task rather than a vague instruction. The split in the last two lines is the important part: eleven items are mechanical, five require judgement, and the five that require judgement are where the expensive mistakes live.</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This is standard data-management vocabulary, and it gives students something concrete to write in the quality report Assignment 1 asks for. The distinction worth teaching is validity versus accuracy: validity is checkable against rules inside the file (a month cannot be 13), while accuracy requires an external source of truth — a well-formed address for someone who moved last year is perfectly valid and wrong. No pandas command will ever tell you that.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0.2% missing and 77% missing are different problems even though both are 'missing' — the first is a row-drop, the second is a column-drop. The third line is less familiar and worth showing: it tells you whether missingness is spread thinly across many rows or concentrated in a few useless ones. If 40 rows are missing eight fields each, dropping those 40 rows is a cheap and honest fix.</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The examinable reasoning is why median beats mean on skewed data — one billionaire drags a mean income, while the median barely moves. The group-wise version is the upgrade worth showing in code: `</a:t>
            </a:r>
            <a:r>
              <a:rPr dirty="0" err="1"/>
              <a:t>df</a:t>
            </a:r>
            <a:r>
              <a:rPr dirty="0"/>
              <a:t>['Age'].</a:t>
            </a:r>
            <a:r>
              <a:rPr dirty="0" err="1"/>
              <a:t>fillna</a:t>
            </a:r>
            <a:r>
              <a:rPr dirty="0"/>
              <a:t>(</a:t>
            </a:r>
            <a:r>
              <a:rPr dirty="0" err="1"/>
              <a:t>df.groupby</a:t>
            </a:r>
            <a:r>
              <a:rPr dirty="0"/>
              <a:t>('</a:t>
            </a:r>
            <a:r>
              <a:rPr dirty="0" err="1"/>
              <a:t>Pclass</a:t>
            </a:r>
            <a:r>
              <a:rPr dirty="0"/>
              <a:t>')['Age'].transform('median'))` fills each passenger's age with the median for their own class, which is one line and clearly better than one global number. Every imputation choice must be defensible in the report — marking rewards the reason, not the choice.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The formal vocabulary is MCAR (missing completely at random), MAR and MNAR — you do not need the acronyms, but the distinction matters. If a sensor dropped a reading, imputation is harmless. If people with high incomes decline to state income, then 'missing' *is* the signal, and replacing it with the mean destroys information and invents a false one. On Titanic, `Age` is missing more often in third class and `Cabin` almost only for third class — so both missingness patterns carry class information. The one-liner tests this empirically in a second.</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Order matters — deduplicating before </a:t>
            </a:r>
            <a:r>
              <a:rPr dirty="0" err="1"/>
              <a:t>normalising</a:t>
            </a:r>
            <a:r>
              <a:rPr dirty="0"/>
              <a:t> misses every near-duplicate, which is most of them in real data. `keep='last'` after sorting by an update timestamp is the standard 'keep the newest record' idiom. And the warning: two identical rows in a transaction log may be two real purchases of the same item at the same price, so `</a:t>
            </a:r>
            <a:r>
              <a:rPr dirty="0" err="1"/>
              <a:t>drop_duplicates</a:t>
            </a:r>
            <a:r>
              <a:rPr dirty="0"/>
              <a:t>()` on a fact table can destroy data. Decide which columns define identity before you touch it.</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Including Outliers: While those 21 people using your product a thousand times a day are interesting from a </a:t>
            </a:r>
            <a:r>
              <a:rPr lang="en-GB" i="1" dirty="0"/>
              <a:t>qualitative</a:t>
            </a:r>
            <a:r>
              <a:rPr lang="en-GB" dirty="0"/>
              <a:t> perspective, because they can show you things you didn’t expect, they can be problematic when building models. You probably want to exclude them when building data products; otherwise, the ‘…you may also like…” feature on your site will have the same items everywhere.</a:t>
            </a:r>
            <a:endParaRPr lang="en-NO"/>
          </a:p>
          <a:p>
            <a:endParaRPr lang="nb-NO" dirty="0"/>
          </a:p>
          <a:p>
            <a:r>
              <a:rPr lang="nb-NO"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The decision rule is whether the value is an error or an observation, and that is a domain question, not a statistical one. Capping is called </a:t>
            </a:r>
            <a:r>
              <a:rPr dirty="0" err="1"/>
              <a:t>winsorising</a:t>
            </a:r>
            <a:r>
              <a:rPr dirty="0"/>
              <a:t> and is the middle path: you keep the row and its other columns while limiting one value's leverage. `np.log1p` (log of 1+x) handles skew and tolerates zeros, and it is the right move for prices, incomes and populations — which are skewed by nature rather than by error. In fraud detection and predictive maintenance, deleting outliers deletes the entire positive class.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This is not cosmetic — it fragments the data. 'Oslo', '</a:t>
            </a:r>
            <a:r>
              <a:rPr dirty="0" err="1"/>
              <a:t>oslo</a:t>
            </a:r>
            <a:r>
              <a:rPr dirty="0"/>
              <a:t>' and 'OSLO ' become three separate categories, so a model sees three weak signals instead of one strong one, and one-hot encoding produces three nearly-empty columns. Fixed order: strip, collapse internal whitespace, case-fold, then map known misspellings, then re-case for presentation. For genuinely messy free text, fuzzy matching (`</a:t>
            </a:r>
            <a:r>
              <a:rPr dirty="0" err="1"/>
              <a:t>rapidfuzz</a:t>
            </a:r>
            <a:r>
              <a:rPr dirty="0"/>
              <a:t>`) can propose groupings — but review them by hand, because automatic merging eventually merges two things that were different.</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Assignment 1 uses a single file, so this is preparation for Assignment 2 and for real work. The three failures share one detection method: compare row counts. `validate='</a:t>
            </a:r>
            <a:r>
              <a:rPr dirty="0" err="1"/>
              <a:t>many_to_one</a:t>
            </a:r>
            <a:r>
              <a:rPr dirty="0"/>
              <a:t>'` and `indicator=True` are the two arguments worth knowing — the first raises on unexpected duplicate keys, the second adds a `_merge` column showing both / </a:t>
            </a:r>
            <a:r>
              <a:rPr dirty="0" err="1"/>
              <a:t>left_only</a:t>
            </a:r>
            <a:r>
              <a:rPr dirty="0"/>
              <a:t> / </a:t>
            </a:r>
            <a:r>
              <a:rPr dirty="0" err="1"/>
              <a:t>right_only</a:t>
            </a:r>
            <a:r>
              <a:rPr dirty="0"/>
              <a:t>, which tells you immediately how much did not match. Note the string-vs-int key mismatch is the postcode problem again.</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This is the mistake most groups make in Assignment 1, usually via `</a:t>
            </a:r>
            <a:r>
              <a:rPr dirty="0" err="1"/>
              <a:t>LabelEncoder</a:t>
            </a:r>
            <a:r>
              <a:rPr dirty="0"/>
              <a:t>`, whose name invites it — it is intended for the *target* column, not for features. Ordinal encoding is correct when the order is real (Low &lt; Medium &lt; High, or ticket class), and then you should define the mapping yourself rather than let alphabetical order decide. Tree-based models are less damaged by arbitrary integer codes because they split on thresholds rather than compute distances, but do not rely on it.</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Euclidean distance between two people differing by 10 years and 150 000 kroner: the age term contributes 100, the salary term 22 500 000 000. Age is not merely outweighed, it is numerically irrelevant. That is the whole motivation for scaling, and deriving it beats asserting it — students who see the arithmetic once never ask again why KNN needs scaling.</a:t>
            </a:r>
          </a:p>
          <a:p>
            <a:endParaRPr dirty="0"/>
          </a:p>
          <a:p>
            <a:r>
              <a:rPr lang="en-US" dirty="0"/>
              <a:t>Distance-based algorithms measure how similar two rows are by summing squared differences, one feature at a time:</a:t>
            </a:r>
          </a:p>
          <a:p>
            <a:endParaRPr lang="en-US" dirty="0"/>
          </a:p>
          <a:p>
            <a:r>
              <a:rPr lang="en-US" dirty="0"/>
              <a:t>d² = (</a:t>
            </a:r>
            <a:r>
              <a:rPr lang="en-US" dirty="0" err="1"/>
              <a:t>age_A</a:t>
            </a:r>
            <a:r>
              <a:rPr lang="en-US" dirty="0"/>
              <a:t> − </a:t>
            </a:r>
            <a:r>
              <a:rPr lang="en-US" dirty="0" err="1"/>
              <a:t>age_B</a:t>
            </a:r>
            <a:r>
              <a:rPr lang="en-US" dirty="0"/>
              <a:t>)² + (</a:t>
            </a:r>
            <a:r>
              <a:rPr lang="en-US" dirty="0" err="1"/>
              <a:t>salary_A</a:t>
            </a:r>
            <a:r>
              <a:rPr lang="en-US" dirty="0"/>
              <a:t> − </a:t>
            </a:r>
            <a:r>
              <a:rPr lang="en-US" dirty="0" err="1"/>
              <a:t>salary_B</a:t>
            </a:r>
            <a:r>
              <a:rPr lang="en-US" dirty="0"/>
              <a:t>)²</a:t>
            </a:r>
          </a:p>
          <a:p>
            <a:endParaRPr lang="en-US" dirty="0"/>
          </a:p>
          <a:p>
            <a:r>
              <a:rPr lang="en-US" dirty="0"/>
              <a:t>Two people: A is 30 earning 450 000, B is 40 earning 600 000.</a:t>
            </a:r>
          </a:p>
          <a:p>
            <a:endParaRPr lang="en-US" dirty="0"/>
          </a:p>
          <a:p>
            <a:r>
              <a:rPr lang="en-US" dirty="0"/>
              <a:t>d² = (40 − 30)²  +  (600 000 − 450 000)²</a:t>
            </a:r>
          </a:p>
          <a:p>
            <a:r>
              <a:rPr lang="en-US" dirty="0"/>
              <a:t>   =     100     +      22 500 000 000</a:t>
            </a:r>
          </a:p>
          <a:p>
            <a:endParaRPr lang="en-US" dirty="0"/>
          </a:p>
          <a:p>
            <a:r>
              <a:rPr lang="en-US" dirty="0"/>
              <a:t>Age contributes 100 out of 22.5 billion — about four ten-millionths of the distance. The algorithm believes it's using both features. Arithmetically it is using salary and nothing else.</a:t>
            </a:r>
          </a:p>
          <a:p>
            <a:endParaRPr lang="en-US" dirty="0"/>
          </a:p>
          <a:p>
            <a:r>
              <a:rPr lang="en-US" dirty="0"/>
              <a:t>The version worth saying out loud:</a:t>
            </a:r>
          </a:p>
          <a:p>
            <a:endParaRPr lang="en-US" dirty="0"/>
          </a:p>
          <a:p>
            <a:r>
              <a:rPr lang="en-US" dirty="0"/>
              <a:t>Push it to the limit. The largest age gap possible in the data is 80 years:</a:t>
            </a:r>
          </a:p>
          <a:p>
            <a:endParaRPr lang="en-US" dirty="0"/>
          </a:p>
          <a:p>
            <a:r>
              <a:rPr lang="en-US" dirty="0"/>
              <a:t>80² = 6 400</a:t>
            </a:r>
          </a:p>
          <a:p>
            <a:endParaRPr lang="en-US" dirty="0"/>
          </a:p>
          <a:p>
            <a:r>
              <a:rPr lang="en-US" dirty="0"/>
              <a:t>A salary difference of just 80 kroner gives the same 6 400. So in an unscaled distance, a 100-kroner difference in pay outweighs the entire human lifespan. That line lands harder than any definition of </a:t>
            </a:r>
            <a:r>
              <a:rPr lang="en-US" dirty="0" err="1"/>
              <a:t>standardisation</a:t>
            </a:r>
            <a:r>
              <a:rPr lang="en-US" dirty="0"/>
              <a:t>, and it takes fifteen seconds.</a:t>
            </a:r>
          </a:p>
          <a:p>
            <a:endParaRPr lang="en-US" dirty="0"/>
          </a:p>
          <a:p>
            <a:r>
              <a:rPr lang="en-US" dirty="0"/>
              <a:t>…..</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The exam-ready formulation is that scaling 'ensures all features contribute equally to the model'. Note the distractor: 'it improves the accuracy of every ML model' is false, and the right-hand column is why — a decision tree asks 'is Fare &gt; 30?', and that threshold works identically on any linear rescaling. </a:t>
            </a:r>
            <a:r>
              <a:rPr dirty="0" err="1"/>
              <a:t>Standardisation</a:t>
            </a:r>
            <a:r>
              <a:rPr dirty="0"/>
              <a:t> (mean 0, </a:t>
            </a:r>
            <a:r>
              <a:rPr dirty="0" err="1"/>
              <a:t>sd</a:t>
            </a:r>
            <a:r>
              <a:rPr dirty="0"/>
              <a:t> 1) is the usual default; min-max squeezes into [0, 1] but one extreme value compresses everything else; </a:t>
            </a:r>
            <a:r>
              <a:rPr dirty="0" err="1"/>
              <a:t>RobustScaler</a:t>
            </a:r>
            <a:r>
              <a:rPr dirty="0"/>
              <a:t> uses median and IQR when outliers remain.</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`Title` is the showpiece — `Name` looks like a useless identifier, but the honorific encodes sex, marital status, rough age and social class simultaneously, and 'Master' specifically marks boys, which is strongly predictive of survival. `</a:t>
            </a:r>
            <a:r>
              <a:rPr dirty="0" err="1"/>
              <a:t>HasCabin</a:t>
            </a:r>
            <a:r>
              <a:rPr dirty="0"/>
              <a:t>` rescues a column they were about to delete: whether a cabin was recorded is itself class information. `</a:t>
            </a:r>
            <a:r>
              <a:rPr dirty="0" err="1"/>
              <a:t>FarePerPerson</a:t>
            </a:r>
            <a:r>
              <a:rPr dirty="0"/>
              <a:t>` matters because the fare in this dataset is per ticket, not per passenger, so a family's fare looks like wealth until you divide. No algorithm would have found any of these — a person who thought about the Titanic did.</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O" dirty="0"/>
              <a:t>Extract features from this image</a:t>
            </a:r>
          </a:p>
        </p:txBody>
      </p:sp>
      <p:sp>
        <p:nvSpPr>
          <p:cNvPr id="4" name="Slide Number Placeholder 3"/>
          <p:cNvSpPr>
            <a:spLocks noGrp="1"/>
          </p:cNvSpPr>
          <p:nvPr>
            <p:ph type="sldNum" sz="quarter" idx="5"/>
          </p:nvPr>
        </p:nvSpPr>
        <p:spPr/>
        <p:txBody>
          <a:bodyPr/>
          <a:lstStyle/>
          <a:p>
            <a:fld id="{61C6333F-E368-4746-A020-FE91A90E005B}" type="slidenum">
              <a:rPr lang="en-US" smtClean="0"/>
              <a:t>68</a:t>
            </a:fld>
            <a:endParaRPr lang="en-US"/>
          </a:p>
        </p:txBody>
      </p:sp>
    </p:spTree>
    <p:extLst>
      <p:ext uri="{BB962C8B-B14F-4D97-AF65-F5344CB8AC3E}">
        <p14:creationId xmlns:p14="http://schemas.microsoft.com/office/powerpoint/2010/main" val="152560782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Ratios: a linear model cannot represent division, so `a/b` must be handed to it explicitly — price per square </a:t>
            </a:r>
            <a:r>
              <a:rPr dirty="0" err="1"/>
              <a:t>metre</a:t>
            </a:r>
            <a:r>
              <a:rPr dirty="0"/>
              <a:t>, sales per employee, clicks per impression. Datetime: a raw timestamp is a near-unique number and therefore useless, while `hour` and `</a:t>
            </a:r>
            <a:r>
              <a:rPr dirty="0" err="1"/>
              <a:t>is_weekend</a:t>
            </a:r>
            <a:r>
              <a:rPr dirty="0"/>
              <a:t>` are strongly predictive for transport, retail and energy data — this is also how you stop seasonality masquerading as trend. Aggregation: `transform` returns one value per original row (unlike `</a:t>
            </a:r>
            <a:r>
              <a:rPr dirty="0" err="1"/>
              <a:t>agg</a:t>
            </a:r>
            <a:r>
              <a:rPr dirty="0"/>
              <a:t>`, which returns one per group), which is what you need when creating a feature. To predict churn from a transaction log you aggregate to one row per customer: total spend, order count, days since last order.</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Intuition: with one feature, ten evenly spread points cover the line reasonably. With ten features, you would need 10^10 points for the same coverage — so real data is always sparse in high dimensions, and every point becomes roughly equidistant from every other. That is fatal for methods built on distance. Selection order in practice: drop the obviously useless, prune correlated pairs, then let a model tell you (tree importances, or Lasso's L1 penalty driving coefficients to exactly zero). Selecting features using the whole dataset is a very common way for a student report to overstate its results.</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The four returned objects always come in that order — </a:t>
            </a:r>
            <a:r>
              <a:rPr dirty="0" err="1"/>
              <a:t>X_train</a:t>
            </a:r>
            <a:r>
              <a:rPr dirty="0"/>
              <a:t>, </a:t>
            </a:r>
            <a:r>
              <a:rPr dirty="0" err="1"/>
              <a:t>X_test</a:t>
            </a:r>
            <a:r>
              <a:rPr dirty="0"/>
              <a:t>, </a:t>
            </a:r>
            <a:r>
              <a:rPr dirty="0" err="1"/>
              <a:t>y_train</a:t>
            </a:r>
            <a:r>
              <a:rPr dirty="0"/>
              <a:t>, </a:t>
            </a:r>
            <a:r>
              <a:rPr dirty="0" err="1"/>
              <a:t>y_test</a:t>
            </a:r>
            <a:r>
              <a:rPr dirty="0"/>
              <a:t> — and getting it wrong produces confusing errors, so it is worth stating. `</a:t>
            </a:r>
            <a:r>
              <a:rPr dirty="0" err="1"/>
              <a:t>test_size</a:t>
            </a:r>
            <a:r>
              <a:rPr dirty="0"/>
              <a:t>=0.2` means 80/20 train/test; </a:t>
            </a:r>
            <a:endParaRPr lang="nb-NO" dirty="0"/>
          </a:p>
          <a:p>
            <a:r>
              <a:rPr dirty="0"/>
              <a:t>This is also the moment to restate why we hold data back at all: a model's score on data it fitted is a measure of memory, not of learning.</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a:t>
            </a:r>
            <a:r>
              <a:rPr dirty="0" err="1"/>
              <a:t>random_state</a:t>
            </a:r>
            <a:r>
              <a:rPr dirty="0"/>
              <a:t>` is reproducibility, not superstition: without it, two runs give different scores and you cannot tell whether your change helped or the shuffle did. Their report must reproduce when I run it. `stratify=y` matters whenever classes are imbalanced, and it costs nothing when they are not — so it may as well be a habit.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The third column is the useful distinction: the model never fits the validation set, but *you* do — every choice you make after looking at a score transfers information from that data into the model. That is why the test set is held back for one final look, and why leaderboard scores drift optimistic over a competition. A reasonable default for a few thousand rows is 60/20/20; with very large datasets, validation and test can be a much smaller fraction, because what matters is their absolute size, not the percentage.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Time series: a random split trains on October and tests on September, which is not a task anyone will ever ask the model to do; the honest evaluation trains on the past and tests on the future. Grouped data: with ten images per patient split randomly, the same patient appears on both sides, so the model can score well by </a:t>
            </a:r>
            <a:r>
              <a:rPr dirty="0" err="1"/>
              <a:t>recognising</a:t>
            </a:r>
            <a:r>
              <a:rPr dirty="0"/>
              <a:t> the individual — a real and repeatedly published failure in medical imaging. Both are the same underlying error: the split must mirror how the model will actually be used.</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This is class imbalance, and it belongs today because it is a property of the data, not of the model. The ordering on the slide is the recommended order of attack: fix the metric first (often sufficient on its own), then try `</a:t>
            </a:r>
            <a:r>
              <a:rPr dirty="0" err="1"/>
              <a:t>class_weight</a:t>
            </a:r>
            <a:r>
              <a:rPr dirty="0"/>
              <a:t>='balanced'`, which is one argument and costs nothing, and only then resample. SMOTE interpolates between existing minority points rather than duplicating them, and lives in `imbalanced-learn`. The rule that gets broken: resample the training set only, after the split, or copies of the same row land in both halves and recall becomes fiction.</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a:t>
            </a:r>
            <a:r>
              <a:rPr dirty="0" err="1"/>
              <a:t>ColumnTransformer</a:t>
            </a:r>
            <a:r>
              <a:rPr dirty="0"/>
              <a:t>` applies different treatments to different column groups, which is necessary because a median makes no sense for a category and one-hot makes none for an age. Optional for Assignment 1, expected by Assignment 2. Read it as a table: each tuple is (name, what to do, which columns). The two final lines are the rule from slide 66, now enforced by structure rather than discipline.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In cross-validation, each fold must have its imputer and scaler fitted on that fold's training portion only. Doing that by hand is tedious and everyone gets it wrong; attach the preprocessor to a model inside a `Pipeline` and scikit-learn does it correctly for free. Reason 3 is the industry argument: at prediction time new data must pass through exactly the same transformations, and a pipeline object is that guarantee, </a:t>
            </a:r>
            <a:r>
              <a:rPr dirty="0" err="1"/>
              <a:t>serialisable</a:t>
            </a:r>
            <a:r>
              <a:rPr dirty="0"/>
              <a:t> and testable.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The dividing line is whether an operation *learns a parameter from the data*. Dropping a column, renaming a category, extracting a title from a name and computing a ratio use no learned quantity, so they can happen before the split and it is more convenient there. Imputation learns a median, scaling learns a mean and standard deviation, encoding learns a category list, selection learns which features matter — all four must come after. If a student can articulate that test, they understand leakage and will not need to </a:t>
            </a:r>
            <a:r>
              <a:rPr dirty="0" err="1"/>
              <a:t>memorise</a:t>
            </a:r>
            <a:r>
              <a:rPr dirty="0"/>
              <a:t> the order.</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86</a:t>
            </a:fld>
            <a:endParaRPr lang="en-US"/>
          </a:p>
        </p:txBody>
      </p:sp>
    </p:spTree>
    <p:extLst>
      <p:ext uri="{BB962C8B-B14F-4D97-AF65-F5344CB8AC3E}">
        <p14:creationId xmlns:p14="http://schemas.microsoft.com/office/powerpoint/2010/main" val="112127833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89</a:t>
            </a:fld>
            <a:endParaRPr lang="en-US"/>
          </a:p>
        </p:txBody>
      </p:sp>
    </p:spTree>
    <p:extLst>
      <p:ext uri="{BB962C8B-B14F-4D97-AF65-F5344CB8AC3E}">
        <p14:creationId xmlns:p14="http://schemas.microsoft.com/office/powerpoint/2010/main" val="12119351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The deep point is the accuracy ceiling: your model cannot be more consistent than your labels, so if two clinicians agree only 80% of the time, 80% is roughly your roof — and no model change raises it. Inter-annotator agreement (Cohen's kappa) is how you measure that, and it should be reported before anyone celebrates an accuracy number. 'Use labels you already have' is the practical shortcut students overlook: a support ticket's resolution category or an actual cancellation is a free label, produced by the business as a side effect of operating.</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The distinction is legal, not stylistic, and it decides whether you need a lawful basis, a retention limit and data-subject rights. Replacing a name with customer_8471 is </a:t>
            </a:r>
            <a:r>
              <a:rPr dirty="0" err="1"/>
              <a:t>pseudonymisation</a:t>
            </a:r>
            <a:r>
              <a:rPr dirty="0"/>
              <a:t>: the mapping exists somewhere, so GDPR still applies in full. True </a:t>
            </a:r>
            <a:r>
              <a:rPr dirty="0" err="1"/>
              <a:t>anonymisation</a:t>
            </a:r>
            <a:r>
              <a:rPr dirty="0"/>
              <a:t> is hard because of quasi-identifiers — techniques are </a:t>
            </a:r>
            <a:r>
              <a:rPr dirty="0" err="1"/>
              <a:t>generalisation</a:t>
            </a:r>
            <a:r>
              <a:rPr dirty="0"/>
              <a:t> (exact age → age band), suppression of rare rows, aggregation, k-anonymity (every combination of quasi-identifiers appears at least k times) and differential privacy for a quantified guarantee. Free text is the hardest part, because names and addresses hide inside sentences — which is what NAV's laundromat library exists to solve.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Language models have been shown to emit </a:t>
            </a:r>
            <a:r>
              <a:rPr dirty="0" err="1"/>
              <a:t>memorised</a:t>
            </a:r>
            <a:r>
              <a:rPr dirty="0"/>
              <a:t> training data — names, addresses, phone numbers, code — when prompted </a:t>
            </a:r>
            <a:r>
              <a:rPr dirty="0" err="1"/>
              <a:t>adversarially</a:t>
            </a:r>
            <a:r>
              <a:rPr dirty="0"/>
              <a:t>. The consequence for architecture decisions is real: shipping a model trained on personal data can itself be a disclosure, so 'only the model left the building' is not a privacy argument on its own. For their own projects, the practical checkpoints are their </a:t>
            </a:r>
            <a:r>
              <a:rPr dirty="0" err="1"/>
              <a:t>organisation's</a:t>
            </a:r>
            <a:r>
              <a:rPr dirty="0"/>
              <a:t> data protection officer and, for research data, </a:t>
            </a:r>
            <a:r>
              <a:rPr dirty="0" err="1"/>
              <a:t>Sikt</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The strongest practical use is the first one: access approval for sensitive data takes weeks or months, and synthetic data with the same schema lets you build and test the entire pipeline in the meantime — that is a real project-management win, not a compromise. The limitation is structural: if you fit a generator to real data you inherit its biases and smooth away the rare edge cases, which are exactly the cases that matter in fraud, safety and health. And synthetic data derived from personal data is not automatically outside GDPR — if individuals can be inferred, it is still personal data.</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Faker's `</a:t>
            </a:r>
            <a:r>
              <a:rPr dirty="0" err="1"/>
              <a:t>no_NO</a:t>
            </a:r>
            <a:r>
              <a:rPr dirty="0"/>
              <a:t>` locale produces plausible Norwegian names, addresses and postcodes. laundromat is NAV's open-source library for detecting and masking Norwegian personal information in free text — a good example of Norwegian public-sector code solving a real GDPR problem, and worth pointing at as a career signal: this is what public-sector AI work actually looks like.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Regulation (EU) 2024/1689, Article 10, sets data-governance requirements for high-risk AI systems: training, validation and test data must be examined for relevance, representativeness, errors and bias, with documentation to match. Norway implements this through the EEA agreement, and Norwegian public-sector procurement is already asking suppliers for exactly this material. The academic idea behind it is 'datasheets for datasets' (Gebru et al., 2018), which is on the further reading list.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Each line ties back to a moment they experienced rather than a definition they heard: the poll, the profiling demo, the Norwegian CSV, the 99% model, and the closing challenge. That mapping is deliberate — recall is much better for content attached to an event, which is the whole design principle behind this version of the lecture.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CONTEXT — Week 37 is linear regression with scikit-learn, plus </a:t>
            </a:r>
            <a:r>
              <a:rPr dirty="0" err="1"/>
              <a:t>visualising</a:t>
            </a:r>
            <a:r>
              <a:rPr dirty="0"/>
              <a:t> predictions and interpreting regression error. It reuses today's </a:t>
            </a:r>
            <a:r>
              <a:rPr dirty="0" err="1"/>
              <a:t>X_train</a:t>
            </a:r>
            <a:r>
              <a:rPr dirty="0"/>
              <a:t> directly — which is the cleanest possible argument that this lecture was not a detour.</a:t>
            </a:r>
          </a:p>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jp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jp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Forside">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13008769"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13008769"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nb-NO" noProof="0"/>
              <a:t>Navn Navnesen</a:t>
            </a:r>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nb-NO" noProof="0"/>
              <a:t>dd.mm.yy</a:t>
            </a:r>
          </a:p>
        </p:txBody>
      </p:sp>
      <p:sp>
        <p:nvSpPr>
          <p:cNvPr id="18" name="Plassholder for dato 17">
            <a:extLst>
              <a:ext uri="{FF2B5EF4-FFF2-40B4-BE49-F238E27FC236}">
                <a16:creationId xmlns:a16="http://schemas.microsoft.com/office/drawing/2014/main" id="{652BDE14-9BEA-4244-91C2-4A615BE70EB5}"/>
              </a:ext>
            </a:extLst>
          </p:cNvPr>
          <p:cNvSpPr>
            <a:spLocks noGrp="1"/>
          </p:cNvSpPr>
          <p:nvPr>
            <p:ph type="dt" sz="half" idx="16"/>
          </p:nvPr>
        </p:nvSpPr>
        <p:spPr/>
        <p:txBody>
          <a:bodyPr/>
          <a:lstStyle/>
          <a:p>
            <a:fld id="{1B8CB738-8A92-4242-BFAF-5A76148DA9F2}" type="datetime1">
              <a:rPr lang="nb-NO" smtClean="0"/>
              <a:t>01.09.2026</a:t>
            </a:fld>
            <a:endParaRPr lang="nb-NO"/>
          </a:p>
        </p:txBody>
      </p:sp>
      <p:sp>
        <p:nvSpPr>
          <p:cNvPr id="19" name="Plassholder for bunntekst 18">
            <a:extLst>
              <a:ext uri="{FF2B5EF4-FFF2-40B4-BE49-F238E27FC236}">
                <a16:creationId xmlns:a16="http://schemas.microsoft.com/office/drawing/2014/main" id="{F7311688-F88F-4C95-8A41-E0D915FCA86E}"/>
              </a:ext>
            </a:extLst>
          </p:cNvPr>
          <p:cNvSpPr>
            <a:spLocks noGrp="1"/>
          </p:cNvSpPr>
          <p:nvPr>
            <p:ph type="ftr" sz="quarter" idx="17"/>
          </p:nvPr>
        </p:nvSpPr>
        <p:spPr>
          <a:xfrm>
            <a:off x="972122" y="7668958"/>
            <a:ext cx="4680585" cy="554469"/>
          </a:xfrm>
        </p:spPr>
        <p:txBody>
          <a:bodyPr anchor="t">
            <a:normAutofit/>
          </a:bodyPr>
          <a:lstStyle>
            <a:lvl1pPr>
              <a:defRPr sz="1800"/>
            </a:lvl1pPr>
          </a:lstStyle>
          <a:p>
            <a:r>
              <a:rPr lang="nb-NO"/>
              <a:t>Introduction to A.I - Umair M.I</a:t>
            </a:r>
          </a:p>
        </p:txBody>
      </p:sp>
      <p:sp>
        <p:nvSpPr>
          <p:cNvPr id="20" name="Plassholder for lysbildenummer 19">
            <a:extLst>
              <a:ext uri="{FF2B5EF4-FFF2-40B4-BE49-F238E27FC236}">
                <a16:creationId xmlns:a16="http://schemas.microsoft.com/office/drawing/2014/main" id="{EFA8C348-F7D6-46ED-9365-3BEAB314D94D}"/>
              </a:ext>
            </a:extLst>
          </p:cNvPr>
          <p:cNvSpPr>
            <a:spLocks noGrp="1"/>
          </p:cNvSpPr>
          <p:nvPr>
            <p:ph type="sldNum" sz="quarter" idx="18"/>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2142406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rside - bildestr 1">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9876034"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1" y="5489579"/>
            <a:ext cx="9876034"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09618C08-F29C-40C4-8567-0AA16331659B}"/>
              </a:ext>
            </a:extLst>
          </p:cNvPr>
          <p:cNvSpPr>
            <a:spLocks noGrp="1"/>
          </p:cNvSpPr>
          <p:nvPr>
            <p:ph type="pic" sz="quarter" idx="16"/>
          </p:nvPr>
        </p:nvSpPr>
        <p:spPr>
          <a:xfrm>
            <a:off x="11296269" y="-1"/>
            <a:ext cx="6048756" cy="9757220"/>
          </a:xfrm>
          <a:prstGeom prst="rect">
            <a:avLst/>
          </a:prstGeom>
          <a:blipFill>
            <a:blip r:embed="rId4"/>
            <a:stretch>
              <a:fillRect/>
            </a:stretch>
          </a:blipFill>
        </p:spPr>
        <p:txBody>
          <a:bodyPr lIns="0" tIns="1800000" rIns="0" bIns="0">
            <a:normAutofit/>
          </a:bodyPr>
          <a:lstStyle>
            <a:lvl1pPr marL="0" indent="0" algn="ctr">
              <a:buNone/>
              <a:defRPr sz="3000"/>
            </a:lvl1pPr>
          </a:lstStyle>
          <a:p>
            <a:r>
              <a:rPr lang="en-US"/>
              <a:t>Click icon to add picture</a:t>
            </a:r>
          </a:p>
        </p:txBody>
      </p:sp>
      <p:sp>
        <p:nvSpPr>
          <p:cNvPr id="12" name="Plassholder for dato 11">
            <a:extLst>
              <a:ext uri="{FF2B5EF4-FFF2-40B4-BE49-F238E27FC236}">
                <a16:creationId xmlns:a16="http://schemas.microsoft.com/office/drawing/2014/main" id="{56B53AF6-B139-48E4-B8B2-15266DC4DC45}"/>
              </a:ext>
            </a:extLst>
          </p:cNvPr>
          <p:cNvSpPr>
            <a:spLocks noGrp="1"/>
          </p:cNvSpPr>
          <p:nvPr>
            <p:ph type="dt" sz="half" idx="17"/>
          </p:nvPr>
        </p:nvSpPr>
        <p:spPr/>
        <p:txBody>
          <a:bodyPr/>
          <a:lstStyle/>
          <a:p>
            <a:fld id="{84C8EDD6-68DE-F74C-9242-4F317D6B988E}" type="datetime1">
              <a:rPr lang="nb-NO" smtClean="0"/>
              <a:t>01.09.2026</a:t>
            </a:fld>
            <a:endParaRPr lang="nb-NO"/>
          </a:p>
        </p:txBody>
      </p:sp>
      <p:sp>
        <p:nvSpPr>
          <p:cNvPr id="19" name="Plassholder for bunntekst 18">
            <a:extLst>
              <a:ext uri="{FF2B5EF4-FFF2-40B4-BE49-F238E27FC236}">
                <a16:creationId xmlns:a16="http://schemas.microsoft.com/office/drawing/2014/main" id="{1EEE1C09-86BF-4F2C-8464-4675F6B481B1}"/>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Introduction to A.I - Umair M.I</a:t>
            </a:r>
          </a:p>
        </p:txBody>
      </p:sp>
      <p:sp>
        <p:nvSpPr>
          <p:cNvPr id="20" name="Plassholder for lysbildenummer 19">
            <a:extLst>
              <a:ext uri="{FF2B5EF4-FFF2-40B4-BE49-F238E27FC236}">
                <a16:creationId xmlns:a16="http://schemas.microsoft.com/office/drawing/2014/main" id="{34EC6E11-8AB0-4BC8-93DC-407904FA9CDC}"/>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3490294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orside - bildestr 2">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862294"/>
            <a:ext cx="7258507"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7258507"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8667940" y="0"/>
            <a:ext cx="8677085" cy="9757220"/>
          </a:xfrm>
          <a:prstGeom prst="rect">
            <a:avLst/>
          </a:prstGeom>
          <a:blipFill>
            <a:blip r:embed="rId4"/>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1" name="Plassholder for dato 20">
            <a:extLst>
              <a:ext uri="{FF2B5EF4-FFF2-40B4-BE49-F238E27FC236}">
                <a16:creationId xmlns:a16="http://schemas.microsoft.com/office/drawing/2014/main" id="{A89FCEFC-C9A7-48DC-A2F7-BE4D4DA94CF7}"/>
              </a:ext>
            </a:extLst>
          </p:cNvPr>
          <p:cNvSpPr>
            <a:spLocks noGrp="1"/>
          </p:cNvSpPr>
          <p:nvPr>
            <p:ph type="dt" sz="half" idx="17"/>
          </p:nvPr>
        </p:nvSpPr>
        <p:spPr/>
        <p:txBody>
          <a:bodyPr/>
          <a:lstStyle/>
          <a:p>
            <a:fld id="{E2AFA940-BB1A-2546-B1AA-7432196BDF07}" type="datetime1">
              <a:rPr lang="nb-NO" smtClean="0"/>
              <a:t>01.09.2026</a:t>
            </a:fld>
            <a:endParaRPr lang="nb-NO"/>
          </a:p>
        </p:txBody>
      </p:sp>
      <p:sp>
        <p:nvSpPr>
          <p:cNvPr id="22" name="Plassholder for bunntekst 21">
            <a:extLst>
              <a:ext uri="{FF2B5EF4-FFF2-40B4-BE49-F238E27FC236}">
                <a16:creationId xmlns:a16="http://schemas.microsoft.com/office/drawing/2014/main" id="{86F6B1E1-7108-4CA0-9B2D-EC94564CFD5C}"/>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Introduction to A.I - Umair M.I</a:t>
            </a:r>
          </a:p>
        </p:txBody>
      </p:sp>
      <p:sp>
        <p:nvSpPr>
          <p:cNvPr id="23" name="Plassholder for lysbildenummer 22">
            <a:extLst>
              <a:ext uri="{FF2B5EF4-FFF2-40B4-BE49-F238E27FC236}">
                <a16:creationId xmlns:a16="http://schemas.microsoft.com/office/drawing/2014/main" id="{60A9F8C1-89C0-4B7B-9A1C-3CEF3EA77DD4}"/>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1514112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Forside - bildestr 3">
    <p:bg>
      <p:bgPr>
        <a:solidFill>
          <a:schemeClr val="accent1"/>
        </a:solidFill>
        <a:effectLst/>
      </p:bgPr>
    </p:bg>
    <p:spTree>
      <p:nvGrpSpPr>
        <p:cNvPr id="1" name=""/>
        <p:cNvGrpSpPr/>
        <p:nvPr/>
      </p:nvGrpSpPr>
      <p:grpSpPr>
        <a:xfrm>
          <a:off x="0" y="0"/>
          <a:ext cx="0" cy="0"/>
          <a:chOff x="0" y="0"/>
          <a:chExt cx="0" cy="0"/>
        </a:xfrm>
      </p:grpSpPr>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ctrTitle"/>
          </p:nvPr>
        </p:nvSpPr>
        <p:spPr>
          <a:xfrm>
            <a:off x="972123" y="2862294"/>
            <a:ext cx="4637380"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4637380"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324040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48774" y="7258051"/>
            <a:ext cx="1260157" cy="276999"/>
          </a:xfrm>
        </p:spPr>
        <p:txBody>
          <a:bodyPr>
            <a:normAutofit/>
          </a:bodyPr>
          <a:lstStyle>
            <a:lvl1pPr marL="0" indent="0">
              <a:spcAft>
                <a:spcPts val="0"/>
              </a:spcAft>
              <a:buNone/>
              <a:defRPr sz="1800" b="1"/>
            </a:lvl1pPr>
          </a:lstStyle>
          <a:p>
            <a:pPr lvl="0"/>
            <a:r>
              <a:rPr lang="en-US" err="1"/>
              <a:t>dd.mm.yy</a:t>
            </a:r>
            <a:endParaRPr lang="en-US"/>
          </a:p>
        </p:txBody>
      </p:sp>
      <p:sp>
        <p:nvSpPr>
          <p:cNvPr id="7" name="Plassholder for dato 6">
            <a:extLst>
              <a:ext uri="{FF2B5EF4-FFF2-40B4-BE49-F238E27FC236}">
                <a16:creationId xmlns:a16="http://schemas.microsoft.com/office/drawing/2014/main" id="{70DF801A-44A6-423A-BF4C-1FE70682DC7B}"/>
              </a:ext>
            </a:extLst>
          </p:cNvPr>
          <p:cNvSpPr>
            <a:spLocks noGrp="1"/>
          </p:cNvSpPr>
          <p:nvPr>
            <p:ph type="dt" sz="half" idx="17"/>
          </p:nvPr>
        </p:nvSpPr>
        <p:spPr/>
        <p:txBody>
          <a:bodyPr/>
          <a:lstStyle/>
          <a:p>
            <a:fld id="{B794D83D-072A-A04C-A7F3-4BC8A7FAC58B}" type="datetime1">
              <a:rPr lang="nb-NO" smtClean="0"/>
              <a:t>01.09.2026</a:t>
            </a:fld>
            <a:endParaRPr lang="nb-NO"/>
          </a:p>
        </p:txBody>
      </p:sp>
      <p:sp>
        <p:nvSpPr>
          <p:cNvPr id="8" name="Plassholder for bunntekst 7">
            <a:extLst>
              <a:ext uri="{FF2B5EF4-FFF2-40B4-BE49-F238E27FC236}">
                <a16:creationId xmlns:a16="http://schemas.microsoft.com/office/drawing/2014/main" id="{3BAE66B1-31BF-4A40-98BB-F23031F6D52D}"/>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Introduction to A.I - Umair M.I</a:t>
            </a:r>
          </a:p>
        </p:txBody>
      </p:sp>
      <p:sp>
        <p:nvSpPr>
          <p:cNvPr id="21" name="Plassholder for lysbildenummer 20">
            <a:extLst>
              <a:ext uri="{FF2B5EF4-FFF2-40B4-BE49-F238E27FC236}">
                <a16:creationId xmlns:a16="http://schemas.microsoft.com/office/drawing/2014/main" id="{DEC930FD-CA96-49B1-B552-D06E67071637}"/>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1699102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orside, samarbeid">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13008769"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13008769"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9" name="Plassholder for dato 18">
            <a:extLst>
              <a:ext uri="{FF2B5EF4-FFF2-40B4-BE49-F238E27FC236}">
                <a16:creationId xmlns:a16="http://schemas.microsoft.com/office/drawing/2014/main" id="{D92300A2-C93F-436A-A8E9-E76E890344C4}"/>
              </a:ext>
            </a:extLst>
          </p:cNvPr>
          <p:cNvSpPr>
            <a:spLocks noGrp="1"/>
          </p:cNvSpPr>
          <p:nvPr>
            <p:ph type="dt" sz="half" idx="16"/>
          </p:nvPr>
        </p:nvSpPr>
        <p:spPr/>
        <p:txBody>
          <a:bodyPr/>
          <a:lstStyle/>
          <a:p>
            <a:fld id="{970BB29B-3BF2-C649-B67B-86F56F280184}" type="datetime1">
              <a:rPr lang="nb-NO" smtClean="0"/>
              <a:t>01.09.2026</a:t>
            </a:fld>
            <a:endParaRPr lang="nb-NO"/>
          </a:p>
        </p:txBody>
      </p:sp>
      <p:sp>
        <p:nvSpPr>
          <p:cNvPr id="20" name="Plassholder for bunntekst 19">
            <a:extLst>
              <a:ext uri="{FF2B5EF4-FFF2-40B4-BE49-F238E27FC236}">
                <a16:creationId xmlns:a16="http://schemas.microsoft.com/office/drawing/2014/main" id="{57E1B67A-48D1-4E05-B780-6CFCC1949688}"/>
              </a:ext>
            </a:extLst>
          </p:cNvPr>
          <p:cNvSpPr>
            <a:spLocks noGrp="1"/>
          </p:cNvSpPr>
          <p:nvPr>
            <p:ph type="ftr" sz="quarter" idx="17"/>
          </p:nvPr>
        </p:nvSpPr>
        <p:spPr>
          <a:xfrm>
            <a:off x="972122" y="7668958"/>
            <a:ext cx="4680585" cy="554469"/>
          </a:xfrm>
        </p:spPr>
        <p:txBody>
          <a:bodyPr anchor="t">
            <a:normAutofit/>
          </a:bodyPr>
          <a:lstStyle>
            <a:lvl1pPr>
              <a:defRPr sz="1800"/>
            </a:lvl1pPr>
          </a:lstStyle>
          <a:p>
            <a:r>
              <a:rPr lang="nb-NO"/>
              <a:t>Introduction to A.I - Umair M.I</a:t>
            </a:r>
          </a:p>
        </p:txBody>
      </p:sp>
      <p:sp>
        <p:nvSpPr>
          <p:cNvPr id="21" name="Plassholder for lysbildenummer 20">
            <a:extLst>
              <a:ext uri="{FF2B5EF4-FFF2-40B4-BE49-F238E27FC236}">
                <a16:creationId xmlns:a16="http://schemas.microsoft.com/office/drawing/2014/main" id="{03FECDC5-AA49-4FC4-BAFD-0FF7FC54F45E}"/>
              </a:ext>
            </a:extLst>
          </p:cNvPr>
          <p:cNvSpPr>
            <a:spLocks noGrp="1"/>
          </p:cNvSpPr>
          <p:nvPr>
            <p:ph type="sldNum" sz="quarter" idx="18"/>
          </p:nvPr>
        </p:nvSpPr>
        <p:spPr/>
        <p:txBody>
          <a:bodyPr/>
          <a:lstStyle/>
          <a:p>
            <a:fld id="{5751DFAA-887F-4071-8EAD-E8CA316FCF06}" type="slidenum">
              <a:rPr lang="nb-NO" smtClean="0"/>
              <a:pPr/>
              <a:t>‹#›</a:t>
            </a:fld>
            <a:endParaRPr lang="nb-NO"/>
          </a:p>
        </p:txBody>
      </p:sp>
      <p:sp>
        <p:nvSpPr>
          <p:cNvPr id="5" name="Plassholder for bilde 4">
            <a:extLst>
              <a:ext uri="{FF2B5EF4-FFF2-40B4-BE49-F238E27FC236}">
                <a16:creationId xmlns:a16="http://schemas.microsoft.com/office/drawing/2014/main" id="{E18F7118-4BBA-4894-9865-C9BC85EE8D99}"/>
              </a:ext>
            </a:extLst>
          </p:cNvPr>
          <p:cNvSpPr>
            <a:spLocks noGrp="1"/>
          </p:cNvSpPr>
          <p:nvPr>
            <p:ph type="pic" sz="quarter" idx="20" hasCustomPrompt="1"/>
          </p:nvPr>
        </p:nvSpPr>
        <p:spPr>
          <a:xfrm>
            <a:off x="15661960"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1838673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1">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963894"/>
            <a:ext cx="9876377"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9876377"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09618C08-F29C-40C4-8567-0AA16331659B}"/>
              </a:ext>
            </a:extLst>
          </p:cNvPr>
          <p:cNvSpPr>
            <a:spLocks noGrp="1"/>
          </p:cNvSpPr>
          <p:nvPr>
            <p:ph type="pic" sz="quarter" idx="16"/>
          </p:nvPr>
        </p:nvSpPr>
        <p:spPr>
          <a:xfrm>
            <a:off x="11296269" y="-1"/>
            <a:ext cx="6048756" cy="9757220"/>
          </a:xfrm>
          <a:prstGeom prst="rect">
            <a:avLst/>
          </a:prstGeom>
          <a:blipFill>
            <a:blip r:embed="rId4"/>
            <a:stretch>
              <a:fillRect/>
            </a:stretch>
          </a:blipFill>
        </p:spPr>
        <p:txBody>
          <a:bodyPr lIns="0" tIns="1800000" rIns="0" bIns="0">
            <a:normAutofit/>
          </a:bodyPr>
          <a:lstStyle>
            <a:lvl1pPr marL="0" indent="0" algn="ctr">
              <a:buNone/>
              <a:defRPr sz="3000"/>
            </a:lvl1pPr>
          </a:lstStyle>
          <a:p>
            <a:r>
              <a:rPr lang="en-US"/>
              <a:t>Click icon to add picture</a:t>
            </a:r>
          </a:p>
        </p:txBody>
      </p:sp>
      <p:sp>
        <p:nvSpPr>
          <p:cNvPr id="7" name="Plassholder for dato 6">
            <a:extLst>
              <a:ext uri="{FF2B5EF4-FFF2-40B4-BE49-F238E27FC236}">
                <a16:creationId xmlns:a16="http://schemas.microsoft.com/office/drawing/2014/main" id="{9C9975B5-4B5A-4A2F-BFDB-CB07FFF41FA2}"/>
              </a:ext>
            </a:extLst>
          </p:cNvPr>
          <p:cNvSpPr>
            <a:spLocks noGrp="1"/>
          </p:cNvSpPr>
          <p:nvPr>
            <p:ph type="dt" sz="half" idx="17"/>
          </p:nvPr>
        </p:nvSpPr>
        <p:spPr/>
        <p:txBody>
          <a:bodyPr/>
          <a:lstStyle/>
          <a:p>
            <a:fld id="{EDE9C3DA-D7F3-C34D-98A9-7B2CFF57CFC6}" type="datetime1">
              <a:rPr lang="nb-NO" smtClean="0"/>
              <a:t>01.09.2026</a:t>
            </a:fld>
            <a:endParaRPr lang="nb-NO"/>
          </a:p>
        </p:txBody>
      </p:sp>
      <p:sp>
        <p:nvSpPr>
          <p:cNvPr id="8" name="Plassholder for bunntekst 7">
            <a:extLst>
              <a:ext uri="{FF2B5EF4-FFF2-40B4-BE49-F238E27FC236}">
                <a16:creationId xmlns:a16="http://schemas.microsoft.com/office/drawing/2014/main" id="{32A4462D-B68E-4569-9BEC-C576B12E203A}"/>
              </a:ext>
            </a:extLst>
          </p:cNvPr>
          <p:cNvSpPr>
            <a:spLocks noGrp="1"/>
          </p:cNvSpPr>
          <p:nvPr>
            <p:ph type="ftr" sz="quarter" idx="18"/>
          </p:nvPr>
        </p:nvSpPr>
        <p:spPr>
          <a:xfrm>
            <a:off x="972122" y="7668520"/>
            <a:ext cx="4680585" cy="553998"/>
          </a:xfrm>
        </p:spPr>
        <p:txBody>
          <a:bodyPr anchor="t">
            <a:normAutofit/>
          </a:bodyPr>
          <a:lstStyle>
            <a:lvl1pPr>
              <a:defRPr sz="1800"/>
            </a:lvl1pPr>
          </a:lstStyle>
          <a:p>
            <a:r>
              <a:rPr lang="nb-NO"/>
              <a:t>Introduction to A.I - Umair M.I</a:t>
            </a:r>
          </a:p>
        </p:txBody>
      </p:sp>
      <p:sp>
        <p:nvSpPr>
          <p:cNvPr id="9" name="Plassholder for lysbildenummer 8">
            <a:extLst>
              <a:ext uri="{FF2B5EF4-FFF2-40B4-BE49-F238E27FC236}">
                <a16:creationId xmlns:a16="http://schemas.microsoft.com/office/drawing/2014/main" id="{2D0123D4-9C42-4ABB-9A5B-37874E90FD25}"/>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C58DDDE6-A7EF-4EF2-98F8-7C8C432B202F}"/>
              </a:ext>
            </a:extLst>
          </p:cNvPr>
          <p:cNvSpPr>
            <a:spLocks noGrp="1"/>
          </p:cNvSpPr>
          <p:nvPr>
            <p:ph type="pic" sz="quarter" idx="20" hasCustomPrompt="1"/>
          </p:nvPr>
        </p:nvSpPr>
        <p:spPr>
          <a:xfrm>
            <a:off x="10135267"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879630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2">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862294"/>
            <a:ext cx="7258850"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7258850"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8667940" y="0"/>
            <a:ext cx="8677085" cy="9757220"/>
          </a:xfrm>
          <a:prstGeom prst="rect">
            <a:avLst/>
          </a:prstGeom>
          <a:blipFill>
            <a:blip r:embed="rId4"/>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7" name="Plassholder for dato 6">
            <a:extLst>
              <a:ext uri="{FF2B5EF4-FFF2-40B4-BE49-F238E27FC236}">
                <a16:creationId xmlns:a16="http://schemas.microsoft.com/office/drawing/2014/main" id="{C8943FA9-1FC1-4CA6-9987-51D4A224B782}"/>
              </a:ext>
            </a:extLst>
          </p:cNvPr>
          <p:cNvSpPr>
            <a:spLocks noGrp="1"/>
          </p:cNvSpPr>
          <p:nvPr>
            <p:ph type="dt" sz="half" idx="17"/>
          </p:nvPr>
        </p:nvSpPr>
        <p:spPr/>
        <p:txBody>
          <a:bodyPr/>
          <a:lstStyle/>
          <a:p>
            <a:fld id="{3E17D02D-71F8-DB4B-9CDA-5E95B12F834E}" type="datetime1">
              <a:rPr lang="nb-NO" smtClean="0"/>
              <a:t>01.09.2026</a:t>
            </a:fld>
            <a:endParaRPr lang="nb-NO"/>
          </a:p>
        </p:txBody>
      </p:sp>
      <p:sp>
        <p:nvSpPr>
          <p:cNvPr id="8" name="Plassholder for bunntekst 7">
            <a:extLst>
              <a:ext uri="{FF2B5EF4-FFF2-40B4-BE49-F238E27FC236}">
                <a16:creationId xmlns:a16="http://schemas.microsoft.com/office/drawing/2014/main" id="{26AB9857-A3BC-4168-94D2-E16B4C9D7E0D}"/>
              </a:ext>
            </a:extLst>
          </p:cNvPr>
          <p:cNvSpPr>
            <a:spLocks noGrp="1"/>
          </p:cNvSpPr>
          <p:nvPr>
            <p:ph type="ftr" sz="quarter" idx="18"/>
          </p:nvPr>
        </p:nvSpPr>
        <p:spPr>
          <a:xfrm>
            <a:off x="972122" y="7668521"/>
            <a:ext cx="4680585" cy="553998"/>
          </a:xfrm>
        </p:spPr>
        <p:txBody>
          <a:bodyPr anchor="t">
            <a:normAutofit/>
          </a:bodyPr>
          <a:lstStyle>
            <a:lvl1pPr>
              <a:defRPr sz="1800"/>
            </a:lvl1pPr>
          </a:lstStyle>
          <a:p>
            <a:r>
              <a:rPr lang="nb-NO"/>
              <a:t>Introduction to A.I - Umair M.I</a:t>
            </a:r>
          </a:p>
        </p:txBody>
      </p:sp>
      <p:sp>
        <p:nvSpPr>
          <p:cNvPr id="9" name="Plassholder for lysbildenummer 8">
            <a:extLst>
              <a:ext uri="{FF2B5EF4-FFF2-40B4-BE49-F238E27FC236}">
                <a16:creationId xmlns:a16="http://schemas.microsoft.com/office/drawing/2014/main" id="{C95D276C-EFB8-4B16-B8EC-3B53CBDB3477}"/>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D8135442-1495-4020-900D-917070638299}"/>
              </a:ext>
            </a:extLst>
          </p:cNvPr>
          <p:cNvSpPr>
            <a:spLocks noGrp="1"/>
          </p:cNvSpPr>
          <p:nvPr>
            <p:ph type="pic" sz="quarter" idx="20" hasCustomPrompt="1"/>
          </p:nvPr>
        </p:nvSpPr>
        <p:spPr>
          <a:xfrm>
            <a:off x="7517740"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2473004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3">
    <p:bg>
      <p:bgPr>
        <a:solidFill>
          <a:schemeClr val="accent1"/>
        </a:solidFill>
        <a:effectLst/>
      </p:bgPr>
    </p:bg>
    <p:spTree>
      <p:nvGrpSpPr>
        <p:cNvPr id="1" name=""/>
        <p:cNvGrpSpPr/>
        <p:nvPr/>
      </p:nvGrpSpPr>
      <p:grpSpPr>
        <a:xfrm>
          <a:off x="0" y="0"/>
          <a:ext cx="0" cy="0"/>
          <a:chOff x="0" y="0"/>
          <a:chExt cx="0" cy="0"/>
        </a:xfrm>
      </p:grpSpPr>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ctrTitle"/>
          </p:nvPr>
        </p:nvSpPr>
        <p:spPr>
          <a:xfrm>
            <a:off x="972123" y="2862294"/>
            <a:ext cx="4637723"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4637723"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324040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49688" y="7258051"/>
            <a:ext cx="1260157" cy="276999"/>
          </a:xfrm>
        </p:spPr>
        <p:txBody>
          <a:bodyPr>
            <a:normAutofit/>
          </a:bodyPr>
          <a:lstStyle>
            <a:lvl1pPr marL="0" indent="0">
              <a:spcAft>
                <a:spcPts val="0"/>
              </a:spcAft>
              <a:buNone/>
              <a:defRPr sz="1800" b="1"/>
            </a:lvl1pPr>
          </a:lstStyle>
          <a:p>
            <a:pPr lvl="0"/>
            <a:r>
              <a:rPr lang="en-US" err="1"/>
              <a:t>dd.mm.yy</a:t>
            </a:r>
            <a:endParaRPr lang="en-US"/>
          </a:p>
        </p:txBody>
      </p:sp>
      <p:sp>
        <p:nvSpPr>
          <p:cNvPr id="7" name="Plassholder for dato 6">
            <a:extLst>
              <a:ext uri="{FF2B5EF4-FFF2-40B4-BE49-F238E27FC236}">
                <a16:creationId xmlns:a16="http://schemas.microsoft.com/office/drawing/2014/main" id="{322CBC60-2F96-4955-8CB7-A723C0337AF7}"/>
              </a:ext>
            </a:extLst>
          </p:cNvPr>
          <p:cNvSpPr>
            <a:spLocks noGrp="1"/>
          </p:cNvSpPr>
          <p:nvPr>
            <p:ph type="dt" sz="half" idx="17"/>
          </p:nvPr>
        </p:nvSpPr>
        <p:spPr/>
        <p:txBody>
          <a:bodyPr/>
          <a:lstStyle/>
          <a:p>
            <a:fld id="{AFDEF325-5E12-1C40-877B-11C33935E977}" type="datetime1">
              <a:rPr lang="nb-NO" smtClean="0"/>
              <a:t>01.09.2026</a:t>
            </a:fld>
            <a:endParaRPr lang="nb-NO"/>
          </a:p>
        </p:txBody>
      </p:sp>
      <p:sp>
        <p:nvSpPr>
          <p:cNvPr id="8" name="Plassholder for bunntekst 7">
            <a:extLst>
              <a:ext uri="{FF2B5EF4-FFF2-40B4-BE49-F238E27FC236}">
                <a16:creationId xmlns:a16="http://schemas.microsoft.com/office/drawing/2014/main" id="{734F802C-71FE-47BA-816D-423460A9EB6E}"/>
              </a:ext>
            </a:extLst>
          </p:cNvPr>
          <p:cNvSpPr>
            <a:spLocks noGrp="1"/>
          </p:cNvSpPr>
          <p:nvPr>
            <p:ph type="ftr" sz="quarter" idx="18"/>
          </p:nvPr>
        </p:nvSpPr>
        <p:spPr>
          <a:xfrm>
            <a:off x="971551" y="7661755"/>
            <a:ext cx="4637723" cy="553998"/>
          </a:xfrm>
        </p:spPr>
        <p:txBody>
          <a:bodyPr anchor="t">
            <a:normAutofit/>
          </a:bodyPr>
          <a:lstStyle>
            <a:lvl1pPr>
              <a:defRPr sz="1800"/>
            </a:lvl1pPr>
          </a:lstStyle>
          <a:p>
            <a:r>
              <a:rPr lang="nb-NO"/>
              <a:t>Introduction to A.I - Umair M.I</a:t>
            </a:r>
          </a:p>
        </p:txBody>
      </p:sp>
      <p:sp>
        <p:nvSpPr>
          <p:cNvPr id="9" name="Plassholder for lysbildenummer 8">
            <a:extLst>
              <a:ext uri="{FF2B5EF4-FFF2-40B4-BE49-F238E27FC236}">
                <a16:creationId xmlns:a16="http://schemas.microsoft.com/office/drawing/2014/main" id="{8D2008E8-13A1-4052-91CA-FD29ACBA8C5A}"/>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66EBDB16-4B51-4813-AB2B-6B7738B506C9}"/>
              </a:ext>
            </a:extLst>
          </p:cNvPr>
          <p:cNvSpPr>
            <a:spLocks noGrp="1"/>
          </p:cNvSpPr>
          <p:nvPr>
            <p:ph type="pic" sz="quarter" idx="20" hasCustomPrompt="1"/>
          </p:nvPr>
        </p:nvSpPr>
        <p:spPr>
          <a:xfrm>
            <a:off x="4896612"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1784744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innhold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Plassholder for dato 3"/>
          <p:cNvSpPr>
            <a:spLocks noGrp="1"/>
          </p:cNvSpPr>
          <p:nvPr>
            <p:ph type="dt" sz="half" idx="10"/>
          </p:nvPr>
        </p:nvSpPr>
        <p:spPr/>
        <p:txBody>
          <a:bodyPr/>
          <a:lstStyle/>
          <a:p>
            <a:fld id="{0B11FDB4-D115-F743-900E-8B987E95887B}" type="datetime1">
              <a:rPr lang="nb-NO" smtClean="0"/>
              <a:t>01.09.2026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212558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loverskrift stor">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p:nvPr>
        </p:nvSpPr>
        <p:spPr>
          <a:xfrm>
            <a:off x="972122" y="4528153"/>
            <a:ext cx="15373922" cy="3323987"/>
          </a:xfrm>
        </p:spPr>
        <p:txBody>
          <a:bodyPr anchor="b">
            <a:normAutofit/>
          </a:bodyPr>
          <a:lstStyle>
            <a:lvl1pPr>
              <a:defRPr sz="12000" cap="all" baseline="0"/>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D5743DC5-FF72-5D45-9139-1EF4D4DD79A8}" type="datetime1">
              <a:rPr lang="nb-NO" smtClean="0"/>
              <a:t>01.09.2026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58411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eloverskrift liten">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p:nvPr>
        </p:nvSpPr>
        <p:spPr>
          <a:xfrm>
            <a:off x="972122" y="5560923"/>
            <a:ext cx="15373922" cy="2160591"/>
          </a:xfrm>
        </p:spPr>
        <p:txBody>
          <a:bodyPr anchor="b">
            <a:normAutofit/>
          </a:bodyPr>
          <a:lstStyle>
            <a:lvl1pPr>
              <a:defRPr sz="7800" cap="all" baseline="0"/>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90BE0319-3502-1446-A29C-667B63DCC821}" type="datetime1">
              <a:rPr lang="nb-NO" smtClean="0"/>
              <a:t>01.09.2026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3038263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tel og 3x tekstboks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9A128637-AC9E-7948-8472-9501588C7B1A}" type="datetime1">
              <a:rPr lang="nb-NO" smtClean="0"/>
              <a:t>01.09.2026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2"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lassholder for tekst 6">
            <a:extLst>
              <a:ext uri="{FF2B5EF4-FFF2-40B4-BE49-F238E27FC236}">
                <a16:creationId xmlns:a16="http://schemas.microsoft.com/office/drawing/2014/main" id="{3633B4FE-1A74-4469-A955-AEC7C7511EFD}"/>
              </a:ext>
            </a:extLst>
          </p:cNvPr>
          <p:cNvSpPr>
            <a:spLocks noGrp="1"/>
          </p:cNvSpPr>
          <p:nvPr>
            <p:ph type="body" sz="quarter" idx="14"/>
          </p:nvPr>
        </p:nvSpPr>
        <p:spPr>
          <a:xfrm>
            <a:off x="1157544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lassholder for tekst 6">
            <a:extLst>
              <a:ext uri="{FF2B5EF4-FFF2-40B4-BE49-F238E27FC236}">
                <a16:creationId xmlns:a16="http://schemas.microsoft.com/office/drawing/2014/main" id="{2B647C84-5C6A-4934-AF8B-33EB10411FEC}"/>
              </a:ext>
            </a:extLst>
          </p:cNvPr>
          <p:cNvSpPr>
            <a:spLocks noGrp="1"/>
          </p:cNvSpPr>
          <p:nvPr>
            <p:ph type="body" sz="quarter" idx="15"/>
          </p:nvPr>
        </p:nvSpPr>
        <p:spPr>
          <a:xfrm>
            <a:off x="622877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09378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x tekstbokser og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B69D269D-CF15-4DD4-9F8A-A45648ABC15B}"/>
              </a:ext>
            </a:extLst>
          </p:cNvPr>
          <p:cNvSpPr>
            <a:spLocks noGrp="1"/>
          </p:cNvSpPr>
          <p:nvPr>
            <p:ph type="pic" sz="quarter" idx="16"/>
          </p:nvPr>
        </p:nvSpPr>
        <p:spPr>
          <a:xfrm>
            <a:off x="11296269" y="-1"/>
            <a:ext cx="6048756" cy="9757220"/>
          </a:xfrm>
          <a:prstGeom prst="rect">
            <a:avLst/>
          </a:prstGeom>
          <a:blipFill>
            <a:blip r:embed="rId2"/>
            <a:stretch>
              <a:fillRect/>
            </a:stretch>
          </a:blipFill>
        </p:spPr>
        <p:txBody>
          <a:bodyPr lIns="0" tIns="1800000" rIns="0" bIns="0"/>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1" y="2374096"/>
            <a:ext cx="10027253" cy="664797"/>
          </a:xfrm>
        </p:spPr>
        <p:txBody>
          <a:bodyPr>
            <a:normAutofit/>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A2661C00-EFE0-DA4D-A901-8081BF0530A8}" type="datetime1">
              <a:rPr lang="nb-NO" smtClean="0"/>
              <a:t>01.09.2026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2"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lassholder for tekst 6">
            <a:extLst>
              <a:ext uri="{FF2B5EF4-FFF2-40B4-BE49-F238E27FC236}">
                <a16:creationId xmlns:a16="http://schemas.microsoft.com/office/drawing/2014/main" id="{2B647C84-5C6A-4934-AF8B-33EB10411FEC}"/>
              </a:ext>
            </a:extLst>
          </p:cNvPr>
          <p:cNvSpPr>
            <a:spLocks noGrp="1"/>
          </p:cNvSpPr>
          <p:nvPr>
            <p:ph type="body" sz="quarter" idx="15"/>
          </p:nvPr>
        </p:nvSpPr>
        <p:spPr>
          <a:xfrm>
            <a:off x="622877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7297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tel, tekst og bilde">
    <p:spTree>
      <p:nvGrpSpPr>
        <p:cNvPr id="1" name=""/>
        <p:cNvGrpSpPr/>
        <p:nvPr/>
      </p:nvGrpSpPr>
      <p:grpSpPr>
        <a:xfrm>
          <a:off x="0" y="0"/>
          <a:ext cx="0" cy="0"/>
          <a:chOff x="0" y="0"/>
          <a:chExt cx="0" cy="0"/>
        </a:xfrm>
      </p:grpSpPr>
      <p:sp>
        <p:nvSpPr>
          <p:cNvPr id="9" name="Plassholder for bilde 2">
            <a:extLst>
              <a:ext uri="{FF2B5EF4-FFF2-40B4-BE49-F238E27FC236}">
                <a16:creationId xmlns:a16="http://schemas.microsoft.com/office/drawing/2014/main" id="{BBBCD936-BFAE-449A-8A24-0073D81BA783}"/>
              </a:ext>
            </a:extLst>
          </p:cNvPr>
          <p:cNvSpPr>
            <a:spLocks noGrp="1"/>
          </p:cNvSpPr>
          <p:nvPr>
            <p:ph type="pic" sz="quarter" idx="16"/>
          </p:nvPr>
        </p:nvSpPr>
        <p:spPr>
          <a:xfrm>
            <a:off x="11296269" y="-1"/>
            <a:ext cx="6048756" cy="9757220"/>
          </a:xfrm>
          <a:prstGeom prst="rect">
            <a:avLst/>
          </a:prstGeom>
          <a:blipFill>
            <a:blip r:embed="rId2"/>
            <a:stretch>
              <a:fillRect/>
            </a:stretch>
          </a:blipFill>
        </p:spPr>
        <p:txBody>
          <a:bodyPr lIns="0" tIns="1800000" rIns="0" bIns="0"/>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2" y="2374096"/>
            <a:ext cx="10027254" cy="664797"/>
          </a:xfrm>
        </p:spPr>
        <p:txBody>
          <a:bodyPr>
            <a:normAutofit/>
          </a:bodyPr>
          <a:lstStyle>
            <a:lvl1pPr>
              <a:defRPr/>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F97C2A63-6BBE-E34D-89E1-499FE3704E2E}" type="datetime1">
              <a:rPr lang="nb-NO" smtClean="0"/>
              <a:t>01.09.2026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1" y="3492436"/>
            <a:ext cx="10027254"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2509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tel, tekst og stort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B69D269D-CF15-4DD4-9F8A-A45648ABC15B}"/>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chor="t" anchorCtr="1">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2" y="1709298"/>
            <a:ext cx="4860608" cy="1329595"/>
          </a:xfrm>
        </p:spPr>
        <p:txBody>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AAAED39D-2C46-BC47-BC1C-7FBE27DEFBB4}" type="datetime1">
              <a:rPr lang="nb-NO" smtClean="0"/>
              <a:t>01.09.2026</a:t>
            </a:fld>
            <a:endParaRPr lang="nb-NO"/>
          </a:p>
        </p:txBody>
      </p:sp>
      <p:sp>
        <p:nvSpPr>
          <p:cNvPr id="5" name="Plassholder for bunntekst 4"/>
          <p:cNvSpPr>
            <a:spLocks noGrp="1"/>
          </p:cNvSpPr>
          <p:nvPr>
            <p:ph type="ftr" sz="quarter" idx="11"/>
          </p:nvPr>
        </p:nvSpPr>
        <p:spPr/>
        <p:txBody>
          <a:bodyPr/>
          <a:lstStyle>
            <a:lvl1pPr>
              <a:defRPr>
                <a:solidFill>
                  <a:schemeClr val="accent1"/>
                </a:solidFill>
              </a:defRPr>
            </a:lvl1pPr>
          </a:lstStyle>
          <a:p>
            <a:r>
              <a:rPr lang="nb-NO"/>
              <a:t>Introduction to A.I - Umair M.I</a:t>
            </a:r>
          </a:p>
        </p:txBody>
      </p:sp>
      <p:sp>
        <p:nvSpPr>
          <p:cNvPr id="6" name="Plassholder for lysbildenummer 5"/>
          <p:cNvSpPr>
            <a:spLocks noGrp="1"/>
          </p:cNvSpPr>
          <p:nvPr>
            <p:ph type="sldNum" sz="quarter" idx="12"/>
          </p:nvPr>
        </p:nvSpPr>
        <p:spPr/>
        <p:txBody>
          <a:bodyPr/>
          <a:lstStyle>
            <a:lvl1pPr algn="r">
              <a:defRPr>
                <a:solidFill>
                  <a:schemeClr val="accent1"/>
                </a:solidFill>
              </a:defRPr>
            </a:lvl1pPr>
          </a:lstStyle>
          <a:p>
            <a:fld id="{5751DFAA-887F-4071-8EAD-E8CA316FCF06}" type="slidenum">
              <a:rPr lang="nb-NO" smtClean="0"/>
              <a:pPr/>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1" y="3492436"/>
            <a:ext cx="4860608"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926396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Helsides bilde">
    <p:spTree>
      <p:nvGrpSpPr>
        <p:cNvPr id="1" name=""/>
        <p:cNvGrpSpPr/>
        <p:nvPr/>
      </p:nvGrpSpPr>
      <p:grpSpPr>
        <a:xfrm>
          <a:off x="0" y="0"/>
          <a:ext cx="0" cy="0"/>
          <a:chOff x="0" y="0"/>
          <a:chExt cx="0" cy="0"/>
        </a:xfrm>
      </p:grpSpPr>
      <p:sp>
        <p:nvSpPr>
          <p:cNvPr id="13" name="Plassholder for bilde 2">
            <a:extLst>
              <a:ext uri="{FF2B5EF4-FFF2-40B4-BE49-F238E27FC236}">
                <a16:creationId xmlns:a16="http://schemas.microsoft.com/office/drawing/2014/main" id="{7E55B23D-A101-4B76-A4BE-631E88A6A755}"/>
              </a:ext>
            </a:extLst>
          </p:cNvPr>
          <p:cNvSpPr>
            <a:spLocks noGrp="1"/>
          </p:cNvSpPr>
          <p:nvPr>
            <p:ph type="pic" sz="quarter" idx="16"/>
          </p:nvPr>
        </p:nvSpPr>
        <p:spPr>
          <a:xfrm>
            <a:off x="0" y="0"/>
            <a:ext cx="17345025"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Plassholder for dato 1"/>
          <p:cNvSpPr>
            <a:spLocks noGrp="1"/>
          </p:cNvSpPr>
          <p:nvPr>
            <p:ph type="dt" sz="half" idx="10"/>
          </p:nvPr>
        </p:nvSpPr>
        <p:spPr/>
        <p:txBody>
          <a:bodyPr/>
          <a:lstStyle>
            <a:lvl1pPr>
              <a:defRPr>
                <a:solidFill>
                  <a:schemeClr val="accent1"/>
                </a:solidFill>
              </a:defRPr>
            </a:lvl1pPr>
          </a:lstStyle>
          <a:p>
            <a:fld id="{B8E6FB85-A9F1-F34E-A3AF-024C8B4A3C90}" type="datetime1">
              <a:rPr lang="nb-NO" smtClean="0"/>
              <a:t>01.09.2026</a:t>
            </a:fld>
            <a:endParaRPr lang="nb-NO"/>
          </a:p>
        </p:txBody>
      </p:sp>
      <p:sp>
        <p:nvSpPr>
          <p:cNvPr id="3" name="Plassholder for bunntekst 2"/>
          <p:cNvSpPr>
            <a:spLocks noGrp="1"/>
          </p:cNvSpPr>
          <p:nvPr>
            <p:ph type="ftr" sz="quarter" idx="11"/>
          </p:nvPr>
        </p:nvSpPr>
        <p:spPr/>
        <p:txBody>
          <a:bodyPr/>
          <a:lstStyle>
            <a:lvl1pPr>
              <a:defRPr>
                <a:solidFill>
                  <a:schemeClr val="accent1"/>
                </a:solidFill>
              </a:defRPr>
            </a:lvl1pPr>
          </a:lstStyle>
          <a:p>
            <a:r>
              <a:rPr lang="nb-NO"/>
              <a:t>Introduction to A.I - Umair M.I</a:t>
            </a:r>
          </a:p>
        </p:txBody>
      </p:sp>
      <p:sp>
        <p:nvSpPr>
          <p:cNvPr id="4" name="Plassholder for lysbildenummer 3"/>
          <p:cNvSpPr>
            <a:spLocks noGrp="1"/>
          </p:cNvSpPr>
          <p:nvPr>
            <p:ph type="sldNum" sz="quarter" idx="12"/>
          </p:nvPr>
        </p:nvSpPr>
        <p:spPr/>
        <p:txBody>
          <a:bodyPr/>
          <a:lstStyle>
            <a:lvl1pPr>
              <a:defRPr>
                <a:solidFill>
                  <a:schemeClr val="accent1"/>
                </a:solidFill>
              </a:defRPr>
            </a:lvl1pPr>
          </a:lstStyle>
          <a:p>
            <a:fld id="{5751DFAA-887F-4071-8EAD-E8CA316FCF06}" type="slidenum">
              <a:rPr lang="nb-NO" smtClean="0"/>
              <a:pPr/>
              <a:t>‹#›</a:t>
            </a:fld>
            <a:endParaRPr lang="nb-NO"/>
          </a:p>
        </p:txBody>
      </p:sp>
      <p:sp>
        <p:nvSpPr>
          <p:cNvPr id="11" name="Plassholder for tekst 10">
            <a:extLst>
              <a:ext uri="{FF2B5EF4-FFF2-40B4-BE49-F238E27FC236}">
                <a16:creationId xmlns:a16="http://schemas.microsoft.com/office/drawing/2014/main" id="{10E39287-A8EF-4C34-A1FC-3948F2552699}"/>
              </a:ext>
            </a:extLst>
          </p:cNvPr>
          <p:cNvSpPr>
            <a:spLocks noGrp="1"/>
          </p:cNvSpPr>
          <p:nvPr>
            <p:ph type="body" idx="13" hasCustomPrompt="1"/>
          </p:nvPr>
        </p:nvSpPr>
        <p:spPr>
          <a:xfrm>
            <a:off x="972122" y="972122"/>
            <a:ext cx="1004318" cy="595885"/>
          </a:xfrm>
          <a:blipFill>
            <a:blip r:embed="rId3"/>
            <a:stretch>
              <a:fillRect/>
            </a:stretch>
          </a:blipFill>
        </p:spPr>
        <p:txBody>
          <a:bodyPr>
            <a:noAutofit/>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
        <p:nvSpPr>
          <p:cNvPr id="12" name="Plassholder for tekst 11">
            <a:extLst>
              <a:ext uri="{FF2B5EF4-FFF2-40B4-BE49-F238E27FC236}">
                <a16:creationId xmlns:a16="http://schemas.microsoft.com/office/drawing/2014/main" id="{10B431D3-7494-4FBC-B3D0-A66DB1B545B5}"/>
              </a:ext>
            </a:extLst>
          </p:cNvPr>
          <p:cNvSpPr>
            <a:spLocks noGrp="1"/>
          </p:cNvSpPr>
          <p:nvPr>
            <p:ph type="body" sz="quarter" idx="14" hasCustomPrompt="1"/>
          </p:nvPr>
        </p:nvSpPr>
        <p:spPr>
          <a:xfrm>
            <a:off x="972123" y="8774297"/>
            <a:ext cx="2313437" cy="272797"/>
          </a:xfrm>
          <a:prstGeom prst="rect">
            <a:avLst/>
          </a:prstGeom>
          <a:blipFill>
            <a:blip r:embed="rId4"/>
            <a:stretch>
              <a:fillRect/>
            </a:stretch>
          </a:blipFill>
        </p:spPr>
        <p:txBody>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Tree>
    <p:extLst>
      <p:ext uri="{BB962C8B-B14F-4D97-AF65-F5344CB8AC3E}">
        <p14:creationId xmlns:p14="http://schemas.microsoft.com/office/powerpoint/2010/main" val="13042797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tatside">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hasCustomPrompt="1"/>
          </p:nvPr>
        </p:nvSpPr>
        <p:spPr>
          <a:xfrm>
            <a:off x="972122" y="4517203"/>
            <a:ext cx="15373922" cy="3240887"/>
          </a:xfrm>
        </p:spPr>
        <p:txBody>
          <a:bodyPr anchor="b">
            <a:normAutofit/>
          </a:bodyPr>
          <a:lstStyle>
            <a:lvl1pPr>
              <a:defRPr sz="7800" cap="all" baseline="0"/>
            </a:lvl1pPr>
          </a:lstStyle>
          <a:p>
            <a:r>
              <a:rPr lang="nb-NO"/>
              <a:t>Klikk for å legge til sitat</a:t>
            </a:r>
          </a:p>
        </p:txBody>
      </p:sp>
      <p:sp>
        <p:nvSpPr>
          <p:cNvPr id="4" name="Plassholder for dato 3"/>
          <p:cNvSpPr>
            <a:spLocks noGrp="1"/>
          </p:cNvSpPr>
          <p:nvPr>
            <p:ph type="dt" sz="half" idx="10"/>
          </p:nvPr>
        </p:nvSpPr>
        <p:spPr/>
        <p:txBody>
          <a:bodyPr/>
          <a:lstStyle/>
          <a:p>
            <a:fld id="{9ED5AE83-A1EC-0447-9BCC-8AD153762461}" type="datetime1">
              <a:rPr lang="nb-NO" smtClean="0"/>
              <a:t>01.09.2026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7">
            <a:extLst>
              <a:ext uri="{FF2B5EF4-FFF2-40B4-BE49-F238E27FC236}">
                <a16:creationId xmlns:a16="http://schemas.microsoft.com/office/drawing/2014/main" id="{A523B242-05F3-4E7B-8EDE-994BA2F083D7}"/>
              </a:ext>
            </a:extLst>
          </p:cNvPr>
          <p:cNvSpPr>
            <a:spLocks noGrp="1"/>
          </p:cNvSpPr>
          <p:nvPr>
            <p:ph type="body" sz="quarter" idx="13" hasCustomPrompt="1"/>
          </p:nvPr>
        </p:nvSpPr>
        <p:spPr>
          <a:xfrm>
            <a:off x="972122" y="7956995"/>
            <a:ext cx="15373922" cy="276999"/>
          </a:xfrm>
        </p:spPr>
        <p:txBody>
          <a:bodyPr>
            <a:normAutofit/>
          </a:bodyPr>
          <a:lstStyle>
            <a:lvl1pPr marL="0" indent="0">
              <a:buNone/>
              <a:defRPr sz="1800" cap="all" baseline="0"/>
            </a:lvl1pPr>
          </a:lstStyle>
          <a:p>
            <a:pPr lvl="0"/>
            <a:r>
              <a:rPr lang="en-US" err="1"/>
              <a:t>Sitert</a:t>
            </a:r>
            <a:r>
              <a:rPr lang="en-US"/>
              <a:t> </a:t>
            </a:r>
            <a:r>
              <a:rPr lang="en-US" err="1"/>
              <a:t>Kilde</a:t>
            </a:r>
            <a:endParaRPr lang="en-US"/>
          </a:p>
        </p:txBody>
      </p:sp>
    </p:spTree>
    <p:extLst>
      <p:ext uri="{BB962C8B-B14F-4D97-AF65-F5344CB8AC3E}">
        <p14:creationId xmlns:p14="http://schemas.microsoft.com/office/powerpoint/2010/main" val="9077102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itatside /m bildebakgrunn">
    <p:bg>
      <p:bgPr>
        <a:solidFill>
          <a:schemeClr val="lt1"/>
        </a:solidFill>
        <a:effectLst/>
      </p:bgPr>
    </p:bg>
    <p:spTree>
      <p:nvGrpSpPr>
        <p:cNvPr id="1" name=""/>
        <p:cNvGrpSpPr/>
        <p:nvPr/>
      </p:nvGrpSpPr>
      <p:grpSpPr>
        <a:xfrm>
          <a:off x="0" y="0"/>
          <a:ext cx="0" cy="0"/>
          <a:chOff x="0" y="0"/>
          <a:chExt cx="0" cy="0"/>
        </a:xfrm>
      </p:grpSpPr>
      <p:sp>
        <p:nvSpPr>
          <p:cNvPr id="13" name="Plassholder for bilde 2">
            <a:extLst>
              <a:ext uri="{FF2B5EF4-FFF2-40B4-BE49-F238E27FC236}">
                <a16:creationId xmlns:a16="http://schemas.microsoft.com/office/drawing/2014/main" id="{CCCE99AD-0406-40AA-BCE7-C39ABF192C27}"/>
              </a:ext>
            </a:extLst>
          </p:cNvPr>
          <p:cNvSpPr>
            <a:spLocks noGrp="1"/>
          </p:cNvSpPr>
          <p:nvPr>
            <p:ph type="pic" sz="quarter" idx="16"/>
          </p:nvPr>
        </p:nvSpPr>
        <p:spPr>
          <a:xfrm>
            <a:off x="0" y="0"/>
            <a:ext cx="17345025"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hasCustomPrompt="1"/>
          </p:nvPr>
        </p:nvSpPr>
        <p:spPr>
          <a:xfrm>
            <a:off x="972122" y="5597499"/>
            <a:ext cx="15373922" cy="2160591"/>
          </a:xfrm>
        </p:spPr>
        <p:txBody>
          <a:bodyPr anchor="b">
            <a:normAutofit/>
          </a:bodyPr>
          <a:lstStyle>
            <a:lvl1pPr>
              <a:defRPr sz="7800" cap="all" baseline="0">
                <a:solidFill>
                  <a:schemeClr val="accent1"/>
                </a:solidFill>
              </a:defRPr>
            </a:lvl1pPr>
          </a:lstStyle>
          <a:p>
            <a:r>
              <a:rPr lang="nb-NO"/>
              <a:t>Klikk for å legge til sitat</a:t>
            </a:r>
          </a:p>
        </p:txBody>
      </p:sp>
      <p:sp>
        <p:nvSpPr>
          <p:cNvPr id="4" name="Plassholder for dato 3"/>
          <p:cNvSpPr>
            <a:spLocks noGrp="1"/>
          </p:cNvSpPr>
          <p:nvPr>
            <p:ph type="dt" sz="half" idx="10"/>
          </p:nvPr>
        </p:nvSpPr>
        <p:spPr/>
        <p:txBody>
          <a:bodyPr/>
          <a:lstStyle>
            <a:lvl1pPr>
              <a:defRPr>
                <a:solidFill>
                  <a:schemeClr val="accent1"/>
                </a:solidFill>
              </a:defRPr>
            </a:lvl1pPr>
          </a:lstStyle>
          <a:p>
            <a:fld id="{DF99E1FF-0333-9143-86D0-C48E337F4E76}" type="datetime1">
              <a:rPr lang="nb-NO" smtClean="0"/>
              <a:t>01.09.2026</a:t>
            </a:fld>
            <a:endParaRPr lang="nb-NO"/>
          </a:p>
        </p:txBody>
      </p:sp>
      <p:sp>
        <p:nvSpPr>
          <p:cNvPr id="5" name="Plassholder for bunntekst 4"/>
          <p:cNvSpPr>
            <a:spLocks noGrp="1"/>
          </p:cNvSpPr>
          <p:nvPr>
            <p:ph type="ftr" sz="quarter" idx="11"/>
          </p:nvPr>
        </p:nvSpPr>
        <p:spPr/>
        <p:txBody>
          <a:bodyPr/>
          <a:lstStyle>
            <a:lvl1pPr>
              <a:defRPr>
                <a:solidFill>
                  <a:schemeClr val="accent1"/>
                </a:solidFill>
              </a:defRPr>
            </a:lvl1pPr>
          </a:lstStyle>
          <a:p>
            <a:r>
              <a:rPr lang="nb-NO"/>
              <a:t>Introduction to A.I - Umair M.I</a:t>
            </a:r>
          </a:p>
        </p:txBody>
      </p:sp>
      <p:sp>
        <p:nvSpPr>
          <p:cNvPr id="6" name="Plassholder for lysbildenummer 5"/>
          <p:cNvSpPr>
            <a:spLocks noGrp="1"/>
          </p:cNvSpPr>
          <p:nvPr>
            <p:ph type="sldNum" sz="quarter" idx="12"/>
          </p:nvPr>
        </p:nvSpPr>
        <p:spPr/>
        <p:txBody>
          <a:bodyPr/>
          <a:lstStyle>
            <a:lvl1pPr>
              <a:defRPr>
                <a:solidFill>
                  <a:schemeClr val="accent1"/>
                </a:solidFill>
              </a:defRPr>
            </a:lvl1pPr>
          </a:lstStyle>
          <a:p>
            <a:fld id="{5751DFAA-887F-4071-8EAD-E8CA316FCF06}" type="slidenum">
              <a:rPr lang="nb-NO" smtClean="0"/>
              <a:pPr/>
              <a:t>‹#›</a:t>
            </a:fld>
            <a:endParaRPr lang="nb-NO"/>
          </a:p>
        </p:txBody>
      </p:sp>
      <p:sp>
        <p:nvSpPr>
          <p:cNvPr id="7" name="Plassholder for tekst 7">
            <a:extLst>
              <a:ext uri="{FF2B5EF4-FFF2-40B4-BE49-F238E27FC236}">
                <a16:creationId xmlns:a16="http://schemas.microsoft.com/office/drawing/2014/main" id="{A523B242-05F3-4E7B-8EDE-994BA2F083D7}"/>
              </a:ext>
            </a:extLst>
          </p:cNvPr>
          <p:cNvSpPr>
            <a:spLocks noGrp="1"/>
          </p:cNvSpPr>
          <p:nvPr>
            <p:ph type="body" sz="quarter" idx="13" hasCustomPrompt="1"/>
          </p:nvPr>
        </p:nvSpPr>
        <p:spPr>
          <a:xfrm>
            <a:off x="972122" y="7956995"/>
            <a:ext cx="15373922" cy="276999"/>
          </a:xfrm>
        </p:spPr>
        <p:txBody>
          <a:bodyPr>
            <a:normAutofit/>
          </a:bodyPr>
          <a:lstStyle>
            <a:lvl1pPr marL="0" indent="0">
              <a:buNone/>
              <a:defRPr sz="1800" cap="all" baseline="0">
                <a:solidFill>
                  <a:schemeClr val="accent1"/>
                </a:solidFill>
              </a:defRPr>
            </a:lvl1pPr>
          </a:lstStyle>
          <a:p>
            <a:pPr lvl="0"/>
            <a:r>
              <a:rPr lang="en-US" err="1"/>
              <a:t>Sitert</a:t>
            </a:r>
            <a:r>
              <a:rPr lang="en-US"/>
              <a:t> </a:t>
            </a:r>
            <a:r>
              <a:rPr lang="en-US" err="1"/>
              <a:t>Kilde</a:t>
            </a:r>
            <a:endParaRPr lang="en-US"/>
          </a:p>
        </p:txBody>
      </p:sp>
      <p:sp>
        <p:nvSpPr>
          <p:cNvPr id="11" name="Plassholder for tekst 10">
            <a:extLst>
              <a:ext uri="{FF2B5EF4-FFF2-40B4-BE49-F238E27FC236}">
                <a16:creationId xmlns:a16="http://schemas.microsoft.com/office/drawing/2014/main" id="{A4AE70EA-EB2B-4642-8AB7-DC90C3F6A3D9}"/>
              </a:ext>
            </a:extLst>
          </p:cNvPr>
          <p:cNvSpPr>
            <a:spLocks noGrp="1"/>
          </p:cNvSpPr>
          <p:nvPr>
            <p:ph type="body" idx="14" hasCustomPrompt="1"/>
          </p:nvPr>
        </p:nvSpPr>
        <p:spPr>
          <a:xfrm>
            <a:off x="972122" y="972122"/>
            <a:ext cx="1004318" cy="595885"/>
          </a:xfrm>
          <a:blipFill>
            <a:blip r:embed="rId3"/>
            <a:stretch>
              <a:fillRect/>
            </a:stretch>
          </a:blipFill>
        </p:spPr>
        <p:txBody>
          <a:bodyPr>
            <a:noAutofit/>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
        <p:nvSpPr>
          <p:cNvPr id="12" name="Plassholder for tekst 11">
            <a:extLst>
              <a:ext uri="{FF2B5EF4-FFF2-40B4-BE49-F238E27FC236}">
                <a16:creationId xmlns:a16="http://schemas.microsoft.com/office/drawing/2014/main" id="{52CA5463-497B-4D4A-821F-C1642E29C5EC}"/>
              </a:ext>
            </a:extLst>
          </p:cNvPr>
          <p:cNvSpPr>
            <a:spLocks noGrp="1"/>
          </p:cNvSpPr>
          <p:nvPr>
            <p:ph type="body" sz="quarter" idx="15" hasCustomPrompt="1"/>
          </p:nvPr>
        </p:nvSpPr>
        <p:spPr>
          <a:xfrm>
            <a:off x="972123" y="8774297"/>
            <a:ext cx="2313437" cy="272797"/>
          </a:xfrm>
          <a:prstGeom prst="rect">
            <a:avLst/>
          </a:prstGeom>
          <a:blipFill>
            <a:blip r:embed="rId4"/>
            <a:stretch>
              <a:fillRect/>
            </a:stretch>
          </a:blipFill>
        </p:spPr>
        <p:txBody>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Tree>
    <p:extLst>
      <p:ext uri="{BB962C8B-B14F-4D97-AF65-F5344CB8AC3E}">
        <p14:creationId xmlns:p14="http://schemas.microsoft.com/office/powerpoint/2010/main" val="37257033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innhold 2"/>
          <p:cNvSpPr>
            <a:spLocks noGrp="1"/>
          </p:cNvSpPr>
          <p:nvPr>
            <p:ph sz="half" idx="1"/>
          </p:nvPr>
        </p:nvSpPr>
        <p:spPr>
          <a:xfrm>
            <a:off x="972122" y="3492436"/>
            <a:ext cx="7380922" cy="46805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Plassholder for innhold 3"/>
          <p:cNvSpPr>
            <a:spLocks noGrp="1"/>
          </p:cNvSpPr>
          <p:nvPr>
            <p:ph sz="half" idx="2"/>
          </p:nvPr>
        </p:nvSpPr>
        <p:spPr>
          <a:xfrm>
            <a:off x="8965122" y="3492436"/>
            <a:ext cx="7380922" cy="46805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Plassholder for dato 4"/>
          <p:cNvSpPr>
            <a:spLocks noGrp="1"/>
          </p:cNvSpPr>
          <p:nvPr>
            <p:ph type="dt" sz="half" idx="10"/>
          </p:nvPr>
        </p:nvSpPr>
        <p:spPr/>
        <p:txBody>
          <a:bodyPr/>
          <a:lstStyle/>
          <a:p>
            <a:fld id="{0FE61AA1-9CAA-9C44-8967-48285DF6EEA1}" type="datetime1">
              <a:rPr lang="nb-NO" smtClean="0"/>
              <a:t>01.09.2026</a:t>
            </a:fld>
            <a:endParaRPr lang="nb-NO"/>
          </a:p>
        </p:txBody>
      </p:sp>
      <p:sp>
        <p:nvSpPr>
          <p:cNvPr id="6" name="Plassholder for bunntekst 5"/>
          <p:cNvSpPr>
            <a:spLocks noGrp="1"/>
          </p:cNvSpPr>
          <p:nvPr>
            <p:ph type="ftr" sz="quarter" idx="11"/>
          </p:nvPr>
        </p:nvSpPr>
        <p:spPr/>
        <p:txBody>
          <a:bodyPr/>
          <a:lstStyle/>
          <a:p>
            <a:r>
              <a:rPr lang="nb-NO"/>
              <a:t>Introduction to A.I - Umair M.I</a:t>
            </a:r>
          </a:p>
        </p:txBody>
      </p:sp>
      <p:sp>
        <p:nvSpPr>
          <p:cNvPr id="7" name="Plassholder for lysbildenummer 6"/>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32132744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ammenligning">
    <p:spTree>
      <p:nvGrpSpPr>
        <p:cNvPr id="1" name=""/>
        <p:cNvGrpSpPr/>
        <p:nvPr/>
      </p:nvGrpSpPr>
      <p:grpSpPr>
        <a:xfrm>
          <a:off x="0" y="0"/>
          <a:ext cx="0" cy="0"/>
          <a:chOff x="0" y="0"/>
          <a:chExt cx="0" cy="0"/>
        </a:xfrm>
      </p:grpSpPr>
      <p:sp>
        <p:nvSpPr>
          <p:cNvPr id="3" name="Plassholder for tekst 2"/>
          <p:cNvSpPr>
            <a:spLocks noGrp="1"/>
          </p:cNvSpPr>
          <p:nvPr>
            <p:ph type="body" idx="1"/>
          </p:nvPr>
        </p:nvSpPr>
        <p:spPr>
          <a:xfrm>
            <a:off x="972122" y="3492436"/>
            <a:ext cx="7380922" cy="461665"/>
          </a:xfrm>
        </p:spPr>
        <p:txBody>
          <a:bodyPr anchor="b">
            <a:normAutofit/>
          </a:bodyPr>
          <a:lstStyle>
            <a:lvl1pPr marL="0" indent="0">
              <a:spcAft>
                <a:spcPts val="0"/>
              </a:spcAft>
              <a:buNone/>
              <a:defRPr sz="3000" b="1"/>
            </a:lvl1pPr>
            <a:lvl2pPr marL="650138" indent="0">
              <a:buNone/>
              <a:defRPr sz="2844" b="1"/>
            </a:lvl2pPr>
            <a:lvl3pPr marL="1300277" indent="0">
              <a:buNone/>
              <a:defRPr sz="2560" b="1"/>
            </a:lvl3pPr>
            <a:lvl4pPr marL="1950415" indent="0">
              <a:buNone/>
              <a:defRPr sz="2275" b="1"/>
            </a:lvl4pPr>
            <a:lvl5pPr marL="2600554" indent="0">
              <a:buNone/>
              <a:defRPr sz="2275" b="1"/>
            </a:lvl5pPr>
            <a:lvl6pPr marL="3250692" indent="0">
              <a:buNone/>
              <a:defRPr sz="2275" b="1"/>
            </a:lvl6pPr>
            <a:lvl7pPr marL="3900830" indent="0">
              <a:buNone/>
              <a:defRPr sz="2275" b="1"/>
            </a:lvl7pPr>
            <a:lvl8pPr marL="4550969" indent="0">
              <a:buNone/>
              <a:defRPr sz="2275" b="1"/>
            </a:lvl8pPr>
            <a:lvl9pPr marL="5201107" indent="0">
              <a:buNone/>
              <a:defRPr sz="2275" b="1"/>
            </a:lvl9pPr>
          </a:lstStyle>
          <a:p>
            <a:pPr lvl="0"/>
            <a:r>
              <a:rPr lang="en-US"/>
              <a:t>Edit Master text styles</a:t>
            </a:r>
          </a:p>
        </p:txBody>
      </p:sp>
      <p:sp>
        <p:nvSpPr>
          <p:cNvPr id="4" name="Plassholder for innhold 3"/>
          <p:cNvSpPr>
            <a:spLocks noGrp="1"/>
          </p:cNvSpPr>
          <p:nvPr>
            <p:ph sz="half" idx="2"/>
          </p:nvPr>
        </p:nvSpPr>
        <p:spPr>
          <a:xfrm>
            <a:off x="972122" y="3954101"/>
            <a:ext cx="7380922" cy="42189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Plassholder for tekst 4"/>
          <p:cNvSpPr>
            <a:spLocks noGrp="1"/>
          </p:cNvSpPr>
          <p:nvPr>
            <p:ph type="body" sz="quarter" idx="3"/>
          </p:nvPr>
        </p:nvSpPr>
        <p:spPr>
          <a:xfrm>
            <a:off x="8965122" y="3492436"/>
            <a:ext cx="7380922" cy="461665"/>
          </a:xfrm>
        </p:spPr>
        <p:txBody>
          <a:bodyPr anchor="b">
            <a:normAutofit/>
          </a:bodyPr>
          <a:lstStyle>
            <a:lvl1pPr marL="0" indent="0">
              <a:spcAft>
                <a:spcPts val="0"/>
              </a:spcAft>
              <a:buNone/>
              <a:defRPr sz="3000" b="1"/>
            </a:lvl1pPr>
            <a:lvl2pPr marL="650138" indent="0">
              <a:buNone/>
              <a:defRPr sz="2844" b="1"/>
            </a:lvl2pPr>
            <a:lvl3pPr marL="1300277" indent="0">
              <a:buNone/>
              <a:defRPr sz="2560" b="1"/>
            </a:lvl3pPr>
            <a:lvl4pPr marL="1950415" indent="0">
              <a:buNone/>
              <a:defRPr sz="2275" b="1"/>
            </a:lvl4pPr>
            <a:lvl5pPr marL="2600554" indent="0">
              <a:buNone/>
              <a:defRPr sz="2275" b="1"/>
            </a:lvl5pPr>
            <a:lvl6pPr marL="3250692" indent="0">
              <a:buNone/>
              <a:defRPr sz="2275" b="1"/>
            </a:lvl6pPr>
            <a:lvl7pPr marL="3900830" indent="0">
              <a:buNone/>
              <a:defRPr sz="2275" b="1"/>
            </a:lvl7pPr>
            <a:lvl8pPr marL="4550969" indent="0">
              <a:buNone/>
              <a:defRPr sz="2275" b="1"/>
            </a:lvl8pPr>
            <a:lvl9pPr marL="5201107" indent="0">
              <a:buNone/>
              <a:defRPr sz="2275" b="1"/>
            </a:lvl9pPr>
          </a:lstStyle>
          <a:p>
            <a:pPr lvl="0"/>
            <a:r>
              <a:rPr lang="en-US"/>
              <a:t>Edit Master text styles</a:t>
            </a:r>
          </a:p>
        </p:txBody>
      </p:sp>
      <p:sp>
        <p:nvSpPr>
          <p:cNvPr id="6" name="Plassholder for innhold 5"/>
          <p:cNvSpPr>
            <a:spLocks noGrp="1"/>
          </p:cNvSpPr>
          <p:nvPr>
            <p:ph sz="quarter" idx="4"/>
          </p:nvPr>
        </p:nvSpPr>
        <p:spPr>
          <a:xfrm>
            <a:off x="8965122" y="3954101"/>
            <a:ext cx="7380922" cy="42189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Plassholder for dato 6"/>
          <p:cNvSpPr>
            <a:spLocks noGrp="1"/>
          </p:cNvSpPr>
          <p:nvPr>
            <p:ph type="dt" sz="half" idx="10"/>
          </p:nvPr>
        </p:nvSpPr>
        <p:spPr/>
        <p:txBody>
          <a:bodyPr/>
          <a:lstStyle/>
          <a:p>
            <a:fld id="{B07DE300-15C3-864E-8B70-FD0EFB2B32ED}" type="datetime1">
              <a:rPr lang="nb-NO" smtClean="0"/>
              <a:t>01.09.2026</a:t>
            </a:fld>
            <a:endParaRPr lang="nb-NO"/>
          </a:p>
        </p:txBody>
      </p:sp>
      <p:sp>
        <p:nvSpPr>
          <p:cNvPr id="8" name="Plassholder for bunntekst 7"/>
          <p:cNvSpPr>
            <a:spLocks noGrp="1"/>
          </p:cNvSpPr>
          <p:nvPr>
            <p:ph type="ftr" sz="quarter" idx="11"/>
          </p:nvPr>
        </p:nvSpPr>
        <p:spPr/>
        <p:txBody>
          <a:bodyPr/>
          <a:lstStyle/>
          <a:p>
            <a:r>
              <a:rPr lang="nb-NO"/>
              <a:t>Introduction to A.I - Umair M.I</a:t>
            </a:r>
          </a:p>
        </p:txBody>
      </p:sp>
      <p:sp>
        <p:nvSpPr>
          <p:cNvPr id="9" name="Plassholder for lysbildenummer 8"/>
          <p:cNvSpPr>
            <a:spLocks noGrp="1"/>
          </p:cNvSpPr>
          <p:nvPr>
            <p:ph type="sldNum" sz="quarter" idx="12"/>
          </p:nvPr>
        </p:nvSpPr>
        <p:spPr/>
        <p:txBody>
          <a:bodyPr/>
          <a:lstStyle/>
          <a:p>
            <a:fld id="{5751DFAA-887F-4071-8EAD-E8CA316FCF06}" type="slidenum">
              <a:rPr lang="nb-NO" smtClean="0"/>
              <a:t>‹#›</a:t>
            </a:fld>
            <a:endParaRPr lang="nb-NO"/>
          </a:p>
        </p:txBody>
      </p:sp>
      <p:sp>
        <p:nvSpPr>
          <p:cNvPr id="10" name="Tittel 9">
            <a:extLst>
              <a:ext uri="{FF2B5EF4-FFF2-40B4-BE49-F238E27FC236}">
                <a16:creationId xmlns:a16="http://schemas.microsoft.com/office/drawing/2014/main" id="{2DA985E1-7DD2-458A-A77D-21904FB8115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846632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dato 2"/>
          <p:cNvSpPr>
            <a:spLocks noGrp="1"/>
          </p:cNvSpPr>
          <p:nvPr>
            <p:ph type="dt" sz="half" idx="10"/>
          </p:nvPr>
        </p:nvSpPr>
        <p:spPr/>
        <p:txBody>
          <a:bodyPr/>
          <a:lstStyle/>
          <a:p>
            <a:fld id="{5DDA4C13-E02D-094A-A01F-5E81A9C48AA1}" type="datetime1">
              <a:rPr lang="nb-NO" smtClean="0"/>
              <a:t>01.09.2026</a:t>
            </a:fld>
            <a:endParaRPr lang="nb-NO"/>
          </a:p>
        </p:txBody>
      </p:sp>
      <p:sp>
        <p:nvSpPr>
          <p:cNvPr id="4" name="Plassholder for bunntekst 3"/>
          <p:cNvSpPr>
            <a:spLocks noGrp="1"/>
          </p:cNvSpPr>
          <p:nvPr>
            <p:ph type="ftr" sz="quarter" idx="11"/>
          </p:nvPr>
        </p:nvSpPr>
        <p:spPr/>
        <p:txBody>
          <a:bodyPr/>
          <a:lstStyle/>
          <a:p>
            <a:r>
              <a:rPr lang="nb-NO"/>
              <a:t>Introduction to A.I - Umair M.I</a:t>
            </a:r>
          </a:p>
        </p:txBody>
      </p:sp>
      <p:sp>
        <p:nvSpPr>
          <p:cNvPr id="5" name="Plassholder for lysbildenummer 4"/>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30980477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C0EB400F-4224-6149-A03A-94907E8E56D8}" type="datetime1">
              <a:rPr lang="nb-NO" smtClean="0"/>
              <a:t>01.09.2026</a:t>
            </a:fld>
            <a:endParaRPr lang="nb-NO"/>
          </a:p>
        </p:txBody>
      </p:sp>
      <p:sp>
        <p:nvSpPr>
          <p:cNvPr id="3" name="Plassholder for bunntekst 2"/>
          <p:cNvSpPr>
            <a:spLocks noGrp="1"/>
          </p:cNvSpPr>
          <p:nvPr>
            <p:ph type="ftr" sz="quarter" idx="11"/>
          </p:nvPr>
        </p:nvSpPr>
        <p:spPr/>
        <p:txBody>
          <a:bodyPr/>
          <a:lstStyle/>
          <a:p>
            <a:r>
              <a:rPr lang="nb-NO"/>
              <a:t>Introduction to A.I - Umair M.I</a:t>
            </a:r>
          </a:p>
        </p:txBody>
      </p:sp>
      <p:sp>
        <p:nvSpPr>
          <p:cNvPr id="4" name="Plassholder for lysbildenummer 3"/>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19438400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Forside">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13008769"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13008769"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nb-NO" noProof="0"/>
              <a:t>Navn Navnesen</a:t>
            </a:r>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nb-NO" noProof="0"/>
              <a:t>dd.mm.yy</a:t>
            </a:r>
          </a:p>
        </p:txBody>
      </p:sp>
      <p:sp>
        <p:nvSpPr>
          <p:cNvPr id="18" name="Plassholder for dato 17">
            <a:extLst>
              <a:ext uri="{FF2B5EF4-FFF2-40B4-BE49-F238E27FC236}">
                <a16:creationId xmlns:a16="http://schemas.microsoft.com/office/drawing/2014/main" id="{652BDE14-9BEA-4244-91C2-4A615BE70EB5}"/>
              </a:ext>
            </a:extLst>
          </p:cNvPr>
          <p:cNvSpPr>
            <a:spLocks noGrp="1"/>
          </p:cNvSpPr>
          <p:nvPr>
            <p:ph type="dt" sz="half" idx="16"/>
          </p:nvPr>
        </p:nvSpPr>
        <p:spPr/>
        <p:txBody>
          <a:bodyPr/>
          <a:lstStyle/>
          <a:p>
            <a:fld id="{A2F66F3E-E7D8-1C40-ACD3-802D967B9B27}" type="datetime1">
              <a:rPr lang="nb-NO" smtClean="0"/>
              <a:t>01.09.2026</a:t>
            </a:fld>
            <a:endParaRPr lang="nb-NO"/>
          </a:p>
        </p:txBody>
      </p:sp>
      <p:sp>
        <p:nvSpPr>
          <p:cNvPr id="19" name="Plassholder for bunntekst 18">
            <a:extLst>
              <a:ext uri="{FF2B5EF4-FFF2-40B4-BE49-F238E27FC236}">
                <a16:creationId xmlns:a16="http://schemas.microsoft.com/office/drawing/2014/main" id="{F7311688-F88F-4C95-8A41-E0D915FCA86E}"/>
              </a:ext>
            </a:extLst>
          </p:cNvPr>
          <p:cNvSpPr>
            <a:spLocks noGrp="1"/>
          </p:cNvSpPr>
          <p:nvPr>
            <p:ph type="ftr" sz="quarter" idx="17"/>
          </p:nvPr>
        </p:nvSpPr>
        <p:spPr>
          <a:xfrm>
            <a:off x="972122" y="7668958"/>
            <a:ext cx="4680585" cy="554469"/>
          </a:xfrm>
        </p:spPr>
        <p:txBody>
          <a:bodyPr anchor="t">
            <a:normAutofit/>
          </a:bodyPr>
          <a:lstStyle>
            <a:lvl1pPr>
              <a:defRPr sz="1800"/>
            </a:lvl1pPr>
          </a:lstStyle>
          <a:p>
            <a:r>
              <a:rPr lang="nb-NO"/>
              <a:t>Introduction to A.I - Umair M.I</a:t>
            </a:r>
          </a:p>
        </p:txBody>
      </p:sp>
      <p:sp>
        <p:nvSpPr>
          <p:cNvPr id="20" name="Plassholder for lysbildenummer 19">
            <a:extLst>
              <a:ext uri="{FF2B5EF4-FFF2-40B4-BE49-F238E27FC236}">
                <a16:creationId xmlns:a16="http://schemas.microsoft.com/office/drawing/2014/main" id="{EFA8C348-F7D6-46ED-9365-3BEAB314D94D}"/>
              </a:ext>
            </a:extLst>
          </p:cNvPr>
          <p:cNvSpPr>
            <a:spLocks noGrp="1"/>
          </p:cNvSpPr>
          <p:nvPr>
            <p:ph type="sldNum" sz="quarter" idx="18"/>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37169284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Forside - bildestr 1">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9876034"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1" y="5489579"/>
            <a:ext cx="9876034"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09618C08-F29C-40C4-8567-0AA16331659B}"/>
              </a:ext>
            </a:extLst>
          </p:cNvPr>
          <p:cNvSpPr>
            <a:spLocks noGrp="1"/>
          </p:cNvSpPr>
          <p:nvPr>
            <p:ph type="pic" sz="quarter" idx="16"/>
          </p:nvPr>
        </p:nvSpPr>
        <p:spPr>
          <a:xfrm>
            <a:off x="11296269" y="-1"/>
            <a:ext cx="6048756" cy="9757220"/>
          </a:xfrm>
          <a:prstGeom prst="rect">
            <a:avLst/>
          </a:prstGeom>
          <a:blipFill>
            <a:blip r:embed="rId4"/>
            <a:stretch>
              <a:fillRect/>
            </a:stretch>
          </a:blipFill>
        </p:spPr>
        <p:txBody>
          <a:bodyPr lIns="0" tIns="1800000" rIns="0" bIns="0">
            <a:normAutofit/>
          </a:bodyPr>
          <a:lstStyle>
            <a:lvl1pPr marL="0" indent="0" algn="ctr">
              <a:buNone/>
              <a:defRPr sz="3000"/>
            </a:lvl1pPr>
          </a:lstStyle>
          <a:p>
            <a:r>
              <a:rPr lang="en-US"/>
              <a:t>Click icon to add picture</a:t>
            </a:r>
          </a:p>
        </p:txBody>
      </p:sp>
      <p:sp>
        <p:nvSpPr>
          <p:cNvPr id="12" name="Plassholder for dato 11">
            <a:extLst>
              <a:ext uri="{FF2B5EF4-FFF2-40B4-BE49-F238E27FC236}">
                <a16:creationId xmlns:a16="http://schemas.microsoft.com/office/drawing/2014/main" id="{56B53AF6-B139-48E4-B8B2-15266DC4DC45}"/>
              </a:ext>
            </a:extLst>
          </p:cNvPr>
          <p:cNvSpPr>
            <a:spLocks noGrp="1"/>
          </p:cNvSpPr>
          <p:nvPr>
            <p:ph type="dt" sz="half" idx="17"/>
          </p:nvPr>
        </p:nvSpPr>
        <p:spPr/>
        <p:txBody>
          <a:bodyPr/>
          <a:lstStyle/>
          <a:p>
            <a:fld id="{82E39379-6D8A-2F40-BC9D-8BFA07414157}" type="datetime1">
              <a:rPr lang="nb-NO" smtClean="0"/>
              <a:t>01.09.2026</a:t>
            </a:fld>
            <a:endParaRPr lang="nb-NO"/>
          </a:p>
        </p:txBody>
      </p:sp>
      <p:sp>
        <p:nvSpPr>
          <p:cNvPr id="19" name="Plassholder for bunntekst 18">
            <a:extLst>
              <a:ext uri="{FF2B5EF4-FFF2-40B4-BE49-F238E27FC236}">
                <a16:creationId xmlns:a16="http://schemas.microsoft.com/office/drawing/2014/main" id="{1EEE1C09-86BF-4F2C-8464-4675F6B481B1}"/>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Introduction to A.I - Umair M.I</a:t>
            </a:r>
          </a:p>
        </p:txBody>
      </p:sp>
      <p:sp>
        <p:nvSpPr>
          <p:cNvPr id="20" name="Plassholder for lysbildenummer 19">
            <a:extLst>
              <a:ext uri="{FF2B5EF4-FFF2-40B4-BE49-F238E27FC236}">
                <a16:creationId xmlns:a16="http://schemas.microsoft.com/office/drawing/2014/main" id="{34EC6E11-8AB0-4BC8-93DC-407904FA9CDC}"/>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48588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Forside - bildestr 2">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862294"/>
            <a:ext cx="7258507"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7258507"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8667940" y="0"/>
            <a:ext cx="8677085" cy="9757220"/>
          </a:xfrm>
          <a:prstGeom prst="rect">
            <a:avLst/>
          </a:prstGeom>
          <a:blipFill>
            <a:blip r:embed="rId4"/>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1" name="Plassholder for dato 20">
            <a:extLst>
              <a:ext uri="{FF2B5EF4-FFF2-40B4-BE49-F238E27FC236}">
                <a16:creationId xmlns:a16="http://schemas.microsoft.com/office/drawing/2014/main" id="{A89FCEFC-C9A7-48DC-A2F7-BE4D4DA94CF7}"/>
              </a:ext>
            </a:extLst>
          </p:cNvPr>
          <p:cNvSpPr>
            <a:spLocks noGrp="1"/>
          </p:cNvSpPr>
          <p:nvPr>
            <p:ph type="dt" sz="half" idx="17"/>
          </p:nvPr>
        </p:nvSpPr>
        <p:spPr/>
        <p:txBody>
          <a:bodyPr/>
          <a:lstStyle/>
          <a:p>
            <a:fld id="{32DDBFCF-FA8B-7A40-808A-124DE0789804}" type="datetime1">
              <a:rPr lang="nb-NO" smtClean="0"/>
              <a:t>01.09.2026</a:t>
            </a:fld>
            <a:endParaRPr lang="nb-NO"/>
          </a:p>
        </p:txBody>
      </p:sp>
      <p:sp>
        <p:nvSpPr>
          <p:cNvPr id="22" name="Plassholder for bunntekst 21">
            <a:extLst>
              <a:ext uri="{FF2B5EF4-FFF2-40B4-BE49-F238E27FC236}">
                <a16:creationId xmlns:a16="http://schemas.microsoft.com/office/drawing/2014/main" id="{86F6B1E1-7108-4CA0-9B2D-EC94564CFD5C}"/>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Introduction to A.I - Umair M.I</a:t>
            </a:r>
          </a:p>
        </p:txBody>
      </p:sp>
      <p:sp>
        <p:nvSpPr>
          <p:cNvPr id="23" name="Plassholder for lysbildenummer 22">
            <a:extLst>
              <a:ext uri="{FF2B5EF4-FFF2-40B4-BE49-F238E27FC236}">
                <a16:creationId xmlns:a16="http://schemas.microsoft.com/office/drawing/2014/main" id="{60A9F8C1-89C0-4B7B-9A1C-3CEF3EA77DD4}"/>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7678585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Forside - bildestr 3">
    <p:bg>
      <p:bgPr>
        <a:solidFill>
          <a:schemeClr val="accent1"/>
        </a:solidFill>
        <a:effectLst/>
      </p:bgPr>
    </p:bg>
    <p:spTree>
      <p:nvGrpSpPr>
        <p:cNvPr id="1" name=""/>
        <p:cNvGrpSpPr/>
        <p:nvPr/>
      </p:nvGrpSpPr>
      <p:grpSpPr>
        <a:xfrm>
          <a:off x="0" y="0"/>
          <a:ext cx="0" cy="0"/>
          <a:chOff x="0" y="0"/>
          <a:chExt cx="0" cy="0"/>
        </a:xfrm>
      </p:grpSpPr>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ctrTitle"/>
          </p:nvPr>
        </p:nvSpPr>
        <p:spPr>
          <a:xfrm>
            <a:off x="972123" y="2862294"/>
            <a:ext cx="4637380"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4637380"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324040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48774" y="7258051"/>
            <a:ext cx="1260157" cy="276999"/>
          </a:xfrm>
        </p:spPr>
        <p:txBody>
          <a:bodyPr>
            <a:normAutofit/>
          </a:bodyPr>
          <a:lstStyle>
            <a:lvl1pPr marL="0" indent="0">
              <a:spcAft>
                <a:spcPts val="0"/>
              </a:spcAft>
              <a:buNone/>
              <a:defRPr sz="1800" b="1"/>
            </a:lvl1pPr>
          </a:lstStyle>
          <a:p>
            <a:pPr lvl="0"/>
            <a:r>
              <a:rPr lang="en-US" err="1"/>
              <a:t>dd.mm.yy</a:t>
            </a:r>
            <a:endParaRPr lang="en-US"/>
          </a:p>
        </p:txBody>
      </p:sp>
      <p:sp>
        <p:nvSpPr>
          <p:cNvPr id="7" name="Plassholder for dato 6">
            <a:extLst>
              <a:ext uri="{FF2B5EF4-FFF2-40B4-BE49-F238E27FC236}">
                <a16:creationId xmlns:a16="http://schemas.microsoft.com/office/drawing/2014/main" id="{70DF801A-44A6-423A-BF4C-1FE70682DC7B}"/>
              </a:ext>
            </a:extLst>
          </p:cNvPr>
          <p:cNvSpPr>
            <a:spLocks noGrp="1"/>
          </p:cNvSpPr>
          <p:nvPr>
            <p:ph type="dt" sz="half" idx="17"/>
          </p:nvPr>
        </p:nvSpPr>
        <p:spPr/>
        <p:txBody>
          <a:bodyPr/>
          <a:lstStyle/>
          <a:p>
            <a:fld id="{EDFB3256-400C-5A4E-8683-C5AFF0ED730D}" type="datetime1">
              <a:rPr lang="nb-NO" smtClean="0"/>
              <a:t>01.09.2026</a:t>
            </a:fld>
            <a:endParaRPr lang="nb-NO"/>
          </a:p>
        </p:txBody>
      </p:sp>
      <p:sp>
        <p:nvSpPr>
          <p:cNvPr id="8" name="Plassholder for bunntekst 7">
            <a:extLst>
              <a:ext uri="{FF2B5EF4-FFF2-40B4-BE49-F238E27FC236}">
                <a16:creationId xmlns:a16="http://schemas.microsoft.com/office/drawing/2014/main" id="{3BAE66B1-31BF-4A40-98BB-F23031F6D52D}"/>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Introduction to A.I - Umair M.I</a:t>
            </a:r>
          </a:p>
        </p:txBody>
      </p:sp>
      <p:sp>
        <p:nvSpPr>
          <p:cNvPr id="21" name="Plassholder for lysbildenummer 20">
            <a:extLst>
              <a:ext uri="{FF2B5EF4-FFF2-40B4-BE49-F238E27FC236}">
                <a16:creationId xmlns:a16="http://schemas.microsoft.com/office/drawing/2014/main" id="{DEC930FD-CA96-49B1-B552-D06E67071637}"/>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26889017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Forside, samarbeid">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13008769"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13008769"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9" name="Plassholder for dato 18">
            <a:extLst>
              <a:ext uri="{FF2B5EF4-FFF2-40B4-BE49-F238E27FC236}">
                <a16:creationId xmlns:a16="http://schemas.microsoft.com/office/drawing/2014/main" id="{D92300A2-C93F-436A-A8E9-E76E890344C4}"/>
              </a:ext>
            </a:extLst>
          </p:cNvPr>
          <p:cNvSpPr>
            <a:spLocks noGrp="1"/>
          </p:cNvSpPr>
          <p:nvPr>
            <p:ph type="dt" sz="half" idx="16"/>
          </p:nvPr>
        </p:nvSpPr>
        <p:spPr/>
        <p:txBody>
          <a:bodyPr/>
          <a:lstStyle/>
          <a:p>
            <a:fld id="{710D251D-A500-B44A-9332-BDBBDA56C6A2}" type="datetime1">
              <a:rPr lang="nb-NO" smtClean="0"/>
              <a:t>01.09.2026</a:t>
            </a:fld>
            <a:endParaRPr lang="nb-NO"/>
          </a:p>
        </p:txBody>
      </p:sp>
      <p:sp>
        <p:nvSpPr>
          <p:cNvPr id="20" name="Plassholder for bunntekst 19">
            <a:extLst>
              <a:ext uri="{FF2B5EF4-FFF2-40B4-BE49-F238E27FC236}">
                <a16:creationId xmlns:a16="http://schemas.microsoft.com/office/drawing/2014/main" id="{57E1B67A-48D1-4E05-B780-6CFCC1949688}"/>
              </a:ext>
            </a:extLst>
          </p:cNvPr>
          <p:cNvSpPr>
            <a:spLocks noGrp="1"/>
          </p:cNvSpPr>
          <p:nvPr>
            <p:ph type="ftr" sz="quarter" idx="17"/>
          </p:nvPr>
        </p:nvSpPr>
        <p:spPr>
          <a:xfrm>
            <a:off x="972122" y="7668958"/>
            <a:ext cx="4680585" cy="554469"/>
          </a:xfrm>
        </p:spPr>
        <p:txBody>
          <a:bodyPr anchor="t">
            <a:normAutofit/>
          </a:bodyPr>
          <a:lstStyle>
            <a:lvl1pPr>
              <a:defRPr sz="1800"/>
            </a:lvl1pPr>
          </a:lstStyle>
          <a:p>
            <a:r>
              <a:rPr lang="nb-NO"/>
              <a:t>Introduction to A.I - Umair M.I</a:t>
            </a:r>
          </a:p>
        </p:txBody>
      </p:sp>
      <p:sp>
        <p:nvSpPr>
          <p:cNvPr id="21" name="Plassholder for lysbildenummer 20">
            <a:extLst>
              <a:ext uri="{FF2B5EF4-FFF2-40B4-BE49-F238E27FC236}">
                <a16:creationId xmlns:a16="http://schemas.microsoft.com/office/drawing/2014/main" id="{03FECDC5-AA49-4FC4-BAFD-0FF7FC54F45E}"/>
              </a:ext>
            </a:extLst>
          </p:cNvPr>
          <p:cNvSpPr>
            <a:spLocks noGrp="1"/>
          </p:cNvSpPr>
          <p:nvPr>
            <p:ph type="sldNum" sz="quarter" idx="18"/>
          </p:nvPr>
        </p:nvSpPr>
        <p:spPr/>
        <p:txBody>
          <a:bodyPr/>
          <a:lstStyle/>
          <a:p>
            <a:fld id="{5751DFAA-887F-4071-8EAD-E8CA316FCF06}" type="slidenum">
              <a:rPr lang="nb-NO" smtClean="0"/>
              <a:pPr/>
              <a:t>‹#›</a:t>
            </a:fld>
            <a:endParaRPr lang="nb-NO"/>
          </a:p>
        </p:txBody>
      </p:sp>
      <p:sp>
        <p:nvSpPr>
          <p:cNvPr id="5" name="Plassholder for bilde 4">
            <a:extLst>
              <a:ext uri="{FF2B5EF4-FFF2-40B4-BE49-F238E27FC236}">
                <a16:creationId xmlns:a16="http://schemas.microsoft.com/office/drawing/2014/main" id="{E18F7118-4BBA-4894-9865-C9BC85EE8D99}"/>
              </a:ext>
            </a:extLst>
          </p:cNvPr>
          <p:cNvSpPr>
            <a:spLocks noGrp="1"/>
          </p:cNvSpPr>
          <p:nvPr>
            <p:ph type="pic" sz="quarter" idx="20" hasCustomPrompt="1"/>
          </p:nvPr>
        </p:nvSpPr>
        <p:spPr>
          <a:xfrm>
            <a:off x="15661960"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2581145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1">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963894"/>
            <a:ext cx="9876377"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9876377"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09618C08-F29C-40C4-8567-0AA16331659B}"/>
              </a:ext>
            </a:extLst>
          </p:cNvPr>
          <p:cNvSpPr>
            <a:spLocks noGrp="1"/>
          </p:cNvSpPr>
          <p:nvPr>
            <p:ph type="pic" sz="quarter" idx="16"/>
          </p:nvPr>
        </p:nvSpPr>
        <p:spPr>
          <a:xfrm>
            <a:off x="11296269" y="-1"/>
            <a:ext cx="6048756" cy="9757220"/>
          </a:xfrm>
          <a:prstGeom prst="rect">
            <a:avLst/>
          </a:prstGeom>
          <a:blipFill>
            <a:blip r:embed="rId4"/>
            <a:stretch>
              <a:fillRect/>
            </a:stretch>
          </a:blipFill>
        </p:spPr>
        <p:txBody>
          <a:bodyPr lIns="0" tIns="1800000" rIns="0" bIns="0">
            <a:normAutofit/>
          </a:bodyPr>
          <a:lstStyle>
            <a:lvl1pPr marL="0" indent="0" algn="ctr">
              <a:buNone/>
              <a:defRPr sz="3000"/>
            </a:lvl1pPr>
          </a:lstStyle>
          <a:p>
            <a:r>
              <a:rPr lang="en-US"/>
              <a:t>Click icon to add picture</a:t>
            </a:r>
          </a:p>
        </p:txBody>
      </p:sp>
      <p:sp>
        <p:nvSpPr>
          <p:cNvPr id="7" name="Plassholder for dato 6">
            <a:extLst>
              <a:ext uri="{FF2B5EF4-FFF2-40B4-BE49-F238E27FC236}">
                <a16:creationId xmlns:a16="http://schemas.microsoft.com/office/drawing/2014/main" id="{9C9975B5-4B5A-4A2F-BFDB-CB07FFF41FA2}"/>
              </a:ext>
            </a:extLst>
          </p:cNvPr>
          <p:cNvSpPr>
            <a:spLocks noGrp="1"/>
          </p:cNvSpPr>
          <p:nvPr>
            <p:ph type="dt" sz="half" idx="17"/>
          </p:nvPr>
        </p:nvSpPr>
        <p:spPr/>
        <p:txBody>
          <a:bodyPr/>
          <a:lstStyle/>
          <a:p>
            <a:fld id="{007D4310-A029-D244-896B-89DA566B4BB7}" type="datetime1">
              <a:rPr lang="nb-NO" smtClean="0"/>
              <a:t>01.09.2026</a:t>
            </a:fld>
            <a:endParaRPr lang="nb-NO"/>
          </a:p>
        </p:txBody>
      </p:sp>
      <p:sp>
        <p:nvSpPr>
          <p:cNvPr id="8" name="Plassholder for bunntekst 7">
            <a:extLst>
              <a:ext uri="{FF2B5EF4-FFF2-40B4-BE49-F238E27FC236}">
                <a16:creationId xmlns:a16="http://schemas.microsoft.com/office/drawing/2014/main" id="{32A4462D-B68E-4569-9BEC-C576B12E203A}"/>
              </a:ext>
            </a:extLst>
          </p:cNvPr>
          <p:cNvSpPr>
            <a:spLocks noGrp="1"/>
          </p:cNvSpPr>
          <p:nvPr>
            <p:ph type="ftr" sz="quarter" idx="18"/>
          </p:nvPr>
        </p:nvSpPr>
        <p:spPr>
          <a:xfrm>
            <a:off x="972122" y="7668520"/>
            <a:ext cx="4680585" cy="553998"/>
          </a:xfrm>
        </p:spPr>
        <p:txBody>
          <a:bodyPr anchor="t">
            <a:normAutofit/>
          </a:bodyPr>
          <a:lstStyle>
            <a:lvl1pPr>
              <a:defRPr sz="1800"/>
            </a:lvl1pPr>
          </a:lstStyle>
          <a:p>
            <a:r>
              <a:rPr lang="nb-NO"/>
              <a:t>Introduction to A.I - Umair M.I</a:t>
            </a:r>
          </a:p>
        </p:txBody>
      </p:sp>
      <p:sp>
        <p:nvSpPr>
          <p:cNvPr id="9" name="Plassholder for lysbildenummer 8">
            <a:extLst>
              <a:ext uri="{FF2B5EF4-FFF2-40B4-BE49-F238E27FC236}">
                <a16:creationId xmlns:a16="http://schemas.microsoft.com/office/drawing/2014/main" id="{2D0123D4-9C42-4ABB-9A5B-37874E90FD25}"/>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C58DDDE6-A7EF-4EF2-98F8-7C8C432B202F}"/>
              </a:ext>
            </a:extLst>
          </p:cNvPr>
          <p:cNvSpPr>
            <a:spLocks noGrp="1"/>
          </p:cNvSpPr>
          <p:nvPr>
            <p:ph type="pic" sz="quarter" idx="20" hasCustomPrompt="1"/>
          </p:nvPr>
        </p:nvSpPr>
        <p:spPr>
          <a:xfrm>
            <a:off x="10135267"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39180391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2">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862294"/>
            <a:ext cx="7258850"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7258850"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8667940" y="0"/>
            <a:ext cx="8677085" cy="9757220"/>
          </a:xfrm>
          <a:prstGeom prst="rect">
            <a:avLst/>
          </a:prstGeom>
          <a:blipFill>
            <a:blip r:embed="rId4"/>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7" name="Plassholder for dato 6">
            <a:extLst>
              <a:ext uri="{FF2B5EF4-FFF2-40B4-BE49-F238E27FC236}">
                <a16:creationId xmlns:a16="http://schemas.microsoft.com/office/drawing/2014/main" id="{C8943FA9-1FC1-4CA6-9987-51D4A224B782}"/>
              </a:ext>
            </a:extLst>
          </p:cNvPr>
          <p:cNvSpPr>
            <a:spLocks noGrp="1"/>
          </p:cNvSpPr>
          <p:nvPr>
            <p:ph type="dt" sz="half" idx="17"/>
          </p:nvPr>
        </p:nvSpPr>
        <p:spPr/>
        <p:txBody>
          <a:bodyPr/>
          <a:lstStyle/>
          <a:p>
            <a:fld id="{632A589A-55B6-DE4F-A17C-00B396FD2ABE}" type="datetime1">
              <a:rPr lang="nb-NO" smtClean="0"/>
              <a:t>01.09.2026</a:t>
            </a:fld>
            <a:endParaRPr lang="nb-NO"/>
          </a:p>
        </p:txBody>
      </p:sp>
      <p:sp>
        <p:nvSpPr>
          <p:cNvPr id="8" name="Plassholder for bunntekst 7">
            <a:extLst>
              <a:ext uri="{FF2B5EF4-FFF2-40B4-BE49-F238E27FC236}">
                <a16:creationId xmlns:a16="http://schemas.microsoft.com/office/drawing/2014/main" id="{26AB9857-A3BC-4168-94D2-E16B4C9D7E0D}"/>
              </a:ext>
            </a:extLst>
          </p:cNvPr>
          <p:cNvSpPr>
            <a:spLocks noGrp="1"/>
          </p:cNvSpPr>
          <p:nvPr>
            <p:ph type="ftr" sz="quarter" idx="18"/>
          </p:nvPr>
        </p:nvSpPr>
        <p:spPr>
          <a:xfrm>
            <a:off x="972122" y="7668521"/>
            <a:ext cx="4680585" cy="553998"/>
          </a:xfrm>
        </p:spPr>
        <p:txBody>
          <a:bodyPr anchor="t">
            <a:normAutofit/>
          </a:bodyPr>
          <a:lstStyle>
            <a:lvl1pPr>
              <a:defRPr sz="1800"/>
            </a:lvl1pPr>
          </a:lstStyle>
          <a:p>
            <a:r>
              <a:rPr lang="nb-NO"/>
              <a:t>Introduction to A.I - Umair M.I</a:t>
            </a:r>
          </a:p>
        </p:txBody>
      </p:sp>
      <p:sp>
        <p:nvSpPr>
          <p:cNvPr id="9" name="Plassholder for lysbildenummer 8">
            <a:extLst>
              <a:ext uri="{FF2B5EF4-FFF2-40B4-BE49-F238E27FC236}">
                <a16:creationId xmlns:a16="http://schemas.microsoft.com/office/drawing/2014/main" id="{C95D276C-EFB8-4B16-B8EC-3B53CBDB3477}"/>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D8135442-1495-4020-900D-917070638299}"/>
              </a:ext>
            </a:extLst>
          </p:cNvPr>
          <p:cNvSpPr>
            <a:spLocks noGrp="1"/>
          </p:cNvSpPr>
          <p:nvPr>
            <p:ph type="pic" sz="quarter" idx="20" hasCustomPrompt="1"/>
          </p:nvPr>
        </p:nvSpPr>
        <p:spPr>
          <a:xfrm>
            <a:off x="7517740"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12103541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3">
    <p:bg>
      <p:bgPr>
        <a:solidFill>
          <a:schemeClr val="accent1"/>
        </a:solidFill>
        <a:effectLst/>
      </p:bgPr>
    </p:bg>
    <p:spTree>
      <p:nvGrpSpPr>
        <p:cNvPr id="1" name=""/>
        <p:cNvGrpSpPr/>
        <p:nvPr/>
      </p:nvGrpSpPr>
      <p:grpSpPr>
        <a:xfrm>
          <a:off x="0" y="0"/>
          <a:ext cx="0" cy="0"/>
          <a:chOff x="0" y="0"/>
          <a:chExt cx="0" cy="0"/>
        </a:xfrm>
      </p:grpSpPr>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ctrTitle"/>
          </p:nvPr>
        </p:nvSpPr>
        <p:spPr>
          <a:xfrm>
            <a:off x="972123" y="2862294"/>
            <a:ext cx="4637723"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4637723"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324040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49688" y="7258051"/>
            <a:ext cx="1260157" cy="276999"/>
          </a:xfrm>
        </p:spPr>
        <p:txBody>
          <a:bodyPr>
            <a:normAutofit/>
          </a:bodyPr>
          <a:lstStyle>
            <a:lvl1pPr marL="0" indent="0">
              <a:spcAft>
                <a:spcPts val="0"/>
              </a:spcAft>
              <a:buNone/>
              <a:defRPr sz="1800" b="1"/>
            </a:lvl1pPr>
          </a:lstStyle>
          <a:p>
            <a:pPr lvl="0"/>
            <a:r>
              <a:rPr lang="en-US" err="1"/>
              <a:t>dd.mm.yy</a:t>
            </a:r>
            <a:endParaRPr lang="en-US"/>
          </a:p>
        </p:txBody>
      </p:sp>
      <p:sp>
        <p:nvSpPr>
          <p:cNvPr id="7" name="Plassholder for dato 6">
            <a:extLst>
              <a:ext uri="{FF2B5EF4-FFF2-40B4-BE49-F238E27FC236}">
                <a16:creationId xmlns:a16="http://schemas.microsoft.com/office/drawing/2014/main" id="{322CBC60-2F96-4955-8CB7-A723C0337AF7}"/>
              </a:ext>
            </a:extLst>
          </p:cNvPr>
          <p:cNvSpPr>
            <a:spLocks noGrp="1"/>
          </p:cNvSpPr>
          <p:nvPr>
            <p:ph type="dt" sz="half" idx="17"/>
          </p:nvPr>
        </p:nvSpPr>
        <p:spPr/>
        <p:txBody>
          <a:bodyPr/>
          <a:lstStyle/>
          <a:p>
            <a:fld id="{0FD87C17-3D40-824B-B05B-BFCD0446F5E6}" type="datetime1">
              <a:rPr lang="nb-NO" smtClean="0"/>
              <a:t>01.09.2026</a:t>
            </a:fld>
            <a:endParaRPr lang="nb-NO"/>
          </a:p>
        </p:txBody>
      </p:sp>
      <p:sp>
        <p:nvSpPr>
          <p:cNvPr id="8" name="Plassholder for bunntekst 7">
            <a:extLst>
              <a:ext uri="{FF2B5EF4-FFF2-40B4-BE49-F238E27FC236}">
                <a16:creationId xmlns:a16="http://schemas.microsoft.com/office/drawing/2014/main" id="{734F802C-71FE-47BA-816D-423460A9EB6E}"/>
              </a:ext>
            </a:extLst>
          </p:cNvPr>
          <p:cNvSpPr>
            <a:spLocks noGrp="1"/>
          </p:cNvSpPr>
          <p:nvPr>
            <p:ph type="ftr" sz="quarter" idx="18"/>
          </p:nvPr>
        </p:nvSpPr>
        <p:spPr>
          <a:xfrm>
            <a:off x="971551" y="7661755"/>
            <a:ext cx="4637723" cy="553998"/>
          </a:xfrm>
        </p:spPr>
        <p:txBody>
          <a:bodyPr anchor="t">
            <a:normAutofit/>
          </a:bodyPr>
          <a:lstStyle>
            <a:lvl1pPr>
              <a:defRPr sz="1800"/>
            </a:lvl1pPr>
          </a:lstStyle>
          <a:p>
            <a:r>
              <a:rPr lang="nb-NO"/>
              <a:t>Introduction to A.I - Umair M.I</a:t>
            </a:r>
          </a:p>
        </p:txBody>
      </p:sp>
      <p:sp>
        <p:nvSpPr>
          <p:cNvPr id="9" name="Plassholder for lysbildenummer 8">
            <a:extLst>
              <a:ext uri="{FF2B5EF4-FFF2-40B4-BE49-F238E27FC236}">
                <a16:creationId xmlns:a16="http://schemas.microsoft.com/office/drawing/2014/main" id="{8D2008E8-13A1-4052-91CA-FD29ACBA8C5A}"/>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66EBDB16-4B51-4813-AB2B-6B7738B506C9}"/>
              </a:ext>
            </a:extLst>
          </p:cNvPr>
          <p:cNvSpPr>
            <a:spLocks noGrp="1"/>
          </p:cNvSpPr>
          <p:nvPr>
            <p:ph type="pic" sz="quarter" idx="20" hasCustomPrompt="1"/>
          </p:nvPr>
        </p:nvSpPr>
        <p:spPr>
          <a:xfrm>
            <a:off x="4896612"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25324423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innhold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Plassholder for dato 3"/>
          <p:cNvSpPr>
            <a:spLocks noGrp="1"/>
          </p:cNvSpPr>
          <p:nvPr>
            <p:ph type="dt" sz="half" idx="10"/>
          </p:nvPr>
        </p:nvSpPr>
        <p:spPr/>
        <p:txBody>
          <a:bodyPr/>
          <a:lstStyle/>
          <a:p>
            <a:fld id="{22A50806-F55B-C744-8978-4C0C6468AADF}" type="datetime1">
              <a:rPr lang="nb-NO" smtClean="0"/>
              <a:t>01.09.2026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869250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loverskrift stor">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p:nvPr>
        </p:nvSpPr>
        <p:spPr>
          <a:xfrm>
            <a:off x="972122" y="4528153"/>
            <a:ext cx="15373922" cy="3323987"/>
          </a:xfrm>
        </p:spPr>
        <p:txBody>
          <a:bodyPr anchor="b">
            <a:normAutofit/>
          </a:bodyPr>
          <a:lstStyle>
            <a:lvl1pPr>
              <a:defRPr sz="12000" cap="all" baseline="0"/>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1369391F-FD50-3E47-A811-8DD907C21AA3}" type="datetime1">
              <a:rPr lang="nb-NO" smtClean="0"/>
              <a:t>01.09.2026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14844641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eloverskrift liten">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p:nvPr>
        </p:nvSpPr>
        <p:spPr>
          <a:xfrm>
            <a:off x="972122" y="5560923"/>
            <a:ext cx="15373922" cy="2160591"/>
          </a:xfrm>
        </p:spPr>
        <p:txBody>
          <a:bodyPr anchor="b">
            <a:normAutofit/>
          </a:bodyPr>
          <a:lstStyle>
            <a:lvl1pPr>
              <a:defRPr sz="7800" cap="all" baseline="0"/>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5B59A2FC-2C30-4947-A7A6-AC2A92F8BBB7}" type="datetime1">
              <a:rPr lang="nb-NO" smtClean="0"/>
              <a:t>01.09.2026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32057047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tel og 3x tekstboks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30188B56-E8AE-954A-B759-F15BEA611FC1}" type="datetime1">
              <a:rPr lang="nb-NO" smtClean="0"/>
              <a:t>01.09.2026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2"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lassholder for tekst 6">
            <a:extLst>
              <a:ext uri="{FF2B5EF4-FFF2-40B4-BE49-F238E27FC236}">
                <a16:creationId xmlns:a16="http://schemas.microsoft.com/office/drawing/2014/main" id="{3633B4FE-1A74-4469-A955-AEC7C7511EFD}"/>
              </a:ext>
            </a:extLst>
          </p:cNvPr>
          <p:cNvSpPr>
            <a:spLocks noGrp="1"/>
          </p:cNvSpPr>
          <p:nvPr>
            <p:ph type="body" sz="quarter" idx="14"/>
          </p:nvPr>
        </p:nvSpPr>
        <p:spPr>
          <a:xfrm>
            <a:off x="1157544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lassholder for tekst 6">
            <a:extLst>
              <a:ext uri="{FF2B5EF4-FFF2-40B4-BE49-F238E27FC236}">
                <a16:creationId xmlns:a16="http://schemas.microsoft.com/office/drawing/2014/main" id="{2B647C84-5C6A-4934-AF8B-33EB10411FEC}"/>
              </a:ext>
            </a:extLst>
          </p:cNvPr>
          <p:cNvSpPr>
            <a:spLocks noGrp="1"/>
          </p:cNvSpPr>
          <p:nvPr>
            <p:ph type="body" sz="quarter" idx="15"/>
          </p:nvPr>
        </p:nvSpPr>
        <p:spPr>
          <a:xfrm>
            <a:off x="622877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459844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x tekstbokser og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B69D269D-CF15-4DD4-9F8A-A45648ABC15B}"/>
              </a:ext>
            </a:extLst>
          </p:cNvPr>
          <p:cNvSpPr>
            <a:spLocks noGrp="1"/>
          </p:cNvSpPr>
          <p:nvPr>
            <p:ph type="pic" sz="quarter" idx="16"/>
          </p:nvPr>
        </p:nvSpPr>
        <p:spPr>
          <a:xfrm>
            <a:off x="11296269" y="-1"/>
            <a:ext cx="6048756" cy="9757220"/>
          </a:xfrm>
          <a:prstGeom prst="rect">
            <a:avLst/>
          </a:prstGeom>
          <a:blipFill>
            <a:blip r:embed="rId2"/>
            <a:stretch>
              <a:fillRect/>
            </a:stretch>
          </a:blipFill>
        </p:spPr>
        <p:txBody>
          <a:bodyPr lIns="0" tIns="1800000" rIns="0" bIns="0"/>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1" y="2374096"/>
            <a:ext cx="10027253" cy="664797"/>
          </a:xfrm>
        </p:spPr>
        <p:txBody>
          <a:bodyPr>
            <a:normAutofit/>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9E7601AA-4730-A84C-A064-CFAA5BC67FD3}" type="datetime1">
              <a:rPr lang="nb-NO" smtClean="0"/>
              <a:t>01.09.2026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2"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lassholder for tekst 6">
            <a:extLst>
              <a:ext uri="{FF2B5EF4-FFF2-40B4-BE49-F238E27FC236}">
                <a16:creationId xmlns:a16="http://schemas.microsoft.com/office/drawing/2014/main" id="{2B647C84-5C6A-4934-AF8B-33EB10411FEC}"/>
              </a:ext>
            </a:extLst>
          </p:cNvPr>
          <p:cNvSpPr>
            <a:spLocks noGrp="1"/>
          </p:cNvSpPr>
          <p:nvPr>
            <p:ph type="body" sz="quarter" idx="15"/>
          </p:nvPr>
        </p:nvSpPr>
        <p:spPr>
          <a:xfrm>
            <a:off x="622877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7270984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tel, tekst og bilde">
    <p:spTree>
      <p:nvGrpSpPr>
        <p:cNvPr id="1" name=""/>
        <p:cNvGrpSpPr/>
        <p:nvPr/>
      </p:nvGrpSpPr>
      <p:grpSpPr>
        <a:xfrm>
          <a:off x="0" y="0"/>
          <a:ext cx="0" cy="0"/>
          <a:chOff x="0" y="0"/>
          <a:chExt cx="0" cy="0"/>
        </a:xfrm>
      </p:grpSpPr>
      <p:sp>
        <p:nvSpPr>
          <p:cNvPr id="9" name="Plassholder for bilde 2">
            <a:extLst>
              <a:ext uri="{FF2B5EF4-FFF2-40B4-BE49-F238E27FC236}">
                <a16:creationId xmlns:a16="http://schemas.microsoft.com/office/drawing/2014/main" id="{BBBCD936-BFAE-449A-8A24-0073D81BA783}"/>
              </a:ext>
            </a:extLst>
          </p:cNvPr>
          <p:cNvSpPr>
            <a:spLocks noGrp="1"/>
          </p:cNvSpPr>
          <p:nvPr>
            <p:ph type="pic" sz="quarter" idx="16"/>
          </p:nvPr>
        </p:nvSpPr>
        <p:spPr>
          <a:xfrm>
            <a:off x="11296269" y="-1"/>
            <a:ext cx="6048756" cy="9757220"/>
          </a:xfrm>
          <a:prstGeom prst="rect">
            <a:avLst/>
          </a:prstGeom>
          <a:blipFill>
            <a:blip r:embed="rId2"/>
            <a:stretch>
              <a:fillRect/>
            </a:stretch>
          </a:blipFill>
        </p:spPr>
        <p:txBody>
          <a:bodyPr lIns="0" tIns="1800000" rIns="0" bIns="0"/>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2" y="2374096"/>
            <a:ext cx="10027254" cy="664797"/>
          </a:xfrm>
        </p:spPr>
        <p:txBody>
          <a:bodyPr>
            <a:normAutofit/>
          </a:bodyPr>
          <a:lstStyle>
            <a:lvl1pPr>
              <a:defRPr/>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EAC17955-FBE0-DB42-8D8A-D33972F81DD1}" type="datetime1">
              <a:rPr lang="nb-NO" smtClean="0"/>
              <a:t>01.09.2026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1" y="3492436"/>
            <a:ext cx="10027254"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950905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tel, tekst og stort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B69D269D-CF15-4DD4-9F8A-A45648ABC15B}"/>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chor="t" anchorCtr="1">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2" y="1709298"/>
            <a:ext cx="4860608" cy="1329595"/>
          </a:xfrm>
        </p:spPr>
        <p:txBody>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A26B6363-52F4-B149-86AB-4653E581E119}" type="datetime1">
              <a:rPr lang="nb-NO" smtClean="0"/>
              <a:t>01.09.2026</a:t>
            </a:fld>
            <a:endParaRPr lang="nb-NO"/>
          </a:p>
        </p:txBody>
      </p:sp>
      <p:sp>
        <p:nvSpPr>
          <p:cNvPr id="5" name="Plassholder for bunntekst 4"/>
          <p:cNvSpPr>
            <a:spLocks noGrp="1"/>
          </p:cNvSpPr>
          <p:nvPr>
            <p:ph type="ftr" sz="quarter" idx="11"/>
          </p:nvPr>
        </p:nvSpPr>
        <p:spPr/>
        <p:txBody>
          <a:bodyPr/>
          <a:lstStyle>
            <a:lvl1pPr>
              <a:defRPr>
                <a:solidFill>
                  <a:schemeClr val="accent1"/>
                </a:solidFill>
              </a:defRPr>
            </a:lvl1pPr>
          </a:lstStyle>
          <a:p>
            <a:r>
              <a:rPr lang="nb-NO"/>
              <a:t>Introduction to A.I - Umair M.I</a:t>
            </a:r>
          </a:p>
        </p:txBody>
      </p:sp>
      <p:sp>
        <p:nvSpPr>
          <p:cNvPr id="6" name="Plassholder for lysbildenummer 5"/>
          <p:cNvSpPr>
            <a:spLocks noGrp="1"/>
          </p:cNvSpPr>
          <p:nvPr>
            <p:ph type="sldNum" sz="quarter" idx="12"/>
          </p:nvPr>
        </p:nvSpPr>
        <p:spPr/>
        <p:txBody>
          <a:bodyPr/>
          <a:lstStyle>
            <a:lvl1pPr algn="r">
              <a:defRPr>
                <a:solidFill>
                  <a:schemeClr val="accent1"/>
                </a:solidFill>
              </a:defRPr>
            </a:lvl1pPr>
          </a:lstStyle>
          <a:p>
            <a:fld id="{5751DFAA-887F-4071-8EAD-E8CA316FCF06}" type="slidenum">
              <a:rPr lang="nb-NO" smtClean="0"/>
              <a:pPr/>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1" y="3492436"/>
            <a:ext cx="4860608"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060424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Helsides bilde">
    <p:spTree>
      <p:nvGrpSpPr>
        <p:cNvPr id="1" name=""/>
        <p:cNvGrpSpPr/>
        <p:nvPr/>
      </p:nvGrpSpPr>
      <p:grpSpPr>
        <a:xfrm>
          <a:off x="0" y="0"/>
          <a:ext cx="0" cy="0"/>
          <a:chOff x="0" y="0"/>
          <a:chExt cx="0" cy="0"/>
        </a:xfrm>
      </p:grpSpPr>
      <p:sp>
        <p:nvSpPr>
          <p:cNvPr id="13" name="Plassholder for bilde 2">
            <a:extLst>
              <a:ext uri="{FF2B5EF4-FFF2-40B4-BE49-F238E27FC236}">
                <a16:creationId xmlns:a16="http://schemas.microsoft.com/office/drawing/2014/main" id="{7E55B23D-A101-4B76-A4BE-631E88A6A755}"/>
              </a:ext>
            </a:extLst>
          </p:cNvPr>
          <p:cNvSpPr>
            <a:spLocks noGrp="1"/>
          </p:cNvSpPr>
          <p:nvPr>
            <p:ph type="pic" sz="quarter" idx="16"/>
          </p:nvPr>
        </p:nvSpPr>
        <p:spPr>
          <a:xfrm>
            <a:off x="0" y="0"/>
            <a:ext cx="17345025"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Plassholder for dato 1"/>
          <p:cNvSpPr>
            <a:spLocks noGrp="1"/>
          </p:cNvSpPr>
          <p:nvPr>
            <p:ph type="dt" sz="half" idx="10"/>
          </p:nvPr>
        </p:nvSpPr>
        <p:spPr/>
        <p:txBody>
          <a:bodyPr/>
          <a:lstStyle>
            <a:lvl1pPr>
              <a:defRPr>
                <a:solidFill>
                  <a:schemeClr val="accent1"/>
                </a:solidFill>
              </a:defRPr>
            </a:lvl1pPr>
          </a:lstStyle>
          <a:p>
            <a:fld id="{8AB852EC-02F5-6C4D-BEFB-51B1F76722C9}" type="datetime1">
              <a:rPr lang="nb-NO" smtClean="0"/>
              <a:t>01.09.2026</a:t>
            </a:fld>
            <a:endParaRPr lang="nb-NO"/>
          </a:p>
        </p:txBody>
      </p:sp>
      <p:sp>
        <p:nvSpPr>
          <p:cNvPr id="3" name="Plassholder for bunntekst 2"/>
          <p:cNvSpPr>
            <a:spLocks noGrp="1"/>
          </p:cNvSpPr>
          <p:nvPr>
            <p:ph type="ftr" sz="quarter" idx="11"/>
          </p:nvPr>
        </p:nvSpPr>
        <p:spPr/>
        <p:txBody>
          <a:bodyPr/>
          <a:lstStyle>
            <a:lvl1pPr>
              <a:defRPr>
                <a:solidFill>
                  <a:schemeClr val="accent1"/>
                </a:solidFill>
              </a:defRPr>
            </a:lvl1pPr>
          </a:lstStyle>
          <a:p>
            <a:r>
              <a:rPr lang="nb-NO"/>
              <a:t>Introduction to A.I - Umair M.I</a:t>
            </a:r>
          </a:p>
        </p:txBody>
      </p:sp>
      <p:sp>
        <p:nvSpPr>
          <p:cNvPr id="4" name="Plassholder for lysbildenummer 3"/>
          <p:cNvSpPr>
            <a:spLocks noGrp="1"/>
          </p:cNvSpPr>
          <p:nvPr>
            <p:ph type="sldNum" sz="quarter" idx="12"/>
          </p:nvPr>
        </p:nvSpPr>
        <p:spPr/>
        <p:txBody>
          <a:bodyPr/>
          <a:lstStyle>
            <a:lvl1pPr>
              <a:defRPr>
                <a:solidFill>
                  <a:schemeClr val="accent1"/>
                </a:solidFill>
              </a:defRPr>
            </a:lvl1pPr>
          </a:lstStyle>
          <a:p>
            <a:fld id="{5751DFAA-887F-4071-8EAD-E8CA316FCF06}" type="slidenum">
              <a:rPr lang="nb-NO" smtClean="0"/>
              <a:pPr/>
              <a:t>‹#›</a:t>
            </a:fld>
            <a:endParaRPr lang="nb-NO"/>
          </a:p>
        </p:txBody>
      </p:sp>
      <p:sp>
        <p:nvSpPr>
          <p:cNvPr id="11" name="Plassholder for tekst 10">
            <a:extLst>
              <a:ext uri="{FF2B5EF4-FFF2-40B4-BE49-F238E27FC236}">
                <a16:creationId xmlns:a16="http://schemas.microsoft.com/office/drawing/2014/main" id="{10E39287-A8EF-4C34-A1FC-3948F2552699}"/>
              </a:ext>
            </a:extLst>
          </p:cNvPr>
          <p:cNvSpPr>
            <a:spLocks noGrp="1"/>
          </p:cNvSpPr>
          <p:nvPr>
            <p:ph type="body" idx="13" hasCustomPrompt="1"/>
          </p:nvPr>
        </p:nvSpPr>
        <p:spPr>
          <a:xfrm>
            <a:off x="972122" y="972122"/>
            <a:ext cx="1004318" cy="595885"/>
          </a:xfrm>
          <a:blipFill>
            <a:blip r:embed="rId3"/>
            <a:stretch>
              <a:fillRect/>
            </a:stretch>
          </a:blipFill>
        </p:spPr>
        <p:txBody>
          <a:bodyPr>
            <a:noAutofit/>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
        <p:nvSpPr>
          <p:cNvPr id="12" name="Plassholder for tekst 11">
            <a:extLst>
              <a:ext uri="{FF2B5EF4-FFF2-40B4-BE49-F238E27FC236}">
                <a16:creationId xmlns:a16="http://schemas.microsoft.com/office/drawing/2014/main" id="{10B431D3-7494-4FBC-B3D0-A66DB1B545B5}"/>
              </a:ext>
            </a:extLst>
          </p:cNvPr>
          <p:cNvSpPr>
            <a:spLocks noGrp="1"/>
          </p:cNvSpPr>
          <p:nvPr>
            <p:ph type="body" sz="quarter" idx="14" hasCustomPrompt="1"/>
          </p:nvPr>
        </p:nvSpPr>
        <p:spPr>
          <a:xfrm>
            <a:off x="972123" y="8774297"/>
            <a:ext cx="2313437" cy="272797"/>
          </a:xfrm>
          <a:prstGeom prst="rect">
            <a:avLst/>
          </a:prstGeom>
          <a:blipFill>
            <a:blip r:embed="rId4"/>
            <a:stretch>
              <a:fillRect/>
            </a:stretch>
          </a:blipFill>
        </p:spPr>
        <p:txBody>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Tree>
    <p:extLst>
      <p:ext uri="{BB962C8B-B14F-4D97-AF65-F5344CB8AC3E}">
        <p14:creationId xmlns:p14="http://schemas.microsoft.com/office/powerpoint/2010/main" val="40847756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itatside">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hasCustomPrompt="1"/>
          </p:nvPr>
        </p:nvSpPr>
        <p:spPr>
          <a:xfrm>
            <a:off x="972122" y="4517203"/>
            <a:ext cx="15373922" cy="3240887"/>
          </a:xfrm>
        </p:spPr>
        <p:txBody>
          <a:bodyPr anchor="b">
            <a:normAutofit/>
          </a:bodyPr>
          <a:lstStyle>
            <a:lvl1pPr>
              <a:defRPr sz="7800" cap="all" baseline="0"/>
            </a:lvl1pPr>
          </a:lstStyle>
          <a:p>
            <a:r>
              <a:rPr lang="nb-NO"/>
              <a:t>Klikk for å legge til sitat</a:t>
            </a:r>
          </a:p>
        </p:txBody>
      </p:sp>
      <p:sp>
        <p:nvSpPr>
          <p:cNvPr id="4" name="Plassholder for dato 3"/>
          <p:cNvSpPr>
            <a:spLocks noGrp="1"/>
          </p:cNvSpPr>
          <p:nvPr>
            <p:ph type="dt" sz="half" idx="10"/>
          </p:nvPr>
        </p:nvSpPr>
        <p:spPr/>
        <p:txBody>
          <a:bodyPr/>
          <a:lstStyle/>
          <a:p>
            <a:fld id="{78B71FCC-7ED5-1B45-8468-F710B7C1B0CB}" type="datetime1">
              <a:rPr lang="nb-NO" smtClean="0"/>
              <a:t>01.09.2026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7">
            <a:extLst>
              <a:ext uri="{FF2B5EF4-FFF2-40B4-BE49-F238E27FC236}">
                <a16:creationId xmlns:a16="http://schemas.microsoft.com/office/drawing/2014/main" id="{A523B242-05F3-4E7B-8EDE-994BA2F083D7}"/>
              </a:ext>
            </a:extLst>
          </p:cNvPr>
          <p:cNvSpPr>
            <a:spLocks noGrp="1"/>
          </p:cNvSpPr>
          <p:nvPr>
            <p:ph type="body" sz="quarter" idx="13" hasCustomPrompt="1"/>
          </p:nvPr>
        </p:nvSpPr>
        <p:spPr>
          <a:xfrm>
            <a:off x="972122" y="7956995"/>
            <a:ext cx="15373922" cy="276999"/>
          </a:xfrm>
        </p:spPr>
        <p:txBody>
          <a:bodyPr>
            <a:normAutofit/>
          </a:bodyPr>
          <a:lstStyle>
            <a:lvl1pPr marL="0" indent="0">
              <a:buNone/>
              <a:defRPr sz="1800" cap="all" baseline="0"/>
            </a:lvl1pPr>
          </a:lstStyle>
          <a:p>
            <a:pPr lvl="0"/>
            <a:r>
              <a:rPr lang="en-US" err="1"/>
              <a:t>Sitert</a:t>
            </a:r>
            <a:r>
              <a:rPr lang="en-US"/>
              <a:t> </a:t>
            </a:r>
            <a:r>
              <a:rPr lang="en-US" err="1"/>
              <a:t>Kilde</a:t>
            </a:r>
            <a:endParaRPr lang="en-US"/>
          </a:p>
        </p:txBody>
      </p:sp>
    </p:spTree>
    <p:extLst>
      <p:ext uri="{BB962C8B-B14F-4D97-AF65-F5344CB8AC3E}">
        <p14:creationId xmlns:p14="http://schemas.microsoft.com/office/powerpoint/2010/main" val="6607060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Sitatside /m bildebakgrunn">
    <p:bg>
      <p:bgPr>
        <a:solidFill>
          <a:schemeClr val="lt1"/>
        </a:solidFill>
        <a:effectLst/>
      </p:bgPr>
    </p:bg>
    <p:spTree>
      <p:nvGrpSpPr>
        <p:cNvPr id="1" name=""/>
        <p:cNvGrpSpPr/>
        <p:nvPr/>
      </p:nvGrpSpPr>
      <p:grpSpPr>
        <a:xfrm>
          <a:off x="0" y="0"/>
          <a:ext cx="0" cy="0"/>
          <a:chOff x="0" y="0"/>
          <a:chExt cx="0" cy="0"/>
        </a:xfrm>
      </p:grpSpPr>
      <p:sp>
        <p:nvSpPr>
          <p:cNvPr id="13" name="Plassholder for bilde 2">
            <a:extLst>
              <a:ext uri="{FF2B5EF4-FFF2-40B4-BE49-F238E27FC236}">
                <a16:creationId xmlns:a16="http://schemas.microsoft.com/office/drawing/2014/main" id="{CCCE99AD-0406-40AA-BCE7-C39ABF192C27}"/>
              </a:ext>
            </a:extLst>
          </p:cNvPr>
          <p:cNvSpPr>
            <a:spLocks noGrp="1"/>
          </p:cNvSpPr>
          <p:nvPr>
            <p:ph type="pic" sz="quarter" idx="16"/>
          </p:nvPr>
        </p:nvSpPr>
        <p:spPr>
          <a:xfrm>
            <a:off x="0" y="0"/>
            <a:ext cx="17345025"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hasCustomPrompt="1"/>
          </p:nvPr>
        </p:nvSpPr>
        <p:spPr>
          <a:xfrm>
            <a:off x="972122" y="5597499"/>
            <a:ext cx="15373922" cy="2160591"/>
          </a:xfrm>
        </p:spPr>
        <p:txBody>
          <a:bodyPr anchor="b">
            <a:normAutofit/>
          </a:bodyPr>
          <a:lstStyle>
            <a:lvl1pPr>
              <a:defRPr sz="7800" cap="all" baseline="0">
                <a:solidFill>
                  <a:schemeClr val="accent1"/>
                </a:solidFill>
              </a:defRPr>
            </a:lvl1pPr>
          </a:lstStyle>
          <a:p>
            <a:r>
              <a:rPr lang="nb-NO"/>
              <a:t>Klikk for å legge til sitat</a:t>
            </a:r>
          </a:p>
        </p:txBody>
      </p:sp>
      <p:sp>
        <p:nvSpPr>
          <p:cNvPr id="4" name="Plassholder for dato 3"/>
          <p:cNvSpPr>
            <a:spLocks noGrp="1"/>
          </p:cNvSpPr>
          <p:nvPr>
            <p:ph type="dt" sz="half" idx="10"/>
          </p:nvPr>
        </p:nvSpPr>
        <p:spPr/>
        <p:txBody>
          <a:bodyPr/>
          <a:lstStyle>
            <a:lvl1pPr>
              <a:defRPr>
                <a:solidFill>
                  <a:schemeClr val="accent1"/>
                </a:solidFill>
              </a:defRPr>
            </a:lvl1pPr>
          </a:lstStyle>
          <a:p>
            <a:fld id="{B43626B5-3E08-9C43-8DDA-FC9DE9624EB5}" type="datetime1">
              <a:rPr lang="nb-NO" smtClean="0"/>
              <a:t>01.09.2026</a:t>
            </a:fld>
            <a:endParaRPr lang="nb-NO"/>
          </a:p>
        </p:txBody>
      </p:sp>
      <p:sp>
        <p:nvSpPr>
          <p:cNvPr id="5" name="Plassholder for bunntekst 4"/>
          <p:cNvSpPr>
            <a:spLocks noGrp="1"/>
          </p:cNvSpPr>
          <p:nvPr>
            <p:ph type="ftr" sz="quarter" idx="11"/>
          </p:nvPr>
        </p:nvSpPr>
        <p:spPr/>
        <p:txBody>
          <a:bodyPr/>
          <a:lstStyle>
            <a:lvl1pPr>
              <a:defRPr>
                <a:solidFill>
                  <a:schemeClr val="accent1"/>
                </a:solidFill>
              </a:defRPr>
            </a:lvl1pPr>
          </a:lstStyle>
          <a:p>
            <a:r>
              <a:rPr lang="nb-NO"/>
              <a:t>Introduction to A.I - Umair M.I</a:t>
            </a:r>
          </a:p>
        </p:txBody>
      </p:sp>
      <p:sp>
        <p:nvSpPr>
          <p:cNvPr id="6" name="Plassholder for lysbildenummer 5"/>
          <p:cNvSpPr>
            <a:spLocks noGrp="1"/>
          </p:cNvSpPr>
          <p:nvPr>
            <p:ph type="sldNum" sz="quarter" idx="12"/>
          </p:nvPr>
        </p:nvSpPr>
        <p:spPr/>
        <p:txBody>
          <a:bodyPr/>
          <a:lstStyle>
            <a:lvl1pPr>
              <a:defRPr>
                <a:solidFill>
                  <a:schemeClr val="accent1"/>
                </a:solidFill>
              </a:defRPr>
            </a:lvl1pPr>
          </a:lstStyle>
          <a:p>
            <a:fld id="{5751DFAA-887F-4071-8EAD-E8CA316FCF06}" type="slidenum">
              <a:rPr lang="nb-NO" smtClean="0"/>
              <a:pPr/>
              <a:t>‹#›</a:t>
            </a:fld>
            <a:endParaRPr lang="nb-NO"/>
          </a:p>
        </p:txBody>
      </p:sp>
      <p:sp>
        <p:nvSpPr>
          <p:cNvPr id="7" name="Plassholder for tekst 7">
            <a:extLst>
              <a:ext uri="{FF2B5EF4-FFF2-40B4-BE49-F238E27FC236}">
                <a16:creationId xmlns:a16="http://schemas.microsoft.com/office/drawing/2014/main" id="{A523B242-05F3-4E7B-8EDE-994BA2F083D7}"/>
              </a:ext>
            </a:extLst>
          </p:cNvPr>
          <p:cNvSpPr>
            <a:spLocks noGrp="1"/>
          </p:cNvSpPr>
          <p:nvPr>
            <p:ph type="body" sz="quarter" idx="13" hasCustomPrompt="1"/>
          </p:nvPr>
        </p:nvSpPr>
        <p:spPr>
          <a:xfrm>
            <a:off x="972122" y="7956995"/>
            <a:ext cx="15373922" cy="276999"/>
          </a:xfrm>
        </p:spPr>
        <p:txBody>
          <a:bodyPr>
            <a:normAutofit/>
          </a:bodyPr>
          <a:lstStyle>
            <a:lvl1pPr marL="0" indent="0">
              <a:buNone/>
              <a:defRPr sz="1800" cap="all" baseline="0">
                <a:solidFill>
                  <a:schemeClr val="accent1"/>
                </a:solidFill>
              </a:defRPr>
            </a:lvl1pPr>
          </a:lstStyle>
          <a:p>
            <a:pPr lvl="0"/>
            <a:r>
              <a:rPr lang="en-US" err="1"/>
              <a:t>Sitert</a:t>
            </a:r>
            <a:r>
              <a:rPr lang="en-US"/>
              <a:t> </a:t>
            </a:r>
            <a:r>
              <a:rPr lang="en-US" err="1"/>
              <a:t>Kilde</a:t>
            </a:r>
            <a:endParaRPr lang="en-US"/>
          </a:p>
        </p:txBody>
      </p:sp>
      <p:sp>
        <p:nvSpPr>
          <p:cNvPr id="11" name="Plassholder for tekst 10">
            <a:extLst>
              <a:ext uri="{FF2B5EF4-FFF2-40B4-BE49-F238E27FC236}">
                <a16:creationId xmlns:a16="http://schemas.microsoft.com/office/drawing/2014/main" id="{A4AE70EA-EB2B-4642-8AB7-DC90C3F6A3D9}"/>
              </a:ext>
            </a:extLst>
          </p:cNvPr>
          <p:cNvSpPr>
            <a:spLocks noGrp="1"/>
          </p:cNvSpPr>
          <p:nvPr>
            <p:ph type="body" idx="14" hasCustomPrompt="1"/>
          </p:nvPr>
        </p:nvSpPr>
        <p:spPr>
          <a:xfrm>
            <a:off x="972122" y="972122"/>
            <a:ext cx="1004318" cy="595885"/>
          </a:xfrm>
          <a:blipFill>
            <a:blip r:embed="rId3"/>
            <a:stretch>
              <a:fillRect/>
            </a:stretch>
          </a:blipFill>
        </p:spPr>
        <p:txBody>
          <a:bodyPr>
            <a:noAutofit/>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
        <p:nvSpPr>
          <p:cNvPr id="12" name="Plassholder for tekst 11">
            <a:extLst>
              <a:ext uri="{FF2B5EF4-FFF2-40B4-BE49-F238E27FC236}">
                <a16:creationId xmlns:a16="http://schemas.microsoft.com/office/drawing/2014/main" id="{52CA5463-497B-4D4A-821F-C1642E29C5EC}"/>
              </a:ext>
            </a:extLst>
          </p:cNvPr>
          <p:cNvSpPr>
            <a:spLocks noGrp="1"/>
          </p:cNvSpPr>
          <p:nvPr>
            <p:ph type="body" sz="quarter" idx="15" hasCustomPrompt="1"/>
          </p:nvPr>
        </p:nvSpPr>
        <p:spPr>
          <a:xfrm>
            <a:off x="972123" y="8774297"/>
            <a:ext cx="2313437" cy="272797"/>
          </a:xfrm>
          <a:prstGeom prst="rect">
            <a:avLst/>
          </a:prstGeom>
          <a:blipFill>
            <a:blip r:embed="rId4"/>
            <a:stretch>
              <a:fillRect/>
            </a:stretch>
          </a:blipFill>
        </p:spPr>
        <p:txBody>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Tree>
    <p:extLst>
      <p:ext uri="{BB962C8B-B14F-4D97-AF65-F5344CB8AC3E}">
        <p14:creationId xmlns:p14="http://schemas.microsoft.com/office/powerpoint/2010/main" val="6337445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innhold 2"/>
          <p:cNvSpPr>
            <a:spLocks noGrp="1"/>
          </p:cNvSpPr>
          <p:nvPr>
            <p:ph sz="half" idx="1"/>
          </p:nvPr>
        </p:nvSpPr>
        <p:spPr>
          <a:xfrm>
            <a:off x="972122" y="3492436"/>
            <a:ext cx="7380922" cy="46805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Plassholder for innhold 3"/>
          <p:cNvSpPr>
            <a:spLocks noGrp="1"/>
          </p:cNvSpPr>
          <p:nvPr>
            <p:ph sz="half" idx="2"/>
          </p:nvPr>
        </p:nvSpPr>
        <p:spPr>
          <a:xfrm>
            <a:off x="8965122" y="3492436"/>
            <a:ext cx="7380922" cy="46805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Plassholder for dato 4"/>
          <p:cNvSpPr>
            <a:spLocks noGrp="1"/>
          </p:cNvSpPr>
          <p:nvPr>
            <p:ph type="dt" sz="half" idx="10"/>
          </p:nvPr>
        </p:nvSpPr>
        <p:spPr/>
        <p:txBody>
          <a:bodyPr/>
          <a:lstStyle/>
          <a:p>
            <a:fld id="{85B7B548-9239-D543-B54C-D850213F4B10}" type="datetime1">
              <a:rPr lang="nb-NO" smtClean="0"/>
              <a:t>01.09.2026</a:t>
            </a:fld>
            <a:endParaRPr lang="nb-NO"/>
          </a:p>
        </p:txBody>
      </p:sp>
      <p:sp>
        <p:nvSpPr>
          <p:cNvPr id="6" name="Plassholder for bunntekst 5"/>
          <p:cNvSpPr>
            <a:spLocks noGrp="1"/>
          </p:cNvSpPr>
          <p:nvPr>
            <p:ph type="ftr" sz="quarter" idx="11"/>
          </p:nvPr>
        </p:nvSpPr>
        <p:spPr/>
        <p:txBody>
          <a:bodyPr/>
          <a:lstStyle/>
          <a:p>
            <a:r>
              <a:rPr lang="nb-NO"/>
              <a:t>Introduction to A.I - Umair M.I</a:t>
            </a:r>
          </a:p>
        </p:txBody>
      </p:sp>
      <p:sp>
        <p:nvSpPr>
          <p:cNvPr id="7" name="Plassholder for lysbildenummer 6"/>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41662807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ammenligning">
    <p:spTree>
      <p:nvGrpSpPr>
        <p:cNvPr id="1" name=""/>
        <p:cNvGrpSpPr/>
        <p:nvPr/>
      </p:nvGrpSpPr>
      <p:grpSpPr>
        <a:xfrm>
          <a:off x="0" y="0"/>
          <a:ext cx="0" cy="0"/>
          <a:chOff x="0" y="0"/>
          <a:chExt cx="0" cy="0"/>
        </a:xfrm>
      </p:grpSpPr>
      <p:sp>
        <p:nvSpPr>
          <p:cNvPr id="3" name="Plassholder for tekst 2"/>
          <p:cNvSpPr>
            <a:spLocks noGrp="1"/>
          </p:cNvSpPr>
          <p:nvPr>
            <p:ph type="body" idx="1"/>
          </p:nvPr>
        </p:nvSpPr>
        <p:spPr>
          <a:xfrm>
            <a:off x="972122" y="3492436"/>
            <a:ext cx="7380922" cy="461665"/>
          </a:xfrm>
        </p:spPr>
        <p:txBody>
          <a:bodyPr anchor="b">
            <a:normAutofit/>
          </a:bodyPr>
          <a:lstStyle>
            <a:lvl1pPr marL="0" indent="0">
              <a:spcAft>
                <a:spcPts val="0"/>
              </a:spcAft>
              <a:buNone/>
              <a:defRPr sz="3000" b="1"/>
            </a:lvl1pPr>
            <a:lvl2pPr marL="650138" indent="0">
              <a:buNone/>
              <a:defRPr sz="2844" b="1"/>
            </a:lvl2pPr>
            <a:lvl3pPr marL="1300277" indent="0">
              <a:buNone/>
              <a:defRPr sz="2560" b="1"/>
            </a:lvl3pPr>
            <a:lvl4pPr marL="1950415" indent="0">
              <a:buNone/>
              <a:defRPr sz="2275" b="1"/>
            </a:lvl4pPr>
            <a:lvl5pPr marL="2600554" indent="0">
              <a:buNone/>
              <a:defRPr sz="2275" b="1"/>
            </a:lvl5pPr>
            <a:lvl6pPr marL="3250692" indent="0">
              <a:buNone/>
              <a:defRPr sz="2275" b="1"/>
            </a:lvl6pPr>
            <a:lvl7pPr marL="3900830" indent="0">
              <a:buNone/>
              <a:defRPr sz="2275" b="1"/>
            </a:lvl7pPr>
            <a:lvl8pPr marL="4550969" indent="0">
              <a:buNone/>
              <a:defRPr sz="2275" b="1"/>
            </a:lvl8pPr>
            <a:lvl9pPr marL="5201107" indent="0">
              <a:buNone/>
              <a:defRPr sz="2275" b="1"/>
            </a:lvl9pPr>
          </a:lstStyle>
          <a:p>
            <a:pPr lvl="0"/>
            <a:r>
              <a:rPr lang="en-US"/>
              <a:t>Edit Master text styles</a:t>
            </a:r>
          </a:p>
        </p:txBody>
      </p:sp>
      <p:sp>
        <p:nvSpPr>
          <p:cNvPr id="4" name="Plassholder for innhold 3"/>
          <p:cNvSpPr>
            <a:spLocks noGrp="1"/>
          </p:cNvSpPr>
          <p:nvPr>
            <p:ph sz="half" idx="2"/>
          </p:nvPr>
        </p:nvSpPr>
        <p:spPr>
          <a:xfrm>
            <a:off x="972122" y="3954101"/>
            <a:ext cx="7380922" cy="42189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Plassholder for tekst 4"/>
          <p:cNvSpPr>
            <a:spLocks noGrp="1"/>
          </p:cNvSpPr>
          <p:nvPr>
            <p:ph type="body" sz="quarter" idx="3"/>
          </p:nvPr>
        </p:nvSpPr>
        <p:spPr>
          <a:xfrm>
            <a:off x="8965122" y="3492436"/>
            <a:ext cx="7380922" cy="461665"/>
          </a:xfrm>
        </p:spPr>
        <p:txBody>
          <a:bodyPr anchor="b">
            <a:normAutofit/>
          </a:bodyPr>
          <a:lstStyle>
            <a:lvl1pPr marL="0" indent="0">
              <a:spcAft>
                <a:spcPts val="0"/>
              </a:spcAft>
              <a:buNone/>
              <a:defRPr sz="3000" b="1"/>
            </a:lvl1pPr>
            <a:lvl2pPr marL="650138" indent="0">
              <a:buNone/>
              <a:defRPr sz="2844" b="1"/>
            </a:lvl2pPr>
            <a:lvl3pPr marL="1300277" indent="0">
              <a:buNone/>
              <a:defRPr sz="2560" b="1"/>
            </a:lvl3pPr>
            <a:lvl4pPr marL="1950415" indent="0">
              <a:buNone/>
              <a:defRPr sz="2275" b="1"/>
            </a:lvl4pPr>
            <a:lvl5pPr marL="2600554" indent="0">
              <a:buNone/>
              <a:defRPr sz="2275" b="1"/>
            </a:lvl5pPr>
            <a:lvl6pPr marL="3250692" indent="0">
              <a:buNone/>
              <a:defRPr sz="2275" b="1"/>
            </a:lvl6pPr>
            <a:lvl7pPr marL="3900830" indent="0">
              <a:buNone/>
              <a:defRPr sz="2275" b="1"/>
            </a:lvl7pPr>
            <a:lvl8pPr marL="4550969" indent="0">
              <a:buNone/>
              <a:defRPr sz="2275" b="1"/>
            </a:lvl8pPr>
            <a:lvl9pPr marL="5201107" indent="0">
              <a:buNone/>
              <a:defRPr sz="2275" b="1"/>
            </a:lvl9pPr>
          </a:lstStyle>
          <a:p>
            <a:pPr lvl="0"/>
            <a:r>
              <a:rPr lang="en-US"/>
              <a:t>Edit Master text styles</a:t>
            </a:r>
          </a:p>
        </p:txBody>
      </p:sp>
      <p:sp>
        <p:nvSpPr>
          <p:cNvPr id="6" name="Plassholder for innhold 5"/>
          <p:cNvSpPr>
            <a:spLocks noGrp="1"/>
          </p:cNvSpPr>
          <p:nvPr>
            <p:ph sz="quarter" idx="4"/>
          </p:nvPr>
        </p:nvSpPr>
        <p:spPr>
          <a:xfrm>
            <a:off x="8965122" y="3954101"/>
            <a:ext cx="7380922" cy="42189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Plassholder for dato 6"/>
          <p:cNvSpPr>
            <a:spLocks noGrp="1"/>
          </p:cNvSpPr>
          <p:nvPr>
            <p:ph type="dt" sz="half" idx="10"/>
          </p:nvPr>
        </p:nvSpPr>
        <p:spPr/>
        <p:txBody>
          <a:bodyPr/>
          <a:lstStyle/>
          <a:p>
            <a:fld id="{AD1588FC-A99A-394C-93FD-BA71C81F8457}" type="datetime1">
              <a:rPr lang="nb-NO" smtClean="0"/>
              <a:t>01.09.2026</a:t>
            </a:fld>
            <a:endParaRPr lang="nb-NO"/>
          </a:p>
        </p:txBody>
      </p:sp>
      <p:sp>
        <p:nvSpPr>
          <p:cNvPr id="8" name="Plassholder for bunntekst 7"/>
          <p:cNvSpPr>
            <a:spLocks noGrp="1"/>
          </p:cNvSpPr>
          <p:nvPr>
            <p:ph type="ftr" sz="quarter" idx="11"/>
          </p:nvPr>
        </p:nvSpPr>
        <p:spPr/>
        <p:txBody>
          <a:bodyPr/>
          <a:lstStyle/>
          <a:p>
            <a:r>
              <a:rPr lang="nb-NO"/>
              <a:t>Introduction to A.I - Umair M.I</a:t>
            </a:r>
          </a:p>
        </p:txBody>
      </p:sp>
      <p:sp>
        <p:nvSpPr>
          <p:cNvPr id="9" name="Plassholder for lysbildenummer 8"/>
          <p:cNvSpPr>
            <a:spLocks noGrp="1"/>
          </p:cNvSpPr>
          <p:nvPr>
            <p:ph type="sldNum" sz="quarter" idx="12"/>
          </p:nvPr>
        </p:nvSpPr>
        <p:spPr/>
        <p:txBody>
          <a:bodyPr/>
          <a:lstStyle/>
          <a:p>
            <a:fld id="{5751DFAA-887F-4071-8EAD-E8CA316FCF06}" type="slidenum">
              <a:rPr lang="nb-NO" smtClean="0"/>
              <a:t>‹#›</a:t>
            </a:fld>
            <a:endParaRPr lang="nb-NO"/>
          </a:p>
        </p:txBody>
      </p:sp>
      <p:sp>
        <p:nvSpPr>
          <p:cNvPr id="10" name="Tittel 9">
            <a:extLst>
              <a:ext uri="{FF2B5EF4-FFF2-40B4-BE49-F238E27FC236}">
                <a16:creationId xmlns:a16="http://schemas.microsoft.com/office/drawing/2014/main" id="{2DA985E1-7DD2-458A-A77D-21904FB8115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18195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dato 2"/>
          <p:cNvSpPr>
            <a:spLocks noGrp="1"/>
          </p:cNvSpPr>
          <p:nvPr>
            <p:ph type="dt" sz="half" idx="10"/>
          </p:nvPr>
        </p:nvSpPr>
        <p:spPr/>
        <p:txBody>
          <a:bodyPr/>
          <a:lstStyle/>
          <a:p>
            <a:fld id="{E2E4D468-A8DD-DA45-B29D-99ABF2C593A2}" type="datetime1">
              <a:rPr lang="nb-NO" smtClean="0"/>
              <a:t>01.09.2026</a:t>
            </a:fld>
            <a:endParaRPr lang="nb-NO"/>
          </a:p>
        </p:txBody>
      </p:sp>
      <p:sp>
        <p:nvSpPr>
          <p:cNvPr id="4" name="Plassholder for bunntekst 3"/>
          <p:cNvSpPr>
            <a:spLocks noGrp="1"/>
          </p:cNvSpPr>
          <p:nvPr>
            <p:ph type="ftr" sz="quarter" idx="11"/>
          </p:nvPr>
        </p:nvSpPr>
        <p:spPr/>
        <p:txBody>
          <a:bodyPr/>
          <a:lstStyle/>
          <a:p>
            <a:r>
              <a:rPr lang="nb-NO"/>
              <a:t>Introduction to A.I - Umair M.I</a:t>
            </a:r>
          </a:p>
        </p:txBody>
      </p:sp>
      <p:sp>
        <p:nvSpPr>
          <p:cNvPr id="5" name="Plassholder for lysbildenummer 4"/>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361098713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10AE1ECB-6C31-2B4A-8B8C-CD864090A2C4}" type="datetime1">
              <a:rPr lang="nb-NO" smtClean="0"/>
              <a:t>01.09.2026</a:t>
            </a:fld>
            <a:endParaRPr lang="nb-NO"/>
          </a:p>
        </p:txBody>
      </p:sp>
      <p:sp>
        <p:nvSpPr>
          <p:cNvPr id="3" name="Plassholder for bunntekst 2"/>
          <p:cNvSpPr>
            <a:spLocks noGrp="1"/>
          </p:cNvSpPr>
          <p:nvPr>
            <p:ph type="ftr" sz="quarter" idx="11"/>
          </p:nvPr>
        </p:nvSpPr>
        <p:spPr/>
        <p:txBody>
          <a:bodyPr/>
          <a:lstStyle/>
          <a:p>
            <a:r>
              <a:rPr lang="nb-NO"/>
              <a:t>Introduction to A.I - Umair M.I</a:t>
            </a:r>
          </a:p>
        </p:txBody>
      </p:sp>
      <p:sp>
        <p:nvSpPr>
          <p:cNvPr id="4" name="Plassholder for lysbildenummer 3"/>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759863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5" Type="http://schemas.openxmlformats.org/officeDocument/2006/relationships/image" Target="../media/image2.png"/><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24" Type="http://schemas.openxmlformats.org/officeDocument/2006/relationships/image" Target="../media/image1.png"/><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theme" Target="../theme/theme2.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972122" y="2374096"/>
            <a:ext cx="15373922" cy="664797"/>
          </a:xfrm>
          <a:prstGeom prst="rect">
            <a:avLst/>
          </a:prstGeom>
        </p:spPr>
        <p:txBody>
          <a:bodyPr vert="horz" lIns="0" tIns="0" rIns="0" bIns="0" rtlCol="0" anchor="b" anchorCtr="0">
            <a:normAutofit/>
          </a:bodyPr>
          <a:lstStyle/>
          <a:p>
            <a:r>
              <a:rPr lang="nb-NO"/>
              <a:t>Klikk for å redigere tittelstil</a:t>
            </a:r>
          </a:p>
        </p:txBody>
      </p:sp>
      <p:sp>
        <p:nvSpPr>
          <p:cNvPr id="3" name="Plassholder for tekst 2"/>
          <p:cNvSpPr>
            <a:spLocks noGrp="1"/>
          </p:cNvSpPr>
          <p:nvPr>
            <p:ph type="body" idx="1"/>
          </p:nvPr>
        </p:nvSpPr>
        <p:spPr>
          <a:xfrm>
            <a:off x="972122" y="3492436"/>
            <a:ext cx="15373922" cy="4680585"/>
          </a:xfrm>
          <a:prstGeom prst="rect">
            <a:avLst/>
          </a:prstGeom>
        </p:spPr>
        <p:txBody>
          <a:bodyPr vert="horz" lIns="0" tIns="0" rIns="0" bIns="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4865312" y="8705717"/>
            <a:ext cx="1080135" cy="262593"/>
          </a:xfrm>
          <a:prstGeom prst="rect">
            <a:avLst/>
          </a:prstGeom>
        </p:spPr>
        <p:txBody>
          <a:bodyPr vert="horz" lIns="0" tIns="0" rIns="0" bIns="0" rtlCol="0" anchor="ctr">
            <a:normAutofit/>
          </a:bodyPr>
          <a:lstStyle>
            <a:lvl1pPr algn="l">
              <a:defRPr sz="1100">
                <a:solidFill>
                  <a:schemeClr val="dk1"/>
                </a:solidFill>
              </a:defRPr>
            </a:lvl1pPr>
          </a:lstStyle>
          <a:p>
            <a:fld id="{710EC14C-1BC8-D644-8538-4CFD4F329370}" type="datetime1">
              <a:rPr lang="nb-NO" smtClean="0"/>
              <a:t>01.09.2026</a:t>
            </a:fld>
            <a:endParaRPr lang="nb-NO"/>
          </a:p>
        </p:txBody>
      </p:sp>
      <p:sp>
        <p:nvSpPr>
          <p:cNvPr id="5" name="Plassholder for bunntekst 4"/>
          <p:cNvSpPr>
            <a:spLocks noGrp="1"/>
          </p:cNvSpPr>
          <p:nvPr>
            <p:ph type="ftr" sz="quarter" idx="3"/>
          </p:nvPr>
        </p:nvSpPr>
        <p:spPr>
          <a:xfrm>
            <a:off x="6210772" y="8705717"/>
            <a:ext cx="9001125" cy="262593"/>
          </a:xfrm>
          <a:prstGeom prst="rect">
            <a:avLst/>
          </a:prstGeom>
        </p:spPr>
        <p:txBody>
          <a:bodyPr vert="horz" lIns="0" tIns="0" rIns="0" bIns="0" rtlCol="0" anchor="ctr">
            <a:normAutofit/>
          </a:bodyPr>
          <a:lstStyle>
            <a:lvl1pPr algn="l">
              <a:defRPr sz="1100" cap="all" baseline="0">
                <a:solidFill>
                  <a:schemeClr val="dk1"/>
                </a:solidFill>
              </a:defRPr>
            </a:lvl1pPr>
          </a:lstStyle>
          <a:p>
            <a:r>
              <a:rPr lang="nb-NO"/>
              <a:t>Introduction to A.I - Umair M.I</a:t>
            </a:r>
          </a:p>
        </p:txBody>
      </p:sp>
      <p:sp>
        <p:nvSpPr>
          <p:cNvPr id="6" name="Plassholder for lysbildenummer 5"/>
          <p:cNvSpPr>
            <a:spLocks noGrp="1"/>
          </p:cNvSpPr>
          <p:nvPr>
            <p:ph type="sldNum" sz="quarter" idx="4"/>
          </p:nvPr>
        </p:nvSpPr>
        <p:spPr>
          <a:xfrm>
            <a:off x="15906712" y="8705717"/>
            <a:ext cx="439332" cy="262593"/>
          </a:xfrm>
          <a:prstGeom prst="rect">
            <a:avLst/>
          </a:prstGeom>
        </p:spPr>
        <p:txBody>
          <a:bodyPr vert="horz" lIns="0" tIns="0" rIns="0" bIns="0" rtlCol="0" anchor="ctr">
            <a:normAutofit/>
          </a:bodyPr>
          <a:lstStyle>
            <a:lvl1pPr algn="r">
              <a:defRPr sz="1100">
                <a:solidFill>
                  <a:schemeClr val="dk1"/>
                </a:solidFill>
              </a:defRPr>
            </a:lvl1pPr>
          </a:lstStyle>
          <a:p>
            <a:fld id="{5751DFAA-887F-4071-8EAD-E8CA316FCF06}" type="slidenum">
              <a:rPr lang="nb-NO" smtClean="0"/>
              <a:pPr/>
              <a:t>‹#›</a:t>
            </a:fld>
            <a:endParaRPr lang="nb-NO"/>
          </a:p>
        </p:txBody>
      </p:sp>
      <p:pic>
        <p:nvPicPr>
          <p:cNvPr id="8" name="Bilde 7">
            <a:extLst>
              <a:ext uri="{FF2B5EF4-FFF2-40B4-BE49-F238E27FC236}">
                <a16:creationId xmlns:a16="http://schemas.microsoft.com/office/drawing/2014/main" id="{6D4766B5-60EE-4C05-9784-0F52E6D4C5F8}"/>
              </a:ext>
            </a:extLst>
          </p:cNvPr>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pic>
        <p:nvPicPr>
          <p:cNvPr id="14" name="Bilde 13">
            <a:extLst>
              <a:ext uri="{FF2B5EF4-FFF2-40B4-BE49-F238E27FC236}">
                <a16:creationId xmlns:a16="http://schemas.microsoft.com/office/drawing/2014/main" id="{6A4233ED-D1B9-4B94-9BBA-8344A1EE6A06}"/>
              </a:ext>
            </a:extLst>
          </p:cNvPr>
          <p:cNvPicPr>
            <a:picLocks noChangeAspect="1"/>
          </p:cNvPicPr>
          <p:nvPr userDrawn="1"/>
        </p:nvPicPr>
        <p:blipFill>
          <a:blip r:embed="rId25"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spTree>
    <p:extLst>
      <p:ext uri="{BB962C8B-B14F-4D97-AF65-F5344CB8AC3E}">
        <p14:creationId xmlns:p14="http://schemas.microsoft.com/office/powerpoint/2010/main" val="1643857197"/>
      </p:ext>
    </p:extLst>
  </p:cSld>
  <p:clrMap bg1="lt1" tx1="dk1" bg2="lt2" tx2="dk2" accent1="accent1" accent2="accent2" accent3="accent3" accent4="accent4" accent5="accent5" accent6="accent6" hlink="hlink" folHlink="folHlink"/>
  <p:sldLayoutIdLst>
    <p:sldLayoutId id="2147483649" r:id="rId1"/>
    <p:sldLayoutId id="2147483665" r:id="rId2"/>
    <p:sldLayoutId id="2147483663" r:id="rId3"/>
    <p:sldLayoutId id="2147483664" r:id="rId4"/>
    <p:sldLayoutId id="2147483662" r:id="rId5"/>
    <p:sldLayoutId id="2147483666" r:id="rId6"/>
    <p:sldLayoutId id="2147483667" r:id="rId7"/>
    <p:sldLayoutId id="2147483668" r:id="rId8"/>
    <p:sldLayoutId id="2147483650" r:id="rId9"/>
    <p:sldLayoutId id="2147483651" r:id="rId10"/>
    <p:sldLayoutId id="2147483656" r:id="rId11"/>
    <p:sldLayoutId id="2147483658" r:id="rId12"/>
    <p:sldLayoutId id="2147483659" r:id="rId13"/>
    <p:sldLayoutId id="2147483660" r:id="rId14"/>
    <p:sldLayoutId id="2147483661" r:id="rId15"/>
    <p:sldLayoutId id="2147483657" r:id="rId16"/>
    <p:sldLayoutId id="2147483670" r:id="rId17"/>
    <p:sldLayoutId id="2147483671" r:id="rId18"/>
    <p:sldLayoutId id="2147483652" r:id="rId19"/>
    <p:sldLayoutId id="2147483653" r:id="rId20"/>
    <p:sldLayoutId id="2147483654" r:id="rId21"/>
    <p:sldLayoutId id="2147483655" r:id="rId22"/>
  </p:sldLayoutIdLst>
  <p:hf sldNum="0" hdr="0" dt="0"/>
  <p:txStyles>
    <p:titleStyle>
      <a:lvl1pPr algn="l" defTabSz="1300277" rtl="0" eaLnBrk="1" latinLnBrk="0" hangingPunct="1">
        <a:lnSpc>
          <a:spcPct val="90000"/>
        </a:lnSpc>
        <a:spcBef>
          <a:spcPct val="0"/>
        </a:spcBef>
        <a:buNone/>
        <a:defRPr sz="4800" b="1" kern="1200">
          <a:solidFill>
            <a:schemeClr val="tx1"/>
          </a:solidFill>
          <a:latin typeface="+mj-lt"/>
          <a:ea typeface="+mj-ea"/>
          <a:cs typeface="+mj-cs"/>
        </a:defRPr>
      </a:lvl1pPr>
    </p:titleStyle>
    <p:bodyStyle>
      <a:lvl1pPr marL="325069" indent="-325069" algn="l" defTabSz="1300277" rtl="0" eaLnBrk="1" latinLnBrk="0" hangingPunct="1">
        <a:lnSpc>
          <a:spcPct val="100000"/>
        </a:lnSpc>
        <a:spcBef>
          <a:spcPts val="0"/>
        </a:spcBef>
        <a:spcAft>
          <a:spcPts val="1000"/>
        </a:spcAft>
        <a:buClrTx/>
        <a:buFont typeface="Arial" panose="020B0604020202020204" pitchFamily="34" charset="0"/>
        <a:buChar char="•"/>
        <a:defRPr sz="3600" kern="1200">
          <a:solidFill>
            <a:schemeClr val="tx1"/>
          </a:solidFill>
          <a:latin typeface="+mn-lt"/>
          <a:ea typeface="+mn-ea"/>
          <a:cs typeface="+mn-cs"/>
        </a:defRPr>
      </a:lvl1pPr>
      <a:lvl2pPr marL="650138" indent="-325069" algn="l" defTabSz="1300277" rtl="0" eaLnBrk="1" latinLnBrk="0" hangingPunct="1">
        <a:lnSpc>
          <a:spcPct val="100000"/>
        </a:lnSpc>
        <a:spcBef>
          <a:spcPts val="500"/>
        </a:spcBef>
        <a:buClrTx/>
        <a:buFont typeface="Arial" panose="020B0604020202020204" pitchFamily="34" charset="0"/>
        <a:buChar char="•"/>
        <a:defRPr sz="3200" kern="1200">
          <a:solidFill>
            <a:schemeClr val="tx1"/>
          </a:solidFill>
          <a:latin typeface="+mn-lt"/>
          <a:ea typeface="+mn-ea"/>
          <a:cs typeface="+mn-cs"/>
        </a:defRPr>
      </a:lvl2pPr>
      <a:lvl3pPr marL="975207" indent="-325069" algn="l" defTabSz="1300277" rtl="0" eaLnBrk="1" latinLnBrk="0" hangingPunct="1">
        <a:lnSpc>
          <a:spcPct val="100000"/>
        </a:lnSpc>
        <a:spcBef>
          <a:spcPts val="500"/>
        </a:spcBef>
        <a:buClrTx/>
        <a:buFont typeface="Arial" panose="020B0604020202020204" pitchFamily="34" charset="0"/>
        <a:buChar char="•"/>
        <a:defRPr sz="2800" kern="1200">
          <a:solidFill>
            <a:schemeClr val="tx1"/>
          </a:solidFill>
          <a:latin typeface="+mn-lt"/>
          <a:ea typeface="+mn-ea"/>
          <a:cs typeface="+mn-cs"/>
        </a:defRPr>
      </a:lvl3pPr>
      <a:lvl4pPr marL="1300276" indent="-325069" algn="l" defTabSz="1300277" rtl="0" eaLnBrk="1" latinLnBrk="0" hangingPunct="1">
        <a:lnSpc>
          <a:spcPct val="100000"/>
        </a:lnSpc>
        <a:spcBef>
          <a:spcPts val="500"/>
        </a:spcBef>
        <a:buClrTx/>
        <a:buFont typeface="Arial" panose="020B0604020202020204" pitchFamily="34" charset="0"/>
        <a:buChar char="•"/>
        <a:defRPr sz="2400" kern="1200">
          <a:solidFill>
            <a:schemeClr val="tx1"/>
          </a:solidFill>
          <a:latin typeface="+mn-lt"/>
          <a:ea typeface="+mn-ea"/>
          <a:cs typeface="+mn-cs"/>
        </a:defRPr>
      </a:lvl4pPr>
      <a:lvl5pPr marL="1625345" indent="-325069" algn="l" defTabSz="1300277" rtl="0" eaLnBrk="1" latinLnBrk="0" hangingPunct="1">
        <a:lnSpc>
          <a:spcPct val="100000"/>
        </a:lnSpc>
        <a:spcBef>
          <a:spcPts val="500"/>
        </a:spcBef>
        <a:buClrTx/>
        <a:buFont typeface="Arial" panose="020B0604020202020204" pitchFamily="34" charset="0"/>
        <a:buChar char="•"/>
        <a:defRPr sz="2000" kern="1200">
          <a:solidFill>
            <a:schemeClr val="tx1"/>
          </a:solidFill>
          <a:latin typeface="+mn-lt"/>
          <a:ea typeface="+mn-ea"/>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p:bodyStyle>
    <p:otherStyle>
      <a:defPPr>
        <a:defRPr lang="nb-NO"/>
      </a:defPPr>
      <a:lvl1pPr marL="0" algn="l" defTabSz="1300277" rtl="0" eaLnBrk="1" latinLnBrk="0" hangingPunct="1">
        <a:defRPr sz="2560" kern="1200">
          <a:solidFill>
            <a:schemeClr val="tx1"/>
          </a:solidFill>
          <a:latin typeface="+mn-lt"/>
          <a:ea typeface="+mn-ea"/>
          <a:cs typeface="+mn-cs"/>
        </a:defRPr>
      </a:lvl1pPr>
      <a:lvl2pPr marL="650138" algn="l" defTabSz="1300277" rtl="0" eaLnBrk="1" latinLnBrk="0" hangingPunct="1">
        <a:defRPr sz="2560" kern="1200">
          <a:solidFill>
            <a:schemeClr val="tx1"/>
          </a:solidFill>
          <a:latin typeface="+mn-lt"/>
          <a:ea typeface="+mn-ea"/>
          <a:cs typeface="+mn-cs"/>
        </a:defRPr>
      </a:lvl2pPr>
      <a:lvl3pPr marL="1300277" algn="l" defTabSz="1300277" rtl="0" eaLnBrk="1" latinLnBrk="0" hangingPunct="1">
        <a:defRPr sz="2560" kern="1200">
          <a:solidFill>
            <a:schemeClr val="tx1"/>
          </a:solidFill>
          <a:latin typeface="+mn-lt"/>
          <a:ea typeface="+mn-ea"/>
          <a:cs typeface="+mn-cs"/>
        </a:defRPr>
      </a:lvl3pPr>
      <a:lvl4pPr marL="1950415" algn="l" defTabSz="1300277" rtl="0" eaLnBrk="1" latinLnBrk="0" hangingPunct="1">
        <a:defRPr sz="2560" kern="1200">
          <a:solidFill>
            <a:schemeClr val="tx1"/>
          </a:solidFill>
          <a:latin typeface="+mn-lt"/>
          <a:ea typeface="+mn-ea"/>
          <a:cs typeface="+mn-cs"/>
        </a:defRPr>
      </a:lvl4pPr>
      <a:lvl5pPr marL="2600554" algn="l" defTabSz="1300277" rtl="0" eaLnBrk="1" latinLnBrk="0" hangingPunct="1">
        <a:defRPr sz="2560" kern="1200">
          <a:solidFill>
            <a:schemeClr val="tx1"/>
          </a:solidFill>
          <a:latin typeface="+mn-lt"/>
          <a:ea typeface="+mn-ea"/>
          <a:cs typeface="+mn-cs"/>
        </a:defRPr>
      </a:lvl5pPr>
      <a:lvl6pPr marL="3250692" algn="l" defTabSz="1300277" rtl="0" eaLnBrk="1" latinLnBrk="0" hangingPunct="1">
        <a:defRPr sz="2560" kern="1200">
          <a:solidFill>
            <a:schemeClr val="tx1"/>
          </a:solidFill>
          <a:latin typeface="+mn-lt"/>
          <a:ea typeface="+mn-ea"/>
          <a:cs typeface="+mn-cs"/>
        </a:defRPr>
      </a:lvl6pPr>
      <a:lvl7pPr marL="3900830" algn="l" defTabSz="1300277" rtl="0" eaLnBrk="1" latinLnBrk="0" hangingPunct="1">
        <a:defRPr sz="2560" kern="1200">
          <a:solidFill>
            <a:schemeClr val="tx1"/>
          </a:solidFill>
          <a:latin typeface="+mn-lt"/>
          <a:ea typeface="+mn-ea"/>
          <a:cs typeface="+mn-cs"/>
        </a:defRPr>
      </a:lvl7pPr>
      <a:lvl8pPr marL="4550969" algn="l" defTabSz="1300277" rtl="0" eaLnBrk="1" latinLnBrk="0" hangingPunct="1">
        <a:defRPr sz="2560" kern="1200">
          <a:solidFill>
            <a:schemeClr val="tx1"/>
          </a:solidFill>
          <a:latin typeface="+mn-lt"/>
          <a:ea typeface="+mn-ea"/>
          <a:cs typeface="+mn-cs"/>
        </a:defRPr>
      </a:lvl8pPr>
      <a:lvl9pPr marL="5201107" algn="l" defTabSz="1300277" rtl="0" eaLnBrk="1" latinLnBrk="0" hangingPunct="1">
        <a:defRPr sz="25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972122" y="2374096"/>
            <a:ext cx="15373922" cy="664797"/>
          </a:xfrm>
          <a:prstGeom prst="rect">
            <a:avLst/>
          </a:prstGeom>
        </p:spPr>
        <p:txBody>
          <a:bodyPr vert="horz" lIns="0" tIns="0" rIns="0" bIns="0" rtlCol="0" anchor="b" anchorCtr="0">
            <a:normAutofit/>
          </a:bodyPr>
          <a:lstStyle/>
          <a:p>
            <a:r>
              <a:rPr lang="nb-NO"/>
              <a:t>Klikk for å redigere tittelstil</a:t>
            </a:r>
          </a:p>
        </p:txBody>
      </p:sp>
      <p:sp>
        <p:nvSpPr>
          <p:cNvPr id="3" name="Plassholder for tekst 2"/>
          <p:cNvSpPr>
            <a:spLocks noGrp="1"/>
          </p:cNvSpPr>
          <p:nvPr>
            <p:ph type="body" idx="1"/>
          </p:nvPr>
        </p:nvSpPr>
        <p:spPr>
          <a:xfrm>
            <a:off x="972122" y="3492436"/>
            <a:ext cx="15373922" cy="4680585"/>
          </a:xfrm>
          <a:prstGeom prst="rect">
            <a:avLst/>
          </a:prstGeom>
        </p:spPr>
        <p:txBody>
          <a:bodyPr vert="horz" lIns="0" tIns="0" rIns="0" bIns="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4865312" y="8705717"/>
            <a:ext cx="1080135" cy="262593"/>
          </a:xfrm>
          <a:prstGeom prst="rect">
            <a:avLst/>
          </a:prstGeom>
        </p:spPr>
        <p:txBody>
          <a:bodyPr vert="horz" lIns="0" tIns="0" rIns="0" bIns="0" rtlCol="0" anchor="ctr">
            <a:normAutofit/>
          </a:bodyPr>
          <a:lstStyle>
            <a:lvl1pPr algn="l">
              <a:defRPr sz="1100">
                <a:solidFill>
                  <a:schemeClr val="dk1"/>
                </a:solidFill>
              </a:defRPr>
            </a:lvl1pPr>
          </a:lstStyle>
          <a:p>
            <a:fld id="{3E27EE5C-360C-234C-895B-090AE76C967B}" type="datetime1">
              <a:rPr lang="nb-NO" smtClean="0"/>
              <a:t>01.09.2026</a:t>
            </a:fld>
            <a:endParaRPr lang="nb-NO"/>
          </a:p>
        </p:txBody>
      </p:sp>
      <p:sp>
        <p:nvSpPr>
          <p:cNvPr id="5" name="Plassholder for bunntekst 4"/>
          <p:cNvSpPr>
            <a:spLocks noGrp="1"/>
          </p:cNvSpPr>
          <p:nvPr>
            <p:ph type="ftr" sz="quarter" idx="3"/>
          </p:nvPr>
        </p:nvSpPr>
        <p:spPr>
          <a:xfrm>
            <a:off x="6210772" y="8705717"/>
            <a:ext cx="9001125" cy="262593"/>
          </a:xfrm>
          <a:prstGeom prst="rect">
            <a:avLst/>
          </a:prstGeom>
        </p:spPr>
        <p:txBody>
          <a:bodyPr vert="horz" lIns="0" tIns="0" rIns="0" bIns="0" rtlCol="0" anchor="ctr">
            <a:normAutofit/>
          </a:bodyPr>
          <a:lstStyle>
            <a:lvl1pPr algn="l">
              <a:defRPr sz="1100" cap="all" baseline="0">
                <a:solidFill>
                  <a:schemeClr val="dk1"/>
                </a:solidFill>
              </a:defRPr>
            </a:lvl1pPr>
          </a:lstStyle>
          <a:p>
            <a:r>
              <a:rPr lang="nb-NO"/>
              <a:t>Introduction to A.I - Umair M.I</a:t>
            </a:r>
          </a:p>
        </p:txBody>
      </p:sp>
      <p:sp>
        <p:nvSpPr>
          <p:cNvPr id="6" name="Plassholder for lysbildenummer 5"/>
          <p:cNvSpPr>
            <a:spLocks noGrp="1"/>
          </p:cNvSpPr>
          <p:nvPr>
            <p:ph type="sldNum" sz="quarter" idx="4"/>
          </p:nvPr>
        </p:nvSpPr>
        <p:spPr>
          <a:xfrm>
            <a:off x="15906712" y="8705717"/>
            <a:ext cx="439332" cy="262593"/>
          </a:xfrm>
          <a:prstGeom prst="rect">
            <a:avLst/>
          </a:prstGeom>
        </p:spPr>
        <p:txBody>
          <a:bodyPr vert="horz" lIns="0" tIns="0" rIns="0" bIns="0" rtlCol="0" anchor="ctr">
            <a:normAutofit/>
          </a:bodyPr>
          <a:lstStyle>
            <a:lvl1pPr algn="r">
              <a:defRPr sz="1100">
                <a:solidFill>
                  <a:schemeClr val="dk1"/>
                </a:solidFill>
              </a:defRPr>
            </a:lvl1pPr>
          </a:lstStyle>
          <a:p>
            <a:fld id="{5751DFAA-887F-4071-8EAD-E8CA316FCF06}" type="slidenum">
              <a:rPr lang="nb-NO" smtClean="0"/>
              <a:pPr/>
              <a:t>‹#›</a:t>
            </a:fld>
            <a:endParaRPr lang="nb-NO"/>
          </a:p>
        </p:txBody>
      </p:sp>
      <p:pic>
        <p:nvPicPr>
          <p:cNvPr id="8" name="Bilde 7">
            <a:extLst>
              <a:ext uri="{FF2B5EF4-FFF2-40B4-BE49-F238E27FC236}">
                <a16:creationId xmlns:a16="http://schemas.microsoft.com/office/drawing/2014/main" id="{6D4766B5-60EE-4C05-9784-0F52E6D4C5F8}"/>
              </a:ext>
            </a:extLst>
          </p:cNvPr>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pic>
        <p:nvPicPr>
          <p:cNvPr id="14" name="Bilde 13">
            <a:extLst>
              <a:ext uri="{FF2B5EF4-FFF2-40B4-BE49-F238E27FC236}">
                <a16:creationId xmlns:a16="http://schemas.microsoft.com/office/drawing/2014/main" id="{6A4233ED-D1B9-4B94-9BBA-8344A1EE6A06}"/>
              </a:ext>
            </a:extLst>
          </p:cNvPr>
          <p:cNvPicPr>
            <a:picLocks noChangeAspect="1"/>
          </p:cNvPicPr>
          <p:nvPr userDrawn="1"/>
        </p:nvPicPr>
        <p:blipFill>
          <a:blip r:embed="rId25"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spTree>
    <p:extLst>
      <p:ext uri="{BB962C8B-B14F-4D97-AF65-F5344CB8AC3E}">
        <p14:creationId xmlns:p14="http://schemas.microsoft.com/office/powerpoint/2010/main" val="15338680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Lst>
  <p:hf sldNum="0" hdr="0" dt="0"/>
  <p:txStyles>
    <p:titleStyle>
      <a:lvl1pPr algn="l" defTabSz="1300277" rtl="0" eaLnBrk="1" latinLnBrk="0" hangingPunct="1">
        <a:lnSpc>
          <a:spcPct val="90000"/>
        </a:lnSpc>
        <a:spcBef>
          <a:spcPct val="0"/>
        </a:spcBef>
        <a:buNone/>
        <a:defRPr sz="4800" b="1" kern="1200">
          <a:solidFill>
            <a:schemeClr val="tx1"/>
          </a:solidFill>
          <a:latin typeface="+mj-lt"/>
          <a:ea typeface="+mj-ea"/>
          <a:cs typeface="+mj-cs"/>
        </a:defRPr>
      </a:lvl1pPr>
    </p:titleStyle>
    <p:bodyStyle>
      <a:lvl1pPr marL="325069" indent="-325069" algn="l" defTabSz="1300277" rtl="0" eaLnBrk="1" latinLnBrk="0" hangingPunct="1">
        <a:lnSpc>
          <a:spcPct val="100000"/>
        </a:lnSpc>
        <a:spcBef>
          <a:spcPts val="0"/>
        </a:spcBef>
        <a:spcAft>
          <a:spcPts val="1000"/>
        </a:spcAft>
        <a:buClr>
          <a:schemeClr val="accent1"/>
        </a:buClr>
        <a:buFont typeface="Arial" panose="020B0604020202020204" pitchFamily="34" charset="0"/>
        <a:buChar char="•"/>
        <a:defRPr sz="3600" kern="1200">
          <a:solidFill>
            <a:schemeClr val="tx1"/>
          </a:solidFill>
          <a:latin typeface="+mn-lt"/>
          <a:ea typeface="+mn-ea"/>
          <a:cs typeface="+mn-cs"/>
        </a:defRPr>
      </a:lvl1pPr>
      <a:lvl2pPr marL="650138" indent="-325069" algn="l" defTabSz="1300277" rtl="0" eaLnBrk="1" latinLnBrk="0" hangingPunct="1">
        <a:lnSpc>
          <a:spcPct val="100000"/>
        </a:lnSpc>
        <a:spcBef>
          <a:spcPts val="500"/>
        </a:spcBef>
        <a:buClr>
          <a:schemeClr val="accent1"/>
        </a:buClr>
        <a:buFont typeface="Arial" panose="020B0604020202020204" pitchFamily="34" charset="0"/>
        <a:buChar char="•"/>
        <a:defRPr sz="3200" kern="1200">
          <a:solidFill>
            <a:schemeClr val="tx1"/>
          </a:solidFill>
          <a:latin typeface="+mn-lt"/>
          <a:ea typeface="+mn-ea"/>
          <a:cs typeface="+mn-cs"/>
        </a:defRPr>
      </a:lvl2pPr>
      <a:lvl3pPr marL="975207" indent="-325069" algn="l" defTabSz="1300277" rtl="0" eaLnBrk="1" latinLnBrk="0" hangingPunct="1">
        <a:lnSpc>
          <a:spcPct val="100000"/>
        </a:lnSpc>
        <a:spcBef>
          <a:spcPts val="500"/>
        </a:spcBef>
        <a:buClr>
          <a:schemeClr val="accent1"/>
        </a:buClr>
        <a:buFont typeface="Arial" panose="020B0604020202020204" pitchFamily="34" charset="0"/>
        <a:buChar char="•"/>
        <a:defRPr sz="2800" kern="1200">
          <a:solidFill>
            <a:schemeClr val="tx1"/>
          </a:solidFill>
          <a:latin typeface="+mn-lt"/>
          <a:ea typeface="+mn-ea"/>
          <a:cs typeface="+mn-cs"/>
        </a:defRPr>
      </a:lvl3pPr>
      <a:lvl4pPr marL="1300276" indent="-325069" algn="l" defTabSz="1300277" rtl="0" eaLnBrk="1" latinLnBrk="0" hangingPunct="1">
        <a:lnSpc>
          <a:spcPct val="10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4pPr>
      <a:lvl5pPr marL="1625345" indent="-325069" algn="l" defTabSz="1300277" rtl="0" eaLnBrk="1" latinLnBrk="0" hangingPunct="1">
        <a:lnSpc>
          <a:spcPct val="10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p:bodyStyle>
    <p:otherStyle>
      <a:defPPr>
        <a:defRPr lang="nb-NO"/>
      </a:defPPr>
      <a:lvl1pPr marL="0" algn="l" defTabSz="1300277" rtl="0" eaLnBrk="1" latinLnBrk="0" hangingPunct="1">
        <a:defRPr sz="2560" kern="1200">
          <a:solidFill>
            <a:schemeClr val="tx1"/>
          </a:solidFill>
          <a:latin typeface="+mn-lt"/>
          <a:ea typeface="+mn-ea"/>
          <a:cs typeface="+mn-cs"/>
        </a:defRPr>
      </a:lvl1pPr>
      <a:lvl2pPr marL="650138" algn="l" defTabSz="1300277" rtl="0" eaLnBrk="1" latinLnBrk="0" hangingPunct="1">
        <a:defRPr sz="2560" kern="1200">
          <a:solidFill>
            <a:schemeClr val="tx1"/>
          </a:solidFill>
          <a:latin typeface="+mn-lt"/>
          <a:ea typeface="+mn-ea"/>
          <a:cs typeface="+mn-cs"/>
        </a:defRPr>
      </a:lvl2pPr>
      <a:lvl3pPr marL="1300277" algn="l" defTabSz="1300277" rtl="0" eaLnBrk="1" latinLnBrk="0" hangingPunct="1">
        <a:defRPr sz="2560" kern="1200">
          <a:solidFill>
            <a:schemeClr val="tx1"/>
          </a:solidFill>
          <a:latin typeface="+mn-lt"/>
          <a:ea typeface="+mn-ea"/>
          <a:cs typeface="+mn-cs"/>
        </a:defRPr>
      </a:lvl3pPr>
      <a:lvl4pPr marL="1950415" algn="l" defTabSz="1300277" rtl="0" eaLnBrk="1" latinLnBrk="0" hangingPunct="1">
        <a:defRPr sz="2560" kern="1200">
          <a:solidFill>
            <a:schemeClr val="tx1"/>
          </a:solidFill>
          <a:latin typeface="+mn-lt"/>
          <a:ea typeface="+mn-ea"/>
          <a:cs typeface="+mn-cs"/>
        </a:defRPr>
      </a:lvl4pPr>
      <a:lvl5pPr marL="2600554" algn="l" defTabSz="1300277" rtl="0" eaLnBrk="1" latinLnBrk="0" hangingPunct="1">
        <a:defRPr sz="2560" kern="1200">
          <a:solidFill>
            <a:schemeClr val="tx1"/>
          </a:solidFill>
          <a:latin typeface="+mn-lt"/>
          <a:ea typeface="+mn-ea"/>
          <a:cs typeface="+mn-cs"/>
        </a:defRPr>
      </a:lvl5pPr>
      <a:lvl6pPr marL="3250692" algn="l" defTabSz="1300277" rtl="0" eaLnBrk="1" latinLnBrk="0" hangingPunct="1">
        <a:defRPr sz="2560" kern="1200">
          <a:solidFill>
            <a:schemeClr val="tx1"/>
          </a:solidFill>
          <a:latin typeface="+mn-lt"/>
          <a:ea typeface="+mn-ea"/>
          <a:cs typeface="+mn-cs"/>
        </a:defRPr>
      </a:lvl6pPr>
      <a:lvl7pPr marL="3900830" algn="l" defTabSz="1300277" rtl="0" eaLnBrk="1" latinLnBrk="0" hangingPunct="1">
        <a:defRPr sz="2560" kern="1200">
          <a:solidFill>
            <a:schemeClr val="tx1"/>
          </a:solidFill>
          <a:latin typeface="+mn-lt"/>
          <a:ea typeface="+mn-ea"/>
          <a:cs typeface="+mn-cs"/>
        </a:defRPr>
      </a:lvl7pPr>
      <a:lvl8pPr marL="4550969" algn="l" defTabSz="1300277" rtl="0" eaLnBrk="1" latinLnBrk="0" hangingPunct="1">
        <a:defRPr sz="2560" kern="1200">
          <a:solidFill>
            <a:schemeClr val="tx1"/>
          </a:solidFill>
          <a:latin typeface="+mn-lt"/>
          <a:ea typeface="+mn-ea"/>
          <a:cs typeface="+mn-cs"/>
        </a:defRPr>
      </a:lvl8pPr>
      <a:lvl9pPr marL="5201107" algn="l" defTabSz="1300277" rtl="0" eaLnBrk="1" latinLnBrk="0" hangingPunct="1">
        <a:defRPr sz="2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2.xml"/></Relationships>
</file>

<file path=ppt/slides/_rels/slide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2.xml"/><Relationship Id="rId1" Type="http://schemas.openxmlformats.org/officeDocument/2006/relationships/slideLayout" Target="../slideLayouts/slideLayout2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4.xml"/><Relationship Id="rId1" Type="http://schemas.openxmlformats.org/officeDocument/2006/relationships/slideLayout" Target="../slideLayouts/slideLayout2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2.xml"/></Relationships>
</file>

<file path=ppt/slides/_rels/slide6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7.xml"/><Relationship Id="rId1" Type="http://schemas.openxmlformats.org/officeDocument/2006/relationships/slideLayout" Target="../slideLayouts/slideLayout22.xml"/><Relationship Id="rId4" Type="http://schemas.openxmlformats.org/officeDocument/2006/relationships/hyperlink" Target="https://en.wikipedia.org/wiki/Feature_engineering" TargetMode="External"/></Relationships>
</file>

<file path=ppt/slides/_rels/slide66.xml.rels><?xml version="1.0" encoding="UTF-8" standalone="yes"?>
<Relationships xmlns="http://schemas.openxmlformats.org/package/2006/relationships"><Relationship Id="rId3" Type="http://schemas.openxmlformats.org/officeDocument/2006/relationships/hyperlink" Target="https://en.wikipedia.org/wiki/Phonemes" TargetMode="External"/><Relationship Id="rId2" Type="http://schemas.openxmlformats.org/officeDocument/2006/relationships/hyperlink" Target="https://en.wikipedia.org/wiki/Histogram" TargetMode="External"/><Relationship Id="rId1" Type="http://schemas.openxmlformats.org/officeDocument/2006/relationships/slideLayout" Target="../slideLayouts/slideLayout9.xml"/><Relationship Id="rId4" Type="http://schemas.openxmlformats.org/officeDocument/2006/relationships/hyperlink" Target="https://en.wikipedia.org/wiki/Feature_(computer_vision)" TargetMode="External"/></Relationships>
</file>

<file path=ppt/slides/_rels/slide6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8.xml"/><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slideLayout" Target="../slideLayouts/slideLayout9.xml"/><Relationship Id="rId1" Type="http://schemas.openxmlformats.org/officeDocument/2006/relationships/video" Target="https://www.youtube.com/embed/ow3huyoinas?start=11&amp;feature=oembed" TargetMode="Externa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9.xml"/><Relationship Id="rId1" Type="http://schemas.openxmlformats.org/officeDocument/2006/relationships/video" Target="https://www.youtube.com/embed/ED5cNqReJyk?feature=oembed" TargetMode="External"/><Relationship Id="rId4" Type="http://schemas.openxmlformats.org/officeDocument/2006/relationships/image" Target="../media/image25.jpeg"/></Relationships>
</file>

<file path=ppt/slides/_rels/slide8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slideLayout" Target="../slideLayouts/slideLayout9.xml"/><Relationship Id="rId1" Type="http://schemas.openxmlformats.org/officeDocument/2006/relationships/video" Target="https://www.youtube.com/embed/j9H4WF-jkfU?start=3&amp;feature=oembed" TargetMode="External"/></Relationships>
</file>

<file path=ppt/slides/_rels/slide8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8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70.xml"/><Relationship Id="rId1" Type="http://schemas.openxmlformats.org/officeDocument/2006/relationships/slideLayout" Target="../slideLayouts/slideLayout9.xml"/><Relationship Id="rId4" Type="http://schemas.openxmlformats.org/officeDocument/2006/relationships/image" Target="../media/image29.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2.xml"/></Relationships>
</file>

<file path=ppt/slides/_rels/slide9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2.xml"/><Relationship Id="rId1" Type="http://schemas.openxmlformats.org/officeDocument/2006/relationships/slideLayout" Target="../slideLayouts/slideLayout22.xml"/><Relationship Id="rId4" Type="http://schemas.openxmlformats.org/officeDocument/2006/relationships/image" Target="../media/image31.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2.xml"/></Relationships>
</file>

<file path=ppt/slides/_rels/slide9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Data for AI</a:t>
            </a:r>
          </a:p>
        </p:txBody>
      </p:sp>
      <p:sp>
        <p:nvSpPr>
          <p:cNvPr id="3" name="Subtitle 2"/>
          <p:cNvSpPr>
            <a:spLocks noGrp="1"/>
          </p:cNvSpPr>
          <p:nvPr>
            <p:ph type="subTitle" idx="1"/>
          </p:nvPr>
        </p:nvSpPr>
        <p:spPr/>
        <p:txBody>
          <a:bodyPr/>
          <a:lstStyle/>
          <a:p>
            <a:r>
              <a:t>DAVE3625  ·  Lecture 2  ·  Week 36</a:t>
            </a:r>
          </a:p>
        </p:txBody>
      </p:sp>
      <p:sp>
        <p:nvSpPr>
          <p:cNvPr id="4" name="Text Placeholder 3"/>
          <p:cNvSpPr>
            <a:spLocks noGrp="1"/>
          </p:cNvSpPr>
          <p:nvPr>
            <p:ph type="body" sz="quarter" idx="13"/>
          </p:nvPr>
        </p:nvSpPr>
        <p:spPr/>
        <p:txBody>
          <a:bodyPr/>
          <a:lstStyle/>
          <a:p>
            <a:r>
              <a:t>Umair Mehmood Imam</a:t>
            </a:r>
          </a:p>
        </p:txBody>
      </p:sp>
      <p:sp>
        <p:nvSpPr>
          <p:cNvPr id="5" name="Text Placeholder 4"/>
          <p:cNvSpPr>
            <a:spLocks noGrp="1"/>
          </p:cNvSpPr>
          <p:nvPr>
            <p:ph type="body" sz="quarter" idx="14"/>
          </p:nvPr>
        </p:nvSpPr>
        <p:spPr/>
        <p:txBody>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0" cy="9747504"/>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2194560"/>
            <a:ext cx="9560257" cy="2708434"/>
          </a:xfrm>
          <a:prstGeom prst="rect">
            <a:avLst/>
          </a:prstGeom>
          <a:noFill/>
        </p:spPr>
        <p:txBody>
          <a:bodyPr wrap="square">
            <a:spAutoFit/>
          </a:bodyPr>
          <a:lstStyle/>
          <a:p>
            <a:r>
              <a:rPr sz="17000" b="1" dirty="0">
                <a:solidFill>
                  <a:srgbClr val="16181D"/>
                </a:solidFill>
                <a:latin typeface="Arial"/>
              </a:rPr>
              <a:t>$</a:t>
            </a:r>
            <a:r>
              <a:rPr lang="nb-NO" sz="17000" b="1" dirty="0">
                <a:solidFill>
                  <a:srgbClr val="16181D"/>
                </a:solidFill>
                <a:latin typeface="Arial"/>
              </a:rPr>
              <a:t>326 </a:t>
            </a:r>
            <a:r>
              <a:rPr lang="nb-NO" sz="8000" b="1" dirty="0">
                <a:solidFill>
                  <a:srgbClr val="16181D"/>
                </a:solidFill>
                <a:latin typeface="Arial"/>
              </a:rPr>
              <a:t>million</a:t>
            </a:r>
            <a:endParaRPr sz="17000" b="1" dirty="0">
              <a:solidFill>
                <a:srgbClr val="16181D"/>
              </a:solidFill>
              <a:latin typeface="Arial"/>
            </a:endParaRPr>
          </a:p>
        </p:txBody>
      </p:sp>
      <p:sp>
        <p:nvSpPr>
          <p:cNvPr id="4" name="TextBox 3"/>
          <p:cNvSpPr txBox="1"/>
          <p:nvPr/>
        </p:nvSpPr>
        <p:spPr>
          <a:xfrm>
            <a:off x="1448752" y="5440680"/>
            <a:ext cx="14447520" cy="1815882"/>
          </a:xfrm>
          <a:prstGeom prst="rect">
            <a:avLst/>
          </a:prstGeom>
          <a:noFill/>
        </p:spPr>
        <p:txBody>
          <a:bodyPr wrap="square">
            <a:spAutoFit/>
          </a:bodyPr>
          <a:lstStyle/>
          <a:p>
            <a:r>
              <a:rPr sz="3400" b="0" dirty="0">
                <a:solidFill>
                  <a:srgbClr val="16181D"/>
                </a:solidFill>
                <a:latin typeface="Arial"/>
              </a:rPr>
              <a:t>The Mars Climate Orbiter, 1999.</a:t>
            </a:r>
          </a:p>
          <a:p>
            <a:pPr>
              <a:spcBef>
                <a:spcPts val="1800"/>
              </a:spcBef>
            </a:pPr>
            <a:r>
              <a:rPr lang="nb-NO" sz="2400" b="0" dirty="0" err="1">
                <a:solidFill>
                  <a:srgbClr val="6B7280"/>
                </a:solidFill>
                <a:latin typeface="Arial"/>
              </a:rPr>
              <a:t>December</a:t>
            </a:r>
            <a:r>
              <a:rPr lang="nb-NO" sz="2400" b="0" dirty="0">
                <a:solidFill>
                  <a:srgbClr val="6B7280"/>
                </a:solidFill>
                <a:latin typeface="Arial"/>
              </a:rPr>
              <a:t> 1998 – September 1999</a:t>
            </a:r>
          </a:p>
          <a:p>
            <a:pPr>
              <a:spcBef>
                <a:spcPts val="1800"/>
              </a:spcBef>
            </a:pPr>
            <a:r>
              <a:rPr sz="2400" b="0" dirty="0">
                <a:solidFill>
                  <a:srgbClr val="6B7280"/>
                </a:solidFill>
                <a:latin typeface="Arial"/>
              </a:rPr>
              <a:t>Nine months of flight. It burned up on arrival.</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2</a:t>
            </a:r>
          </a:p>
        </p:txBody>
      </p:sp>
      <p:pic>
        <p:nvPicPr>
          <p:cNvPr id="7" name="Picture 6" descr="artist's conception of the Mars Climate Orbiter NASA spacecraft">
            <a:extLst>
              <a:ext uri="{FF2B5EF4-FFF2-40B4-BE49-F238E27FC236}">
                <a16:creationId xmlns:a16="http://schemas.microsoft.com/office/drawing/2014/main" id="{B39DFAA9-8C17-A6C8-CC4C-3DA70DD4B839}"/>
              </a:ext>
            </a:extLst>
          </p:cNvPr>
          <p:cNvPicPr>
            <a:picLocks noChangeAspect="1"/>
          </p:cNvPicPr>
          <p:nvPr/>
        </p:nvPicPr>
        <p:blipFill>
          <a:blip r:embed="rId3"/>
          <a:stretch>
            <a:fillRect/>
          </a:stretch>
        </p:blipFill>
        <p:spPr>
          <a:xfrm>
            <a:off x="11143967" y="2049762"/>
            <a:ext cx="5698137" cy="51787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9264" y="2743200"/>
            <a:ext cx="15371063" cy="38404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69264" y="2743200"/>
            <a:ext cx="82296" cy="3840480"/>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54480" y="3001447"/>
            <a:ext cx="14173200" cy="3323987"/>
          </a:xfrm>
          <a:prstGeom prst="rect">
            <a:avLst/>
          </a:prstGeom>
          <a:noFill/>
        </p:spPr>
        <p:txBody>
          <a:bodyPr wrap="square" anchor="ctr">
            <a:spAutoFit/>
          </a:bodyPr>
          <a:lstStyle/>
          <a:p>
            <a:r>
              <a:rPr sz="5400" b="1" dirty="0">
                <a:solidFill>
                  <a:srgbClr val="16181D"/>
                </a:solidFill>
                <a:latin typeface="Arial"/>
              </a:rPr>
              <a:t>One team sent thrust in pound-force seconds. The other read it as newton-seconds</a:t>
            </a:r>
            <a:r>
              <a:rPr lang="nb-NO" sz="5400" b="1" dirty="0">
                <a:solidFill>
                  <a:srgbClr val="16181D"/>
                </a:solidFill>
                <a:latin typeface="Arial"/>
              </a:rPr>
              <a:t> (imperial versus </a:t>
            </a:r>
            <a:r>
              <a:rPr lang="nb-NO" sz="5400" b="1" dirty="0" err="1">
                <a:solidFill>
                  <a:srgbClr val="16181D"/>
                </a:solidFill>
                <a:latin typeface="Arial"/>
              </a:rPr>
              <a:t>metric</a:t>
            </a:r>
            <a:r>
              <a:rPr lang="nb-NO" sz="5400" b="1" dirty="0">
                <a:solidFill>
                  <a:srgbClr val="16181D"/>
                </a:solidFill>
                <a:latin typeface="Arial"/>
              </a:rPr>
              <a:t>)</a:t>
            </a:r>
            <a:r>
              <a:rPr sz="5400" b="1" dirty="0">
                <a:solidFill>
                  <a:srgbClr val="16181D"/>
                </a:solidFill>
                <a:latin typeface="Arial"/>
              </a:rPr>
              <a:t>.</a:t>
            </a:r>
          </a:p>
          <a:p>
            <a:pPr>
              <a:spcBef>
                <a:spcPts val="2400"/>
              </a:spcBef>
            </a:pPr>
            <a:r>
              <a:rPr sz="2800" b="0" dirty="0">
                <a:solidFill>
                  <a:srgbClr val="3A3F47"/>
                </a:solidFill>
                <a:latin typeface="Arial"/>
              </a:rPr>
              <a:t>Nobody's code was wrong. The units in the data were.</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0" cy="9747504"/>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2194560"/>
            <a:ext cx="15087600" cy="3108960"/>
          </a:xfrm>
          <a:prstGeom prst="rect">
            <a:avLst/>
          </a:prstGeom>
          <a:noFill/>
        </p:spPr>
        <p:txBody>
          <a:bodyPr wrap="square">
            <a:spAutoFit/>
          </a:bodyPr>
          <a:lstStyle/>
          <a:p>
            <a:r>
              <a:rPr sz="17000" b="1">
                <a:solidFill>
                  <a:srgbClr val="16181D"/>
                </a:solidFill>
                <a:latin typeface="Arial"/>
              </a:rPr>
              <a:t>15 841</a:t>
            </a:r>
          </a:p>
        </p:txBody>
      </p:sp>
      <p:sp>
        <p:nvSpPr>
          <p:cNvPr id="4" name="TextBox 3"/>
          <p:cNvSpPr txBox="1"/>
          <p:nvPr/>
        </p:nvSpPr>
        <p:spPr>
          <a:xfrm>
            <a:off x="1417320" y="5577840"/>
            <a:ext cx="14447520" cy="1215717"/>
          </a:xfrm>
          <a:prstGeom prst="rect">
            <a:avLst/>
          </a:prstGeom>
          <a:noFill/>
        </p:spPr>
        <p:txBody>
          <a:bodyPr wrap="square">
            <a:spAutoFit/>
          </a:bodyPr>
          <a:lstStyle/>
          <a:p>
            <a:r>
              <a:rPr sz="3400" b="0" dirty="0">
                <a:solidFill>
                  <a:srgbClr val="16181D"/>
                </a:solidFill>
                <a:latin typeface="Arial"/>
              </a:rPr>
              <a:t>COVID cases missing from England's contact tracing, October 2020.</a:t>
            </a:r>
          </a:p>
          <a:p>
            <a:pPr>
              <a:spcBef>
                <a:spcPts val="1800"/>
              </a:spcBef>
            </a:pPr>
            <a:r>
              <a:rPr sz="2400" b="0" dirty="0">
                <a:solidFill>
                  <a:srgbClr val="6B7280"/>
                </a:solidFill>
                <a:latin typeface="Arial"/>
              </a:rPr>
              <a:t>Roughly 48 000 </a:t>
            </a:r>
            <a:r>
              <a:rPr lang="nb-NO" sz="2400" dirty="0" err="1">
                <a:solidFill>
                  <a:srgbClr val="6B7280"/>
                </a:solidFill>
                <a:latin typeface="Arial"/>
              </a:rPr>
              <a:t>people</a:t>
            </a:r>
            <a:r>
              <a:rPr lang="nb-NO" sz="2400" dirty="0">
                <a:solidFill>
                  <a:srgbClr val="6B7280"/>
                </a:solidFill>
                <a:latin typeface="Arial"/>
              </a:rPr>
              <a:t> (</a:t>
            </a:r>
            <a:r>
              <a:rPr sz="2400" b="0" dirty="0">
                <a:solidFill>
                  <a:srgbClr val="6B7280"/>
                </a:solidFill>
                <a:latin typeface="Arial"/>
              </a:rPr>
              <a:t>close contacts</a:t>
            </a:r>
            <a:r>
              <a:rPr lang="nb-NO" sz="2400" b="0" dirty="0">
                <a:solidFill>
                  <a:srgbClr val="6B7280"/>
                </a:solidFill>
                <a:latin typeface="Arial"/>
              </a:rPr>
              <a:t>)</a:t>
            </a:r>
            <a:r>
              <a:rPr sz="2400" b="0" dirty="0">
                <a:solidFill>
                  <a:srgbClr val="6B7280"/>
                </a:solidFill>
                <a:latin typeface="Arial"/>
              </a:rPr>
              <a:t> were never told to isolate.</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9264" y="2743200"/>
            <a:ext cx="15371063" cy="38404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69264" y="2743200"/>
            <a:ext cx="82296" cy="3840480"/>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54480" y="3063240"/>
            <a:ext cx="14173200" cy="3200400"/>
          </a:xfrm>
          <a:prstGeom prst="rect">
            <a:avLst/>
          </a:prstGeom>
          <a:noFill/>
        </p:spPr>
        <p:txBody>
          <a:bodyPr wrap="square" anchor="ctr">
            <a:spAutoFit/>
          </a:bodyPr>
          <a:lstStyle/>
          <a:p>
            <a:r>
              <a:rPr sz="5400" b="1">
                <a:solidFill>
                  <a:srgbClr val="16181D"/>
                </a:solidFill>
                <a:latin typeface="Arial"/>
              </a:rPr>
              <a:t>The results were being passed around in the old Excel format. It stops at 65 536 rows.</a:t>
            </a:r>
          </a:p>
          <a:p>
            <a:pPr>
              <a:spcBef>
                <a:spcPts val="2400"/>
              </a:spcBef>
            </a:pPr>
            <a:r>
              <a:rPr sz="2800" b="0">
                <a:solidFill>
                  <a:srgbClr val="3A3F47"/>
                </a:solidFill>
                <a:latin typeface="Arial"/>
              </a:rPr>
              <a:t>Every row past the limit was silently dropped. No error, no warning.</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0" cy="9747504"/>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2194560"/>
            <a:ext cx="15087600" cy="3108960"/>
          </a:xfrm>
          <a:prstGeom prst="rect">
            <a:avLst/>
          </a:prstGeom>
          <a:noFill/>
        </p:spPr>
        <p:txBody>
          <a:bodyPr wrap="square">
            <a:spAutoFit/>
          </a:bodyPr>
          <a:lstStyle/>
          <a:p>
            <a:r>
              <a:rPr sz="17000" b="1" dirty="0">
                <a:solidFill>
                  <a:srgbClr val="16181D"/>
                </a:solidFill>
                <a:latin typeface="Arial"/>
              </a:rPr>
              <a:t>27 genes</a:t>
            </a:r>
          </a:p>
        </p:txBody>
      </p:sp>
      <p:sp>
        <p:nvSpPr>
          <p:cNvPr id="4" name="TextBox 3"/>
          <p:cNvSpPr txBox="1"/>
          <p:nvPr/>
        </p:nvSpPr>
        <p:spPr>
          <a:xfrm>
            <a:off x="1417320" y="5577840"/>
            <a:ext cx="14447520" cy="2377440"/>
          </a:xfrm>
          <a:prstGeom prst="rect">
            <a:avLst/>
          </a:prstGeom>
          <a:noFill/>
        </p:spPr>
        <p:txBody>
          <a:bodyPr wrap="square">
            <a:spAutoFit/>
          </a:bodyPr>
          <a:lstStyle/>
          <a:p>
            <a:r>
              <a:rPr sz="3400" b="0">
                <a:solidFill>
                  <a:srgbClr val="16181D"/>
                </a:solidFill>
                <a:latin typeface="Arial"/>
              </a:rPr>
              <a:t>Human genes renamed by scientists in 2020…</a:t>
            </a:r>
          </a:p>
          <a:p>
            <a:pPr>
              <a:spcBef>
                <a:spcPts val="1800"/>
              </a:spcBef>
            </a:pPr>
            <a:r>
              <a:rPr sz="2400" b="0">
                <a:solidFill>
                  <a:srgbClr val="6B7280"/>
                </a:solidFill>
                <a:latin typeface="Arial"/>
              </a:rPr>
              <a:t>…because Excel kept turning SEPT2 into 2-Sep and MARCH1 into 1-Mar.</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6</a:t>
            </a:r>
          </a:p>
        </p:txBody>
      </p:sp>
      <p:sp>
        <p:nvSpPr>
          <p:cNvPr id="8" name="TextBox 7">
            <a:extLst>
              <a:ext uri="{FF2B5EF4-FFF2-40B4-BE49-F238E27FC236}">
                <a16:creationId xmlns:a16="http://schemas.microsoft.com/office/drawing/2014/main" id="{781083C2-ECD1-C7B8-F813-113A1ACD79FC}"/>
              </a:ext>
            </a:extLst>
          </p:cNvPr>
          <p:cNvSpPr txBox="1"/>
          <p:nvPr/>
        </p:nvSpPr>
        <p:spPr>
          <a:xfrm>
            <a:off x="12772257" y="1448496"/>
            <a:ext cx="3783842" cy="486287"/>
          </a:xfrm>
          <a:prstGeom prst="rect">
            <a:avLst/>
          </a:prstGeom>
          <a:noFill/>
        </p:spPr>
        <p:txBody>
          <a:bodyPr wrap="square">
            <a:spAutoFit/>
          </a:bodyPr>
          <a:lstStyle/>
          <a:p>
            <a:r>
              <a:rPr lang="en-US" dirty="0">
                <a:solidFill>
                  <a:srgbClr val="FF0000"/>
                </a:solidFill>
              </a:rPr>
              <a:t>SEPT2 (a </a:t>
            </a:r>
            <a:r>
              <a:rPr lang="en-US" dirty="0" err="1">
                <a:solidFill>
                  <a:srgbClr val="FF0000"/>
                </a:solidFill>
              </a:rPr>
              <a:t>septin</a:t>
            </a:r>
            <a:r>
              <a:rPr lang="en-US" dirty="0">
                <a:solidFill>
                  <a:srgbClr val="FF0000"/>
                </a:solidFill>
              </a:rPr>
              <a:t>)</a:t>
            </a:r>
          </a:p>
        </p:txBody>
      </p:sp>
      <p:sp>
        <p:nvSpPr>
          <p:cNvPr id="10" name="TextBox 9">
            <a:extLst>
              <a:ext uri="{FF2B5EF4-FFF2-40B4-BE49-F238E27FC236}">
                <a16:creationId xmlns:a16="http://schemas.microsoft.com/office/drawing/2014/main" id="{C1B8AFF3-F6E5-2821-755E-FA51F0D859B2}"/>
              </a:ext>
            </a:extLst>
          </p:cNvPr>
          <p:cNvSpPr txBox="1"/>
          <p:nvPr/>
        </p:nvSpPr>
        <p:spPr>
          <a:xfrm>
            <a:off x="12772257" y="2182999"/>
            <a:ext cx="4138684" cy="880241"/>
          </a:xfrm>
          <a:prstGeom prst="rect">
            <a:avLst/>
          </a:prstGeom>
          <a:noFill/>
        </p:spPr>
        <p:txBody>
          <a:bodyPr wrap="square">
            <a:spAutoFit/>
          </a:bodyPr>
          <a:lstStyle/>
          <a:p>
            <a:r>
              <a:rPr lang="en-US" dirty="0">
                <a:solidFill>
                  <a:srgbClr val="FF0000"/>
                </a:solidFill>
              </a:rPr>
              <a:t> MARCH1 (a membrane-associated ring finger)</a:t>
            </a:r>
          </a:p>
        </p:txBody>
      </p:sp>
      <p:sp>
        <p:nvSpPr>
          <p:cNvPr id="15" name="TextBox 14">
            <a:extLst>
              <a:ext uri="{FF2B5EF4-FFF2-40B4-BE49-F238E27FC236}">
                <a16:creationId xmlns:a16="http://schemas.microsoft.com/office/drawing/2014/main" id="{C2A2917A-EA2B-BD39-54C1-53C153544DBD}"/>
              </a:ext>
            </a:extLst>
          </p:cNvPr>
          <p:cNvSpPr txBox="1"/>
          <p:nvPr/>
        </p:nvSpPr>
        <p:spPr>
          <a:xfrm>
            <a:off x="12949678" y="4954393"/>
            <a:ext cx="3300984" cy="486287"/>
          </a:xfrm>
          <a:prstGeom prst="rect">
            <a:avLst/>
          </a:prstGeom>
          <a:noFill/>
        </p:spPr>
        <p:txBody>
          <a:bodyPr wrap="square">
            <a:spAutoFit/>
          </a:bodyPr>
          <a:lstStyle/>
          <a:p>
            <a:r>
              <a:rPr lang="en-US" dirty="0">
                <a:solidFill>
                  <a:srgbClr val="00B050"/>
                </a:solidFill>
              </a:rPr>
              <a:t>SEPT2 → SEPTIN2</a:t>
            </a:r>
          </a:p>
        </p:txBody>
      </p:sp>
      <p:sp>
        <p:nvSpPr>
          <p:cNvPr id="19" name="TextBox 18">
            <a:extLst>
              <a:ext uri="{FF2B5EF4-FFF2-40B4-BE49-F238E27FC236}">
                <a16:creationId xmlns:a16="http://schemas.microsoft.com/office/drawing/2014/main" id="{62E70108-811F-B289-9FBD-07BB24B844FA}"/>
              </a:ext>
            </a:extLst>
          </p:cNvPr>
          <p:cNvSpPr txBox="1"/>
          <p:nvPr/>
        </p:nvSpPr>
        <p:spPr>
          <a:xfrm>
            <a:off x="12949678" y="5960233"/>
            <a:ext cx="3961263" cy="486287"/>
          </a:xfrm>
          <a:prstGeom prst="rect">
            <a:avLst/>
          </a:prstGeom>
          <a:noFill/>
        </p:spPr>
        <p:txBody>
          <a:bodyPr wrap="square">
            <a:spAutoFit/>
          </a:bodyPr>
          <a:lstStyle/>
          <a:p>
            <a:r>
              <a:rPr lang="en-US" dirty="0">
                <a:solidFill>
                  <a:srgbClr val="00B050"/>
                </a:solidFill>
              </a:rPr>
              <a:t>MARCH1 → MARCHF1</a:t>
            </a:r>
          </a:p>
        </p:txBody>
      </p:sp>
      <p:sp>
        <p:nvSpPr>
          <p:cNvPr id="20" name="TextBox 19">
            <a:extLst>
              <a:ext uri="{FF2B5EF4-FFF2-40B4-BE49-F238E27FC236}">
                <a16:creationId xmlns:a16="http://schemas.microsoft.com/office/drawing/2014/main" id="{B943E31E-B15E-8FA1-3744-A9DF09FB59ED}"/>
              </a:ext>
            </a:extLst>
          </p:cNvPr>
          <p:cNvSpPr txBox="1"/>
          <p:nvPr/>
        </p:nvSpPr>
        <p:spPr>
          <a:xfrm>
            <a:off x="12955819" y="6774876"/>
            <a:ext cx="3961263" cy="486287"/>
          </a:xfrm>
          <a:prstGeom prst="rect">
            <a:avLst/>
          </a:prstGeom>
          <a:noFill/>
        </p:spPr>
        <p:txBody>
          <a:bodyPr wrap="square">
            <a:spAutoFit/>
          </a:bodyPr>
          <a:lstStyle/>
          <a:p>
            <a:r>
              <a:rPr lang="en-US" dirty="0">
                <a:solidFill>
                  <a:srgbClr val="00B050"/>
                </a:solidFill>
              </a:rPr>
              <a:t>And 27 more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5" grpId="0"/>
      <p:bldP spid="19" grpId="0"/>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9264" y="2743200"/>
            <a:ext cx="15371063" cy="38404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69264" y="2743200"/>
            <a:ext cx="82296" cy="3840480"/>
          </a:xfrm>
          <a:prstGeom prst="rect">
            <a:avLst/>
          </a:prstGeom>
          <a:solidFill>
            <a:srgbClr val="E02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54480" y="3063240"/>
            <a:ext cx="14173200" cy="3200400"/>
          </a:xfrm>
          <a:prstGeom prst="rect">
            <a:avLst/>
          </a:prstGeom>
          <a:noFill/>
        </p:spPr>
        <p:txBody>
          <a:bodyPr wrap="square" anchor="ctr">
            <a:spAutoFit/>
          </a:bodyPr>
          <a:lstStyle/>
          <a:p>
            <a:r>
              <a:rPr sz="5800" b="1">
                <a:solidFill>
                  <a:srgbClr val="16181D"/>
                </a:solidFill>
                <a:latin typeface="Arial"/>
              </a:rPr>
              <a:t>None of these were algorithm failures.</a:t>
            </a:r>
          </a:p>
          <a:p>
            <a:pPr>
              <a:spcBef>
                <a:spcPts val="2400"/>
              </a:spcBef>
            </a:pPr>
            <a:r>
              <a:rPr sz="2800" b="0">
                <a:solidFill>
                  <a:srgbClr val="3A3F47"/>
                </a:solidFill>
                <a:latin typeface="Arial"/>
              </a:rPr>
              <a:t>Every one of them was a data failure. That is what today is about.</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E02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658368"/>
            <a:ext cx="15371063" cy="677108"/>
          </a:xfrm>
          <a:prstGeom prst="rect">
            <a:avLst/>
          </a:prstGeom>
          <a:noFill/>
        </p:spPr>
        <p:txBody>
          <a:bodyPr wrap="square">
            <a:spAutoFit/>
          </a:bodyPr>
          <a:lstStyle/>
          <a:p>
            <a:r>
              <a:rPr lang="nb-NO" sz="3800" b="1" dirty="0">
                <a:solidFill>
                  <a:srgbClr val="FFFFFF"/>
                </a:solidFill>
                <a:latin typeface="Arial"/>
              </a:rPr>
              <a:t>H</a:t>
            </a:r>
            <a:r>
              <a:rPr sz="3800" b="1" dirty="0">
                <a:solidFill>
                  <a:srgbClr val="FFFFFF"/>
                </a:solidFill>
                <a:latin typeface="Arial"/>
              </a:rPr>
              <a:t>ow much of an AI practitioner's time goes on data?</a:t>
            </a:r>
          </a:p>
        </p:txBody>
      </p:sp>
      <p:sp>
        <p:nvSpPr>
          <p:cNvPr id="5" name="TextBox 4"/>
          <p:cNvSpPr txBox="1"/>
          <p:nvPr/>
        </p:nvSpPr>
        <p:spPr>
          <a:xfrm>
            <a:off x="969264" y="2057400"/>
            <a:ext cx="15371063" cy="3657411"/>
          </a:xfrm>
          <a:prstGeom prst="rect">
            <a:avLst/>
          </a:prstGeom>
          <a:noFill/>
        </p:spPr>
        <p:txBody>
          <a:bodyPr wrap="square">
            <a:spAutoFit/>
          </a:bodyPr>
          <a:lstStyle/>
          <a:p>
            <a:pPr>
              <a:spcAft>
                <a:spcPts val="1400"/>
              </a:spcAft>
            </a:pPr>
            <a:r>
              <a:rPr sz="3000" b="0" dirty="0">
                <a:solidFill>
                  <a:srgbClr val="16181D"/>
                </a:solidFill>
                <a:latin typeface="Arial"/>
              </a:rPr>
              <a:t>▪   </a:t>
            </a:r>
            <a:r>
              <a:rPr sz="3000" b="1" dirty="0">
                <a:solidFill>
                  <a:srgbClr val="16181D"/>
                </a:solidFill>
                <a:latin typeface="Arial"/>
              </a:rPr>
              <a:t>A</a:t>
            </a:r>
            <a:r>
              <a:rPr sz="3000" b="0" dirty="0">
                <a:solidFill>
                  <a:srgbClr val="16181D"/>
                </a:solidFill>
                <a:latin typeface="Arial"/>
              </a:rPr>
              <a:t>   About 20%</a:t>
            </a:r>
          </a:p>
          <a:p>
            <a:pPr>
              <a:spcAft>
                <a:spcPts val="1400"/>
              </a:spcAft>
            </a:pPr>
            <a:r>
              <a:rPr sz="3000" b="0" dirty="0">
                <a:solidFill>
                  <a:srgbClr val="16181D"/>
                </a:solidFill>
                <a:latin typeface="Arial"/>
              </a:rPr>
              <a:t>▪   </a:t>
            </a:r>
            <a:r>
              <a:rPr sz="3000" b="1" dirty="0">
                <a:solidFill>
                  <a:srgbClr val="16181D"/>
                </a:solidFill>
                <a:latin typeface="Arial"/>
              </a:rPr>
              <a:t>B</a:t>
            </a:r>
            <a:r>
              <a:rPr sz="3000" b="0" dirty="0">
                <a:solidFill>
                  <a:srgbClr val="16181D"/>
                </a:solidFill>
                <a:latin typeface="Arial"/>
              </a:rPr>
              <a:t>   About 40%</a:t>
            </a:r>
          </a:p>
          <a:p>
            <a:pPr>
              <a:spcAft>
                <a:spcPts val="1400"/>
              </a:spcAft>
            </a:pPr>
            <a:r>
              <a:rPr sz="3000" b="0" dirty="0">
                <a:solidFill>
                  <a:srgbClr val="16181D"/>
                </a:solidFill>
                <a:latin typeface="Arial"/>
              </a:rPr>
              <a:t>▪   </a:t>
            </a:r>
            <a:r>
              <a:rPr sz="3000" b="1" dirty="0">
                <a:solidFill>
                  <a:srgbClr val="16181D"/>
                </a:solidFill>
                <a:latin typeface="Arial"/>
              </a:rPr>
              <a:t>C</a:t>
            </a:r>
            <a:r>
              <a:rPr sz="3000" b="0" dirty="0">
                <a:solidFill>
                  <a:srgbClr val="16181D"/>
                </a:solidFill>
                <a:latin typeface="Arial"/>
              </a:rPr>
              <a:t>   About 60%</a:t>
            </a:r>
          </a:p>
          <a:p>
            <a:pPr>
              <a:spcAft>
                <a:spcPts val="1400"/>
              </a:spcAft>
            </a:pPr>
            <a:r>
              <a:rPr sz="3000" b="0" dirty="0">
                <a:solidFill>
                  <a:srgbClr val="16181D"/>
                </a:solidFill>
                <a:latin typeface="Arial"/>
              </a:rPr>
              <a:t>▪   </a:t>
            </a:r>
            <a:r>
              <a:rPr sz="3000" b="1" dirty="0">
                <a:solidFill>
                  <a:srgbClr val="16181D"/>
                </a:solidFill>
                <a:latin typeface="Arial"/>
              </a:rPr>
              <a:t>D</a:t>
            </a:r>
            <a:r>
              <a:rPr sz="3000" b="0" dirty="0">
                <a:solidFill>
                  <a:srgbClr val="16181D"/>
                </a:solidFill>
                <a:latin typeface="Arial"/>
              </a:rPr>
              <a:t>   About 80%</a:t>
            </a:r>
          </a:p>
          <a:p>
            <a:pPr>
              <a:spcAft>
                <a:spcPts val="600"/>
              </a:spcAft>
            </a:pPr>
            <a:endParaRPr sz="3000" b="0" dirty="0">
              <a:solidFill>
                <a:srgbClr val="16181D"/>
              </a:solidFill>
              <a:latin typeface="Arial"/>
            </a:endParaRPr>
          </a:p>
          <a:p>
            <a:pPr>
              <a:spcAft>
                <a:spcPts val="1400"/>
              </a:spcAft>
            </a:pPr>
            <a:endParaRPr sz="3000" b="0" dirty="0">
              <a:solidFill>
                <a:srgbClr val="16181D"/>
              </a:solidFill>
              <a:latin typeface="Arial"/>
            </a:endParaRP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0" cy="9747504"/>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2194560"/>
            <a:ext cx="15087600" cy="2708434"/>
          </a:xfrm>
          <a:prstGeom prst="rect">
            <a:avLst/>
          </a:prstGeom>
          <a:noFill/>
        </p:spPr>
        <p:txBody>
          <a:bodyPr wrap="square">
            <a:spAutoFit/>
          </a:bodyPr>
          <a:lstStyle/>
          <a:p>
            <a:r>
              <a:rPr sz="17000" b="1" dirty="0">
                <a:solidFill>
                  <a:srgbClr val="16181D"/>
                </a:solidFill>
                <a:latin typeface="Arial"/>
              </a:rPr>
              <a:t>80%</a:t>
            </a:r>
            <a:r>
              <a:rPr lang="nb-NO" sz="17000" b="1" dirty="0">
                <a:solidFill>
                  <a:srgbClr val="16181D"/>
                </a:solidFill>
                <a:latin typeface="Arial"/>
              </a:rPr>
              <a:t> </a:t>
            </a:r>
            <a:r>
              <a:rPr lang="nb-NO" sz="2000" b="1" dirty="0" err="1">
                <a:solidFill>
                  <a:srgbClr val="16181D"/>
                </a:solidFill>
                <a:latin typeface="Arial"/>
              </a:rPr>
              <a:t>approx</a:t>
            </a:r>
            <a:endParaRPr sz="17000" b="1" dirty="0">
              <a:solidFill>
                <a:srgbClr val="16181D"/>
              </a:solidFill>
              <a:latin typeface="Arial"/>
            </a:endParaRPr>
          </a:p>
        </p:txBody>
      </p:sp>
      <p:sp>
        <p:nvSpPr>
          <p:cNvPr id="4" name="TextBox 3"/>
          <p:cNvSpPr txBox="1"/>
          <p:nvPr/>
        </p:nvSpPr>
        <p:spPr>
          <a:xfrm>
            <a:off x="1417320" y="5577840"/>
            <a:ext cx="14447520" cy="2377440"/>
          </a:xfrm>
          <a:prstGeom prst="rect">
            <a:avLst/>
          </a:prstGeom>
          <a:noFill/>
        </p:spPr>
        <p:txBody>
          <a:bodyPr wrap="square">
            <a:spAutoFit/>
          </a:bodyPr>
          <a:lstStyle/>
          <a:p>
            <a:r>
              <a:rPr sz="3400" b="0">
                <a:solidFill>
                  <a:srgbClr val="16181D"/>
                </a:solidFill>
                <a:latin typeface="Arial"/>
              </a:rPr>
              <a:t>Data: collecting, cleaning, labelling, preparing, analysing.</a:t>
            </a:r>
          </a:p>
          <a:p>
            <a:pPr>
              <a:spcBef>
                <a:spcPts val="1800"/>
              </a:spcBef>
            </a:pPr>
            <a:r>
              <a:rPr sz="2400" b="0">
                <a:solidFill>
                  <a:srgbClr val="6B7280"/>
                </a:solidFill>
                <a:latin typeface="Arial"/>
              </a:rPr>
              <a:t>15% model development.   5% deployment.</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769441"/>
          </a:xfrm>
          <a:prstGeom prst="rect">
            <a:avLst/>
          </a:prstGeom>
          <a:noFill/>
        </p:spPr>
        <p:txBody>
          <a:bodyPr wrap="square">
            <a:spAutoFit/>
          </a:bodyPr>
          <a:lstStyle/>
          <a:p>
            <a:r>
              <a:rPr lang="nb-NO" sz="4400" b="1" dirty="0">
                <a:solidFill>
                  <a:srgbClr val="16181D"/>
                </a:solidFill>
                <a:latin typeface="Arial"/>
              </a:rPr>
              <a:t>Data for AI</a:t>
            </a:r>
            <a:endParaRPr sz="4400" b="1" dirty="0">
              <a:solidFill>
                <a:srgbClr val="16181D"/>
              </a:solidFill>
              <a:latin typeface="Arial"/>
            </a:endParaRP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3000" b="0">
                <a:solidFill>
                  <a:srgbClr val="16181D"/>
                </a:solidFill>
                <a:latin typeface="Arial"/>
              </a:rPr>
              <a:t>▪   Why data is the actual job</a:t>
            </a:r>
          </a:p>
          <a:p>
            <a:pPr>
              <a:spcAft>
                <a:spcPts val="1400"/>
              </a:spcAft>
            </a:pPr>
            <a:r>
              <a:rPr sz="3000" b="0">
                <a:solidFill>
                  <a:srgbClr val="16181D"/>
                </a:solidFill>
                <a:latin typeface="Arial"/>
              </a:rPr>
              <a:t>▪   </a:t>
            </a:r>
            <a:r>
              <a:rPr sz="3000" b="1">
                <a:solidFill>
                  <a:srgbClr val="16181D"/>
                </a:solidFill>
                <a:latin typeface="Arial"/>
              </a:rPr>
              <a:t>A model with 99% accuracy — and why you should be worried</a:t>
            </a:r>
          </a:p>
          <a:p>
            <a:pPr>
              <a:spcAft>
                <a:spcPts val="1400"/>
              </a:spcAft>
            </a:pPr>
            <a:r>
              <a:rPr sz="3000" b="0">
                <a:solidFill>
                  <a:srgbClr val="16181D"/>
                </a:solidFill>
                <a:latin typeface="Arial"/>
              </a:rPr>
              <a:t>▪   Reading a dataset you have never seen before</a:t>
            </a:r>
          </a:p>
          <a:p>
            <a:pPr>
              <a:spcAft>
                <a:spcPts val="1400"/>
              </a:spcAft>
            </a:pPr>
            <a:r>
              <a:rPr sz="3000" b="0">
                <a:solidFill>
                  <a:srgbClr val="16181D"/>
                </a:solidFill>
                <a:latin typeface="Arial"/>
              </a:rPr>
              <a:t>▪   Missing values, duplicates, outliers, inconsistent categories</a:t>
            </a:r>
          </a:p>
          <a:p>
            <a:pPr>
              <a:spcAft>
                <a:spcPts val="1400"/>
              </a:spcAft>
            </a:pPr>
            <a:r>
              <a:rPr sz="3000" b="0">
                <a:solidFill>
                  <a:srgbClr val="16181D"/>
                </a:solidFill>
                <a:latin typeface="Arial"/>
              </a:rPr>
              <a:t>▪   Encoding, scaling, feature engineering</a:t>
            </a:r>
          </a:p>
          <a:p>
            <a:pPr>
              <a:spcAft>
                <a:spcPts val="1400"/>
              </a:spcAft>
            </a:pPr>
            <a:r>
              <a:rPr sz="3000" b="0">
                <a:solidFill>
                  <a:srgbClr val="16181D"/>
                </a:solidFill>
                <a:latin typeface="Arial"/>
              </a:rPr>
              <a:t>▪   Splitting data — and the one rule you must not break</a:t>
            </a:r>
          </a:p>
          <a:p>
            <a:pPr>
              <a:spcAft>
                <a:spcPts val="1400"/>
              </a:spcAft>
            </a:pPr>
            <a:r>
              <a:rPr sz="3000" b="0">
                <a:solidFill>
                  <a:srgbClr val="16181D"/>
                </a:solidFill>
                <a:latin typeface="Arial"/>
              </a:rPr>
              <a:t>▪   Labelling, privacy and synthetic data</a:t>
            </a:r>
          </a:p>
          <a:p>
            <a:pPr>
              <a:spcAft>
                <a:spcPts val="1400"/>
              </a:spcAft>
            </a:pPr>
            <a:r>
              <a:rPr sz="3000" b="0">
                <a:solidFill>
                  <a:srgbClr val="16181D"/>
                </a:solidFill>
                <a:latin typeface="Arial"/>
              </a:rPr>
              <a:t>▪   </a:t>
            </a:r>
            <a:r>
              <a:rPr sz="3000" b="1">
                <a:solidFill>
                  <a:srgbClr val="16181D"/>
                </a:solidFill>
                <a:latin typeface="Arial"/>
              </a:rPr>
              <a:t>Your challenge at the end: break a model without lowering its accuracy</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is the job</a:t>
            </a:r>
          </a:p>
        </p:txBody>
      </p:sp>
      <p:sp>
        <p:nvSpPr>
          <p:cNvPr id="3" name="Rectangle 2"/>
          <p:cNvSpPr/>
          <p:nvPr/>
        </p:nvSpPr>
        <p:spPr>
          <a:xfrm>
            <a:off x="969264" y="3566160"/>
            <a:ext cx="2926080" cy="201168"/>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3886200"/>
            <a:ext cx="12801600" cy="548640"/>
          </a:xfrm>
          <a:prstGeom prst="rect">
            <a:avLst/>
          </a:prstGeom>
          <a:noFill/>
        </p:spPr>
        <p:txBody>
          <a:bodyPr wrap="none">
            <a:spAutoFit/>
          </a:bodyPr>
          <a:lstStyle/>
          <a:p>
            <a:r>
              <a:rPr sz="2000" b="1">
                <a:solidFill>
                  <a:srgbClr val="6B7280"/>
                </a:solidFill>
                <a:latin typeface="Arial"/>
              </a:rPr>
              <a:t>PART 1</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9264" y="2743200"/>
            <a:ext cx="15371063" cy="38404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69264" y="2743200"/>
            <a:ext cx="82296" cy="3840480"/>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54480" y="3063240"/>
            <a:ext cx="14173200" cy="3200400"/>
          </a:xfrm>
          <a:prstGeom prst="rect">
            <a:avLst/>
          </a:prstGeom>
          <a:noFill/>
        </p:spPr>
        <p:txBody>
          <a:bodyPr wrap="square" anchor="ctr">
            <a:spAutoFit/>
          </a:bodyPr>
          <a:lstStyle/>
          <a:p>
            <a:r>
              <a:rPr sz="5400" b="1">
                <a:solidFill>
                  <a:srgbClr val="16181D"/>
                </a:solidFill>
                <a:latin typeface="Arial"/>
              </a:rPr>
              <a:t>In most real projects, the fastest way to improve a model is to improve the data — not the algorithm.</a:t>
            </a:r>
          </a:p>
          <a:p>
            <a:pPr>
              <a:spcBef>
                <a:spcPts val="2400"/>
              </a:spcBef>
            </a:pPr>
            <a:r>
              <a:rPr sz="2800" b="0">
                <a:solidFill>
                  <a:srgbClr val="3A3F47"/>
                </a:solidFill>
                <a:latin typeface="Arial"/>
              </a:rPr>
              <a:t>If you remember one sentence from this lecture, remember this one.</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14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007A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658368"/>
            <a:ext cx="15371063" cy="868680"/>
          </a:xfrm>
          <a:prstGeom prst="rect">
            <a:avLst/>
          </a:prstGeom>
          <a:noFill/>
        </p:spPr>
        <p:txBody>
          <a:bodyPr wrap="square">
            <a:spAutoFit/>
          </a:bodyPr>
          <a:lstStyle/>
          <a:p>
            <a:r>
              <a:rPr sz="4400" b="1">
                <a:solidFill>
                  <a:srgbClr val="FFFFFF"/>
                </a:solidFill>
                <a:latin typeface="Arial"/>
              </a:rPr>
              <a:t>From my own projects</a:t>
            </a:r>
          </a:p>
        </p:txBody>
      </p:sp>
      <p:sp>
        <p:nvSpPr>
          <p:cNvPr id="5" name="TextBox 4"/>
          <p:cNvSpPr txBox="1"/>
          <p:nvPr/>
        </p:nvSpPr>
        <p:spPr>
          <a:xfrm>
            <a:off x="969264" y="2057400"/>
            <a:ext cx="15371063" cy="6446520"/>
          </a:xfrm>
          <a:prstGeom prst="rect">
            <a:avLst/>
          </a:prstGeom>
          <a:noFill/>
        </p:spPr>
        <p:txBody>
          <a:bodyPr wrap="square">
            <a:spAutoFit/>
          </a:bodyPr>
          <a:lstStyle/>
          <a:p>
            <a:pPr>
              <a:spcAft>
                <a:spcPts val="1400"/>
              </a:spcAft>
            </a:pPr>
            <a:r>
              <a:rPr sz="3000" b="0" dirty="0">
                <a:solidFill>
                  <a:srgbClr val="16181D"/>
                </a:solidFill>
                <a:latin typeface="Arial"/>
              </a:rPr>
              <a:t>▪   </a:t>
            </a:r>
            <a:r>
              <a:rPr sz="3000" b="1" dirty="0" err="1">
                <a:solidFill>
                  <a:srgbClr val="16181D"/>
                </a:solidFill>
                <a:latin typeface="Arial"/>
              </a:rPr>
              <a:t>RuterGPT</a:t>
            </a:r>
            <a:r>
              <a:rPr sz="3000" b="0" dirty="0">
                <a:solidFill>
                  <a:srgbClr val="16181D"/>
                </a:solidFill>
                <a:latin typeface="Arial"/>
              </a:rPr>
              <a:t> — a Norwegian language model for transport</a:t>
            </a:r>
          </a:p>
          <a:p>
            <a:pPr>
              <a:spcAft>
                <a:spcPts val="800"/>
              </a:spcAft>
            </a:pPr>
            <a:r>
              <a:rPr sz="2500" b="0" dirty="0">
                <a:solidFill>
                  <a:srgbClr val="3A3F47"/>
                </a:solidFill>
                <a:latin typeface="Arial"/>
              </a:rPr>
              <a:t>        –   The training run was the short part. Getting usable Norwegian text was not.</a:t>
            </a:r>
          </a:p>
          <a:p>
            <a:pPr>
              <a:spcAft>
                <a:spcPts val="1400"/>
              </a:spcAft>
            </a:pPr>
            <a:r>
              <a:rPr sz="3000" b="0" dirty="0">
                <a:solidFill>
                  <a:srgbClr val="16181D"/>
                </a:solidFill>
                <a:latin typeface="Arial"/>
              </a:rPr>
              <a:t>▪   </a:t>
            </a:r>
            <a:r>
              <a:rPr sz="3000" b="1" dirty="0" err="1">
                <a:solidFill>
                  <a:srgbClr val="16181D"/>
                </a:solidFill>
                <a:latin typeface="Arial"/>
              </a:rPr>
              <a:t>TeT</a:t>
            </a:r>
            <a:r>
              <a:rPr sz="3000" b="1" dirty="0">
                <a:solidFill>
                  <a:srgbClr val="16181D"/>
                </a:solidFill>
                <a:latin typeface="Arial"/>
              </a:rPr>
              <a:t> Whisper</a:t>
            </a:r>
            <a:r>
              <a:rPr sz="3000" b="0" dirty="0">
                <a:solidFill>
                  <a:srgbClr val="16181D"/>
                </a:solidFill>
                <a:latin typeface="Arial"/>
              </a:rPr>
              <a:t> — audio model for customer service calls</a:t>
            </a:r>
          </a:p>
          <a:p>
            <a:pPr>
              <a:spcAft>
                <a:spcPts val="800"/>
              </a:spcAft>
            </a:pPr>
            <a:r>
              <a:rPr sz="2500" b="0" dirty="0">
                <a:solidFill>
                  <a:srgbClr val="3A3F47"/>
                </a:solidFill>
                <a:latin typeface="Arial"/>
              </a:rPr>
              <a:t>        –   15 seconds between phone calls. That constraint shaped the whole dataset.</a:t>
            </a:r>
          </a:p>
          <a:p>
            <a:pPr>
              <a:spcAft>
                <a:spcPts val="1400"/>
              </a:spcAft>
            </a:pPr>
            <a:r>
              <a:rPr sz="3000" b="0" dirty="0">
                <a:solidFill>
                  <a:srgbClr val="16181D"/>
                </a:solidFill>
                <a:latin typeface="Arial"/>
              </a:rPr>
              <a:t>▪   </a:t>
            </a:r>
            <a:r>
              <a:rPr sz="3000" b="1" dirty="0">
                <a:solidFill>
                  <a:srgbClr val="16181D"/>
                </a:solidFill>
                <a:latin typeface="Arial"/>
              </a:rPr>
              <a:t>Health AI</a:t>
            </a:r>
            <a:r>
              <a:rPr sz="3000" b="0" dirty="0">
                <a:solidFill>
                  <a:srgbClr val="16181D"/>
                </a:solidFill>
                <a:latin typeface="Arial"/>
              </a:rPr>
              <a:t> — labelling regions of eye images for dry eye disease</a:t>
            </a:r>
          </a:p>
          <a:p>
            <a:pPr>
              <a:spcAft>
                <a:spcPts val="800"/>
              </a:spcAft>
            </a:pPr>
            <a:r>
              <a:rPr sz="2500" b="0" dirty="0">
                <a:solidFill>
                  <a:srgbClr val="3A3F47"/>
                </a:solidFill>
                <a:latin typeface="Arial"/>
              </a:rPr>
              <a:t>        –   Clinicians had to agree on what counted as a region before anything could train.</a:t>
            </a:r>
          </a:p>
          <a:p>
            <a:pPr>
              <a:spcAft>
                <a:spcPts val="600"/>
              </a:spcAft>
            </a:pPr>
            <a:endParaRPr sz="2500" b="0" dirty="0">
              <a:solidFill>
                <a:srgbClr val="3A3F47"/>
              </a:solidFill>
              <a:latin typeface="Arial"/>
            </a:endParaRPr>
          </a:p>
          <a:p>
            <a:pPr>
              <a:spcAft>
                <a:spcPts val="1400"/>
              </a:spcAft>
            </a:pPr>
            <a:r>
              <a:rPr sz="3000" b="0" dirty="0">
                <a:solidFill>
                  <a:srgbClr val="16181D"/>
                </a:solidFill>
                <a:latin typeface="Arial"/>
              </a:rPr>
              <a:t>▪   In each one, the model was weeks. The data was months.</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16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6774C-0336-E3B8-948B-1D58D8C65C4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D80D3A7-F5CC-71CA-71F1-085FB66A04FA}"/>
              </a:ext>
            </a:extLst>
          </p:cNvPr>
          <p:cNvSpPr/>
          <p:nvPr/>
        </p:nvSpPr>
        <p:spPr>
          <a:xfrm>
            <a:off x="256032" y="91440"/>
            <a:ext cx="16303751" cy="960120"/>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46C4BCAF-B7ED-5D15-AE04-C8F9C149AED1}"/>
              </a:ext>
            </a:extLst>
          </p:cNvPr>
          <p:cNvSpPr txBox="1"/>
          <p:nvPr/>
        </p:nvSpPr>
        <p:spPr>
          <a:xfrm>
            <a:off x="546183" y="174092"/>
            <a:ext cx="15371063" cy="960120"/>
          </a:xfrm>
          <a:prstGeom prst="rect">
            <a:avLst/>
          </a:prstGeom>
          <a:noFill/>
        </p:spPr>
        <p:txBody>
          <a:bodyPr wrap="square">
            <a:spAutoFit/>
          </a:bodyPr>
          <a:lstStyle/>
          <a:p>
            <a:r>
              <a:rPr sz="4400" b="1" dirty="0">
                <a:solidFill>
                  <a:srgbClr val="16181D"/>
                </a:solidFill>
                <a:latin typeface="Arial"/>
              </a:rPr>
              <a:t>The AI hierarchy of needs</a:t>
            </a:r>
          </a:p>
        </p:txBody>
      </p:sp>
      <p:graphicFrame>
        <p:nvGraphicFramePr>
          <p:cNvPr id="4" name="Table 3">
            <a:extLst>
              <a:ext uri="{FF2B5EF4-FFF2-40B4-BE49-F238E27FC236}">
                <a16:creationId xmlns:a16="http://schemas.microsoft.com/office/drawing/2014/main" id="{1AECEFFD-BB5E-5C2D-B0CE-365679D13A90}"/>
              </a:ext>
            </a:extLst>
          </p:cNvPr>
          <p:cNvGraphicFramePr>
            <a:graphicFrameLocks noGrp="1"/>
          </p:cNvGraphicFramePr>
          <p:nvPr>
            <p:extLst>
              <p:ext uri="{D42A27DB-BD31-4B8C-83A1-F6EECF244321}">
                <p14:modId xmlns:p14="http://schemas.microsoft.com/office/powerpoint/2010/main" val="2685197876"/>
              </p:ext>
            </p:extLst>
          </p:nvPr>
        </p:nvGraphicFramePr>
        <p:xfrm>
          <a:off x="9093862" y="3880315"/>
          <a:ext cx="8251163" cy="3703320"/>
        </p:xfrm>
        <a:graphic>
          <a:graphicData uri="http://schemas.openxmlformats.org/drawingml/2006/table">
            <a:tbl>
              <a:tblPr firstRow="1" bandRow="1">
                <a:tableStyleId>{5C22544A-7EE6-4342-B048-85BDC9FD1C3A}</a:tableStyleId>
              </a:tblPr>
              <a:tblGrid>
                <a:gridCol w="2475349">
                  <a:extLst>
                    <a:ext uri="{9D8B030D-6E8A-4147-A177-3AD203B41FA5}">
                      <a16:colId xmlns:a16="http://schemas.microsoft.com/office/drawing/2014/main" val="20000"/>
                    </a:ext>
                  </a:extLst>
                </a:gridCol>
                <a:gridCol w="5775814">
                  <a:extLst>
                    <a:ext uri="{9D8B030D-6E8A-4147-A177-3AD203B41FA5}">
                      <a16:colId xmlns:a16="http://schemas.microsoft.com/office/drawing/2014/main" val="20001"/>
                    </a:ext>
                  </a:extLst>
                </a:gridCol>
              </a:tblGrid>
              <a:tr h="360800">
                <a:tc>
                  <a:txBody>
                    <a:bodyPr/>
                    <a:lstStyle/>
                    <a:p>
                      <a:r>
                        <a:rPr sz="2100" b="1">
                          <a:solidFill>
                            <a:srgbClr val="16181D"/>
                          </a:solidFill>
                          <a:latin typeface="Arial"/>
                        </a:rPr>
                        <a:t>Layer</a:t>
                      </a:r>
                    </a:p>
                  </a:txBody>
                  <a:tcPr marL="109728" marR="109728">
                    <a:solidFill>
                      <a:srgbClr val="FFDC00"/>
                    </a:solidFill>
                  </a:tcPr>
                </a:tc>
                <a:tc>
                  <a:txBody>
                    <a:bodyPr/>
                    <a:lstStyle/>
                    <a:p>
                      <a:r>
                        <a:rPr sz="2100" b="1" dirty="0">
                          <a:solidFill>
                            <a:srgbClr val="16181D"/>
                          </a:solidFill>
                          <a:latin typeface="Arial"/>
                        </a:rPr>
                        <a:t>What it involves</a:t>
                      </a:r>
                    </a:p>
                  </a:txBody>
                  <a:tcPr marL="109728" marR="109728">
                    <a:solidFill>
                      <a:srgbClr val="FFDC00"/>
                    </a:solidFill>
                  </a:tcPr>
                </a:tc>
                <a:extLst>
                  <a:ext uri="{0D108BD9-81ED-4DB2-BD59-A6C34878D82A}">
                    <a16:rowId xmlns:a16="http://schemas.microsoft.com/office/drawing/2014/main" val="10000"/>
                  </a:ext>
                </a:extLst>
              </a:tr>
              <a:tr h="347437">
                <a:tc>
                  <a:txBody>
                    <a:bodyPr/>
                    <a:lstStyle/>
                    <a:p>
                      <a:r>
                        <a:rPr sz="2000" b="0">
                          <a:solidFill>
                            <a:srgbClr val="16181D"/>
                          </a:solidFill>
                          <a:latin typeface="Arial"/>
                        </a:rPr>
                        <a:t>6.  AI / deep learning</a:t>
                      </a:r>
                    </a:p>
                  </a:txBody>
                  <a:tcPr marL="109728" marR="109728">
                    <a:solidFill>
                      <a:srgbClr val="FFFFFF"/>
                    </a:solidFill>
                  </a:tcPr>
                </a:tc>
                <a:tc>
                  <a:txBody>
                    <a:bodyPr/>
                    <a:lstStyle/>
                    <a:p>
                      <a:r>
                        <a:rPr sz="2000" b="0">
                          <a:solidFill>
                            <a:srgbClr val="16181D"/>
                          </a:solidFill>
                          <a:latin typeface="Arial"/>
                        </a:rPr>
                        <a:t>The part everyone wants to talk about</a:t>
                      </a:r>
                    </a:p>
                  </a:txBody>
                  <a:tcPr marL="109728" marR="109728">
                    <a:solidFill>
                      <a:srgbClr val="FFFFFF"/>
                    </a:solidFill>
                  </a:tcPr>
                </a:tc>
                <a:extLst>
                  <a:ext uri="{0D108BD9-81ED-4DB2-BD59-A6C34878D82A}">
                    <a16:rowId xmlns:a16="http://schemas.microsoft.com/office/drawing/2014/main" val="10001"/>
                  </a:ext>
                </a:extLst>
              </a:tr>
              <a:tr h="347437">
                <a:tc>
                  <a:txBody>
                    <a:bodyPr/>
                    <a:lstStyle/>
                    <a:p>
                      <a:r>
                        <a:rPr sz="2000" b="0">
                          <a:solidFill>
                            <a:srgbClr val="16181D"/>
                          </a:solidFill>
                          <a:latin typeface="Arial"/>
                        </a:rPr>
                        <a:t>5.  Learn / optimise</a:t>
                      </a:r>
                    </a:p>
                  </a:txBody>
                  <a:tcPr marL="109728" marR="109728">
                    <a:solidFill>
                      <a:srgbClr val="F7F8FA"/>
                    </a:solidFill>
                  </a:tcPr>
                </a:tc>
                <a:tc>
                  <a:txBody>
                    <a:bodyPr/>
                    <a:lstStyle/>
                    <a:p>
                      <a:r>
                        <a:rPr sz="2000" b="0">
                          <a:solidFill>
                            <a:srgbClr val="16181D"/>
                          </a:solidFill>
                          <a:latin typeface="Arial"/>
                        </a:rPr>
                        <a:t>Simple ML, A/B testing, experimentation</a:t>
                      </a:r>
                    </a:p>
                  </a:txBody>
                  <a:tcPr marL="109728" marR="109728">
                    <a:solidFill>
                      <a:srgbClr val="F7F8FA"/>
                    </a:solidFill>
                  </a:tcPr>
                </a:tc>
                <a:extLst>
                  <a:ext uri="{0D108BD9-81ED-4DB2-BD59-A6C34878D82A}">
                    <a16:rowId xmlns:a16="http://schemas.microsoft.com/office/drawing/2014/main" val="10002"/>
                  </a:ext>
                </a:extLst>
              </a:tr>
              <a:tr h="347437">
                <a:tc>
                  <a:txBody>
                    <a:bodyPr/>
                    <a:lstStyle/>
                    <a:p>
                      <a:r>
                        <a:rPr sz="2000" b="0">
                          <a:solidFill>
                            <a:srgbClr val="16181D"/>
                          </a:solidFill>
                          <a:latin typeface="Arial"/>
                        </a:rPr>
                        <a:t>4.  Aggregate / label</a:t>
                      </a:r>
                    </a:p>
                  </a:txBody>
                  <a:tcPr marL="109728" marR="109728">
                    <a:solidFill>
                      <a:srgbClr val="FFFFFF"/>
                    </a:solidFill>
                  </a:tcPr>
                </a:tc>
                <a:tc>
                  <a:txBody>
                    <a:bodyPr/>
                    <a:lstStyle/>
                    <a:p>
                      <a:r>
                        <a:rPr sz="2000" b="0" dirty="0">
                          <a:solidFill>
                            <a:srgbClr val="16181D"/>
                          </a:solidFill>
                          <a:latin typeface="Arial"/>
                        </a:rPr>
                        <a:t>Analytics, metrics, labelled datasets   ← today</a:t>
                      </a:r>
                    </a:p>
                  </a:txBody>
                  <a:tcPr marL="109728" marR="109728">
                    <a:solidFill>
                      <a:srgbClr val="FFFFFF"/>
                    </a:solidFill>
                  </a:tcPr>
                </a:tc>
                <a:extLst>
                  <a:ext uri="{0D108BD9-81ED-4DB2-BD59-A6C34878D82A}">
                    <a16:rowId xmlns:a16="http://schemas.microsoft.com/office/drawing/2014/main" val="10003"/>
                  </a:ext>
                </a:extLst>
              </a:tr>
              <a:tr h="347437">
                <a:tc>
                  <a:txBody>
                    <a:bodyPr/>
                    <a:lstStyle/>
                    <a:p>
                      <a:r>
                        <a:rPr sz="2000" b="0">
                          <a:solidFill>
                            <a:srgbClr val="16181D"/>
                          </a:solidFill>
                          <a:latin typeface="Arial"/>
                        </a:rPr>
                        <a:t>3.  Explore / transform</a:t>
                      </a:r>
                    </a:p>
                  </a:txBody>
                  <a:tcPr marL="109728" marR="109728">
                    <a:solidFill>
                      <a:srgbClr val="F7F8FA"/>
                    </a:solidFill>
                  </a:tcPr>
                </a:tc>
                <a:tc>
                  <a:txBody>
                    <a:bodyPr/>
                    <a:lstStyle/>
                    <a:p>
                      <a:r>
                        <a:rPr sz="2000" b="0">
                          <a:solidFill>
                            <a:srgbClr val="16181D"/>
                          </a:solidFill>
                          <a:latin typeface="Arial"/>
                        </a:rPr>
                        <a:t>Cleaning, preparation, anomaly detection   ← today</a:t>
                      </a:r>
                    </a:p>
                  </a:txBody>
                  <a:tcPr marL="109728" marR="109728">
                    <a:solidFill>
                      <a:srgbClr val="F7F8FA"/>
                    </a:solidFill>
                  </a:tcPr>
                </a:tc>
                <a:extLst>
                  <a:ext uri="{0D108BD9-81ED-4DB2-BD59-A6C34878D82A}">
                    <a16:rowId xmlns:a16="http://schemas.microsoft.com/office/drawing/2014/main" val="10004"/>
                  </a:ext>
                </a:extLst>
              </a:tr>
              <a:tr h="347437">
                <a:tc>
                  <a:txBody>
                    <a:bodyPr/>
                    <a:lstStyle/>
                    <a:p>
                      <a:r>
                        <a:rPr sz="2000" b="0">
                          <a:solidFill>
                            <a:srgbClr val="16181D"/>
                          </a:solidFill>
                          <a:latin typeface="Arial"/>
                        </a:rPr>
                        <a:t>2.  Move / store</a:t>
                      </a:r>
                    </a:p>
                  </a:txBody>
                  <a:tcPr marL="109728" marR="109728">
                    <a:solidFill>
                      <a:srgbClr val="FFFFFF"/>
                    </a:solidFill>
                  </a:tcPr>
                </a:tc>
                <a:tc>
                  <a:txBody>
                    <a:bodyPr/>
                    <a:lstStyle/>
                    <a:p>
                      <a:r>
                        <a:rPr sz="2000" b="0">
                          <a:solidFill>
                            <a:srgbClr val="16181D"/>
                          </a:solidFill>
                          <a:latin typeface="Arial"/>
                        </a:rPr>
                        <a:t>Pipelines, ETL, databases</a:t>
                      </a:r>
                    </a:p>
                  </a:txBody>
                  <a:tcPr marL="109728" marR="109728">
                    <a:solidFill>
                      <a:srgbClr val="FFFFFF"/>
                    </a:solidFill>
                  </a:tcPr>
                </a:tc>
                <a:extLst>
                  <a:ext uri="{0D108BD9-81ED-4DB2-BD59-A6C34878D82A}">
                    <a16:rowId xmlns:a16="http://schemas.microsoft.com/office/drawing/2014/main" val="10005"/>
                  </a:ext>
                </a:extLst>
              </a:tr>
              <a:tr h="347437">
                <a:tc>
                  <a:txBody>
                    <a:bodyPr/>
                    <a:lstStyle/>
                    <a:p>
                      <a:r>
                        <a:rPr sz="2000" b="0">
                          <a:solidFill>
                            <a:srgbClr val="16181D"/>
                          </a:solidFill>
                          <a:latin typeface="Arial"/>
                        </a:rPr>
                        <a:t>1.  Collect</a:t>
                      </a:r>
                    </a:p>
                  </a:txBody>
                  <a:tcPr marL="109728" marR="109728">
                    <a:solidFill>
                      <a:srgbClr val="F7F8FA"/>
                    </a:solidFill>
                  </a:tcPr>
                </a:tc>
                <a:tc>
                  <a:txBody>
                    <a:bodyPr/>
                    <a:lstStyle/>
                    <a:p>
                      <a:r>
                        <a:rPr sz="2000" b="0" dirty="0">
                          <a:solidFill>
                            <a:srgbClr val="16181D"/>
                          </a:solidFill>
                          <a:latin typeface="Arial"/>
                        </a:rPr>
                        <a:t>Instrumentation, logging, sensors</a:t>
                      </a:r>
                    </a:p>
                  </a:txBody>
                  <a:tcPr marL="109728" marR="109728">
                    <a:solidFill>
                      <a:srgbClr val="F7F8FA"/>
                    </a:solidFill>
                  </a:tcPr>
                </a:tc>
                <a:extLst>
                  <a:ext uri="{0D108BD9-81ED-4DB2-BD59-A6C34878D82A}">
                    <a16:rowId xmlns:a16="http://schemas.microsoft.com/office/drawing/2014/main" val="10006"/>
                  </a:ext>
                </a:extLst>
              </a:tr>
            </a:tbl>
          </a:graphicData>
        </a:graphic>
      </p:graphicFrame>
      <p:sp>
        <p:nvSpPr>
          <p:cNvPr id="5" name="TextBox 4">
            <a:extLst>
              <a:ext uri="{FF2B5EF4-FFF2-40B4-BE49-F238E27FC236}">
                <a16:creationId xmlns:a16="http://schemas.microsoft.com/office/drawing/2014/main" id="{B8BE1A14-DF61-83E4-05D0-2029F455E279}"/>
              </a:ext>
            </a:extLst>
          </p:cNvPr>
          <p:cNvSpPr txBox="1"/>
          <p:nvPr/>
        </p:nvSpPr>
        <p:spPr>
          <a:xfrm>
            <a:off x="5477094" y="9052607"/>
            <a:ext cx="7979599" cy="353943"/>
          </a:xfrm>
          <a:prstGeom prst="rect">
            <a:avLst/>
          </a:prstGeom>
          <a:noFill/>
        </p:spPr>
        <p:txBody>
          <a:bodyPr wrap="square">
            <a:spAutoFit/>
          </a:bodyPr>
          <a:lstStyle/>
          <a:p>
            <a:r>
              <a:rPr sz="1700" b="0" dirty="0">
                <a:solidFill>
                  <a:srgbClr val="6B7280"/>
                </a:solidFill>
                <a:latin typeface="Arial"/>
              </a:rPr>
              <a:t>After Monica </a:t>
            </a:r>
            <a:r>
              <a:rPr sz="1700" b="0" dirty="0" err="1">
                <a:solidFill>
                  <a:srgbClr val="6B7280"/>
                </a:solidFill>
                <a:latin typeface="Arial"/>
              </a:rPr>
              <a:t>Rogati</a:t>
            </a:r>
            <a:r>
              <a:rPr sz="1700" b="0" dirty="0">
                <a:solidFill>
                  <a:srgbClr val="6B7280"/>
                </a:solidFill>
                <a:latin typeface="Arial"/>
              </a:rPr>
              <a:t>. </a:t>
            </a:r>
            <a:r>
              <a:rPr sz="1700" b="0" dirty="0" err="1">
                <a:solidFill>
                  <a:srgbClr val="6B7280"/>
                </a:solidFill>
                <a:latin typeface="Arial"/>
              </a:rPr>
              <a:t>Organisations</a:t>
            </a:r>
            <a:r>
              <a:rPr sz="1700" b="0" dirty="0">
                <a:solidFill>
                  <a:srgbClr val="6B7280"/>
                </a:solidFill>
                <a:latin typeface="Arial"/>
              </a:rPr>
              <a:t> that try to start at the top fail, expensively.</a:t>
            </a:r>
          </a:p>
        </p:txBody>
      </p:sp>
      <p:sp>
        <p:nvSpPr>
          <p:cNvPr id="6" name="TextBox 5">
            <a:extLst>
              <a:ext uri="{FF2B5EF4-FFF2-40B4-BE49-F238E27FC236}">
                <a16:creationId xmlns:a16="http://schemas.microsoft.com/office/drawing/2014/main" id="{138ACFB4-FED6-40DD-8194-33222C057BCA}"/>
              </a:ext>
            </a:extLst>
          </p:cNvPr>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7" name="TextBox 6">
            <a:extLst>
              <a:ext uri="{FF2B5EF4-FFF2-40B4-BE49-F238E27FC236}">
                <a16:creationId xmlns:a16="http://schemas.microsoft.com/office/drawing/2014/main" id="{C98B6CAA-45DB-4801-2F26-F1C427F7FB9A}"/>
              </a:ext>
            </a:extLst>
          </p:cNvPr>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15</a:t>
            </a:r>
          </a:p>
        </p:txBody>
      </p:sp>
      <p:pic>
        <p:nvPicPr>
          <p:cNvPr id="8" name="Picture 2" descr="Image for post">
            <a:extLst>
              <a:ext uri="{FF2B5EF4-FFF2-40B4-BE49-F238E27FC236}">
                <a16:creationId xmlns:a16="http://schemas.microsoft.com/office/drawing/2014/main" id="{1CBAFAAF-64B3-11ED-53ED-5D42422F8E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519" y="1046770"/>
            <a:ext cx="8625111" cy="5529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4218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Steps to design an A.I system</a:t>
            </a:r>
          </a:p>
        </p:txBody>
      </p:sp>
      <p:sp>
        <p:nvSpPr>
          <p:cNvPr id="4" name="TextBox 3"/>
          <p:cNvSpPr txBox="1"/>
          <p:nvPr/>
        </p:nvSpPr>
        <p:spPr>
          <a:xfrm>
            <a:off x="969263" y="2651760"/>
            <a:ext cx="15371063" cy="6446520"/>
          </a:xfrm>
          <a:prstGeom prst="rect">
            <a:avLst/>
          </a:prstGeom>
          <a:noFill/>
        </p:spPr>
        <p:txBody>
          <a:bodyPr wrap="square">
            <a:spAutoFit/>
          </a:bodyPr>
          <a:lstStyle/>
          <a:p>
            <a:pPr>
              <a:spcAft>
                <a:spcPts val="1400"/>
              </a:spcAft>
            </a:pPr>
            <a:r>
              <a:rPr sz="3000" b="0" dirty="0">
                <a:solidFill>
                  <a:srgbClr val="16181D"/>
                </a:solidFill>
                <a:latin typeface="Arial"/>
              </a:rPr>
              <a:t>▪   Identify the problem</a:t>
            </a:r>
          </a:p>
          <a:p>
            <a:pPr>
              <a:spcAft>
                <a:spcPts val="1400"/>
              </a:spcAft>
            </a:pPr>
            <a:r>
              <a:rPr sz="3000" b="0" dirty="0">
                <a:solidFill>
                  <a:srgbClr val="16181D"/>
                </a:solidFill>
                <a:latin typeface="Arial"/>
              </a:rPr>
              <a:t>▪   </a:t>
            </a:r>
            <a:r>
              <a:rPr sz="3000" b="1" dirty="0">
                <a:solidFill>
                  <a:srgbClr val="16181D"/>
                </a:solidFill>
                <a:latin typeface="Arial"/>
              </a:rPr>
              <a:t>Prepare the data</a:t>
            </a:r>
          </a:p>
          <a:p>
            <a:pPr>
              <a:spcAft>
                <a:spcPts val="1400"/>
              </a:spcAft>
            </a:pPr>
            <a:r>
              <a:rPr sz="3000" b="0" dirty="0">
                <a:solidFill>
                  <a:srgbClr val="16181D"/>
                </a:solidFill>
                <a:latin typeface="Arial"/>
              </a:rPr>
              <a:t>▪   Choose the algorithms</a:t>
            </a:r>
          </a:p>
          <a:p>
            <a:pPr>
              <a:spcAft>
                <a:spcPts val="1400"/>
              </a:spcAft>
            </a:pPr>
            <a:r>
              <a:rPr sz="3000" b="0" dirty="0">
                <a:solidFill>
                  <a:srgbClr val="16181D"/>
                </a:solidFill>
                <a:latin typeface="Arial"/>
              </a:rPr>
              <a:t>▪   Train the algorithms with the data</a:t>
            </a:r>
          </a:p>
          <a:p>
            <a:pPr>
              <a:spcAft>
                <a:spcPts val="1400"/>
              </a:spcAft>
            </a:pPr>
            <a:r>
              <a:rPr sz="3000" b="0" dirty="0">
                <a:solidFill>
                  <a:srgbClr val="16181D"/>
                </a:solidFill>
                <a:latin typeface="Arial"/>
              </a:rPr>
              <a:t>▪   Run on a selected platform</a:t>
            </a:r>
          </a:p>
        </p:txBody>
      </p:sp>
      <p:sp>
        <p:nvSpPr>
          <p:cNvPr id="5" name="TextBox 4"/>
          <p:cNvSpPr txBox="1"/>
          <p:nvPr/>
        </p:nvSpPr>
        <p:spPr>
          <a:xfrm>
            <a:off x="1004698" y="6539277"/>
            <a:ext cx="15371063" cy="457200"/>
          </a:xfrm>
          <a:prstGeom prst="rect">
            <a:avLst/>
          </a:prstGeom>
          <a:noFill/>
        </p:spPr>
        <p:txBody>
          <a:bodyPr wrap="none">
            <a:spAutoFit/>
          </a:bodyPr>
          <a:lstStyle/>
          <a:p>
            <a:r>
              <a:rPr sz="1700" b="0" dirty="0">
                <a:solidFill>
                  <a:srgbClr val="6B7280"/>
                </a:solidFill>
                <a:latin typeface="Arial"/>
              </a:rPr>
              <a:t>Step 3 is what people talk about at conferences. Step 2 is what people do at work.</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A.I is about algorithms, tools and data</a:t>
            </a:r>
          </a:p>
        </p:txBody>
      </p:sp>
      <p:sp>
        <p:nvSpPr>
          <p:cNvPr id="4" name="Rectangle 3"/>
          <p:cNvSpPr/>
          <p:nvPr/>
        </p:nvSpPr>
        <p:spPr>
          <a:xfrm>
            <a:off x="969264" y="2057400"/>
            <a:ext cx="7452360" cy="6035040"/>
          </a:xfrm>
          <a:prstGeom prst="rect">
            <a:avLst/>
          </a:prstGeom>
          <a:solidFill>
            <a:srgbClr val="FAFBFC"/>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9264" y="2057400"/>
            <a:ext cx="82296" cy="6035040"/>
          </a:xfrm>
          <a:prstGeom prst="rect">
            <a:avLst/>
          </a:prstGeom>
          <a:solidFill>
            <a:srgbClr val="E02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43584" y="2221992"/>
            <a:ext cx="6995160" cy="640080"/>
          </a:xfrm>
          <a:prstGeom prst="rect">
            <a:avLst/>
          </a:prstGeom>
          <a:noFill/>
        </p:spPr>
        <p:txBody>
          <a:bodyPr wrap="none">
            <a:spAutoFit/>
          </a:bodyPr>
          <a:lstStyle/>
          <a:p>
            <a:r>
              <a:rPr sz="2800" b="1">
                <a:solidFill>
                  <a:srgbClr val="16181D"/>
                </a:solidFill>
                <a:latin typeface="Arial"/>
              </a:rPr>
              <a:t>Algorithms and tools</a:t>
            </a:r>
          </a:p>
        </p:txBody>
      </p:sp>
      <p:sp>
        <p:nvSpPr>
          <p:cNvPr id="7" name="TextBox 6"/>
          <p:cNvSpPr txBox="1"/>
          <p:nvPr/>
        </p:nvSpPr>
        <p:spPr>
          <a:xfrm>
            <a:off x="1243584" y="2971800"/>
            <a:ext cx="6949440" cy="2503249"/>
          </a:xfrm>
          <a:prstGeom prst="rect">
            <a:avLst/>
          </a:prstGeom>
          <a:noFill/>
        </p:spPr>
        <p:txBody>
          <a:bodyPr wrap="square">
            <a:spAutoFit/>
          </a:bodyPr>
          <a:lstStyle/>
          <a:p>
            <a:pPr>
              <a:spcAft>
                <a:spcPts val="1100"/>
              </a:spcAft>
            </a:pPr>
            <a:r>
              <a:rPr sz="2400" b="0" dirty="0">
                <a:solidFill>
                  <a:srgbClr val="16181D"/>
                </a:solidFill>
                <a:latin typeface="Arial"/>
              </a:rPr>
              <a:t>▪   scikit-learn, </a:t>
            </a:r>
            <a:r>
              <a:rPr sz="2400" b="0" dirty="0" err="1">
                <a:solidFill>
                  <a:srgbClr val="16181D"/>
                </a:solidFill>
                <a:latin typeface="Arial"/>
              </a:rPr>
              <a:t>PyTorch</a:t>
            </a:r>
            <a:r>
              <a:rPr sz="2400" b="0" dirty="0">
                <a:solidFill>
                  <a:srgbClr val="16181D"/>
                </a:solidFill>
                <a:latin typeface="Arial"/>
              </a:rPr>
              <a:t>, pandas</a:t>
            </a:r>
          </a:p>
          <a:p>
            <a:pPr>
              <a:spcAft>
                <a:spcPts val="1100"/>
              </a:spcAft>
            </a:pPr>
            <a:r>
              <a:rPr sz="2400" b="0" dirty="0">
                <a:solidFill>
                  <a:srgbClr val="16181D"/>
                </a:solidFill>
                <a:latin typeface="Arial"/>
              </a:rPr>
              <a:t>▪   Free to download</a:t>
            </a:r>
          </a:p>
          <a:p>
            <a:pPr>
              <a:spcAft>
                <a:spcPts val="1100"/>
              </a:spcAft>
            </a:pPr>
            <a:r>
              <a:rPr sz="2400" b="0" dirty="0">
                <a:solidFill>
                  <a:srgbClr val="16181D"/>
                </a:solidFill>
                <a:latin typeface="Arial"/>
              </a:rPr>
              <a:t>▪   Your competitors have exactly the same ones</a:t>
            </a:r>
          </a:p>
          <a:p>
            <a:pPr>
              <a:spcAft>
                <a:spcPts val="1100"/>
              </a:spcAft>
            </a:pPr>
            <a:r>
              <a:rPr sz="2400" b="0" dirty="0">
                <a:solidFill>
                  <a:srgbClr val="16181D"/>
                </a:solidFill>
                <a:latin typeface="Arial"/>
              </a:rPr>
              <a:t>▪   Published in papers within weeks</a:t>
            </a:r>
            <a:endParaRPr lang="nb-NO" sz="2400" dirty="0">
              <a:solidFill>
                <a:srgbClr val="16181D"/>
              </a:solidFill>
              <a:latin typeface="Arial"/>
            </a:endParaRPr>
          </a:p>
          <a:p>
            <a:pPr>
              <a:spcAft>
                <a:spcPts val="1100"/>
              </a:spcAft>
            </a:pPr>
            <a:r>
              <a:rPr lang="en-US" sz="2400" dirty="0">
                <a:solidFill>
                  <a:srgbClr val="16181D"/>
                </a:solidFill>
              </a:rPr>
              <a:t>▪   AI coding tools</a:t>
            </a:r>
            <a:endParaRPr lang="nb-NO" sz="2400" b="0" dirty="0">
              <a:solidFill>
                <a:srgbClr val="16181D"/>
              </a:solidFill>
              <a:latin typeface="Arial"/>
            </a:endParaRPr>
          </a:p>
        </p:txBody>
      </p:sp>
      <p:sp>
        <p:nvSpPr>
          <p:cNvPr id="8" name="Rectangle 7"/>
          <p:cNvSpPr/>
          <p:nvPr/>
        </p:nvSpPr>
        <p:spPr>
          <a:xfrm>
            <a:off x="8878824" y="2057400"/>
            <a:ext cx="7452360" cy="6035040"/>
          </a:xfrm>
          <a:prstGeom prst="rect">
            <a:avLst/>
          </a:prstGeom>
          <a:solidFill>
            <a:srgbClr val="FAFBFC"/>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878824" y="2057400"/>
            <a:ext cx="82296" cy="60350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53144" y="2221992"/>
            <a:ext cx="6995160" cy="640080"/>
          </a:xfrm>
          <a:prstGeom prst="rect">
            <a:avLst/>
          </a:prstGeom>
          <a:noFill/>
        </p:spPr>
        <p:txBody>
          <a:bodyPr wrap="none">
            <a:spAutoFit/>
          </a:bodyPr>
          <a:lstStyle/>
          <a:p>
            <a:r>
              <a:rPr sz="2800" b="1">
                <a:solidFill>
                  <a:srgbClr val="16181D"/>
                </a:solidFill>
                <a:latin typeface="Arial"/>
              </a:rPr>
              <a:t>Data</a:t>
            </a:r>
          </a:p>
        </p:txBody>
      </p:sp>
      <p:sp>
        <p:nvSpPr>
          <p:cNvPr id="11" name="TextBox 10"/>
          <p:cNvSpPr txBox="1"/>
          <p:nvPr/>
        </p:nvSpPr>
        <p:spPr>
          <a:xfrm>
            <a:off x="9153144" y="2971800"/>
            <a:ext cx="6949440" cy="4937760"/>
          </a:xfrm>
          <a:prstGeom prst="rect">
            <a:avLst/>
          </a:prstGeom>
          <a:noFill/>
        </p:spPr>
        <p:txBody>
          <a:bodyPr wrap="square">
            <a:spAutoFit/>
          </a:bodyPr>
          <a:lstStyle/>
          <a:p>
            <a:pPr>
              <a:spcAft>
                <a:spcPts val="1100"/>
              </a:spcAft>
            </a:pPr>
            <a:r>
              <a:rPr sz="2400" b="0">
                <a:solidFill>
                  <a:srgbClr val="16181D"/>
                </a:solidFill>
                <a:latin typeface="Arial"/>
              </a:rPr>
              <a:t>▪   Scarce, expensive, regulated</a:t>
            </a:r>
          </a:p>
          <a:p>
            <a:pPr>
              <a:spcAft>
                <a:spcPts val="1100"/>
              </a:spcAft>
            </a:pPr>
            <a:r>
              <a:rPr sz="2400" b="0">
                <a:solidFill>
                  <a:srgbClr val="16181D"/>
                </a:solidFill>
                <a:latin typeface="Arial"/>
              </a:rPr>
              <a:t>▪   Specific to one organisation</a:t>
            </a:r>
          </a:p>
          <a:p>
            <a:pPr>
              <a:spcAft>
                <a:spcPts val="1100"/>
              </a:spcAft>
            </a:pPr>
            <a:r>
              <a:rPr sz="2400" b="0">
                <a:solidFill>
                  <a:srgbClr val="16181D"/>
                </a:solidFill>
                <a:latin typeface="Arial"/>
              </a:rPr>
              <a:t>▪   Cannot be downloaded by a competitor</a:t>
            </a:r>
          </a:p>
          <a:p>
            <a:pPr>
              <a:spcAft>
                <a:spcPts val="1100"/>
              </a:spcAft>
            </a:pPr>
            <a:r>
              <a:rPr sz="2400" b="0">
                <a:solidFill>
                  <a:srgbClr val="16181D"/>
                </a:solidFill>
                <a:latin typeface="Arial"/>
              </a:rPr>
              <a:t>▪   </a:t>
            </a:r>
            <a:r>
              <a:rPr sz="2400" b="1">
                <a:solidFill>
                  <a:srgbClr val="16181D"/>
                </a:solidFill>
                <a:latin typeface="Arial"/>
              </a:rPr>
              <a:t>This is the actual asset</a:t>
            </a:r>
          </a:p>
        </p:txBody>
      </p:sp>
      <p:sp>
        <p:nvSpPr>
          <p:cNvPr id="12" name="TextBox 11"/>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13" name="TextBox 12"/>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13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Where data comes from</a:t>
            </a:r>
          </a:p>
        </p:txBody>
      </p:sp>
      <p:graphicFrame>
        <p:nvGraphicFramePr>
          <p:cNvPr id="4" name="Table 3"/>
          <p:cNvGraphicFramePr>
            <a:graphicFrameLocks noGrp="1"/>
          </p:cNvGraphicFramePr>
          <p:nvPr>
            <p:extLst>
              <p:ext uri="{D42A27DB-BD31-4B8C-83A1-F6EECF244321}">
                <p14:modId xmlns:p14="http://schemas.microsoft.com/office/powerpoint/2010/main" val="2890469152"/>
              </p:ext>
            </p:extLst>
          </p:nvPr>
        </p:nvGraphicFramePr>
        <p:xfrm>
          <a:off x="969264" y="3118758"/>
          <a:ext cx="15371062" cy="3968496"/>
        </p:xfrm>
        <a:graphic>
          <a:graphicData uri="http://schemas.openxmlformats.org/drawingml/2006/table">
            <a:tbl>
              <a:tblPr firstRow="1" bandRow="1">
                <a:tableStyleId>{5C22544A-7EE6-4342-B048-85BDC9FD1C3A}</a:tableStyleId>
              </a:tblPr>
              <a:tblGrid>
                <a:gridCol w="4192108">
                  <a:extLst>
                    <a:ext uri="{9D8B030D-6E8A-4147-A177-3AD203B41FA5}">
                      <a16:colId xmlns:a16="http://schemas.microsoft.com/office/drawing/2014/main" val="20000"/>
                    </a:ext>
                  </a:extLst>
                </a:gridCol>
                <a:gridCol w="5589477">
                  <a:extLst>
                    <a:ext uri="{9D8B030D-6E8A-4147-A177-3AD203B41FA5}">
                      <a16:colId xmlns:a16="http://schemas.microsoft.com/office/drawing/2014/main" val="20001"/>
                    </a:ext>
                  </a:extLst>
                </a:gridCol>
                <a:gridCol w="5589477">
                  <a:extLst>
                    <a:ext uri="{9D8B030D-6E8A-4147-A177-3AD203B41FA5}">
                      <a16:colId xmlns:a16="http://schemas.microsoft.com/office/drawing/2014/main" val="20002"/>
                    </a:ext>
                  </a:extLst>
                </a:gridCol>
              </a:tblGrid>
              <a:tr h="566928">
                <a:tc>
                  <a:txBody>
                    <a:bodyPr/>
                    <a:lstStyle/>
                    <a:p>
                      <a:r>
                        <a:rPr sz="2100" b="1">
                          <a:solidFill>
                            <a:srgbClr val="16181D"/>
                          </a:solidFill>
                          <a:latin typeface="Arial"/>
                        </a:rPr>
                        <a:t>Source</a:t>
                      </a:r>
                    </a:p>
                  </a:txBody>
                  <a:tcPr marL="109728" marR="109728">
                    <a:solidFill>
                      <a:srgbClr val="FFDC00"/>
                    </a:solidFill>
                  </a:tcPr>
                </a:tc>
                <a:tc>
                  <a:txBody>
                    <a:bodyPr/>
                    <a:lstStyle/>
                    <a:p>
                      <a:r>
                        <a:rPr sz="2100" b="1">
                          <a:solidFill>
                            <a:srgbClr val="16181D"/>
                          </a:solidFill>
                          <a:latin typeface="Arial"/>
                        </a:rPr>
                        <a:t>Examples</a:t>
                      </a:r>
                    </a:p>
                  </a:txBody>
                  <a:tcPr marL="109728" marR="109728">
                    <a:solidFill>
                      <a:srgbClr val="FFDC00"/>
                    </a:solidFill>
                  </a:tcPr>
                </a:tc>
                <a:tc>
                  <a:txBody>
                    <a:bodyPr/>
                    <a:lstStyle/>
                    <a:p>
                      <a:r>
                        <a:rPr sz="2100" b="1">
                          <a:solidFill>
                            <a:srgbClr val="16181D"/>
                          </a:solidFill>
                          <a:latin typeface="Arial"/>
                        </a:rPr>
                        <a:t>Watch out for</a:t>
                      </a:r>
                    </a:p>
                  </a:txBody>
                  <a:tcPr marL="109728" marR="109728">
                    <a:solidFill>
                      <a:srgbClr val="FFDC00"/>
                    </a:solidFill>
                  </a:tcPr>
                </a:tc>
                <a:extLst>
                  <a:ext uri="{0D108BD9-81ED-4DB2-BD59-A6C34878D82A}">
                    <a16:rowId xmlns:a16="http://schemas.microsoft.com/office/drawing/2014/main" val="10000"/>
                  </a:ext>
                </a:extLst>
              </a:tr>
              <a:tr h="566928">
                <a:tc>
                  <a:txBody>
                    <a:bodyPr/>
                    <a:lstStyle/>
                    <a:p>
                      <a:r>
                        <a:rPr sz="2000" b="0">
                          <a:solidFill>
                            <a:srgbClr val="16181D"/>
                          </a:solidFill>
                          <a:latin typeface="Arial"/>
                        </a:rPr>
                        <a:t>Open ML datasets</a:t>
                      </a:r>
                    </a:p>
                  </a:txBody>
                  <a:tcPr marL="109728" marR="109728">
                    <a:solidFill>
                      <a:srgbClr val="FFFFFF"/>
                    </a:solidFill>
                  </a:tcPr>
                </a:tc>
                <a:tc>
                  <a:txBody>
                    <a:bodyPr/>
                    <a:lstStyle/>
                    <a:p>
                      <a:r>
                        <a:rPr sz="2000" b="0">
                          <a:solidFill>
                            <a:srgbClr val="16181D"/>
                          </a:solidFill>
                          <a:latin typeface="Arial"/>
                        </a:rPr>
                        <a:t>Kaggle, UCI, Hugging Face</a:t>
                      </a:r>
                    </a:p>
                  </a:txBody>
                  <a:tcPr marL="109728" marR="109728">
                    <a:solidFill>
                      <a:srgbClr val="FFFFFF"/>
                    </a:solidFill>
                  </a:tcPr>
                </a:tc>
                <a:tc>
                  <a:txBody>
                    <a:bodyPr/>
                    <a:lstStyle/>
                    <a:p>
                      <a:r>
                        <a:rPr sz="2000" b="0">
                          <a:solidFill>
                            <a:srgbClr val="16181D"/>
                          </a:solidFill>
                          <a:latin typeface="Arial"/>
                        </a:rPr>
                        <a:t>Pre-cleaned — unrealistically easy</a:t>
                      </a:r>
                    </a:p>
                  </a:txBody>
                  <a:tcPr marL="109728" marR="109728">
                    <a:solidFill>
                      <a:srgbClr val="FFFFFF"/>
                    </a:solidFill>
                  </a:tcPr>
                </a:tc>
                <a:extLst>
                  <a:ext uri="{0D108BD9-81ED-4DB2-BD59-A6C34878D82A}">
                    <a16:rowId xmlns:a16="http://schemas.microsoft.com/office/drawing/2014/main" val="10001"/>
                  </a:ext>
                </a:extLst>
              </a:tr>
              <a:tr h="566928">
                <a:tc>
                  <a:txBody>
                    <a:bodyPr/>
                    <a:lstStyle/>
                    <a:p>
                      <a:r>
                        <a:rPr sz="2000" b="0">
                          <a:solidFill>
                            <a:srgbClr val="16181D"/>
                          </a:solidFill>
                          <a:latin typeface="Arial"/>
                        </a:rPr>
                        <a:t>Public sector open data</a:t>
                      </a:r>
                    </a:p>
                  </a:txBody>
                  <a:tcPr marL="109728" marR="109728">
                    <a:solidFill>
                      <a:srgbClr val="F7F8FA"/>
                    </a:solidFill>
                  </a:tcPr>
                </a:tc>
                <a:tc>
                  <a:txBody>
                    <a:bodyPr/>
                    <a:lstStyle/>
                    <a:p>
                      <a:r>
                        <a:rPr sz="2000" b="0">
                          <a:solidFill>
                            <a:srgbClr val="16181D"/>
                          </a:solidFill>
                          <a:latin typeface="Arial"/>
                        </a:rPr>
                        <a:t>data.norge.no, SSB, Entur/Ruter, MET</a:t>
                      </a:r>
                    </a:p>
                  </a:txBody>
                  <a:tcPr marL="109728" marR="109728">
                    <a:solidFill>
                      <a:srgbClr val="F7F8FA"/>
                    </a:solidFill>
                  </a:tcPr>
                </a:tc>
                <a:tc>
                  <a:txBody>
                    <a:bodyPr/>
                    <a:lstStyle/>
                    <a:p>
                      <a:r>
                        <a:rPr sz="2000" b="0">
                          <a:solidFill>
                            <a:srgbClr val="16181D"/>
                          </a:solidFill>
                          <a:latin typeface="Arial"/>
                        </a:rPr>
                        <a:t>Semicolons, decimal commas, æøå</a:t>
                      </a:r>
                    </a:p>
                  </a:txBody>
                  <a:tcPr marL="109728" marR="109728">
                    <a:solidFill>
                      <a:srgbClr val="F7F8FA"/>
                    </a:solidFill>
                  </a:tcPr>
                </a:tc>
                <a:extLst>
                  <a:ext uri="{0D108BD9-81ED-4DB2-BD59-A6C34878D82A}">
                    <a16:rowId xmlns:a16="http://schemas.microsoft.com/office/drawing/2014/main" val="10002"/>
                  </a:ext>
                </a:extLst>
              </a:tr>
              <a:tr h="566928">
                <a:tc>
                  <a:txBody>
                    <a:bodyPr/>
                    <a:lstStyle/>
                    <a:p>
                      <a:r>
                        <a:rPr sz="2000" b="0">
                          <a:solidFill>
                            <a:srgbClr val="16181D"/>
                          </a:solidFill>
                          <a:latin typeface="Arial"/>
                        </a:rPr>
                        <a:t>Private / organisational</a:t>
                      </a:r>
                    </a:p>
                  </a:txBody>
                  <a:tcPr marL="109728" marR="109728">
                    <a:solidFill>
                      <a:srgbClr val="FFFFFF"/>
                    </a:solidFill>
                  </a:tcPr>
                </a:tc>
                <a:tc>
                  <a:txBody>
                    <a:bodyPr/>
                    <a:lstStyle/>
                    <a:p>
                      <a:r>
                        <a:rPr sz="2000" b="0">
                          <a:solidFill>
                            <a:srgbClr val="16181D"/>
                          </a:solidFill>
                          <a:latin typeface="Arial"/>
                        </a:rPr>
                        <a:t>Customers, logs, transactions, sensors</a:t>
                      </a:r>
                    </a:p>
                  </a:txBody>
                  <a:tcPr marL="109728" marR="109728">
                    <a:solidFill>
                      <a:srgbClr val="FFFFFF"/>
                    </a:solidFill>
                  </a:tcPr>
                </a:tc>
                <a:tc>
                  <a:txBody>
                    <a:bodyPr/>
                    <a:lstStyle/>
                    <a:p>
                      <a:r>
                        <a:rPr sz="2000" b="0">
                          <a:solidFill>
                            <a:srgbClr val="16181D"/>
                          </a:solidFill>
                          <a:latin typeface="Arial"/>
                        </a:rPr>
                        <a:t>GDPR, approvals, poor quality</a:t>
                      </a:r>
                    </a:p>
                  </a:txBody>
                  <a:tcPr marL="109728" marR="109728">
                    <a:solidFill>
                      <a:srgbClr val="FFFFFF"/>
                    </a:solidFill>
                  </a:tcPr>
                </a:tc>
                <a:extLst>
                  <a:ext uri="{0D108BD9-81ED-4DB2-BD59-A6C34878D82A}">
                    <a16:rowId xmlns:a16="http://schemas.microsoft.com/office/drawing/2014/main" val="10003"/>
                  </a:ext>
                </a:extLst>
              </a:tr>
              <a:tr h="566928">
                <a:tc>
                  <a:txBody>
                    <a:bodyPr/>
                    <a:lstStyle/>
                    <a:p>
                      <a:r>
                        <a:rPr sz="2000" b="0">
                          <a:solidFill>
                            <a:srgbClr val="16181D"/>
                          </a:solidFill>
                          <a:latin typeface="Arial"/>
                        </a:rPr>
                        <a:t>Scraped web data</a:t>
                      </a:r>
                    </a:p>
                  </a:txBody>
                  <a:tcPr marL="109728" marR="109728">
                    <a:solidFill>
                      <a:srgbClr val="F7F8FA"/>
                    </a:solidFill>
                  </a:tcPr>
                </a:tc>
                <a:tc>
                  <a:txBody>
                    <a:bodyPr/>
                    <a:lstStyle/>
                    <a:p>
                      <a:r>
                        <a:rPr sz="2000" b="0">
                          <a:solidFill>
                            <a:srgbClr val="16181D"/>
                          </a:solidFill>
                          <a:latin typeface="Arial"/>
                        </a:rPr>
                        <a:t>Pages, forums, social media</a:t>
                      </a:r>
                    </a:p>
                  </a:txBody>
                  <a:tcPr marL="109728" marR="109728">
                    <a:solidFill>
                      <a:srgbClr val="F7F8FA"/>
                    </a:solidFill>
                  </a:tcPr>
                </a:tc>
                <a:tc>
                  <a:txBody>
                    <a:bodyPr/>
                    <a:lstStyle/>
                    <a:p>
                      <a:r>
                        <a:rPr sz="2000" b="0">
                          <a:solidFill>
                            <a:srgbClr val="16181D"/>
                          </a:solidFill>
                          <a:latin typeface="Arial"/>
                        </a:rPr>
                        <a:t>Terms of service, copyright, bias</a:t>
                      </a:r>
                    </a:p>
                  </a:txBody>
                  <a:tcPr marL="109728" marR="109728">
                    <a:solidFill>
                      <a:srgbClr val="F7F8FA"/>
                    </a:solidFill>
                  </a:tcPr>
                </a:tc>
                <a:extLst>
                  <a:ext uri="{0D108BD9-81ED-4DB2-BD59-A6C34878D82A}">
                    <a16:rowId xmlns:a16="http://schemas.microsoft.com/office/drawing/2014/main" val="10004"/>
                  </a:ext>
                </a:extLst>
              </a:tr>
              <a:tr h="566928">
                <a:tc>
                  <a:txBody>
                    <a:bodyPr/>
                    <a:lstStyle/>
                    <a:p>
                      <a:r>
                        <a:rPr sz="2000" b="0">
                          <a:solidFill>
                            <a:srgbClr val="16181D"/>
                          </a:solidFill>
                          <a:latin typeface="Arial"/>
                        </a:rPr>
                        <a:t>Synthetic data</a:t>
                      </a:r>
                    </a:p>
                  </a:txBody>
                  <a:tcPr marL="109728" marR="109728">
                    <a:solidFill>
                      <a:srgbClr val="FFFFFF"/>
                    </a:solidFill>
                  </a:tcPr>
                </a:tc>
                <a:tc>
                  <a:txBody>
                    <a:bodyPr/>
                    <a:lstStyle/>
                    <a:p>
                      <a:r>
                        <a:rPr sz="2000" b="0">
                          <a:solidFill>
                            <a:srgbClr val="16181D"/>
                          </a:solidFill>
                          <a:latin typeface="Arial"/>
                        </a:rPr>
                        <a:t>Faker, simulators, generative models</a:t>
                      </a:r>
                    </a:p>
                  </a:txBody>
                  <a:tcPr marL="109728" marR="109728">
                    <a:solidFill>
                      <a:srgbClr val="FFFFFF"/>
                    </a:solidFill>
                  </a:tcPr>
                </a:tc>
                <a:tc>
                  <a:txBody>
                    <a:bodyPr/>
                    <a:lstStyle/>
                    <a:p>
                      <a:r>
                        <a:rPr sz="2000" b="0">
                          <a:solidFill>
                            <a:srgbClr val="16181D"/>
                          </a:solidFill>
                          <a:latin typeface="Arial"/>
                        </a:rPr>
                        <a:t>Only patterns the generator knows</a:t>
                      </a:r>
                    </a:p>
                  </a:txBody>
                  <a:tcPr marL="109728" marR="109728">
                    <a:solidFill>
                      <a:srgbClr val="FFFFFF"/>
                    </a:solidFill>
                  </a:tcPr>
                </a:tc>
                <a:extLst>
                  <a:ext uri="{0D108BD9-81ED-4DB2-BD59-A6C34878D82A}">
                    <a16:rowId xmlns:a16="http://schemas.microsoft.com/office/drawing/2014/main" val="10005"/>
                  </a:ext>
                </a:extLst>
              </a:tr>
              <a:tr h="566928">
                <a:tc>
                  <a:txBody>
                    <a:bodyPr/>
                    <a:lstStyle/>
                    <a:p>
                      <a:r>
                        <a:rPr sz="2000" b="0">
                          <a:solidFill>
                            <a:srgbClr val="16181D"/>
                          </a:solidFill>
                          <a:latin typeface="Arial"/>
                        </a:rPr>
                        <a:t>Human annotation</a:t>
                      </a:r>
                    </a:p>
                  </a:txBody>
                  <a:tcPr marL="109728" marR="109728">
                    <a:solidFill>
                      <a:srgbClr val="F7F8FA"/>
                    </a:solidFill>
                  </a:tcPr>
                </a:tc>
                <a:tc>
                  <a:txBody>
                    <a:bodyPr/>
                    <a:lstStyle/>
                    <a:p>
                      <a:r>
                        <a:rPr sz="2000" b="0">
                          <a:solidFill>
                            <a:srgbClr val="16181D"/>
                          </a:solidFill>
                          <a:latin typeface="Arial"/>
                        </a:rPr>
                        <a:t>You pay people to create labels</a:t>
                      </a:r>
                    </a:p>
                  </a:txBody>
                  <a:tcPr marL="109728" marR="109728">
                    <a:solidFill>
                      <a:srgbClr val="F7F8FA"/>
                    </a:solidFill>
                  </a:tcPr>
                </a:tc>
                <a:tc>
                  <a:txBody>
                    <a:bodyPr/>
                    <a:lstStyle/>
                    <a:p>
                      <a:r>
                        <a:rPr sz="2000" b="0" dirty="0">
                          <a:solidFill>
                            <a:srgbClr val="16181D"/>
                          </a:solidFill>
                          <a:latin typeface="Arial"/>
                        </a:rPr>
                        <a:t>Cost, label noise, guidelines</a:t>
                      </a:r>
                    </a:p>
                  </a:txBody>
                  <a:tcPr marL="109728" marR="109728">
                    <a:solidFill>
                      <a:srgbClr val="F7F8FA"/>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      ·      reference slide — also in the handout</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769441"/>
          </a:xfrm>
          <a:prstGeom prst="rect">
            <a:avLst/>
          </a:prstGeom>
          <a:noFill/>
        </p:spPr>
        <p:txBody>
          <a:bodyPr wrap="square">
            <a:spAutoFit/>
          </a:bodyPr>
          <a:lstStyle/>
          <a:p>
            <a:r>
              <a:rPr sz="4400" b="1" dirty="0">
                <a:solidFill>
                  <a:srgbClr val="16181D"/>
                </a:solidFill>
                <a:latin typeface="Arial"/>
              </a:rPr>
              <a:t>Four questions before you </a:t>
            </a:r>
            <a:r>
              <a:rPr lang="nb-NO" sz="4400" b="1" dirty="0" err="1">
                <a:solidFill>
                  <a:srgbClr val="16181D"/>
                </a:solidFill>
                <a:latin typeface="Arial"/>
              </a:rPr>
              <a:t>use</a:t>
            </a:r>
            <a:r>
              <a:rPr lang="nb-NO" sz="4400" b="1" dirty="0">
                <a:solidFill>
                  <a:srgbClr val="16181D"/>
                </a:solidFill>
                <a:latin typeface="Arial"/>
              </a:rPr>
              <a:t> </a:t>
            </a:r>
            <a:r>
              <a:rPr lang="nb-NO" sz="4400" b="1" dirty="0" err="1">
                <a:solidFill>
                  <a:srgbClr val="16181D"/>
                </a:solidFill>
                <a:latin typeface="Arial"/>
              </a:rPr>
              <a:t>any</a:t>
            </a:r>
            <a:r>
              <a:rPr lang="nb-NO" sz="4400" b="1" dirty="0">
                <a:solidFill>
                  <a:srgbClr val="16181D"/>
                </a:solidFill>
                <a:latin typeface="Arial"/>
              </a:rPr>
              <a:t> data</a:t>
            </a:r>
            <a:endParaRPr sz="4400" b="1" dirty="0">
              <a:solidFill>
                <a:srgbClr val="16181D"/>
              </a:solidFill>
              <a:latin typeface="Arial"/>
            </a:endParaRPr>
          </a:p>
        </p:txBody>
      </p:sp>
      <p:sp>
        <p:nvSpPr>
          <p:cNvPr id="4" name="TextBox 3"/>
          <p:cNvSpPr txBox="1"/>
          <p:nvPr/>
        </p:nvSpPr>
        <p:spPr>
          <a:xfrm>
            <a:off x="969264" y="2057400"/>
            <a:ext cx="15371063" cy="6273512"/>
          </a:xfrm>
          <a:prstGeom prst="rect">
            <a:avLst/>
          </a:prstGeom>
          <a:noFill/>
        </p:spPr>
        <p:txBody>
          <a:bodyPr wrap="square">
            <a:spAutoFit/>
          </a:bodyPr>
          <a:lstStyle/>
          <a:p>
            <a:pPr>
              <a:spcAft>
                <a:spcPts val="1400"/>
              </a:spcAft>
            </a:pPr>
            <a:r>
              <a:rPr sz="3000" b="0" dirty="0">
                <a:solidFill>
                  <a:srgbClr val="16181D"/>
                </a:solidFill>
                <a:latin typeface="Arial"/>
              </a:rPr>
              <a:t>▪   </a:t>
            </a:r>
            <a:r>
              <a:rPr lang="nb-NO" sz="3000" b="1" dirty="0" err="1">
                <a:solidFill>
                  <a:srgbClr val="16181D"/>
                </a:solidFill>
                <a:latin typeface="Arial"/>
              </a:rPr>
              <a:t>Context</a:t>
            </a:r>
            <a:r>
              <a:rPr lang="nb-NO" sz="3000" b="1" dirty="0">
                <a:solidFill>
                  <a:srgbClr val="16181D"/>
                </a:solidFill>
                <a:latin typeface="Arial"/>
              </a:rPr>
              <a:t>: </a:t>
            </a:r>
            <a:r>
              <a:rPr sz="3000" b="1" dirty="0">
                <a:solidFill>
                  <a:srgbClr val="16181D"/>
                </a:solidFill>
                <a:latin typeface="Arial"/>
              </a:rPr>
              <a:t>What question am I actually trying to answer?</a:t>
            </a:r>
          </a:p>
          <a:p>
            <a:pPr>
              <a:spcAft>
                <a:spcPts val="800"/>
              </a:spcAft>
            </a:pPr>
            <a:r>
              <a:rPr sz="2500" b="0" dirty="0">
                <a:solidFill>
                  <a:srgbClr val="3A3F47"/>
                </a:solidFill>
                <a:latin typeface="Arial"/>
              </a:rPr>
              <a:t>        –   Data collected for another purpose often cannot answer yours, however large it is.</a:t>
            </a:r>
            <a:endParaRPr lang="nb-NO" sz="2500" b="0" dirty="0">
              <a:solidFill>
                <a:srgbClr val="3A3F47"/>
              </a:solidFill>
              <a:latin typeface="Arial"/>
            </a:endParaRPr>
          </a:p>
          <a:p>
            <a:pPr>
              <a:spcAft>
                <a:spcPts val="800"/>
              </a:spcAft>
            </a:pPr>
            <a:endParaRPr sz="2500" b="0" dirty="0">
              <a:solidFill>
                <a:srgbClr val="3A3F47"/>
              </a:solidFill>
              <a:latin typeface="Arial"/>
            </a:endParaRPr>
          </a:p>
          <a:p>
            <a:pPr>
              <a:spcAft>
                <a:spcPts val="1400"/>
              </a:spcAft>
            </a:pPr>
            <a:r>
              <a:rPr sz="3000" b="0" dirty="0">
                <a:solidFill>
                  <a:srgbClr val="16181D"/>
                </a:solidFill>
                <a:latin typeface="Arial"/>
              </a:rPr>
              <a:t>▪   </a:t>
            </a:r>
            <a:r>
              <a:rPr lang="nb-NO" sz="3000" b="1" dirty="0">
                <a:solidFill>
                  <a:srgbClr val="16181D"/>
                </a:solidFill>
                <a:latin typeface="Arial"/>
              </a:rPr>
              <a:t>Legal: </a:t>
            </a:r>
            <a:r>
              <a:rPr sz="3000" b="1" dirty="0">
                <a:solidFill>
                  <a:srgbClr val="16181D"/>
                </a:solidFill>
                <a:latin typeface="Arial"/>
              </a:rPr>
              <a:t>Do I have a lawful basis?</a:t>
            </a:r>
          </a:p>
          <a:p>
            <a:pPr>
              <a:spcAft>
                <a:spcPts val="800"/>
              </a:spcAft>
            </a:pPr>
            <a:r>
              <a:rPr sz="2500" b="0" dirty="0">
                <a:solidFill>
                  <a:srgbClr val="3A3F47"/>
                </a:solidFill>
                <a:latin typeface="Arial"/>
              </a:rPr>
              <a:t>        –   If it describes identifiable people it is </a:t>
            </a:r>
            <a:r>
              <a:rPr sz="2500" b="0" dirty="0" err="1">
                <a:solidFill>
                  <a:srgbClr val="3A3F47"/>
                </a:solidFill>
                <a:latin typeface="Arial"/>
              </a:rPr>
              <a:t>personopplysninger</a:t>
            </a:r>
            <a:r>
              <a:rPr sz="2500" b="0" dirty="0">
                <a:solidFill>
                  <a:srgbClr val="3A3F47"/>
                </a:solidFill>
                <a:latin typeface="Arial"/>
              </a:rPr>
              <a:t>, and GDPR applies.</a:t>
            </a:r>
          </a:p>
          <a:p>
            <a:pPr>
              <a:spcAft>
                <a:spcPts val="1400"/>
              </a:spcAft>
            </a:pPr>
            <a:endParaRPr lang="nb-NO" sz="3000" b="0" dirty="0">
              <a:solidFill>
                <a:srgbClr val="16181D"/>
              </a:solidFill>
              <a:latin typeface="Arial"/>
            </a:endParaRPr>
          </a:p>
          <a:p>
            <a:pPr>
              <a:spcAft>
                <a:spcPts val="1400"/>
              </a:spcAft>
            </a:pPr>
            <a:r>
              <a:rPr sz="3000" b="0" dirty="0">
                <a:solidFill>
                  <a:srgbClr val="16181D"/>
                </a:solidFill>
                <a:latin typeface="Arial"/>
              </a:rPr>
              <a:t>▪   </a:t>
            </a:r>
            <a:r>
              <a:rPr lang="nb-NO" sz="3000" b="1" dirty="0">
                <a:solidFill>
                  <a:srgbClr val="16181D"/>
                </a:solidFill>
                <a:latin typeface="Arial"/>
              </a:rPr>
              <a:t>Private data: </a:t>
            </a:r>
            <a:r>
              <a:rPr sz="3000" b="1" dirty="0">
                <a:solidFill>
                  <a:srgbClr val="16181D"/>
                </a:solidFill>
                <a:latin typeface="Arial"/>
              </a:rPr>
              <a:t>Do I need identifiable data at all?</a:t>
            </a:r>
          </a:p>
          <a:p>
            <a:pPr>
              <a:spcAft>
                <a:spcPts val="800"/>
              </a:spcAft>
            </a:pPr>
            <a:r>
              <a:rPr sz="2500" b="0" dirty="0">
                <a:solidFill>
                  <a:srgbClr val="3A3F47"/>
                </a:solidFill>
                <a:latin typeface="Arial"/>
              </a:rPr>
              <a:t>        –   </a:t>
            </a:r>
            <a:r>
              <a:rPr sz="2500" b="0" dirty="0" err="1">
                <a:solidFill>
                  <a:srgbClr val="3A3F47"/>
                </a:solidFill>
                <a:latin typeface="Arial"/>
              </a:rPr>
              <a:t>Pseudonymised</a:t>
            </a:r>
            <a:r>
              <a:rPr sz="2500" b="0" dirty="0">
                <a:solidFill>
                  <a:srgbClr val="3A3F47"/>
                </a:solidFill>
                <a:latin typeface="Arial"/>
              </a:rPr>
              <a:t> or aggregated data is usually enough and removes most of the risk.</a:t>
            </a:r>
          </a:p>
          <a:p>
            <a:pPr>
              <a:spcAft>
                <a:spcPts val="1400"/>
              </a:spcAft>
            </a:pPr>
            <a:endParaRPr lang="nb-NO" sz="3000" b="0" dirty="0">
              <a:solidFill>
                <a:srgbClr val="16181D"/>
              </a:solidFill>
              <a:latin typeface="Arial"/>
            </a:endParaRPr>
          </a:p>
          <a:p>
            <a:pPr>
              <a:spcAft>
                <a:spcPts val="1400"/>
              </a:spcAft>
            </a:pPr>
            <a:r>
              <a:rPr sz="3000" b="0" dirty="0">
                <a:solidFill>
                  <a:srgbClr val="16181D"/>
                </a:solidFill>
                <a:latin typeface="Arial"/>
              </a:rPr>
              <a:t>▪   </a:t>
            </a:r>
            <a:r>
              <a:rPr sz="3000" b="1" dirty="0">
                <a:solidFill>
                  <a:srgbClr val="16181D"/>
                </a:solidFill>
                <a:latin typeface="Arial"/>
              </a:rPr>
              <a:t>Is this data representative of where the model will be used?</a:t>
            </a:r>
          </a:p>
          <a:p>
            <a:pPr>
              <a:spcAft>
                <a:spcPts val="800"/>
              </a:spcAft>
            </a:pPr>
            <a:r>
              <a:rPr sz="2500" b="0" dirty="0">
                <a:solidFill>
                  <a:srgbClr val="3A3F47"/>
                </a:solidFill>
                <a:latin typeface="Arial"/>
              </a:rPr>
              <a:t>        –   Trained on Oslo customers last year, deployed in Tromsø this year — that is new data.</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18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19652-FCB2-7A10-4C2D-42554C8AC0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5CFF84-BA68-01B2-CB3F-E05267FB7D54}"/>
              </a:ext>
            </a:extLst>
          </p:cNvPr>
          <p:cNvSpPr>
            <a:spLocks noGrp="1"/>
          </p:cNvSpPr>
          <p:nvPr>
            <p:ph type="title"/>
          </p:nvPr>
        </p:nvSpPr>
        <p:spPr>
          <a:xfrm>
            <a:off x="972122" y="3412671"/>
            <a:ext cx="15373922" cy="4439469"/>
          </a:xfrm>
        </p:spPr>
        <p:txBody>
          <a:bodyPr>
            <a:normAutofit fontScale="90000"/>
          </a:bodyPr>
          <a:lstStyle/>
          <a:p>
            <a:r>
              <a:rPr lang="nb-NO" dirty="0" err="1"/>
              <a:t>You</a:t>
            </a:r>
            <a:r>
              <a:rPr lang="nb-NO" dirty="0"/>
              <a:t> have </a:t>
            </a:r>
            <a:r>
              <a:rPr lang="nb-NO" dirty="0" err="1"/>
              <a:t>the</a:t>
            </a:r>
            <a:r>
              <a:rPr lang="nb-NO" dirty="0"/>
              <a:t> Data.... </a:t>
            </a:r>
            <a:br>
              <a:rPr lang="nb-NO" dirty="0"/>
            </a:br>
            <a:r>
              <a:rPr lang="nb-NO" dirty="0" err="1"/>
              <a:t>Now</a:t>
            </a:r>
            <a:r>
              <a:rPr lang="nb-NO" dirty="0"/>
              <a:t> </a:t>
            </a:r>
            <a:r>
              <a:rPr lang="nb-NO" dirty="0" err="1"/>
              <a:t>You</a:t>
            </a:r>
            <a:r>
              <a:rPr lang="nb-NO" dirty="0"/>
              <a:t> </a:t>
            </a:r>
            <a:r>
              <a:rPr lang="nb-NO" dirty="0" err="1"/>
              <a:t>improve</a:t>
            </a:r>
            <a:r>
              <a:rPr lang="nb-NO" dirty="0"/>
              <a:t> </a:t>
            </a:r>
            <a:r>
              <a:rPr lang="nb-NO" dirty="0" err="1"/>
              <a:t>the</a:t>
            </a:r>
            <a:r>
              <a:rPr lang="nb-NO" dirty="0"/>
              <a:t> AI </a:t>
            </a:r>
            <a:r>
              <a:rPr lang="nb-NO" dirty="0" err="1"/>
              <a:t>model</a:t>
            </a:r>
            <a:endParaRPr dirty="0"/>
          </a:p>
        </p:txBody>
      </p:sp>
      <p:sp>
        <p:nvSpPr>
          <p:cNvPr id="4" name="TextBox 3">
            <a:extLst>
              <a:ext uri="{FF2B5EF4-FFF2-40B4-BE49-F238E27FC236}">
                <a16:creationId xmlns:a16="http://schemas.microsoft.com/office/drawing/2014/main" id="{108B96EE-04E7-DE7A-437E-FE7D7F10203B}"/>
              </a:ext>
            </a:extLst>
          </p:cNvPr>
          <p:cNvSpPr txBox="1"/>
          <p:nvPr/>
        </p:nvSpPr>
        <p:spPr>
          <a:xfrm>
            <a:off x="2389850" y="1177020"/>
            <a:ext cx="12801600" cy="548640"/>
          </a:xfrm>
          <a:prstGeom prst="rect">
            <a:avLst/>
          </a:prstGeom>
          <a:noFill/>
        </p:spPr>
        <p:txBody>
          <a:bodyPr wrap="none">
            <a:spAutoFit/>
          </a:bodyPr>
          <a:lstStyle/>
          <a:p>
            <a:r>
              <a:rPr sz="2000" b="1" dirty="0">
                <a:solidFill>
                  <a:srgbClr val="6B7280"/>
                </a:solidFill>
                <a:latin typeface="Arial"/>
              </a:rPr>
              <a:t>PART 2</a:t>
            </a:r>
          </a:p>
        </p:txBody>
      </p:sp>
      <p:sp>
        <p:nvSpPr>
          <p:cNvPr id="5" name="TextBox 4">
            <a:extLst>
              <a:ext uri="{FF2B5EF4-FFF2-40B4-BE49-F238E27FC236}">
                <a16:creationId xmlns:a16="http://schemas.microsoft.com/office/drawing/2014/main" id="{771E0A30-D316-2EF8-7E0B-F55CE6995666}"/>
              </a:ext>
            </a:extLst>
          </p:cNvPr>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a:extLst>
              <a:ext uri="{FF2B5EF4-FFF2-40B4-BE49-F238E27FC236}">
                <a16:creationId xmlns:a16="http://schemas.microsoft.com/office/drawing/2014/main" id="{5DB60ACF-F45B-8DEE-F9F1-9B6F017BDC23}"/>
              </a:ext>
            </a:extLst>
          </p:cNvPr>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19</a:t>
            </a:r>
          </a:p>
        </p:txBody>
      </p:sp>
    </p:spTree>
    <p:extLst>
      <p:ext uri="{BB962C8B-B14F-4D97-AF65-F5344CB8AC3E}">
        <p14:creationId xmlns:p14="http://schemas.microsoft.com/office/powerpoint/2010/main" val="3912952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2122" y="3412671"/>
            <a:ext cx="15373922" cy="4439469"/>
          </a:xfrm>
        </p:spPr>
        <p:txBody>
          <a:bodyPr>
            <a:normAutofit fontScale="90000"/>
          </a:bodyPr>
          <a:lstStyle/>
          <a:p>
            <a:br>
              <a:rPr lang="nb-NO" dirty="0"/>
            </a:br>
            <a:r>
              <a:rPr dirty="0"/>
              <a:t>Your model is 99% accurate.</a:t>
            </a:r>
          </a:p>
        </p:txBody>
      </p:sp>
      <p:sp>
        <p:nvSpPr>
          <p:cNvPr id="4" name="TextBox 3"/>
          <p:cNvSpPr txBox="1"/>
          <p:nvPr/>
        </p:nvSpPr>
        <p:spPr>
          <a:xfrm>
            <a:off x="969264" y="2320020"/>
            <a:ext cx="12801600" cy="548640"/>
          </a:xfrm>
          <a:prstGeom prst="rect">
            <a:avLst/>
          </a:prstGeom>
          <a:noFill/>
        </p:spPr>
        <p:txBody>
          <a:bodyPr wrap="none">
            <a:spAutoFit/>
          </a:bodyPr>
          <a:lstStyle/>
          <a:p>
            <a:r>
              <a:rPr sz="2000" b="1" dirty="0">
                <a:solidFill>
                  <a:srgbClr val="6B7280"/>
                </a:solidFill>
                <a:latin typeface="Arial"/>
              </a:rPr>
              <a:t>PART 2</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19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The setup</a:t>
            </a:r>
          </a:p>
        </p:txBody>
      </p:sp>
      <p:sp>
        <p:nvSpPr>
          <p:cNvPr id="4" name="TextBox 3"/>
          <p:cNvSpPr txBox="1"/>
          <p:nvPr/>
        </p:nvSpPr>
        <p:spPr>
          <a:xfrm>
            <a:off x="969264" y="2057400"/>
            <a:ext cx="15371063" cy="4298613"/>
          </a:xfrm>
          <a:prstGeom prst="rect">
            <a:avLst/>
          </a:prstGeom>
          <a:noFill/>
        </p:spPr>
        <p:txBody>
          <a:bodyPr wrap="square">
            <a:spAutoFit/>
          </a:bodyPr>
          <a:lstStyle/>
          <a:p>
            <a:pPr>
              <a:spcAft>
                <a:spcPts val="1400"/>
              </a:spcAft>
            </a:pPr>
            <a:r>
              <a:rPr sz="3000" b="0" dirty="0">
                <a:solidFill>
                  <a:srgbClr val="16181D"/>
                </a:solidFill>
                <a:latin typeface="Arial"/>
              </a:rPr>
              <a:t>▪   Task: predict which customers will </a:t>
            </a:r>
            <a:r>
              <a:rPr sz="3000" b="1" dirty="0">
                <a:solidFill>
                  <a:srgbClr val="16181D"/>
                </a:solidFill>
                <a:latin typeface="Arial"/>
              </a:rPr>
              <a:t>cancel their subscription next month</a:t>
            </a:r>
          </a:p>
          <a:p>
            <a:pPr>
              <a:spcAft>
                <a:spcPts val="1400"/>
              </a:spcAft>
            </a:pPr>
            <a:r>
              <a:rPr sz="3000" b="0" dirty="0">
                <a:solidFill>
                  <a:srgbClr val="16181D"/>
                </a:solidFill>
                <a:latin typeface="Arial"/>
              </a:rPr>
              <a:t>   </a:t>
            </a:r>
            <a:endParaRPr lang="nb-NO" sz="3000" b="0" dirty="0">
              <a:solidFill>
                <a:srgbClr val="16181D"/>
              </a:solidFill>
              <a:latin typeface="Arial"/>
            </a:endParaRPr>
          </a:p>
          <a:p>
            <a:pPr>
              <a:spcAft>
                <a:spcPts val="1400"/>
              </a:spcAft>
            </a:pPr>
            <a:r>
              <a:rPr sz="3000" b="0" dirty="0">
                <a:solidFill>
                  <a:srgbClr val="16181D"/>
                </a:solidFill>
                <a:latin typeface="Arial"/>
              </a:rPr>
              <a:t>Data: 40 000 customers, 18 columns, exported from the CRM</a:t>
            </a:r>
          </a:p>
          <a:p>
            <a:pPr>
              <a:spcAft>
                <a:spcPts val="1400"/>
              </a:spcAft>
            </a:pPr>
            <a:r>
              <a:rPr sz="3000" b="0" dirty="0">
                <a:solidFill>
                  <a:srgbClr val="16181D"/>
                </a:solidFill>
                <a:latin typeface="Arial"/>
              </a:rPr>
              <a:t>▪   Model: logistic regression, straight out of scikit-learn, default settings</a:t>
            </a:r>
          </a:p>
          <a:p>
            <a:pPr>
              <a:spcAft>
                <a:spcPts val="1400"/>
              </a:spcAft>
            </a:pPr>
            <a:r>
              <a:rPr sz="3000" b="0" dirty="0">
                <a:solidFill>
                  <a:srgbClr val="16181D"/>
                </a:solidFill>
                <a:latin typeface="Arial"/>
              </a:rPr>
              <a:t>▪   Test accuracy: </a:t>
            </a:r>
            <a:r>
              <a:rPr sz="3000" b="1" dirty="0">
                <a:solidFill>
                  <a:srgbClr val="16181D"/>
                </a:solidFill>
                <a:latin typeface="Arial"/>
              </a:rPr>
              <a:t>99.2%</a:t>
            </a:r>
          </a:p>
          <a:p>
            <a:pPr>
              <a:spcAft>
                <a:spcPts val="600"/>
              </a:spcAft>
            </a:pPr>
            <a:endParaRPr sz="3000" b="1" dirty="0">
              <a:solidFill>
                <a:srgbClr val="16181D"/>
              </a:solidFill>
              <a:latin typeface="Arial"/>
            </a:endParaRPr>
          </a:p>
          <a:p>
            <a:pPr>
              <a:spcAft>
                <a:spcPts val="1400"/>
              </a:spcAft>
            </a:pPr>
            <a:endParaRPr sz="3000" b="0" dirty="0">
              <a:solidFill>
                <a:srgbClr val="16181D"/>
              </a:solidFill>
              <a:latin typeface="Arial"/>
            </a:endParaRP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20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The columns you were given</a:t>
            </a:r>
          </a:p>
        </p:txBody>
      </p:sp>
      <p:sp>
        <p:nvSpPr>
          <p:cNvPr id="4" name="TextBox 3"/>
          <p:cNvSpPr txBox="1"/>
          <p:nvPr/>
        </p:nvSpPr>
        <p:spPr>
          <a:xfrm>
            <a:off x="1051560" y="6743700"/>
            <a:ext cx="15371063" cy="548640"/>
          </a:xfrm>
          <a:prstGeom prst="rect">
            <a:avLst/>
          </a:prstGeom>
          <a:noFill/>
        </p:spPr>
        <p:txBody>
          <a:bodyPr wrap="none">
            <a:spAutoFit/>
          </a:bodyPr>
          <a:lstStyle/>
          <a:p>
            <a:r>
              <a:rPr sz="2400" b="0" dirty="0">
                <a:solidFill>
                  <a:srgbClr val="3A3F47"/>
                </a:solidFill>
                <a:latin typeface="Arial"/>
              </a:rPr>
              <a:t>Anything here bother you?</a:t>
            </a:r>
          </a:p>
        </p:txBody>
      </p:sp>
      <p:sp>
        <p:nvSpPr>
          <p:cNvPr id="5" name="Rectangle 4"/>
          <p:cNvSpPr/>
          <p:nvPr/>
        </p:nvSpPr>
        <p:spPr>
          <a:xfrm>
            <a:off x="969264" y="2606040"/>
            <a:ext cx="15371063" cy="2880360"/>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69264" y="2606040"/>
            <a:ext cx="82296" cy="288036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89304" y="2770632"/>
            <a:ext cx="14822423" cy="2606040"/>
          </a:xfrm>
          <a:prstGeom prst="rect">
            <a:avLst/>
          </a:prstGeom>
          <a:noFill/>
        </p:spPr>
        <p:txBody>
          <a:bodyPr wrap="none">
            <a:spAutoFit/>
          </a:bodyPr>
          <a:lstStyle/>
          <a:p>
            <a:pPr>
              <a:spcAft>
                <a:spcPts val="200"/>
              </a:spcAft>
            </a:pPr>
            <a:r>
              <a:rPr sz="2200" dirty="0" err="1">
                <a:solidFill>
                  <a:srgbClr val="16181D"/>
                </a:solidFill>
                <a:latin typeface="Consolas"/>
              </a:rPr>
              <a:t>customer_id</a:t>
            </a:r>
            <a:r>
              <a:rPr sz="2200" dirty="0">
                <a:solidFill>
                  <a:srgbClr val="16181D"/>
                </a:solidFill>
                <a:latin typeface="Consolas"/>
              </a:rPr>
              <a:t>          </a:t>
            </a:r>
            <a:r>
              <a:rPr sz="2200" dirty="0" err="1">
                <a:solidFill>
                  <a:srgbClr val="16181D"/>
                </a:solidFill>
                <a:latin typeface="Consolas"/>
              </a:rPr>
              <a:t>tenure_months</a:t>
            </a:r>
            <a:r>
              <a:rPr sz="2200" dirty="0">
                <a:solidFill>
                  <a:srgbClr val="16181D"/>
                </a:solidFill>
                <a:latin typeface="Consolas"/>
              </a:rPr>
              <a:t>        </a:t>
            </a:r>
            <a:r>
              <a:rPr sz="2200" dirty="0" err="1">
                <a:solidFill>
                  <a:srgbClr val="16181D"/>
                </a:solidFill>
                <a:latin typeface="Consolas"/>
              </a:rPr>
              <a:t>monthly_price</a:t>
            </a:r>
            <a:endParaRPr sz="2200" dirty="0">
              <a:solidFill>
                <a:srgbClr val="16181D"/>
              </a:solidFill>
              <a:latin typeface="Consolas"/>
            </a:endParaRPr>
          </a:p>
          <a:p>
            <a:pPr>
              <a:spcAft>
                <a:spcPts val="200"/>
              </a:spcAft>
            </a:pPr>
            <a:r>
              <a:rPr sz="2200" dirty="0" err="1">
                <a:solidFill>
                  <a:srgbClr val="16181D"/>
                </a:solidFill>
                <a:latin typeface="Consolas"/>
              </a:rPr>
              <a:t>plan_type</a:t>
            </a:r>
            <a:r>
              <a:rPr sz="2200" dirty="0">
                <a:solidFill>
                  <a:srgbClr val="16181D"/>
                </a:solidFill>
                <a:latin typeface="Consolas"/>
              </a:rPr>
              <a:t>            </a:t>
            </a:r>
            <a:r>
              <a:rPr sz="2200" dirty="0" err="1">
                <a:solidFill>
                  <a:srgbClr val="16181D"/>
                </a:solidFill>
                <a:latin typeface="Consolas"/>
              </a:rPr>
              <a:t>payment_method</a:t>
            </a:r>
            <a:r>
              <a:rPr sz="2200" dirty="0">
                <a:solidFill>
                  <a:srgbClr val="16181D"/>
                </a:solidFill>
                <a:latin typeface="Consolas"/>
              </a:rPr>
              <a:t>       </a:t>
            </a:r>
            <a:r>
              <a:rPr sz="2200" dirty="0" err="1">
                <a:solidFill>
                  <a:srgbClr val="16181D"/>
                </a:solidFill>
                <a:latin typeface="Consolas"/>
              </a:rPr>
              <a:t>n_support_tickets</a:t>
            </a:r>
            <a:endParaRPr sz="2200" dirty="0">
              <a:solidFill>
                <a:srgbClr val="16181D"/>
              </a:solidFill>
              <a:latin typeface="Consolas"/>
            </a:endParaRPr>
          </a:p>
          <a:p>
            <a:pPr>
              <a:spcAft>
                <a:spcPts val="200"/>
              </a:spcAft>
            </a:pPr>
            <a:r>
              <a:rPr sz="2200" dirty="0" err="1">
                <a:solidFill>
                  <a:srgbClr val="16181D"/>
                </a:solidFill>
                <a:latin typeface="Consolas"/>
              </a:rPr>
              <a:t>last_login_days</a:t>
            </a:r>
            <a:r>
              <a:rPr sz="2200" dirty="0">
                <a:solidFill>
                  <a:srgbClr val="16181D"/>
                </a:solidFill>
                <a:latin typeface="Consolas"/>
              </a:rPr>
              <a:t>      </a:t>
            </a:r>
            <a:r>
              <a:rPr sz="2200" dirty="0" err="1">
                <a:solidFill>
                  <a:srgbClr val="16181D"/>
                </a:solidFill>
                <a:latin typeface="Consolas"/>
              </a:rPr>
              <a:t>avg_session_min</a:t>
            </a:r>
            <a:r>
              <a:rPr sz="2200" dirty="0">
                <a:solidFill>
                  <a:srgbClr val="16181D"/>
                </a:solidFill>
                <a:latin typeface="Consolas"/>
              </a:rPr>
              <a:t>      city</a:t>
            </a:r>
          </a:p>
          <a:p>
            <a:pPr>
              <a:spcAft>
                <a:spcPts val="200"/>
              </a:spcAft>
            </a:pPr>
            <a:r>
              <a:rPr sz="2200" dirty="0" err="1">
                <a:solidFill>
                  <a:srgbClr val="16181D"/>
                </a:solidFill>
                <a:latin typeface="Consolas"/>
              </a:rPr>
              <a:t>signup_channel</a:t>
            </a:r>
            <a:r>
              <a:rPr sz="2200" dirty="0">
                <a:solidFill>
                  <a:srgbClr val="16181D"/>
                </a:solidFill>
                <a:latin typeface="Consolas"/>
              </a:rPr>
              <a:t>       </a:t>
            </a:r>
            <a:r>
              <a:rPr sz="2200" dirty="0" err="1">
                <a:solidFill>
                  <a:srgbClr val="16181D"/>
                </a:solidFill>
                <a:latin typeface="Consolas"/>
              </a:rPr>
              <a:t>age_band</a:t>
            </a:r>
            <a:r>
              <a:rPr sz="2200" dirty="0">
                <a:solidFill>
                  <a:srgbClr val="16181D"/>
                </a:solidFill>
                <a:latin typeface="Consolas"/>
              </a:rPr>
              <a:t>             </a:t>
            </a:r>
            <a:r>
              <a:rPr sz="2200" dirty="0" err="1">
                <a:solidFill>
                  <a:srgbClr val="16181D"/>
                </a:solidFill>
                <a:latin typeface="Consolas"/>
              </a:rPr>
              <a:t>has_family_plan</a:t>
            </a:r>
            <a:endParaRPr sz="2200" dirty="0">
              <a:solidFill>
                <a:srgbClr val="16181D"/>
              </a:solidFill>
              <a:latin typeface="Consolas"/>
            </a:endParaRPr>
          </a:p>
          <a:p>
            <a:pPr>
              <a:spcAft>
                <a:spcPts val="200"/>
              </a:spcAft>
            </a:pPr>
            <a:r>
              <a:rPr sz="2200" dirty="0" err="1">
                <a:solidFill>
                  <a:srgbClr val="16181D"/>
                </a:solidFill>
                <a:latin typeface="Consolas"/>
              </a:rPr>
              <a:t>n_devices</a:t>
            </a:r>
            <a:r>
              <a:rPr sz="2200" dirty="0">
                <a:solidFill>
                  <a:srgbClr val="16181D"/>
                </a:solidFill>
                <a:latin typeface="Consolas"/>
              </a:rPr>
              <a:t>            </a:t>
            </a:r>
            <a:r>
              <a:rPr sz="2200" dirty="0" err="1">
                <a:solidFill>
                  <a:srgbClr val="16181D"/>
                </a:solidFill>
                <a:latin typeface="Consolas"/>
              </a:rPr>
              <a:t>data_used_gb</a:t>
            </a:r>
            <a:r>
              <a:rPr sz="2200" dirty="0">
                <a:solidFill>
                  <a:srgbClr val="16181D"/>
                </a:solidFill>
                <a:latin typeface="Consolas"/>
              </a:rPr>
              <a:t>         </a:t>
            </a:r>
            <a:r>
              <a:rPr sz="2200" dirty="0" err="1">
                <a:solidFill>
                  <a:srgbClr val="16181D"/>
                </a:solidFill>
                <a:latin typeface="Consolas"/>
              </a:rPr>
              <a:t>contract_end</a:t>
            </a:r>
            <a:endParaRPr sz="2200" dirty="0">
              <a:solidFill>
                <a:srgbClr val="16181D"/>
              </a:solidFill>
              <a:latin typeface="Consolas"/>
            </a:endParaRPr>
          </a:p>
          <a:p>
            <a:pPr>
              <a:spcAft>
                <a:spcPts val="200"/>
              </a:spcAft>
            </a:pPr>
            <a:r>
              <a:rPr sz="2200" dirty="0" err="1">
                <a:solidFill>
                  <a:srgbClr val="16181D"/>
                </a:solidFill>
                <a:latin typeface="Consolas"/>
              </a:rPr>
              <a:t>cancellation_reason</a:t>
            </a:r>
            <a:r>
              <a:rPr sz="2200" dirty="0">
                <a:solidFill>
                  <a:srgbClr val="16181D"/>
                </a:solidFill>
                <a:latin typeface="Consolas"/>
              </a:rPr>
              <a:t>  </a:t>
            </a:r>
            <a:r>
              <a:rPr sz="2200" dirty="0" err="1">
                <a:solidFill>
                  <a:srgbClr val="16181D"/>
                </a:solidFill>
                <a:latin typeface="Consolas"/>
              </a:rPr>
              <a:t>churned_next_month</a:t>
            </a:r>
            <a:r>
              <a:rPr sz="2200" dirty="0">
                <a:solidFill>
                  <a:srgbClr val="16181D"/>
                </a:solidFill>
                <a:latin typeface="Consolas"/>
              </a:rPr>
              <a:t>   region</a:t>
            </a:r>
          </a:p>
        </p:txBody>
      </p:sp>
      <p:sp>
        <p:nvSpPr>
          <p:cNvPr id="8" name="TextBox 7"/>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9" name="TextBox 8"/>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21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E02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658368"/>
            <a:ext cx="15371063" cy="868680"/>
          </a:xfrm>
          <a:prstGeom prst="rect">
            <a:avLst/>
          </a:prstGeom>
          <a:noFill/>
        </p:spPr>
        <p:txBody>
          <a:bodyPr wrap="square">
            <a:spAutoFit/>
          </a:bodyPr>
          <a:lstStyle/>
          <a:p>
            <a:r>
              <a:rPr sz="4400" b="1">
                <a:solidFill>
                  <a:srgbClr val="FFFFFF"/>
                </a:solidFill>
                <a:latin typeface="Arial"/>
              </a:rPr>
              <a:t>Why should you be worried?</a:t>
            </a:r>
          </a:p>
        </p:txBody>
      </p:sp>
      <p:sp>
        <p:nvSpPr>
          <p:cNvPr id="5" name="TextBox 4"/>
          <p:cNvSpPr txBox="1"/>
          <p:nvPr/>
        </p:nvSpPr>
        <p:spPr>
          <a:xfrm>
            <a:off x="969264" y="2057400"/>
            <a:ext cx="15371063" cy="2375009"/>
          </a:xfrm>
          <a:prstGeom prst="rect">
            <a:avLst/>
          </a:prstGeom>
          <a:noFill/>
        </p:spPr>
        <p:txBody>
          <a:bodyPr wrap="square">
            <a:spAutoFit/>
          </a:bodyPr>
          <a:lstStyle/>
          <a:p>
            <a:pPr>
              <a:spcAft>
                <a:spcPts val="1400"/>
              </a:spcAft>
            </a:pPr>
            <a:r>
              <a:rPr sz="3000" b="0" dirty="0">
                <a:solidFill>
                  <a:srgbClr val="16181D"/>
                </a:solidFill>
                <a:latin typeface="Arial"/>
              </a:rPr>
              <a:t>▪   Find the reason this model cannot possibly work in production</a:t>
            </a:r>
          </a:p>
          <a:p>
            <a:pPr>
              <a:spcAft>
                <a:spcPts val="600"/>
              </a:spcAft>
            </a:pPr>
            <a:endParaRPr sz="3000" b="0" dirty="0">
              <a:solidFill>
                <a:srgbClr val="16181D"/>
              </a:solidFill>
              <a:latin typeface="Arial"/>
            </a:endParaRPr>
          </a:p>
          <a:p>
            <a:pPr>
              <a:spcAft>
                <a:spcPts val="1400"/>
              </a:spcAft>
            </a:pPr>
            <a:r>
              <a:rPr sz="3000" b="0" dirty="0">
                <a:solidFill>
                  <a:srgbClr val="16181D"/>
                </a:solidFill>
                <a:latin typeface="Arial"/>
              </a:rPr>
              <a:t>▪   </a:t>
            </a:r>
            <a:r>
              <a:rPr sz="3000" b="1" dirty="0">
                <a:solidFill>
                  <a:srgbClr val="16181D"/>
                </a:solidFill>
                <a:latin typeface="Arial"/>
              </a:rPr>
              <a:t>Hint:</a:t>
            </a:r>
            <a:r>
              <a:rPr sz="3000" b="0" dirty="0">
                <a:solidFill>
                  <a:srgbClr val="16181D"/>
                </a:solidFill>
                <a:latin typeface="Arial"/>
              </a:rPr>
              <a:t> think about *when* each column gets filled in</a:t>
            </a:r>
          </a:p>
          <a:p>
            <a:pPr>
              <a:spcAft>
                <a:spcPts val="600"/>
              </a:spcAft>
            </a:pPr>
            <a:endParaRPr sz="3000" b="0" dirty="0">
              <a:solidFill>
                <a:srgbClr val="16181D"/>
              </a:solidFill>
              <a:latin typeface="Arial"/>
            </a:endParaRP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22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9264" y="2743200"/>
            <a:ext cx="15371063" cy="38404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69264" y="2743200"/>
            <a:ext cx="82296" cy="3840480"/>
          </a:xfrm>
          <a:prstGeom prst="rect">
            <a:avLst/>
          </a:prstGeom>
          <a:solidFill>
            <a:srgbClr val="E02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54480" y="3063240"/>
            <a:ext cx="14173200" cy="3200400"/>
          </a:xfrm>
          <a:prstGeom prst="rect">
            <a:avLst/>
          </a:prstGeom>
          <a:noFill/>
        </p:spPr>
        <p:txBody>
          <a:bodyPr wrap="square" anchor="ctr">
            <a:spAutoFit/>
          </a:bodyPr>
          <a:lstStyle/>
          <a:p>
            <a:r>
              <a:rPr sz="5200" b="1">
                <a:solidFill>
                  <a:srgbClr val="0B3D6B"/>
                </a:solidFill>
                <a:latin typeface="Consolas"/>
              </a:rPr>
              <a:t>cancellation_reason</a:t>
            </a:r>
            <a:r>
              <a:rPr sz="5400" b="1">
                <a:solidFill>
                  <a:srgbClr val="16181D"/>
                </a:solidFill>
                <a:latin typeface="Arial"/>
              </a:rPr>
              <a:t> only exists after a customer has cancelled.</a:t>
            </a:r>
          </a:p>
          <a:p>
            <a:pPr>
              <a:spcBef>
                <a:spcPts val="2400"/>
              </a:spcBef>
            </a:pPr>
            <a:r>
              <a:rPr sz="2800" b="0">
                <a:solidFill>
                  <a:srgbClr val="3A3F47"/>
                </a:solidFill>
                <a:latin typeface="Arial"/>
              </a:rPr>
              <a:t>The model did not learn to predict churn. It learned to read the answer.</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23</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9264" y="2743200"/>
            <a:ext cx="15371063" cy="38404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69264" y="2743200"/>
            <a:ext cx="82296" cy="3840480"/>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54480" y="3001447"/>
            <a:ext cx="14173200" cy="3323987"/>
          </a:xfrm>
          <a:prstGeom prst="rect">
            <a:avLst/>
          </a:prstGeom>
          <a:noFill/>
        </p:spPr>
        <p:txBody>
          <a:bodyPr wrap="square" anchor="ctr">
            <a:spAutoFit/>
          </a:bodyPr>
          <a:lstStyle/>
          <a:p>
            <a:r>
              <a:rPr sz="5400" b="1" dirty="0">
                <a:solidFill>
                  <a:srgbClr val="16181D"/>
                </a:solidFill>
                <a:latin typeface="Arial"/>
              </a:rPr>
              <a:t>If a feature would only be known after the thing you are predicting has happened, it is </a:t>
            </a:r>
            <a:r>
              <a:rPr lang="nb-NO" sz="5400" b="1" u="sng" dirty="0">
                <a:solidFill>
                  <a:srgbClr val="16181D"/>
                </a:solidFill>
                <a:latin typeface="Arial"/>
              </a:rPr>
              <a:t>data </a:t>
            </a:r>
            <a:r>
              <a:rPr sz="5400" b="1" u="sng" dirty="0">
                <a:solidFill>
                  <a:srgbClr val="16181D"/>
                </a:solidFill>
                <a:latin typeface="Arial"/>
              </a:rPr>
              <a:t>leakage</a:t>
            </a:r>
            <a:r>
              <a:rPr sz="5400" b="1" dirty="0">
                <a:solidFill>
                  <a:srgbClr val="16181D"/>
                </a:solidFill>
                <a:latin typeface="Arial"/>
              </a:rPr>
              <a:t>.</a:t>
            </a:r>
          </a:p>
          <a:p>
            <a:pPr>
              <a:spcBef>
                <a:spcPts val="2400"/>
              </a:spcBef>
            </a:pPr>
            <a:r>
              <a:rPr sz="2800" b="0" dirty="0">
                <a:solidFill>
                  <a:srgbClr val="3A3F47"/>
                </a:solidFill>
                <a:latin typeface="Arial"/>
              </a:rPr>
              <a:t>And: if your accuracy is startlingly high, look for leakage before you celebrate.</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769441"/>
          </a:xfrm>
          <a:prstGeom prst="rect">
            <a:avLst/>
          </a:prstGeom>
          <a:noFill/>
        </p:spPr>
        <p:txBody>
          <a:bodyPr wrap="square">
            <a:spAutoFit/>
          </a:bodyPr>
          <a:lstStyle/>
          <a:p>
            <a:r>
              <a:rPr lang="nb-NO" sz="4400" b="1" dirty="0">
                <a:solidFill>
                  <a:srgbClr val="16181D"/>
                </a:solidFill>
                <a:latin typeface="Arial"/>
              </a:rPr>
              <a:t>Problem: </a:t>
            </a:r>
            <a:r>
              <a:rPr sz="4400" b="1" dirty="0">
                <a:solidFill>
                  <a:srgbClr val="16181D"/>
                </a:solidFill>
                <a:latin typeface="Arial"/>
              </a:rPr>
              <a:t>Data leakage</a:t>
            </a:r>
            <a:r>
              <a:rPr lang="nb-NO" sz="4400" b="1" dirty="0">
                <a:solidFill>
                  <a:srgbClr val="16181D"/>
                </a:solidFill>
                <a:latin typeface="Arial"/>
              </a:rPr>
              <a:t> -&gt; </a:t>
            </a:r>
            <a:r>
              <a:rPr lang="nb-NO" sz="4400" b="1" dirty="0" err="1">
                <a:solidFill>
                  <a:srgbClr val="16181D"/>
                </a:solidFill>
                <a:latin typeface="Arial"/>
              </a:rPr>
              <a:t>many</a:t>
            </a:r>
            <a:r>
              <a:rPr sz="4400" b="1" dirty="0">
                <a:solidFill>
                  <a:srgbClr val="16181D"/>
                </a:solidFill>
                <a:latin typeface="Arial"/>
              </a:rPr>
              <a:t> ways </a:t>
            </a:r>
            <a:r>
              <a:rPr lang="nb-NO" sz="4400" b="1" dirty="0">
                <a:solidFill>
                  <a:srgbClr val="16181D"/>
                </a:solidFill>
                <a:latin typeface="Arial"/>
              </a:rPr>
              <a:t>it </a:t>
            </a:r>
            <a:r>
              <a:rPr lang="nb-NO" sz="4400" b="1" dirty="0" err="1">
                <a:solidFill>
                  <a:srgbClr val="16181D"/>
                </a:solidFill>
                <a:latin typeface="Arial"/>
              </a:rPr>
              <a:t>can</a:t>
            </a:r>
            <a:r>
              <a:rPr lang="nb-NO" sz="4400" b="1" dirty="0">
                <a:solidFill>
                  <a:srgbClr val="16181D"/>
                </a:solidFill>
                <a:latin typeface="Arial"/>
              </a:rPr>
              <a:t> </a:t>
            </a:r>
            <a:r>
              <a:rPr lang="nb-NO" sz="4400" b="1" dirty="0" err="1">
                <a:solidFill>
                  <a:srgbClr val="16181D"/>
                </a:solidFill>
                <a:latin typeface="Arial"/>
              </a:rPr>
              <a:t>happen</a:t>
            </a:r>
            <a:endParaRPr sz="4400" b="1" dirty="0">
              <a:solidFill>
                <a:srgbClr val="16181D"/>
              </a:solidFill>
              <a:latin typeface="Arial"/>
            </a:endParaRPr>
          </a:p>
        </p:txBody>
      </p:sp>
      <p:sp>
        <p:nvSpPr>
          <p:cNvPr id="4" name="TextBox 3"/>
          <p:cNvSpPr txBox="1"/>
          <p:nvPr/>
        </p:nvSpPr>
        <p:spPr>
          <a:xfrm>
            <a:off x="969263" y="3020786"/>
            <a:ext cx="15371063" cy="4426853"/>
          </a:xfrm>
          <a:prstGeom prst="rect">
            <a:avLst/>
          </a:prstGeom>
          <a:noFill/>
        </p:spPr>
        <p:txBody>
          <a:bodyPr wrap="square">
            <a:spAutoFit/>
          </a:bodyPr>
          <a:lstStyle/>
          <a:p>
            <a:pPr>
              <a:spcAft>
                <a:spcPts val="1400"/>
              </a:spcAft>
            </a:pPr>
            <a:r>
              <a:rPr sz="3000" b="0" dirty="0">
                <a:solidFill>
                  <a:srgbClr val="16181D"/>
                </a:solidFill>
                <a:latin typeface="Arial"/>
              </a:rPr>
              <a:t>▪   </a:t>
            </a:r>
            <a:r>
              <a:rPr lang="nb-NO" sz="3000" b="1" dirty="0">
                <a:solidFill>
                  <a:srgbClr val="16181D"/>
                </a:solidFill>
              </a:rPr>
              <a:t>Data </a:t>
            </a:r>
            <a:r>
              <a:rPr lang="nb-NO" sz="3000" b="1" dirty="0" err="1">
                <a:solidFill>
                  <a:srgbClr val="16181D"/>
                </a:solidFill>
              </a:rPr>
              <a:t>collection</a:t>
            </a:r>
            <a:r>
              <a:rPr lang="nb-NO" sz="3000" b="1" dirty="0">
                <a:solidFill>
                  <a:srgbClr val="16181D"/>
                </a:solidFill>
              </a:rPr>
              <a:t> problem: </a:t>
            </a:r>
            <a:r>
              <a:rPr sz="3000" b="1" dirty="0">
                <a:solidFill>
                  <a:srgbClr val="16181D"/>
                </a:solidFill>
                <a:latin typeface="Arial"/>
              </a:rPr>
              <a:t>Target leakage</a:t>
            </a:r>
            <a:r>
              <a:rPr lang="nb-NO" sz="3000" b="1" dirty="0">
                <a:solidFill>
                  <a:srgbClr val="16181D"/>
                </a:solidFill>
                <a:latin typeface="Arial"/>
              </a:rPr>
              <a:t> </a:t>
            </a:r>
            <a:r>
              <a:rPr sz="2500" b="0" dirty="0">
                <a:solidFill>
                  <a:srgbClr val="3A3F47"/>
                </a:solidFill>
                <a:latin typeface="Arial"/>
              </a:rPr>
              <a:t>–  </a:t>
            </a:r>
            <a:endParaRPr lang="nb-NO" sz="2500" b="0" dirty="0">
              <a:solidFill>
                <a:srgbClr val="3A3F47"/>
              </a:solidFill>
              <a:latin typeface="Arial"/>
            </a:endParaRPr>
          </a:p>
          <a:p>
            <a:pPr>
              <a:spcAft>
                <a:spcPts val="1400"/>
              </a:spcAft>
            </a:pPr>
            <a:r>
              <a:rPr lang="en-US" sz="2500" dirty="0">
                <a:solidFill>
                  <a:srgbClr val="3A3F47"/>
                </a:solidFill>
                <a:latin typeface="Arial"/>
              </a:rPr>
              <a:t>      - </a:t>
            </a:r>
            <a:r>
              <a:rPr sz="2500" b="0" dirty="0">
                <a:solidFill>
                  <a:srgbClr val="3A3F47"/>
                </a:solidFill>
                <a:latin typeface="Arial"/>
              </a:rPr>
              <a:t> A feature recorded after, or because of, the outcome. Today's example.</a:t>
            </a:r>
            <a:endParaRPr lang="nb-NO" sz="2500" b="0" dirty="0">
              <a:solidFill>
                <a:srgbClr val="3A3F47"/>
              </a:solidFill>
              <a:latin typeface="Arial"/>
            </a:endParaRPr>
          </a:p>
          <a:p>
            <a:pPr>
              <a:spcAft>
                <a:spcPts val="800"/>
              </a:spcAft>
            </a:pPr>
            <a:endParaRPr sz="2500" b="0" dirty="0">
              <a:solidFill>
                <a:srgbClr val="3A3F47"/>
              </a:solidFill>
              <a:latin typeface="Arial"/>
            </a:endParaRPr>
          </a:p>
          <a:p>
            <a:pPr>
              <a:spcAft>
                <a:spcPts val="1400"/>
              </a:spcAft>
            </a:pPr>
            <a:r>
              <a:rPr sz="3000" b="0" dirty="0">
                <a:solidFill>
                  <a:srgbClr val="16181D"/>
                </a:solidFill>
                <a:latin typeface="Arial"/>
              </a:rPr>
              <a:t>▪   </a:t>
            </a:r>
            <a:r>
              <a:rPr lang="nb-NO" sz="3000" b="1" dirty="0" err="1">
                <a:solidFill>
                  <a:srgbClr val="16181D"/>
                </a:solidFill>
                <a:latin typeface="Arial"/>
              </a:rPr>
              <a:t>Coding</a:t>
            </a:r>
            <a:r>
              <a:rPr lang="nb-NO" sz="3000" b="1" dirty="0">
                <a:solidFill>
                  <a:srgbClr val="16181D"/>
                </a:solidFill>
                <a:latin typeface="Arial"/>
              </a:rPr>
              <a:t> problem: </a:t>
            </a:r>
            <a:r>
              <a:rPr sz="3000" b="1" dirty="0">
                <a:solidFill>
                  <a:srgbClr val="16181D"/>
                </a:solidFill>
                <a:latin typeface="Arial"/>
              </a:rPr>
              <a:t>Train/test contamination</a:t>
            </a:r>
          </a:p>
          <a:p>
            <a:pPr>
              <a:spcAft>
                <a:spcPts val="800"/>
              </a:spcAft>
            </a:pPr>
            <a:r>
              <a:rPr sz="2500" b="0" dirty="0">
                <a:solidFill>
                  <a:srgbClr val="3A3F47"/>
                </a:solidFill>
                <a:latin typeface="Arial"/>
              </a:rPr>
              <a:t>       –   Fitting a scaler, imputer or encoder on all the data before splitting. </a:t>
            </a:r>
            <a:endParaRPr lang="nb-NO" sz="2500" b="0" dirty="0">
              <a:solidFill>
                <a:srgbClr val="3A3F47"/>
              </a:solidFill>
              <a:latin typeface="Arial"/>
            </a:endParaRPr>
          </a:p>
          <a:p>
            <a:pPr>
              <a:spcAft>
                <a:spcPts val="800"/>
              </a:spcAft>
            </a:pPr>
            <a:endParaRPr sz="2500" b="0" dirty="0">
              <a:solidFill>
                <a:srgbClr val="3A3F47"/>
              </a:solidFill>
              <a:latin typeface="Arial"/>
            </a:endParaRPr>
          </a:p>
          <a:p>
            <a:pPr>
              <a:spcAft>
                <a:spcPts val="1400"/>
              </a:spcAft>
            </a:pPr>
            <a:r>
              <a:rPr sz="3000" b="0" dirty="0">
                <a:solidFill>
                  <a:srgbClr val="16181D"/>
                </a:solidFill>
                <a:latin typeface="Arial"/>
              </a:rPr>
              <a:t>▪   </a:t>
            </a:r>
            <a:r>
              <a:rPr sz="3000" b="1" dirty="0">
                <a:solidFill>
                  <a:srgbClr val="16181D"/>
                </a:solidFill>
                <a:latin typeface="Arial"/>
              </a:rPr>
              <a:t>Duplicate rows across the split</a:t>
            </a:r>
            <a:r>
              <a:rPr lang="nb-NO" sz="3000" b="1" dirty="0">
                <a:solidFill>
                  <a:srgbClr val="16181D"/>
                </a:solidFill>
                <a:latin typeface="Arial"/>
              </a:rPr>
              <a:t> </a:t>
            </a:r>
            <a:endParaRPr sz="3000" b="1" dirty="0">
              <a:solidFill>
                <a:srgbClr val="16181D"/>
              </a:solidFill>
              <a:latin typeface="Arial"/>
            </a:endParaRPr>
          </a:p>
          <a:p>
            <a:pPr>
              <a:spcAft>
                <a:spcPts val="800"/>
              </a:spcAft>
            </a:pPr>
            <a:r>
              <a:rPr sz="2500" b="0" dirty="0">
                <a:solidFill>
                  <a:srgbClr val="3A3F47"/>
                </a:solidFill>
                <a:latin typeface="Arial"/>
              </a:rPr>
              <a:t>        –   The same row in train and test, so the model is scored on what it </a:t>
            </a:r>
            <a:r>
              <a:rPr sz="2500" b="0" dirty="0" err="1">
                <a:solidFill>
                  <a:srgbClr val="3A3F47"/>
                </a:solidFill>
                <a:latin typeface="Arial"/>
              </a:rPr>
              <a:t>memorised</a:t>
            </a:r>
            <a:r>
              <a:rPr sz="2500" b="0" dirty="0">
                <a:solidFill>
                  <a:srgbClr val="3A3F47"/>
                </a:solidFill>
                <a:latin typeface="Arial"/>
              </a:rPr>
              <a:t>.</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24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Know your data before you touch it</a:t>
            </a:r>
          </a:p>
        </p:txBody>
      </p:sp>
      <p:sp>
        <p:nvSpPr>
          <p:cNvPr id="4" name="TextBox 3"/>
          <p:cNvSpPr txBox="1"/>
          <p:nvPr/>
        </p:nvSpPr>
        <p:spPr>
          <a:xfrm>
            <a:off x="969264" y="2563586"/>
            <a:ext cx="12801600" cy="548640"/>
          </a:xfrm>
          <a:prstGeom prst="rect">
            <a:avLst/>
          </a:prstGeom>
          <a:noFill/>
        </p:spPr>
        <p:txBody>
          <a:bodyPr wrap="none">
            <a:spAutoFit/>
          </a:bodyPr>
          <a:lstStyle/>
          <a:p>
            <a:r>
              <a:rPr sz="2000" b="1" dirty="0">
                <a:solidFill>
                  <a:srgbClr val="6B7280"/>
                </a:solidFill>
                <a:latin typeface="Arial"/>
              </a:rPr>
              <a:t>PART 3</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26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E02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658368"/>
            <a:ext cx="15371063" cy="868680"/>
          </a:xfrm>
          <a:prstGeom prst="rect">
            <a:avLst/>
          </a:prstGeom>
          <a:noFill/>
        </p:spPr>
        <p:txBody>
          <a:bodyPr wrap="square">
            <a:spAutoFit/>
          </a:bodyPr>
          <a:lstStyle/>
          <a:p>
            <a:r>
              <a:rPr sz="4400" b="1">
                <a:solidFill>
                  <a:srgbClr val="FFFFFF"/>
                </a:solidFill>
                <a:latin typeface="Arial"/>
              </a:rPr>
              <a:t>Spot the flaws</a:t>
            </a:r>
          </a:p>
        </p:txBody>
      </p:sp>
      <p:sp>
        <p:nvSpPr>
          <p:cNvPr id="5" name="TextBox 4"/>
          <p:cNvSpPr txBox="1"/>
          <p:nvPr/>
        </p:nvSpPr>
        <p:spPr>
          <a:xfrm>
            <a:off x="969264" y="1874519"/>
            <a:ext cx="15371063" cy="548640"/>
          </a:xfrm>
          <a:prstGeom prst="rect">
            <a:avLst/>
          </a:prstGeom>
          <a:noFill/>
        </p:spPr>
        <p:txBody>
          <a:bodyPr wrap="none">
            <a:spAutoFit/>
          </a:bodyPr>
          <a:lstStyle/>
          <a:p>
            <a:r>
              <a:rPr sz="2400" b="0">
                <a:solidFill>
                  <a:srgbClr val="3A3F47"/>
                </a:solidFill>
                <a:latin typeface="Arial"/>
              </a:rPr>
              <a:t>A real export from a Norwegian system. How many problems can you find?</a:t>
            </a:r>
          </a:p>
        </p:txBody>
      </p:sp>
      <p:sp>
        <p:nvSpPr>
          <p:cNvPr id="6" name="Rectangle 5"/>
          <p:cNvSpPr/>
          <p:nvPr/>
        </p:nvSpPr>
        <p:spPr>
          <a:xfrm>
            <a:off x="969264" y="2606040"/>
            <a:ext cx="15371063" cy="2880360"/>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69264" y="2606040"/>
            <a:ext cx="82296" cy="288036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89304" y="2770632"/>
            <a:ext cx="14822423" cy="2606040"/>
          </a:xfrm>
          <a:prstGeom prst="rect">
            <a:avLst/>
          </a:prstGeom>
          <a:noFill/>
        </p:spPr>
        <p:txBody>
          <a:bodyPr wrap="none">
            <a:spAutoFit/>
          </a:bodyPr>
          <a:lstStyle/>
          <a:p>
            <a:pPr>
              <a:spcAft>
                <a:spcPts val="200"/>
              </a:spcAft>
            </a:pPr>
            <a:r>
              <a:rPr sz="2400" dirty="0" err="1">
                <a:solidFill>
                  <a:srgbClr val="16181D"/>
                </a:solidFill>
                <a:latin typeface="Consolas"/>
              </a:rPr>
              <a:t>navn;postnr;kommune;pris;dato;antall</a:t>
            </a:r>
            <a:endParaRPr sz="2400" dirty="0">
              <a:solidFill>
                <a:srgbClr val="16181D"/>
              </a:solidFill>
              <a:latin typeface="Consolas"/>
            </a:endParaRPr>
          </a:p>
          <a:p>
            <a:pPr>
              <a:spcAft>
                <a:spcPts val="200"/>
              </a:spcAft>
            </a:pPr>
            <a:r>
              <a:rPr sz="2400" dirty="0">
                <a:solidFill>
                  <a:srgbClr val="16181D"/>
                </a:solidFill>
                <a:latin typeface="Consolas"/>
              </a:rPr>
              <a:t>Ole Hansen;0150;Oslo;1 234,50;31.01.2026;3</a:t>
            </a:r>
          </a:p>
          <a:p>
            <a:pPr>
              <a:spcAft>
                <a:spcPts val="200"/>
              </a:spcAft>
            </a:pPr>
            <a:r>
              <a:rPr sz="2400" dirty="0">
                <a:solidFill>
                  <a:srgbClr val="16181D"/>
                </a:solidFill>
                <a:latin typeface="Consolas"/>
              </a:rPr>
              <a:t>Kari Nordmann;0575;OSLO ;2 100,00;01.02.2026;..</a:t>
            </a:r>
          </a:p>
          <a:p>
            <a:pPr>
              <a:spcAft>
                <a:spcPts val="200"/>
              </a:spcAft>
            </a:pPr>
            <a:r>
              <a:rPr sz="2400" dirty="0">
                <a:solidFill>
                  <a:srgbClr val="16181D"/>
                </a:solidFill>
                <a:latin typeface="Consolas"/>
              </a:rPr>
              <a:t>Åse Berg;9010;Tromsø;;2026-02-01;5</a:t>
            </a:r>
          </a:p>
          <a:p>
            <a:pPr>
              <a:spcAft>
                <a:spcPts val="200"/>
              </a:spcAft>
            </a:pPr>
            <a:r>
              <a:rPr sz="2400" dirty="0">
                <a:solidFill>
                  <a:srgbClr val="16181D"/>
                </a:solidFill>
                <a:latin typeface="Consolas"/>
              </a:rPr>
              <a:t>Ole Hansen;0150;oslo;1 234,50;31.01.2026;3</a:t>
            </a:r>
          </a:p>
          <a:p>
            <a:pPr>
              <a:spcAft>
                <a:spcPts val="200"/>
              </a:spcAft>
            </a:pPr>
            <a:r>
              <a:rPr sz="2400" dirty="0">
                <a:solidFill>
                  <a:srgbClr val="16181D"/>
                </a:solidFill>
                <a:latin typeface="Consolas"/>
              </a:rPr>
              <a:t>Per Ås;1341;Bærum;950,00;15.02.2026;-1</a:t>
            </a:r>
          </a:p>
        </p:txBody>
      </p:sp>
      <p:sp>
        <p:nvSpPr>
          <p:cNvPr id="9" name="TextBox 8"/>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10" name="TextBox 9"/>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31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3800" b="1">
                <a:solidFill>
                  <a:srgbClr val="16181D"/>
                </a:solidFill>
                <a:latin typeface="Arial"/>
              </a:rPr>
              <a:t>Eight defects, and every one of them is silent</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2600" b="0">
                <a:solidFill>
                  <a:srgbClr val="16181D"/>
                </a:solidFill>
                <a:latin typeface="Arial"/>
              </a:rPr>
              <a:t>▪   </a:t>
            </a:r>
            <a:r>
              <a:rPr sz="2600" b="1">
                <a:solidFill>
                  <a:srgbClr val="16181D"/>
                </a:solidFill>
                <a:latin typeface="Arial"/>
              </a:rPr>
              <a:t>Semicolon</a:t>
            </a:r>
            <a:r>
              <a:rPr sz="2600" b="0">
                <a:solidFill>
                  <a:srgbClr val="16181D"/>
                </a:solidFill>
                <a:latin typeface="Arial"/>
              </a:rPr>
              <a:t> separator — the default </a:t>
            </a:r>
            <a:r>
              <a:rPr sz="2400" b="0">
                <a:solidFill>
                  <a:srgbClr val="0B3D6B"/>
                </a:solidFill>
                <a:latin typeface="Consolas"/>
              </a:rPr>
              <a:t>read_csv</a:t>
            </a:r>
            <a:r>
              <a:rPr sz="2600" b="0">
                <a:solidFill>
                  <a:srgbClr val="16181D"/>
                </a:solidFill>
                <a:latin typeface="Arial"/>
              </a:rPr>
              <a:t> gives you one column</a:t>
            </a:r>
          </a:p>
          <a:p>
            <a:pPr>
              <a:spcAft>
                <a:spcPts val="1400"/>
              </a:spcAft>
            </a:pPr>
            <a:r>
              <a:rPr sz="2600" b="0">
                <a:solidFill>
                  <a:srgbClr val="16181D"/>
                </a:solidFill>
                <a:latin typeface="Arial"/>
              </a:rPr>
              <a:t>▪   </a:t>
            </a:r>
            <a:r>
              <a:rPr sz="2600" b="1">
                <a:solidFill>
                  <a:srgbClr val="16181D"/>
                </a:solidFill>
                <a:latin typeface="Arial"/>
              </a:rPr>
              <a:t>Decimal comma</a:t>
            </a:r>
            <a:r>
              <a:rPr sz="2600" b="0">
                <a:solidFill>
                  <a:srgbClr val="16181D"/>
                </a:solidFill>
                <a:latin typeface="Arial"/>
              </a:rPr>
              <a:t> and a space as thousands separator — </a:t>
            </a:r>
            <a:r>
              <a:rPr sz="2400" b="0">
                <a:solidFill>
                  <a:srgbClr val="0B3D6B"/>
                </a:solidFill>
                <a:latin typeface="Consolas"/>
              </a:rPr>
              <a:t>pris</a:t>
            </a:r>
            <a:r>
              <a:rPr sz="2600" b="0">
                <a:solidFill>
                  <a:srgbClr val="16181D"/>
                </a:solidFill>
                <a:latin typeface="Arial"/>
              </a:rPr>
              <a:t> loads as text</a:t>
            </a:r>
          </a:p>
          <a:p>
            <a:pPr>
              <a:spcAft>
                <a:spcPts val="1400"/>
              </a:spcAft>
            </a:pPr>
            <a:r>
              <a:rPr sz="2600" b="0">
                <a:solidFill>
                  <a:srgbClr val="16181D"/>
                </a:solidFill>
                <a:latin typeface="Arial"/>
              </a:rPr>
              <a:t>▪   </a:t>
            </a:r>
            <a:r>
              <a:rPr sz="2600" b="1">
                <a:solidFill>
                  <a:srgbClr val="16181D"/>
                </a:solidFill>
                <a:latin typeface="Arial"/>
              </a:rPr>
              <a:t>Leading zeros</a:t>
            </a:r>
            <a:r>
              <a:rPr sz="2600" b="0">
                <a:solidFill>
                  <a:srgbClr val="16181D"/>
                </a:solidFill>
                <a:latin typeface="Arial"/>
              </a:rPr>
              <a:t> — </a:t>
            </a:r>
            <a:r>
              <a:rPr sz="2400" b="0">
                <a:solidFill>
                  <a:srgbClr val="0B3D6B"/>
                </a:solidFill>
                <a:latin typeface="Consolas"/>
              </a:rPr>
              <a:t>0150</a:t>
            </a:r>
            <a:r>
              <a:rPr sz="2600" b="0">
                <a:solidFill>
                  <a:srgbClr val="16181D"/>
                </a:solidFill>
                <a:latin typeface="Arial"/>
              </a:rPr>
              <a:t> becomes </a:t>
            </a:r>
            <a:r>
              <a:rPr sz="2400" b="0">
                <a:solidFill>
                  <a:srgbClr val="0B3D6B"/>
                </a:solidFill>
                <a:latin typeface="Consolas"/>
              </a:rPr>
              <a:t>150</a:t>
            </a:r>
            <a:r>
              <a:rPr sz="2600" b="0">
                <a:solidFill>
                  <a:srgbClr val="16181D"/>
                </a:solidFill>
                <a:latin typeface="Arial"/>
              </a:rPr>
              <a:t> if read as a number</a:t>
            </a:r>
          </a:p>
          <a:p>
            <a:pPr>
              <a:spcAft>
                <a:spcPts val="1400"/>
              </a:spcAft>
            </a:pPr>
            <a:r>
              <a:rPr sz="2600" b="0">
                <a:solidFill>
                  <a:srgbClr val="16181D"/>
                </a:solidFill>
                <a:latin typeface="Arial"/>
              </a:rPr>
              <a:t>▪   </a:t>
            </a:r>
            <a:r>
              <a:rPr sz="2600" b="1">
                <a:solidFill>
                  <a:srgbClr val="16181D"/>
                </a:solidFill>
                <a:latin typeface="Arial"/>
              </a:rPr>
              <a:t>Inconsistent categories</a:t>
            </a:r>
            <a:r>
              <a:rPr sz="2600" b="0">
                <a:solidFill>
                  <a:srgbClr val="16181D"/>
                </a:solidFill>
                <a:latin typeface="Arial"/>
              </a:rPr>
              <a:t> — </a:t>
            </a:r>
            <a:r>
              <a:rPr sz="2400" b="0">
                <a:solidFill>
                  <a:srgbClr val="0B3D6B"/>
                </a:solidFill>
                <a:latin typeface="Consolas"/>
              </a:rPr>
              <a:t>Oslo</a:t>
            </a:r>
            <a:r>
              <a:rPr sz="2600" b="0">
                <a:solidFill>
                  <a:srgbClr val="16181D"/>
                </a:solidFill>
                <a:latin typeface="Arial"/>
              </a:rPr>
              <a:t>, </a:t>
            </a:r>
            <a:r>
              <a:rPr sz="2400" b="0">
                <a:solidFill>
                  <a:srgbClr val="0B3D6B"/>
                </a:solidFill>
                <a:latin typeface="Consolas"/>
              </a:rPr>
              <a:t>OSLO </a:t>
            </a:r>
            <a:r>
              <a:rPr sz="2600" b="0">
                <a:solidFill>
                  <a:srgbClr val="16181D"/>
                </a:solidFill>
                <a:latin typeface="Arial"/>
              </a:rPr>
              <a:t>, </a:t>
            </a:r>
            <a:r>
              <a:rPr sz="2400" b="0">
                <a:solidFill>
                  <a:srgbClr val="0B3D6B"/>
                </a:solidFill>
                <a:latin typeface="Consolas"/>
              </a:rPr>
              <a:t>oslo</a:t>
            </a:r>
            <a:r>
              <a:rPr sz="2600" b="0">
                <a:solidFill>
                  <a:srgbClr val="16181D"/>
                </a:solidFill>
                <a:latin typeface="Arial"/>
              </a:rPr>
              <a:t> are three categories</a:t>
            </a:r>
          </a:p>
          <a:p>
            <a:pPr>
              <a:spcAft>
                <a:spcPts val="1400"/>
              </a:spcAft>
            </a:pPr>
            <a:r>
              <a:rPr sz="2600" b="0">
                <a:solidFill>
                  <a:srgbClr val="16181D"/>
                </a:solidFill>
                <a:latin typeface="Arial"/>
              </a:rPr>
              <a:t>▪   </a:t>
            </a:r>
            <a:r>
              <a:rPr sz="2600" b="1">
                <a:solidFill>
                  <a:srgbClr val="16181D"/>
                </a:solidFill>
                <a:latin typeface="Arial"/>
              </a:rPr>
              <a:t>Two date formats</a:t>
            </a:r>
            <a:r>
              <a:rPr sz="2600" b="0">
                <a:solidFill>
                  <a:srgbClr val="16181D"/>
                </a:solidFill>
                <a:latin typeface="Arial"/>
              </a:rPr>
              <a:t> — </a:t>
            </a:r>
            <a:r>
              <a:rPr sz="2400" b="0">
                <a:solidFill>
                  <a:srgbClr val="0B3D6B"/>
                </a:solidFill>
                <a:latin typeface="Consolas"/>
              </a:rPr>
              <a:t>31.01.2026</a:t>
            </a:r>
            <a:r>
              <a:rPr sz="2600" b="0">
                <a:solidFill>
                  <a:srgbClr val="16181D"/>
                </a:solidFill>
                <a:latin typeface="Arial"/>
              </a:rPr>
              <a:t> and </a:t>
            </a:r>
            <a:r>
              <a:rPr sz="2400" b="0">
                <a:solidFill>
                  <a:srgbClr val="0B3D6B"/>
                </a:solidFill>
                <a:latin typeface="Consolas"/>
              </a:rPr>
              <a:t>2026-02-01</a:t>
            </a:r>
            <a:r>
              <a:rPr sz="2600" b="0">
                <a:solidFill>
                  <a:srgbClr val="16181D"/>
                </a:solidFill>
                <a:latin typeface="Arial"/>
              </a:rPr>
              <a:t> in one column</a:t>
            </a:r>
          </a:p>
          <a:p>
            <a:pPr>
              <a:spcAft>
                <a:spcPts val="1400"/>
              </a:spcAft>
            </a:pPr>
            <a:r>
              <a:rPr sz="2600" b="0">
                <a:solidFill>
                  <a:srgbClr val="16181D"/>
                </a:solidFill>
                <a:latin typeface="Arial"/>
              </a:rPr>
              <a:t>▪   </a:t>
            </a:r>
            <a:r>
              <a:rPr sz="2600" b="1">
                <a:solidFill>
                  <a:srgbClr val="16181D"/>
                </a:solidFill>
                <a:latin typeface="Arial"/>
              </a:rPr>
              <a:t>`..` as missing</a:t>
            </a:r>
            <a:r>
              <a:rPr sz="2600" b="0">
                <a:solidFill>
                  <a:srgbClr val="16181D"/>
                </a:solidFill>
                <a:latin typeface="Arial"/>
              </a:rPr>
              <a:t> — survives every null check and poisons the mean</a:t>
            </a:r>
          </a:p>
          <a:p>
            <a:pPr>
              <a:spcAft>
                <a:spcPts val="1400"/>
              </a:spcAft>
            </a:pPr>
            <a:r>
              <a:rPr sz="2600" b="0">
                <a:solidFill>
                  <a:srgbClr val="16181D"/>
                </a:solidFill>
                <a:latin typeface="Arial"/>
              </a:rPr>
              <a:t>▪   </a:t>
            </a:r>
            <a:r>
              <a:rPr sz="2600" b="1">
                <a:solidFill>
                  <a:srgbClr val="16181D"/>
                </a:solidFill>
                <a:latin typeface="Arial"/>
              </a:rPr>
              <a:t>An empty value</a:t>
            </a:r>
            <a:r>
              <a:rPr sz="2600" b="0">
                <a:solidFill>
                  <a:srgbClr val="16181D"/>
                </a:solidFill>
                <a:latin typeface="Arial"/>
              </a:rPr>
              <a:t> — </a:t>
            </a:r>
            <a:r>
              <a:rPr sz="2400" b="0">
                <a:solidFill>
                  <a:srgbClr val="0B3D6B"/>
                </a:solidFill>
                <a:latin typeface="Consolas"/>
              </a:rPr>
              <a:t>pris</a:t>
            </a:r>
            <a:r>
              <a:rPr sz="2600" b="0">
                <a:solidFill>
                  <a:srgbClr val="16181D"/>
                </a:solidFill>
                <a:latin typeface="Arial"/>
              </a:rPr>
              <a:t> missing on row 3</a:t>
            </a:r>
          </a:p>
          <a:p>
            <a:pPr>
              <a:spcAft>
                <a:spcPts val="1400"/>
              </a:spcAft>
            </a:pPr>
            <a:r>
              <a:rPr sz="2600" b="0">
                <a:solidFill>
                  <a:srgbClr val="16181D"/>
                </a:solidFill>
                <a:latin typeface="Arial"/>
              </a:rPr>
              <a:t>▪   </a:t>
            </a:r>
            <a:r>
              <a:rPr sz="2600" b="1">
                <a:solidFill>
                  <a:srgbClr val="16181D"/>
                </a:solidFill>
                <a:latin typeface="Arial"/>
              </a:rPr>
              <a:t>A duplicate row</a:t>
            </a:r>
            <a:r>
              <a:rPr sz="2600" b="0">
                <a:solidFill>
                  <a:srgbClr val="16181D"/>
                </a:solidFill>
                <a:latin typeface="Arial"/>
              </a:rPr>
              <a:t> — Ole Hansen appears twice</a:t>
            </a:r>
          </a:p>
          <a:p>
            <a:pPr>
              <a:spcAft>
                <a:spcPts val="1400"/>
              </a:spcAft>
            </a:pPr>
            <a:r>
              <a:rPr sz="2600" b="0">
                <a:solidFill>
                  <a:srgbClr val="16181D"/>
                </a:solidFill>
                <a:latin typeface="Arial"/>
              </a:rPr>
              <a:t>▪   </a:t>
            </a:r>
            <a:r>
              <a:rPr sz="2600" b="1">
                <a:solidFill>
                  <a:srgbClr val="16181D"/>
                </a:solidFill>
                <a:latin typeface="Arial"/>
              </a:rPr>
              <a:t>An impossible value</a:t>
            </a:r>
            <a:r>
              <a:rPr sz="2600" b="0">
                <a:solidFill>
                  <a:srgbClr val="16181D"/>
                </a:solidFill>
                <a:latin typeface="Arial"/>
              </a:rPr>
              <a:t> — </a:t>
            </a:r>
            <a:r>
              <a:rPr sz="2400" b="0">
                <a:solidFill>
                  <a:srgbClr val="0B3D6B"/>
                </a:solidFill>
                <a:latin typeface="Consolas"/>
              </a:rPr>
              <a:t>antall</a:t>
            </a:r>
            <a:r>
              <a:rPr sz="2600" b="0">
                <a:solidFill>
                  <a:srgbClr val="16181D"/>
                </a:solidFill>
                <a:latin typeface="Arial"/>
              </a:rPr>
              <a:t> of −1</a:t>
            </a:r>
          </a:p>
          <a:p>
            <a:pPr>
              <a:spcAft>
                <a:spcPts val="600"/>
              </a:spcAft>
            </a:pPr>
            <a:endParaRPr sz="2600" b="0">
              <a:solidFill>
                <a:srgbClr val="16181D"/>
              </a:solidFill>
              <a:latin typeface="Arial"/>
            </a:endParaRPr>
          </a:p>
          <a:p>
            <a:pPr>
              <a:spcAft>
                <a:spcPts val="1400"/>
              </a:spcAft>
            </a:pPr>
            <a:r>
              <a:rPr sz="2600" b="0">
                <a:solidFill>
                  <a:srgbClr val="16181D"/>
                </a:solidFill>
                <a:latin typeface="Arial"/>
              </a:rPr>
              <a:t>▪   Plus one you cannot see on a slide: </a:t>
            </a:r>
            <a:r>
              <a:rPr sz="2400" b="0">
                <a:solidFill>
                  <a:srgbClr val="0B3D6B"/>
                </a:solidFill>
                <a:latin typeface="Consolas"/>
              </a:rPr>
              <a:t>Åse</a:t>
            </a:r>
            <a:r>
              <a:rPr sz="2600" b="0">
                <a:solidFill>
                  <a:srgbClr val="16181D"/>
                </a:solidFill>
                <a:latin typeface="Arial"/>
              </a:rPr>
              <a:t> and </a:t>
            </a:r>
            <a:r>
              <a:rPr sz="2400" b="0">
                <a:solidFill>
                  <a:srgbClr val="0B3D6B"/>
                </a:solidFill>
                <a:latin typeface="Consolas"/>
              </a:rPr>
              <a:t>Tromsø</a:t>
            </a:r>
            <a:r>
              <a:rPr sz="2600" b="0">
                <a:solidFill>
                  <a:srgbClr val="16181D"/>
                </a:solidFill>
                <a:latin typeface="Arial"/>
              </a:rPr>
              <a:t> need the right encoding.</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32</a:t>
            </a:r>
          </a:p>
        </p:txBody>
      </p:sp>
      <p:pic>
        <p:nvPicPr>
          <p:cNvPr id="11" name="Picture 10">
            <a:extLst>
              <a:ext uri="{FF2B5EF4-FFF2-40B4-BE49-F238E27FC236}">
                <a16:creationId xmlns:a16="http://schemas.microsoft.com/office/drawing/2014/main" id="{0565A6D9-6CF1-7EF6-890A-C98484FBA4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17522" y="3852352"/>
            <a:ext cx="6647432" cy="2047308"/>
          </a:xfrm>
          <a:prstGeom prst="rect">
            <a:avLst/>
          </a:prstGeom>
        </p:spPr>
      </p:pic>
    </p:spTree>
    <p:extLst>
      <p:ext uri="{BB962C8B-B14F-4D97-AF65-F5344CB8AC3E}">
        <p14:creationId xmlns:p14="http://schemas.microsoft.com/office/powerpoint/2010/main" val="27610069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Four silent failures and their fix</a:t>
            </a:r>
          </a:p>
        </p:txBody>
      </p:sp>
      <p:graphicFrame>
        <p:nvGraphicFramePr>
          <p:cNvPr id="4" name="Table 3"/>
          <p:cNvGraphicFramePr>
            <a:graphicFrameLocks noGrp="1"/>
          </p:cNvGraphicFramePr>
          <p:nvPr/>
        </p:nvGraphicFramePr>
        <p:xfrm>
          <a:off x="969264" y="2057400"/>
          <a:ext cx="15371061" cy="2834640"/>
        </p:xfrm>
        <a:graphic>
          <a:graphicData uri="http://schemas.openxmlformats.org/drawingml/2006/table">
            <a:tbl>
              <a:tblPr firstRow="1" bandRow="1">
                <a:tableStyleId>{5C22544A-7EE6-4342-B048-85BDC9FD1C3A}</a:tableStyleId>
              </a:tblPr>
              <a:tblGrid>
                <a:gridCol w="6404609">
                  <a:extLst>
                    <a:ext uri="{9D8B030D-6E8A-4147-A177-3AD203B41FA5}">
                      <a16:colId xmlns:a16="http://schemas.microsoft.com/office/drawing/2014/main" val="20000"/>
                    </a:ext>
                  </a:extLst>
                </a:gridCol>
                <a:gridCol w="3842765">
                  <a:extLst>
                    <a:ext uri="{9D8B030D-6E8A-4147-A177-3AD203B41FA5}">
                      <a16:colId xmlns:a16="http://schemas.microsoft.com/office/drawing/2014/main" val="20001"/>
                    </a:ext>
                  </a:extLst>
                </a:gridCol>
                <a:gridCol w="5123687">
                  <a:extLst>
                    <a:ext uri="{9D8B030D-6E8A-4147-A177-3AD203B41FA5}">
                      <a16:colId xmlns:a16="http://schemas.microsoft.com/office/drawing/2014/main" val="20002"/>
                    </a:ext>
                  </a:extLst>
                </a:gridCol>
              </a:tblGrid>
              <a:tr h="566928">
                <a:tc>
                  <a:txBody>
                    <a:bodyPr/>
                    <a:lstStyle/>
                    <a:p>
                      <a:r>
                        <a:rPr sz="2100" b="1">
                          <a:solidFill>
                            <a:srgbClr val="16181D"/>
                          </a:solidFill>
                          <a:latin typeface="Arial"/>
                        </a:rPr>
                        <a:t>Symptom</a:t>
                      </a:r>
                    </a:p>
                  </a:txBody>
                  <a:tcPr marL="109728" marR="109728">
                    <a:solidFill>
                      <a:srgbClr val="FFDC00"/>
                    </a:solidFill>
                  </a:tcPr>
                </a:tc>
                <a:tc>
                  <a:txBody>
                    <a:bodyPr/>
                    <a:lstStyle/>
                    <a:p>
                      <a:r>
                        <a:rPr sz="2100" b="1">
                          <a:solidFill>
                            <a:srgbClr val="16181D"/>
                          </a:solidFill>
                          <a:latin typeface="Arial"/>
                        </a:rPr>
                        <a:t>Cause</a:t>
                      </a:r>
                    </a:p>
                  </a:txBody>
                  <a:tcPr marL="109728" marR="109728">
                    <a:solidFill>
                      <a:srgbClr val="FFDC00"/>
                    </a:solidFill>
                  </a:tcPr>
                </a:tc>
                <a:tc>
                  <a:txBody>
                    <a:bodyPr/>
                    <a:lstStyle/>
                    <a:p>
                      <a:r>
                        <a:rPr sz="2100" b="1">
                          <a:solidFill>
                            <a:srgbClr val="16181D"/>
                          </a:solidFill>
                          <a:latin typeface="Arial"/>
                        </a:rPr>
                        <a:t>Fix</a:t>
                      </a:r>
                    </a:p>
                  </a:txBody>
                  <a:tcPr marL="109728" marR="109728">
                    <a:solidFill>
                      <a:srgbClr val="FFDC00"/>
                    </a:solidFill>
                  </a:tcPr>
                </a:tc>
                <a:extLst>
                  <a:ext uri="{0D108BD9-81ED-4DB2-BD59-A6C34878D82A}">
                    <a16:rowId xmlns:a16="http://schemas.microsoft.com/office/drawing/2014/main" val="10000"/>
                  </a:ext>
                </a:extLst>
              </a:tr>
              <a:tr h="566928">
                <a:tc>
                  <a:txBody>
                    <a:bodyPr/>
                    <a:lstStyle/>
                    <a:p>
                      <a:r>
                        <a:rPr sz="2000" b="0">
                          <a:solidFill>
                            <a:srgbClr val="16181D"/>
                          </a:solidFill>
                          <a:latin typeface="Arial"/>
                        </a:rPr>
                        <a:t>One column holding the whole row</a:t>
                      </a:r>
                    </a:p>
                  </a:txBody>
                  <a:tcPr marL="109728" marR="109728">
                    <a:solidFill>
                      <a:srgbClr val="FFFFFF"/>
                    </a:solidFill>
                  </a:tcPr>
                </a:tc>
                <a:tc>
                  <a:txBody>
                    <a:bodyPr/>
                    <a:lstStyle/>
                    <a:p>
                      <a:r>
                        <a:rPr sz="2000" b="0">
                          <a:solidFill>
                            <a:srgbClr val="16181D"/>
                          </a:solidFill>
                          <a:latin typeface="Arial"/>
                        </a:rPr>
                        <a:t>Wrong separator</a:t>
                      </a:r>
                    </a:p>
                  </a:txBody>
                  <a:tcPr marL="109728" marR="109728">
                    <a:solidFill>
                      <a:srgbClr val="FFFFFF"/>
                    </a:solidFill>
                  </a:tcPr>
                </a:tc>
                <a:tc>
                  <a:txBody>
                    <a:bodyPr/>
                    <a:lstStyle/>
                    <a:p>
                      <a:r>
                        <a:rPr sz="1800" b="0">
                          <a:solidFill>
                            <a:srgbClr val="0B3D6B"/>
                          </a:solidFill>
                          <a:latin typeface="Consolas"/>
                        </a:rPr>
                        <a:t>sep=";"</a:t>
                      </a:r>
                    </a:p>
                  </a:txBody>
                  <a:tcPr marL="109728" marR="109728">
                    <a:solidFill>
                      <a:srgbClr val="FFFFFF"/>
                    </a:solidFill>
                  </a:tcPr>
                </a:tc>
                <a:extLst>
                  <a:ext uri="{0D108BD9-81ED-4DB2-BD59-A6C34878D82A}">
                    <a16:rowId xmlns:a16="http://schemas.microsoft.com/office/drawing/2014/main" val="10001"/>
                  </a:ext>
                </a:extLst>
              </a:tr>
              <a:tr h="566928">
                <a:tc>
                  <a:txBody>
                    <a:bodyPr/>
                    <a:lstStyle/>
                    <a:p>
                      <a:r>
                        <a:rPr sz="2000" b="0">
                          <a:solidFill>
                            <a:srgbClr val="16181D"/>
                          </a:solidFill>
                          <a:latin typeface="Arial"/>
                        </a:rPr>
                        <a:t>A numeric column loaded as object</a:t>
                      </a:r>
                    </a:p>
                  </a:txBody>
                  <a:tcPr marL="109728" marR="109728">
                    <a:solidFill>
                      <a:srgbClr val="F7F8FA"/>
                    </a:solidFill>
                  </a:tcPr>
                </a:tc>
                <a:tc>
                  <a:txBody>
                    <a:bodyPr/>
                    <a:lstStyle/>
                    <a:p>
                      <a:r>
                        <a:rPr sz="2000" b="0">
                          <a:solidFill>
                            <a:srgbClr val="16181D"/>
                          </a:solidFill>
                          <a:latin typeface="Arial"/>
                        </a:rPr>
                        <a:t>Decimal comma, spaces</a:t>
                      </a:r>
                    </a:p>
                  </a:txBody>
                  <a:tcPr marL="109728" marR="109728">
                    <a:solidFill>
                      <a:srgbClr val="F7F8FA"/>
                    </a:solidFill>
                  </a:tcPr>
                </a:tc>
                <a:tc>
                  <a:txBody>
                    <a:bodyPr/>
                    <a:lstStyle/>
                    <a:p>
                      <a:r>
                        <a:rPr sz="1800" b="0">
                          <a:solidFill>
                            <a:srgbClr val="0B3D6B"/>
                          </a:solidFill>
                          <a:latin typeface="Consolas"/>
                        </a:rPr>
                        <a:t>decimal=","</a:t>
                      </a:r>
                    </a:p>
                  </a:txBody>
                  <a:tcPr marL="109728" marR="109728">
                    <a:solidFill>
                      <a:srgbClr val="F7F8FA"/>
                    </a:solidFill>
                  </a:tcPr>
                </a:tc>
                <a:extLst>
                  <a:ext uri="{0D108BD9-81ED-4DB2-BD59-A6C34878D82A}">
                    <a16:rowId xmlns:a16="http://schemas.microsoft.com/office/drawing/2014/main" val="10002"/>
                  </a:ext>
                </a:extLst>
              </a:tr>
              <a:tr h="566928">
                <a:tc>
                  <a:txBody>
                    <a:bodyPr/>
                    <a:lstStyle/>
                    <a:p>
                      <a:r>
                        <a:rPr sz="2000" b="0">
                          <a:solidFill>
                            <a:srgbClr val="16181D"/>
                          </a:solidFill>
                          <a:latin typeface="Arial"/>
                        </a:rPr>
                        <a:t>Ã¦ Ã¸ Ã¥, or UnicodeDecodeError</a:t>
                      </a:r>
                    </a:p>
                  </a:txBody>
                  <a:tcPr marL="109728" marR="109728">
                    <a:solidFill>
                      <a:srgbClr val="FFFFFF"/>
                    </a:solidFill>
                  </a:tcPr>
                </a:tc>
                <a:tc>
                  <a:txBody>
                    <a:bodyPr/>
                    <a:lstStyle/>
                    <a:p>
                      <a:r>
                        <a:rPr sz="2000" b="0">
                          <a:solidFill>
                            <a:srgbClr val="16181D"/>
                          </a:solidFill>
                          <a:latin typeface="Arial"/>
                        </a:rPr>
                        <a:t>Wrong text encoding</a:t>
                      </a:r>
                    </a:p>
                  </a:txBody>
                  <a:tcPr marL="109728" marR="109728">
                    <a:solidFill>
                      <a:srgbClr val="FFFFFF"/>
                    </a:solidFill>
                  </a:tcPr>
                </a:tc>
                <a:tc>
                  <a:txBody>
                    <a:bodyPr/>
                    <a:lstStyle/>
                    <a:p>
                      <a:r>
                        <a:rPr sz="1800" b="0">
                          <a:solidFill>
                            <a:srgbClr val="0B3D6B"/>
                          </a:solidFill>
                          <a:latin typeface="Consolas"/>
                        </a:rPr>
                        <a:t>encoding="latin-1"</a:t>
                      </a:r>
                    </a:p>
                  </a:txBody>
                  <a:tcPr marL="109728" marR="109728">
                    <a:solidFill>
                      <a:srgbClr val="FFFFFF"/>
                    </a:solidFill>
                  </a:tcPr>
                </a:tc>
                <a:extLst>
                  <a:ext uri="{0D108BD9-81ED-4DB2-BD59-A6C34878D82A}">
                    <a16:rowId xmlns:a16="http://schemas.microsoft.com/office/drawing/2014/main" val="10003"/>
                  </a:ext>
                </a:extLst>
              </a:tr>
              <a:tr h="566928">
                <a:tc>
                  <a:txBody>
                    <a:bodyPr/>
                    <a:lstStyle/>
                    <a:p>
                      <a:r>
                        <a:rPr sz="2000" b="0">
                          <a:solidFill>
                            <a:srgbClr val="16181D"/>
                          </a:solidFill>
                          <a:latin typeface="Arial"/>
                        </a:rPr>
                        <a:t>Postcodes lose their leading zero</a:t>
                      </a:r>
                    </a:p>
                  </a:txBody>
                  <a:tcPr marL="109728" marR="109728">
                    <a:solidFill>
                      <a:srgbClr val="F7F8FA"/>
                    </a:solidFill>
                  </a:tcPr>
                </a:tc>
                <a:tc>
                  <a:txBody>
                    <a:bodyPr/>
                    <a:lstStyle/>
                    <a:p>
                      <a:r>
                        <a:rPr sz="2000" b="0">
                          <a:solidFill>
                            <a:srgbClr val="16181D"/>
                          </a:solidFill>
                          <a:latin typeface="Arial"/>
                        </a:rPr>
                        <a:t>Read as integers</a:t>
                      </a:r>
                    </a:p>
                  </a:txBody>
                  <a:tcPr marL="109728" marR="109728">
                    <a:solidFill>
                      <a:srgbClr val="F7F8FA"/>
                    </a:solidFill>
                  </a:tcPr>
                </a:tc>
                <a:tc>
                  <a:txBody>
                    <a:bodyPr/>
                    <a:lstStyle/>
                    <a:p>
                      <a:r>
                        <a:rPr sz="1800" b="0">
                          <a:solidFill>
                            <a:srgbClr val="0B3D6B"/>
                          </a:solidFill>
                          <a:latin typeface="Consolas"/>
                        </a:rPr>
                        <a:t>dtype={"c": "string"}</a:t>
                      </a:r>
                    </a:p>
                  </a:txBody>
                  <a:tcPr marL="109728" marR="109728">
                    <a:solidFill>
                      <a:srgbClr val="F7F8FA"/>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      ·      reference slide — also in the handout</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34</a:t>
            </a:r>
          </a:p>
        </p:txBody>
      </p:sp>
    </p:spTree>
    <p:extLst>
      <p:ext uri="{BB962C8B-B14F-4D97-AF65-F5344CB8AC3E}">
        <p14:creationId xmlns:p14="http://schemas.microsoft.com/office/powerpoint/2010/main" val="36033435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769441"/>
          </a:xfrm>
          <a:prstGeom prst="rect">
            <a:avLst/>
          </a:prstGeom>
          <a:noFill/>
        </p:spPr>
        <p:txBody>
          <a:bodyPr wrap="square">
            <a:spAutoFit/>
          </a:bodyPr>
          <a:lstStyle/>
          <a:p>
            <a:r>
              <a:rPr sz="4400" b="1" dirty="0">
                <a:solidFill>
                  <a:srgbClr val="16181D"/>
                </a:solidFill>
                <a:latin typeface="Arial"/>
              </a:rPr>
              <a:t>Anatomy of a dataset</a:t>
            </a:r>
            <a:r>
              <a:rPr lang="nb-NO" sz="4400" b="1" dirty="0">
                <a:solidFill>
                  <a:srgbClr val="16181D"/>
                </a:solidFill>
                <a:latin typeface="Arial"/>
              </a:rPr>
              <a:t> (Titanic data </a:t>
            </a:r>
            <a:r>
              <a:rPr lang="nb-NO" sz="4400" b="1" dirty="0" err="1">
                <a:solidFill>
                  <a:srgbClr val="16181D"/>
                </a:solidFill>
                <a:latin typeface="Arial"/>
              </a:rPr>
              <a:t>set</a:t>
            </a:r>
            <a:r>
              <a:rPr lang="nb-NO" sz="4400" b="1" dirty="0">
                <a:solidFill>
                  <a:srgbClr val="16181D"/>
                </a:solidFill>
                <a:latin typeface="Arial"/>
              </a:rPr>
              <a:t> as an </a:t>
            </a:r>
            <a:r>
              <a:rPr lang="nb-NO" sz="4400" b="1" dirty="0" err="1">
                <a:solidFill>
                  <a:srgbClr val="16181D"/>
                </a:solidFill>
                <a:latin typeface="Arial"/>
              </a:rPr>
              <a:t>example</a:t>
            </a:r>
            <a:r>
              <a:rPr lang="nb-NO" sz="4400" b="1" dirty="0">
                <a:solidFill>
                  <a:srgbClr val="16181D"/>
                </a:solidFill>
                <a:latin typeface="Arial"/>
              </a:rPr>
              <a:t>)</a:t>
            </a:r>
            <a:endParaRPr sz="4400" b="1" dirty="0">
              <a:solidFill>
                <a:srgbClr val="16181D"/>
              </a:solidFill>
              <a:latin typeface="Arial"/>
            </a:endParaRPr>
          </a:p>
        </p:txBody>
      </p:sp>
      <p:sp>
        <p:nvSpPr>
          <p:cNvPr id="4" name="TextBox 3"/>
          <p:cNvSpPr txBox="1"/>
          <p:nvPr/>
        </p:nvSpPr>
        <p:spPr>
          <a:xfrm>
            <a:off x="969264" y="1874519"/>
            <a:ext cx="15371063" cy="548640"/>
          </a:xfrm>
          <a:prstGeom prst="rect">
            <a:avLst/>
          </a:prstGeom>
          <a:noFill/>
        </p:spPr>
        <p:txBody>
          <a:bodyPr wrap="none">
            <a:spAutoFit/>
          </a:bodyPr>
          <a:lstStyle/>
          <a:p>
            <a:r>
              <a:rPr sz="2400" b="0">
                <a:solidFill>
                  <a:srgbClr val="3A3F47"/>
                </a:solidFill>
                <a:latin typeface="Arial"/>
              </a:rPr>
              <a:t>One row = one observation. One column = one variable. Shape = (rows, columns).</a:t>
            </a:r>
          </a:p>
        </p:txBody>
      </p:sp>
      <p:sp>
        <p:nvSpPr>
          <p:cNvPr id="5" name="Rectangle 4"/>
          <p:cNvSpPr/>
          <p:nvPr/>
        </p:nvSpPr>
        <p:spPr>
          <a:xfrm>
            <a:off x="3010336" y="3716383"/>
            <a:ext cx="11979293" cy="2880360"/>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010336" y="3716383"/>
            <a:ext cx="82296" cy="288036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330376" y="3880975"/>
            <a:ext cx="11495967" cy="2251899"/>
          </a:xfrm>
          <a:prstGeom prst="rect">
            <a:avLst/>
          </a:prstGeom>
          <a:noFill/>
        </p:spPr>
        <p:txBody>
          <a:bodyPr wrap="square">
            <a:spAutoFit/>
          </a:bodyPr>
          <a:lstStyle/>
          <a:p>
            <a:pPr>
              <a:spcAft>
                <a:spcPts val="200"/>
              </a:spcAft>
            </a:pPr>
            <a:r>
              <a:rPr sz="2200" dirty="0">
                <a:solidFill>
                  <a:srgbClr val="16181D"/>
                </a:solidFill>
                <a:latin typeface="Consolas"/>
              </a:rPr>
              <a:t>        | </a:t>
            </a:r>
            <a:r>
              <a:rPr sz="2200" dirty="0" err="1">
                <a:solidFill>
                  <a:srgbClr val="16181D"/>
                </a:solidFill>
                <a:latin typeface="Consolas"/>
              </a:rPr>
              <a:t>Pclass</a:t>
            </a:r>
            <a:r>
              <a:rPr sz="2200" dirty="0">
                <a:solidFill>
                  <a:srgbClr val="16181D"/>
                </a:solidFill>
                <a:latin typeface="Consolas"/>
              </a:rPr>
              <a:t> |  Sex   | Age  | Fare  | Embarked | Survived |</a:t>
            </a:r>
          </a:p>
          <a:p>
            <a:pPr>
              <a:spcAft>
                <a:spcPts val="200"/>
              </a:spcAft>
            </a:pPr>
            <a:r>
              <a:rPr sz="2200" dirty="0">
                <a:solidFill>
                  <a:srgbClr val="16181D"/>
                </a:solidFill>
                <a:latin typeface="Consolas"/>
              </a:rPr>
              <a:t>--------+--------+--------+------+-------+----------+----------+</a:t>
            </a:r>
          </a:p>
          <a:p>
            <a:pPr>
              <a:spcAft>
                <a:spcPts val="200"/>
              </a:spcAft>
            </a:pPr>
            <a:r>
              <a:rPr sz="2200" dirty="0">
                <a:solidFill>
                  <a:srgbClr val="16181D"/>
                </a:solidFill>
                <a:latin typeface="Consolas"/>
              </a:rPr>
              <a:t>row 0   |   3    | male   | 22.0 |  7.25 |    S     |    0     |</a:t>
            </a:r>
          </a:p>
          <a:p>
            <a:pPr>
              <a:spcAft>
                <a:spcPts val="200"/>
              </a:spcAft>
            </a:pPr>
            <a:r>
              <a:rPr sz="2200" dirty="0">
                <a:solidFill>
                  <a:srgbClr val="16181D"/>
                </a:solidFill>
                <a:latin typeface="Consolas"/>
              </a:rPr>
              <a:t>row 1   |   1    | female | 38.0 | 71.28 |    C     |    1     |</a:t>
            </a:r>
          </a:p>
          <a:p>
            <a:pPr>
              <a:spcAft>
                <a:spcPts val="200"/>
              </a:spcAft>
            </a:pPr>
            <a:r>
              <a:rPr sz="2200" dirty="0">
                <a:solidFill>
                  <a:srgbClr val="16181D"/>
                </a:solidFill>
                <a:latin typeface="Consolas"/>
              </a:rPr>
              <a:t>row 2   |   3    | female | 26.0 |  7.93 |    S     |    1     |</a:t>
            </a:r>
          </a:p>
          <a:p>
            <a:pPr>
              <a:spcAft>
                <a:spcPts val="200"/>
              </a:spcAft>
            </a:pPr>
            <a:r>
              <a:rPr sz="2200" dirty="0">
                <a:solidFill>
                  <a:srgbClr val="16181D"/>
                </a:solidFill>
                <a:latin typeface="Consolas"/>
              </a:rPr>
              <a:t>        \------------- features (X) --------------/ \- target (y) -/</a:t>
            </a:r>
          </a:p>
        </p:txBody>
      </p:sp>
      <p:sp>
        <p:nvSpPr>
          <p:cNvPr id="8" name="TextBox 7"/>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9" name="TextBox 8"/>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27</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3800" b="1">
                <a:solidFill>
                  <a:srgbClr val="16181D"/>
                </a:solidFill>
                <a:latin typeface="Arial"/>
              </a:rPr>
              <a:t>Feature types decide what you may do with a column</a:t>
            </a:r>
          </a:p>
        </p:txBody>
      </p:sp>
      <p:graphicFrame>
        <p:nvGraphicFramePr>
          <p:cNvPr id="4" name="Table 3"/>
          <p:cNvGraphicFramePr>
            <a:graphicFrameLocks noGrp="1"/>
          </p:cNvGraphicFramePr>
          <p:nvPr>
            <p:extLst>
              <p:ext uri="{D42A27DB-BD31-4B8C-83A1-F6EECF244321}">
                <p14:modId xmlns:p14="http://schemas.microsoft.com/office/powerpoint/2010/main" val="2432167633"/>
              </p:ext>
            </p:extLst>
          </p:nvPr>
        </p:nvGraphicFramePr>
        <p:xfrm>
          <a:off x="969264" y="2596243"/>
          <a:ext cx="15371062" cy="5102352"/>
        </p:xfrm>
        <a:graphic>
          <a:graphicData uri="http://schemas.openxmlformats.org/drawingml/2006/table">
            <a:tbl>
              <a:tblPr firstRow="1" bandRow="1">
                <a:tableStyleId>{5C22544A-7EE6-4342-B048-85BDC9FD1C3A}</a:tableStyleId>
              </a:tblPr>
              <a:tblGrid>
                <a:gridCol w="4391732">
                  <a:extLst>
                    <a:ext uri="{9D8B030D-6E8A-4147-A177-3AD203B41FA5}">
                      <a16:colId xmlns:a16="http://schemas.microsoft.com/office/drawing/2014/main" val="20000"/>
                    </a:ext>
                  </a:extLst>
                </a:gridCol>
                <a:gridCol w="5489665">
                  <a:extLst>
                    <a:ext uri="{9D8B030D-6E8A-4147-A177-3AD203B41FA5}">
                      <a16:colId xmlns:a16="http://schemas.microsoft.com/office/drawing/2014/main" val="20001"/>
                    </a:ext>
                  </a:extLst>
                </a:gridCol>
                <a:gridCol w="3293799">
                  <a:extLst>
                    <a:ext uri="{9D8B030D-6E8A-4147-A177-3AD203B41FA5}">
                      <a16:colId xmlns:a16="http://schemas.microsoft.com/office/drawing/2014/main" val="20002"/>
                    </a:ext>
                  </a:extLst>
                </a:gridCol>
                <a:gridCol w="2195866">
                  <a:extLst>
                    <a:ext uri="{9D8B030D-6E8A-4147-A177-3AD203B41FA5}">
                      <a16:colId xmlns:a16="http://schemas.microsoft.com/office/drawing/2014/main" val="20003"/>
                    </a:ext>
                  </a:extLst>
                </a:gridCol>
              </a:tblGrid>
              <a:tr h="566928">
                <a:tc>
                  <a:txBody>
                    <a:bodyPr/>
                    <a:lstStyle/>
                    <a:p>
                      <a:r>
                        <a:rPr sz="2100" b="1" dirty="0">
                          <a:solidFill>
                            <a:srgbClr val="16181D"/>
                          </a:solidFill>
                          <a:latin typeface="Arial"/>
                        </a:rPr>
                        <a:t>Type</a:t>
                      </a:r>
                    </a:p>
                  </a:txBody>
                  <a:tcPr marL="109728" marR="109728">
                    <a:solidFill>
                      <a:srgbClr val="FFDC00"/>
                    </a:solidFill>
                  </a:tcPr>
                </a:tc>
                <a:tc>
                  <a:txBody>
                    <a:bodyPr/>
                    <a:lstStyle/>
                    <a:p>
                      <a:r>
                        <a:rPr sz="2100" b="1">
                          <a:solidFill>
                            <a:srgbClr val="16181D"/>
                          </a:solidFill>
                          <a:latin typeface="Arial"/>
                        </a:rPr>
                        <a:t>Example</a:t>
                      </a:r>
                    </a:p>
                  </a:txBody>
                  <a:tcPr marL="109728" marR="109728">
                    <a:solidFill>
                      <a:srgbClr val="FFDC00"/>
                    </a:solidFill>
                  </a:tcPr>
                </a:tc>
                <a:tc>
                  <a:txBody>
                    <a:bodyPr/>
                    <a:lstStyle/>
                    <a:p>
                      <a:r>
                        <a:rPr sz="2100" b="1">
                          <a:solidFill>
                            <a:srgbClr val="16181D"/>
                          </a:solidFill>
                          <a:latin typeface="Arial"/>
                        </a:rPr>
                        <a:t>Encode?</a:t>
                      </a:r>
                    </a:p>
                  </a:txBody>
                  <a:tcPr marL="109728" marR="109728">
                    <a:solidFill>
                      <a:srgbClr val="FFDC00"/>
                    </a:solidFill>
                  </a:tcPr>
                </a:tc>
                <a:tc>
                  <a:txBody>
                    <a:bodyPr/>
                    <a:lstStyle/>
                    <a:p>
                      <a:r>
                        <a:rPr sz="2100" b="1">
                          <a:solidFill>
                            <a:srgbClr val="16181D"/>
                          </a:solidFill>
                          <a:latin typeface="Arial"/>
                        </a:rPr>
                        <a:t>Scale?</a:t>
                      </a:r>
                    </a:p>
                  </a:txBody>
                  <a:tcPr marL="109728" marR="109728">
                    <a:solidFill>
                      <a:srgbClr val="FFDC00"/>
                    </a:solidFill>
                  </a:tcPr>
                </a:tc>
                <a:extLst>
                  <a:ext uri="{0D108BD9-81ED-4DB2-BD59-A6C34878D82A}">
                    <a16:rowId xmlns:a16="http://schemas.microsoft.com/office/drawing/2014/main" val="10000"/>
                  </a:ext>
                </a:extLst>
              </a:tr>
              <a:tr h="566928">
                <a:tc>
                  <a:txBody>
                    <a:bodyPr/>
                    <a:lstStyle/>
                    <a:p>
                      <a:r>
                        <a:rPr sz="2000" b="0">
                          <a:solidFill>
                            <a:srgbClr val="16181D"/>
                          </a:solidFill>
                          <a:latin typeface="Arial"/>
                        </a:rPr>
                        <a:t>Numerical — continuous</a:t>
                      </a:r>
                    </a:p>
                  </a:txBody>
                  <a:tcPr marL="109728" marR="109728">
                    <a:solidFill>
                      <a:srgbClr val="FFFFFF"/>
                    </a:solidFill>
                  </a:tcPr>
                </a:tc>
                <a:tc>
                  <a:txBody>
                    <a:bodyPr/>
                    <a:lstStyle/>
                    <a:p>
                      <a:r>
                        <a:rPr sz="2000" b="0" dirty="0">
                          <a:solidFill>
                            <a:srgbClr val="16181D"/>
                          </a:solidFill>
                          <a:latin typeface="Arial"/>
                        </a:rPr>
                        <a:t>Age, fare, temperature</a:t>
                      </a:r>
                    </a:p>
                  </a:txBody>
                  <a:tcPr marL="109728" marR="109728">
                    <a:solidFill>
                      <a:srgbClr val="FFFFFF"/>
                    </a:solidFill>
                  </a:tcPr>
                </a:tc>
                <a:tc>
                  <a:txBody>
                    <a:bodyPr/>
                    <a:lstStyle/>
                    <a:p>
                      <a:r>
                        <a:rPr sz="2000" b="0">
                          <a:solidFill>
                            <a:srgbClr val="16181D"/>
                          </a:solidFill>
                          <a:latin typeface="Arial"/>
                        </a:rPr>
                        <a:t>No</a:t>
                      </a:r>
                    </a:p>
                  </a:txBody>
                  <a:tcPr marL="109728" marR="109728">
                    <a:solidFill>
                      <a:srgbClr val="FFFFFF"/>
                    </a:solidFill>
                  </a:tcPr>
                </a:tc>
                <a:tc>
                  <a:txBody>
                    <a:bodyPr/>
                    <a:lstStyle/>
                    <a:p>
                      <a:r>
                        <a:rPr sz="2000" b="0">
                          <a:solidFill>
                            <a:srgbClr val="16181D"/>
                          </a:solidFill>
                          <a:latin typeface="Arial"/>
                        </a:rPr>
                        <a:t>Often</a:t>
                      </a:r>
                    </a:p>
                  </a:txBody>
                  <a:tcPr marL="109728" marR="109728">
                    <a:solidFill>
                      <a:srgbClr val="FFFFFF"/>
                    </a:solidFill>
                  </a:tcPr>
                </a:tc>
                <a:extLst>
                  <a:ext uri="{0D108BD9-81ED-4DB2-BD59-A6C34878D82A}">
                    <a16:rowId xmlns:a16="http://schemas.microsoft.com/office/drawing/2014/main" val="10001"/>
                  </a:ext>
                </a:extLst>
              </a:tr>
              <a:tr h="566928">
                <a:tc>
                  <a:txBody>
                    <a:bodyPr/>
                    <a:lstStyle/>
                    <a:p>
                      <a:r>
                        <a:rPr sz="2000" b="0">
                          <a:solidFill>
                            <a:srgbClr val="16181D"/>
                          </a:solidFill>
                          <a:latin typeface="Arial"/>
                        </a:rPr>
                        <a:t>Numerical — count</a:t>
                      </a:r>
                    </a:p>
                  </a:txBody>
                  <a:tcPr marL="109728" marR="109728">
                    <a:solidFill>
                      <a:srgbClr val="F7F8FA"/>
                    </a:solidFill>
                  </a:tcPr>
                </a:tc>
                <a:tc>
                  <a:txBody>
                    <a:bodyPr/>
                    <a:lstStyle/>
                    <a:p>
                      <a:r>
                        <a:rPr sz="2000" b="0" dirty="0">
                          <a:solidFill>
                            <a:srgbClr val="16181D"/>
                          </a:solidFill>
                          <a:latin typeface="Arial"/>
                        </a:rPr>
                        <a:t>Number of siblings, page views</a:t>
                      </a:r>
                    </a:p>
                  </a:txBody>
                  <a:tcPr marL="109728" marR="109728">
                    <a:solidFill>
                      <a:srgbClr val="F7F8FA"/>
                    </a:solidFill>
                  </a:tcPr>
                </a:tc>
                <a:tc>
                  <a:txBody>
                    <a:bodyPr/>
                    <a:lstStyle/>
                    <a:p>
                      <a:r>
                        <a:rPr sz="2000" b="0">
                          <a:solidFill>
                            <a:srgbClr val="16181D"/>
                          </a:solidFill>
                          <a:latin typeface="Arial"/>
                        </a:rPr>
                        <a:t>No</a:t>
                      </a:r>
                    </a:p>
                  </a:txBody>
                  <a:tcPr marL="109728" marR="109728">
                    <a:solidFill>
                      <a:srgbClr val="F7F8FA"/>
                    </a:solidFill>
                  </a:tcPr>
                </a:tc>
                <a:tc>
                  <a:txBody>
                    <a:bodyPr/>
                    <a:lstStyle/>
                    <a:p>
                      <a:r>
                        <a:rPr sz="2000" b="0">
                          <a:solidFill>
                            <a:srgbClr val="16181D"/>
                          </a:solidFill>
                          <a:latin typeface="Arial"/>
                        </a:rPr>
                        <a:t>Often</a:t>
                      </a:r>
                    </a:p>
                  </a:txBody>
                  <a:tcPr marL="109728" marR="109728">
                    <a:solidFill>
                      <a:srgbClr val="F7F8FA"/>
                    </a:solidFill>
                  </a:tcPr>
                </a:tc>
                <a:extLst>
                  <a:ext uri="{0D108BD9-81ED-4DB2-BD59-A6C34878D82A}">
                    <a16:rowId xmlns:a16="http://schemas.microsoft.com/office/drawing/2014/main" val="10002"/>
                  </a:ext>
                </a:extLst>
              </a:tr>
              <a:tr h="566928">
                <a:tc>
                  <a:txBody>
                    <a:bodyPr/>
                    <a:lstStyle/>
                    <a:p>
                      <a:r>
                        <a:rPr sz="2000" b="0">
                          <a:solidFill>
                            <a:srgbClr val="16181D"/>
                          </a:solidFill>
                          <a:latin typeface="Arial"/>
                        </a:rPr>
                        <a:t>Categorical — nominal</a:t>
                      </a:r>
                    </a:p>
                  </a:txBody>
                  <a:tcPr marL="109728" marR="109728">
                    <a:solidFill>
                      <a:srgbClr val="FFFFFF"/>
                    </a:solidFill>
                  </a:tcPr>
                </a:tc>
                <a:tc>
                  <a:txBody>
                    <a:bodyPr/>
                    <a:lstStyle/>
                    <a:p>
                      <a:r>
                        <a:rPr sz="2000" b="0">
                          <a:solidFill>
                            <a:srgbClr val="16181D"/>
                          </a:solidFill>
                          <a:latin typeface="Arial"/>
                        </a:rPr>
                        <a:t>Port, city, colour</a:t>
                      </a:r>
                    </a:p>
                  </a:txBody>
                  <a:tcPr marL="109728" marR="109728">
                    <a:solidFill>
                      <a:srgbClr val="FFFFFF"/>
                    </a:solidFill>
                  </a:tcPr>
                </a:tc>
                <a:tc>
                  <a:txBody>
                    <a:bodyPr/>
                    <a:lstStyle/>
                    <a:p>
                      <a:r>
                        <a:rPr sz="2000" b="0">
                          <a:solidFill>
                            <a:srgbClr val="16181D"/>
                          </a:solidFill>
                          <a:latin typeface="Arial"/>
                        </a:rPr>
                        <a:t>Yes — one-hot</a:t>
                      </a:r>
                    </a:p>
                  </a:txBody>
                  <a:tcPr marL="109728" marR="109728">
                    <a:solidFill>
                      <a:srgbClr val="FFFFFF"/>
                    </a:solidFill>
                  </a:tcPr>
                </a:tc>
                <a:tc>
                  <a:txBody>
                    <a:bodyPr/>
                    <a:lstStyle/>
                    <a:p>
                      <a:r>
                        <a:rPr sz="2000" b="0">
                          <a:solidFill>
                            <a:srgbClr val="16181D"/>
                          </a:solidFill>
                          <a:latin typeface="Arial"/>
                        </a:rPr>
                        <a:t>No</a:t>
                      </a:r>
                    </a:p>
                  </a:txBody>
                  <a:tcPr marL="109728" marR="109728">
                    <a:solidFill>
                      <a:srgbClr val="FFFFFF"/>
                    </a:solidFill>
                  </a:tcPr>
                </a:tc>
                <a:extLst>
                  <a:ext uri="{0D108BD9-81ED-4DB2-BD59-A6C34878D82A}">
                    <a16:rowId xmlns:a16="http://schemas.microsoft.com/office/drawing/2014/main" val="10003"/>
                  </a:ext>
                </a:extLst>
              </a:tr>
              <a:tr h="566928">
                <a:tc>
                  <a:txBody>
                    <a:bodyPr/>
                    <a:lstStyle/>
                    <a:p>
                      <a:r>
                        <a:rPr sz="2000" b="0">
                          <a:solidFill>
                            <a:srgbClr val="16181D"/>
                          </a:solidFill>
                          <a:latin typeface="Arial"/>
                        </a:rPr>
                        <a:t>Categorical — ordinal</a:t>
                      </a:r>
                    </a:p>
                  </a:txBody>
                  <a:tcPr marL="109728" marR="109728">
                    <a:solidFill>
                      <a:srgbClr val="F7F8FA"/>
                    </a:solidFill>
                  </a:tcPr>
                </a:tc>
                <a:tc>
                  <a:txBody>
                    <a:bodyPr/>
                    <a:lstStyle/>
                    <a:p>
                      <a:r>
                        <a:rPr sz="2000" b="0">
                          <a:solidFill>
                            <a:srgbClr val="16181D"/>
                          </a:solidFill>
                          <a:latin typeface="Arial"/>
                        </a:rPr>
                        <a:t>Low/Medium/High, ticket class</a:t>
                      </a:r>
                    </a:p>
                  </a:txBody>
                  <a:tcPr marL="109728" marR="109728">
                    <a:solidFill>
                      <a:srgbClr val="F7F8FA"/>
                    </a:solidFill>
                  </a:tcPr>
                </a:tc>
                <a:tc>
                  <a:txBody>
                    <a:bodyPr/>
                    <a:lstStyle/>
                    <a:p>
                      <a:r>
                        <a:rPr sz="2000" b="0">
                          <a:solidFill>
                            <a:srgbClr val="16181D"/>
                          </a:solidFill>
                          <a:latin typeface="Arial"/>
                        </a:rPr>
                        <a:t>Yes — ordinal</a:t>
                      </a:r>
                    </a:p>
                  </a:txBody>
                  <a:tcPr marL="109728" marR="109728">
                    <a:solidFill>
                      <a:srgbClr val="F7F8FA"/>
                    </a:solidFill>
                  </a:tcPr>
                </a:tc>
                <a:tc>
                  <a:txBody>
                    <a:bodyPr/>
                    <a:lstStyle/>
                    <a:p>
                      <a:r>
                        <a:rPr sz="2000" b="0">
                          <a:solidFill>
                            <a:srgbClr val="16181D"/>
                          </a:solidFill>
                          <a:latin typeface="Arial"/>
                        </a:rPr>
                        <a:t>Sometimes</a:t>
                      </a:r>
                    </a:p>
                  </a:txBody>
                  <a:tcPr marL="109728" marR="109728">
                    <a:solidFill>
                      <a:srgbClr val="F7F8FA"/>
                    </a:solidFill>
                  </a:tcPr>
                </a:tc>
                <a:extLst>
                  <a:ext uri="{0D108BD9-81ED-4DB2-BD59-A6C34878D82A}">
                    <a16:rowId xmlns:a16="http://schemas.microsoft.com/office/drawing/2014/main" val="10004"/>
                  </a:ext>
                </a:extLst>
              </a:tr>
              <a:tr h="566928">
                <a:tc>
                  <a:txBody>
                    <a:bodyPr/>
                    <a:lstStyle/>
                    <a:p>
                      <a:r>
                        <a:rPr sz="2000" b="0">
                          <a:solidFill>
                            <a:srgbClr val="16181D"/>
                          </a:solidFill>
                          <a:latin typeface="Arial"/>
                        </a:rPr>
                        <a:t>Binary</a:t>
                      </a:r>
                    </a:p>
                  </a:txBody>
                  <a:tcPr marL="109728" marR="109728">
                    <a:solidFill>
                      <a:srgbClr val="FFFFFF"/>
                    </a:solidFill>
                  </a:tcPr>
                </a:tc>
                <a:tc>
                  <a:txBody>
                    <a:bodyPr/>
                    <a:lstStyle/>
                    <a:p>
                      <a:r>
                        <a:rPr sz="2000" b="0">
                          <a:solidFill>
                            <a:srgbClr val="16181D"/>
                          </a:solidFill>
                          <a:latin typeface="Arial"/>
                        </a:rPr>
                        <a:t>Survived, is_spam</a:t>
                      </a:r>
                    </a:p>
                  </a:txBody>
                  <a:tcPr marL="109728" marR="109728">
                    <a:solidFill>
                      <a:srgbClr val="FFFFFF"/>
                    </a:solidFill>
                  </a:tcPr>
                </a:tc>
                <a:tc>
                  <a:txBody>
                    <a:bodyPr/>
                    <a:lstStyle/>
                    <a:p>
                      <a:r>
                        <a:rPr sz="2000" b="0">
                          <a:solidFill>
                            <a:srgbClr val="16181D"/>
                          </a:solidFill>
                          <a:latin typeface="Arial"/>
                        </a:rPr>
                        <a:t>Map to 0/1</a:t>
                      </a:r>
                    </a:p>
                  </a:txBody>
                  <a:tcPr marL="109728" marR="109728">
                    <a:solidFill>
                      <a:srgbClr val="FFFFFF"/>
                    </a:solidFill>
                  </a:tcPr>
                </a:tc>
                <a:tc>
                  <a:txBody>
                    <a:bodyPr/>
                    <a:lstStyle/>
                    <a:p>
                      <a:r>
                        <a:rPr sz="2000" b="0">
                          <a:solidFill>
                            <a:srgbClr val="16181D"/>
                          </a:solidFill>
                          <a:latin typeface="Arial"/>
                        </a:rPr>
                        <a:t>No</a:t>
                      </a:r>
                    </a:p>
                  </a:txBody>
                  <a:tcPr marL="109728" marR="109728">
                    <a:solidFill>
                      <a:srgbClr val="FFFFFF"/>
                    </a:solidFill>
                  </a:tcPr>
                </a:tc>
                <a:extLst>
                  <a:ext uri="{0D108BD9-81ED-4DB2-BD59-A6C34878D82A}">
                    <a16:rowId xmlns:a16="http://schemas.microsoft.com/office/drawing/2014/main" val="10005"/>
                  </a:ext>
                </a:extLst>
              </a:tr>
              <a:tr h="566928">
                <a:tc>
                  <a:txBody>
                    <a:bodyPr/>
                    <a:lstStyle/>
                    <a:p>
                      <a:r>
                        <a:rPr sz="2000" b="0">
                          <a:solidFill>
                            <a:srgbClr val="16181D"/>
                          </a:solidFill>
                          <a:latin typeface="Arial"/>
                        </a:rPr>
                        <a:t>Datetime</a:t>
                      </a:r>
                    </a:p>
                  </a:txBody>
                  <a:tcPr marL="109728" marR="109728">
                    <a:solidFill>
                      <a:srgbClr val="F7F8FA"/>
                    </a:solidFill>
                  </a:tcPr>
                </a:tc>
                <a:tc>
                  <a:txBody>
                    <a:bodyPr/>
                    <a:lstStyle/>
                    <a:p>
                      <a:r>
                        <a:rPr sz="2000" b="0">
                          <a:solidFill>
                            <a:srgbClr val="16181D"/>
                          </a:solidFill>
                          <a:latin typeface="Arial"/>
                        </a:rPr>
                        <a:t>Timestamp of purchase</a:t>
                      </a:r>
                    </a:p>
                  </a:txBody>
                  <a:tcPr marL="109728" marR="109728">
                    <a:solidFill>
                      <a:srgbClr val="F7F8FA"/>
                    </a:solidFill>
                  </a:tcPr>
                </a:tc>
                <a:tc>
                  <a:txBody>
                    <a:bodyPr/>
                    <a:lstStyle/>
                    <a:p>
                      <a:r>
                        <a:rPr sz="2000" b="0">
                          <a:solidFill>
                            <a:srgbClr val="16181D"/>
                          </a:solidFill>
                          <a:latin typeface="Arial"/>
                        </a:rPr>
                        <a:t>Derive features</a:t>
                      </a:r>
                    </a:p>
                  </a:txBody>
                  <a:tcPr marL="109728" marR="109728">
                    <a:solidFill>
                      <a:srgbClr val="F7F8FA"/>
                    </a:solidFill>
                  </a:tcPr>
                </a:tc>
                <a:tc>
                  <a:txBody>
                    <a:bodyPr/>
                    <a:lstStyle/>
                    <a:p>
                      <a:r>
                        <a:rPr sz="2000" b="0">
                          <a:solidFill>
                            <a:srgbClr val="16181D"/>
                          </a:solidFill>
                          <a:latin typeface="Arial"/>
                        </a:rPr>
                        <a:t>—</a:t>
                      </a:r>
                    </a:p>
                  </a:txBody>
                  <a:tcPr marL="109728" marR="109728">
                    <a:solidFill>
                      <a:srgbClr val="F7F8FA"/>
                    </a:solidFill>
                  </a:tcPr>
                </a:tc>
                <a:extLst>
                  <a:ext uri="{0D108BD9-81ED-4DB2-BD59-A6C34878D82A}">
                    <a16:rowId xmlns:a16="http://schemas.microsoft.com/office/drawing/2014/main" val="10006"/>
                  </a:ext>
                </a:extLst>
              </a:tr>
              <a:tr h="566928">
                <a:tc>
                  <a:txBody>
                    <a:bodyPr/>
                    <a:lstStyle/>
                    <a:p>
                      <a:r>
                        <a:rPr sz="2000" b="0">
                          <a:solidFill>
                            <a:srgbClr val="16181D"/>
                          </a:solidFill>
                          <a:latin typeface="Arial"/>
                        </a:rPr>
                        <a:t>Text</a:t>
                      </a:r>
                    </a:p>
                  </a:txBody>
                  <a:tcPr marL="109728" marR="109728">
                    <a:solidFill>
                      <a:srgbClr val="FFFFFF"/>
                    </a:solidFill>
                  </a:tcPr>
                </a:tc>
                <a:tc>
                  <a:txBody>
                    <a:bodyPr/>
                    <a:lstStyle/>
                    <a:p>
                      <a:r>
                        <a:rPr sz="2000" b="0">
                          <a:solidFill>
                            <a:srgbClr val="16181D"/>
                          </a:solidFill>
                          <a:latin typeface="Arial"/>
                        </a:rPr>
                        <a:t>Review body, support ticket</a:t>
                      </a:r>
                    </a:p>
                  </a:txBody>
                  <a:tcPr marL="109728" marR="109728">
                    <a:solidFill>
                      <a:srgbClr val="FFFFFF"/>
                    </a:solidFill>
                  </a:tcPr>
                </a:tc>
                <a:tc>
                  <a:txBody>
                    <a:bodyPr/>
                    <a:lstStyle/>
                    <a:p>
                      <a:r>
                        <a:rPr sz="2000" b="0">
                          <a:solidFill>
                            <a:srgbClr val="16181D"/>
                          </a:solidFill>
                          <a:latin typeface="Arial"/>
                        </a:rPr>
                        <a:t>Vectorise (Lecture 9)</a:t>
                      </a:r>
                    </a:p>
                  </a:txBody>
                  <a:tcPr marL="109728" marR="109728">
                    <a:solidFill>
                      <a:srgbClr val="FFFFFF"/>
                    </a:solidFill>
                  </a:tcPr>
                </a:tc>
                <a:tc>
                  <a:txBody>
                    <a:bodyPr/>
                    <a:lstStyle/>
                    <a:p>
                      <a:r>
                        <a:rPr sz="2000" b="0">
                          <a:solidFill>
                            <a:srgbClr val="16181D"/>
                          </a:solidFill>
                          <a:latin typeface="Arial"/>
                        </a:rPr>
                        <a:t>—</a:t>
                      </a:r>
                    </a:p>
                  </a:txBody>
                  <a:tcPr marL="109728" marR="109728">
                    <a:solidFill>
                      <a:srgbClr val="FFFFFF"/>
                    </a:solidFill>
                  </a:tcPr>
                </a:tc>
                <a:extLst>
                  <a:ext uri="{0D108BD9-81ED-4DB2-BD59-A6C34878D82A}">
                    <a16:rowId xmlns:a16="http://schemas.microsoft.com/office/drawing/2014/main" val="10007"/>
                  </a:ext>
                </a:extLst>
              </a:tr>
              <a:tr h="566928">
                <a:tc>
                  <a:txBody>
                    <a:bodyPr/>
                    <a:lstStyle/>
                    <a:p>
                      <a:r>
                        <a:rPr sz="2000" b="0">
                          <a:solidFill>
                            <a:srgbClr val="16181D"/>
                          </a:solidFill>
                          <a:latin typeface="Arial"/>
                        </a:rPr>
                        <a:t>Identifier</a:t>
                      </a:r>
                    </a:p>
                  </a:txBody>
                  <a:tcPr marL="109728" marR="109728">
                    <a:solidFill>
                      <a:srgbClr val="F7F8FA"/>
                    </a:solidFill>
                  </a:tcPr>
                </a:tc>
                <a:tc>
                  <a:txBody>
                    <a:bodyPr/>
                    <a:lstStyle/>
                    <a:p>
                      <a:r>
                        <a:rPr sz="2000" b="0" dirty="0" err="1">
                          <a:solidFill>
                            <a:srgbClr val="16181D"/>
                          </a:solidFill>
                          <a:latin typeface="Arial"/>
                        </a:rPr>
                        <a:t>PassengerId</a:t>
                      </a:r>
                      <a:r>
                        <a:rPr sz="2000" b="0" dirty="0">
                          <a:solidFill>
                            <a:srgbClr val="16181D"/>
                          </a:solidFill>
                          <a:latin typeface="Arial"/>
                        </a:rPr>
                        <a:t>, order number</a:t>
                      </a:r>
                    </a:p>
                  </a:txBody>
                  <a:tcPr marL="109728" marR="109728">
                    <a:solidFill>
                      <a:srgbClr val="F7F8FA"/>
                    </a:solidFill>
                  </a:tcPr>
                </a:tc>
                <a:tc>
                  <a:txBody>
                    <a:bodyPr/>
                    <a:lstStyle/>
                    <a:p>
                      <a:r>
                        <a:rPr sz="2000" b="1">
                          <a:solidFill>
                            <a:srgbClr val="16181D"/>
                          </a:solidFill>
                          <a:latin typeface="Arial"/>
                        </a:rPr>
                        <a:t>Never a feature</a:t>
                      </a:r>
                    </a:p>
                  </a:txBody>
                  <a:tcPr marL="109728" marR="109728">
                    <a:solidFill>
                      <a:srgbClr val="F7F8FA"/>
                    </a:solidFill>
                  </a:tcPr>
                </a:tc>
                <a:tc>
                  <a:txBody>
                    <a:bodyPr/>
                    <a:lstStyle/>
                    <a:p>
                      <a:r>
                        <a:rPr sz="2000" b="0" dirty="0">
                          <a:solidFill>
                            <a:srgbClr val="16181D"/>
                          </a:solidFill>
                          <a:latin typeface="Arial"/>
                        </a:rPr>
                        <a:t>—</a:t>
                      </a:r>
                    </a:p>
                  </a:txBody>
                  <a:tcPr marL="109728" marR="109728">
                    <a:solidFill>
                      <a:srgbClr val="F7F8FA"/>
                    </a:solidFill>
                  </a:tcPr>
                </a:tc>
                <a:extLst>
                  <a:ext uri="{0D108BD9-81ED-4DB2-BD59-A6C34878D82A}">
                    <a16:rowId xmlns:a16="http://schemas.microsoft.com/office/drawing/2014/main" val="10008"/>
                  </a:ext>
                </a:extLst>
              </a:tr>
            </a:tbl>
          </a:graphicData>
        </a:graphic>
      </p:graphicFrame>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      ·      reference slide — also in the handout</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28</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E02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658368"/>
            <a:ext cx="15371063" cy="868680"/>
          </a:xfrm>
          <a:prstGeom prst="rect">
            <a:avLst/>
          </a:prstGeom>
          <a:noFill/>
        </p:spPr>
        <p:txBody>
          <a:bodyPr wrap="square">
            <a:spAutoFit/>
          </a:bodyPr>
          <a:lstStyle/>
          <a:p>
            <a:r>
              <a:rPr sz="4400" b="1">
                <a:solidFill>
                  <a:srgbClr val="FFFFFF"/>
                </a:solidFill>
                <a:latin typeface="Arial"/>
              </a:rPr>
              <a:t>Quick fire: numeric or category?</a:t>
            </a:r>
          </a:p>
        </p:txBody>
      </p:sp>
      <p:sp>
        <p:nvSpPr>
          <p:cNvPr id="5" name="TextBox 4"/>
          <p:cNvSpPr txBox="1"/>
          <p:nvPr/>
        </p:nvSpPr>
        <p:spPr>
          <a:xfrm>
            <a:off x="969264" y="2057400"/>
            <a:ext cx="15371063" cy="3760004"/>
          </a:xfrm>
          <a:prstGeom prst="rect">
            <a:avLst/>
          </a:prstGeom>
          <a:noFill/>
        </p:spPr>
        <p:txBody>
          <a:bodyPr wrap="square">
            <a:spAutoFit/>
          </a:bodyPr>
          <a:lstStyle/>
          <a:p>
            <a:pPr>
              <a:spcAft>
                <a:spcPts val="1400"/>
              </a:spcAft>
            </a:pPr>
            <a:r>
              <a:rPr sz="3000" b="0" dirty="0">
                <a:solidFill>
                  <a:srgbClr val="16181D"/>
                </a:solidFill>
                <a:latin typeface="Arial"/>
              </a:rPr>
              <a:t>▪   </a:t>
            </a:r>
            <a:r>
              <a:rPr sz="2800" b="0" dirty="0" err="1">
                <a:solidFill>
                  <a:srgbClr val="0B3D6B"/>
                </a:solidFill>
                <a:latin typeface="Consolas"/>
              </a:rPr>
              <a:t>Pclass</a:t>
            </a:r>
            <a:r>
              <a:rPr sz="3000" b="0" dirty="0">
                <a:solidFill>
                  <a:srgbClr val="16181D"/>
                </a:solidFill>
                <a:latin typeface="Arial"/>
              </a:rPr>
              <a:t> — ticket class stored as 1, 2, 3</a:t>
            </a:r>
          </a:p>
          <a:p>
            <a:pPr>
              <a:spcAft>
                <a:spcPts val="1400"/>
              </a:spcAft>
            </a:pPr>
            <a:r>
              <a:rPr sz="3000" b="0" dirty="0">
                <a:solidFill>
                  <a:srgbClr val="16181D"/>
                </a:solidFill>
                <a:latin typeface="Arial"/>
              </a:rPr>
              <a:t>▪   </a:t>
            </a:r>
            <a:r>
              <a:rPr sz="2800" b="0" dirty="0" err="1">
                <a:solidFill>
                  <a:srgbClr val="0B3D6B"/>
                </a:solidFill>
                <a:latin typeface="Consolas"/>
              </a:rPr>
              <a:t>postnummer</a:t>
            </a:r>
            <a:r>
              <a:rPr sz="3000" b="0" dirty="0">
                <a:solidFill>
                  <a:srgbClr val="16181D"/>
                </a:solidFill>
                <a:latin typeface="Arial"/>
              </a:rPr>
              <a:t> — 0150, 0575, 9010</a:t>
            </a:r>
          </a:p>
          <a:p>
            <a:pPr>
              <a:spcAft>
                <a:spcPts val="1400"/>
              </a:spcAft>
            </a:pPr>
            <a:r>
              <a:rPr sz="3000" b="0" dirty="0">
                <a:solidFill>
                  <a:srgbClr val="16181D"/>
                </a:solidFill>
                <a:latin typeface="Arial"/>
              </a:rPr>
              <a:t>▪   </a:t>
            </a:r>
            <a:r>
              <a:rPr sz="2800" b="0" dirty="0" err="1">
                <a:solidFill>
                  <a:srgbClr val="0B3D6B"/>
                </a:solidFill>
                <a:latin typeface="Consolas"/>
              </a:rPr>
              <a:t>shoe_size</a:t>
            </a:r>
            <a:r>
              <a:rPr sz="3000" b="0" dirty="0">
                <a:solidFill>
                  <a:srgbClr val="16181D"/>
                </a:solidFill>
                <a:latin typeface="Arial"/>
              </a:rPr>
              <a:t> — 38, 41, 44</a:t>
            </a:r>
          </a:p>
          <a:p>
            <a:pPr>
              <a:spcAft>
                <a:spcPts val="1400"/>
              </a:spcAft>
            </a:pPr>
            <a:r>
              <a:rPr sz="3000" b="0" dirty="0">
                <a:solidFill>
                  <a:srgbClr val="16181D"/>
                </a:solidFill>
                <a:latin typeface="Arial"/>
              </a:rPr>
              <a:t>▪   </a:t>
            </a:r>
            <a:r>
              <a:rPr sz="2800" b="0" dirty="0" err="1">
                <a:solidFill>
                  <a:srgbClr val="0B3D6B"/>
                </a:solidFill>
                <a:latin typeface="Consolas"/>
              </a:rPr>
              <a:t>phone_number</a:t>
            </a:r>
            <a:r>
              <a:rPr sz="3000" b="0" dirty="0">
                <a:solidFill>
                  <a:srgbClr val="16181D"/>
                </a:solidFill>
                <a:latin typeface="Arial"/>
              </a:rPr>
              <a:t> — 90 12 34 56</a:t>
            </a:r>
          </a:p>
          <a:p>
            <a:pPr>
              <a:spcAft>
                <a:spcPts val="1400"/>
              </a:spcAft>
            </a:pPr>
            <a:r>
              <a:rPr sz="3000" b="0" dirty="0">
                <a:solidFill>
                  <a:srgbClr val="16181D"/>
                </a:solidFill>
                <a:latin typeface="Arial"/>
              </a:rPr>
              <a:t>▪   </a:t>
            </a:r>
            <a:r>
              <a:rPr sz="2800" b="0" dirty="0" err="1">
                <a:solidFill>
                  <a:srgbClr val="0B3D6B"/>
                </a:solidFill>
                <a:latin typeface="Consolas"/>
              </a:rPr>
              <a:t>n_children</a:t>
            </a:r>
            <a:r>
              <a:rPr sz="3000" b="0" dirty="0">
                <a:solidFill>
                  <a:srgbClr val="16181D"/>
                </a:solidFill>
                <a:latin typeface="Arial"/>
              </a:rPr>
              <a:t> — 0, 1, 2, 3</a:t>
            </a:r>
          </a:p>
          <a:p>
            <a:pPr>
              <a:spcAft>
                <a:spcPts val="600"/>
              </a:spcAft>
            </a:pPr>
            <a:endParaRPr sz="3000" b="0" dirty="0">
              <a:solidFill>
                <a:srgbClr val="16181D"/>
              </a:solidFill>
              <a:latin typeface="Arial"/>
            </a:endParaRP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29</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Tidy data — fix the shape first</a:t>
            </a:r>
          </a:p>
        </p:txBody>
      </p:sp>
      <p:sp>
        <p:nvSpPr>
          <p:cNvPr id="4" name="TextBox 3"/>
          <p:cNvSpPr txBox="1"/>
          <p:nvPr/>
        </p:nvSpPr>
        <p:spPr>
          <a:xfrm>
            <a:off x="969264" y="2057400"/>
            <a:ext cx="15371063" cy="5529719"/>
          </a:xfrm>
          <a:prstGeom prst="rect">
            <a:avLst/>
          </a:prstGeom>
          <a:noFill/>
        </p:spPr>
        <p:txBody>
          <a:bodyPr wrap="square">
            <a:spAutoFit/>
          </a:bodyPr>
          <a:lstStyle/>
          <a:p>
            <a:pPr>
              <a:spcAft>
                <a:spcPts val="600"/>
              </a:spcAft>
            </a:pPr>
            <a:endParaRPr sz="3000" b="0" dirty="0">
              <a:solidFill>
                <a:srgbClr val="16181D"/>
              </a:solidFill>
              <a:latin typeface="Arial"/>
            </a:endParaRPr>
          </a:p>
          <a:p>
            <a:pPr>
              <a:spcAft>
                <a:spcPts val="1400"/>
              </a:spcAft>
            </a:pPr>
            <a:r>
              <a:rPr sz="3000" b="0" dirty="0">
                <a:solidFill>
                  <a:srgbClr val="16181D"/>
                </a:solidFill>
                <a:latin typeface="Arial"/>
              </a:rPr>
              <a:t>▪   Untidy data you will actually meet:</a:t>
            </a:r>
          </a:p>
          <a:p>
            <a:pPr>
              <a:spcAft>
                <a:spcPts val="800"/>
              </a:spcAft>
            </a:pPr>
            <a:r>
              <a:rPr sz="2500" b="0" dirty="0">
                <a:solidFill>
                  <a:srgbClr val="3A3F47"/>
                </a:solidFill>
                <a:latin typeface="Arial"/>
              </a:rPr>
              <a:t>        –   One column per month: </a:t>
            </a:r>
            <a:r>
              <a:rPr sz="2300" b="0" dirty="0" err="1">
                <a:solidFill>
                  <a:srgbClr val="0B3D6B"/>
                </a:solidFill>
                <a:latin typeface="Consolas"/>
              </a:rPr>
              <a:t>sales_jan</a:t>
            </a:r>
            <a:r>
              <a:rPr sz="2500" b="0" dirty="0">
                <a:solidFill>
                  <a:srgbClr val="3A3F47"/>
                </a:solidFill>
                <a:latin typeface="Arial"/>
              </a:rPr>
              <a:t>, </a:t>
            </a:r>
            <a:r>
              <a:rPr sz="2300" b="0" dirty="0" err="1">
                <a:solidFill>
                  <a:srgbClr val="0B3D6B"/>
                </a:solidFill>
                <a:latin typeface="Consolas"/>
              </a:rPr>
              <a:t>sales_feb</a:t>
            </a:r>
            <a:r>
              <a:rPr sz="2500" b="0" dirty="0">
                <a:solidFill>
                  <a:srgbClr val="3A3F47"/>
                </a:solidFill>
                <a:latin typeface="Arial"/>
              </a:rPr>
              <a:t>, … instead of a </a:t>
            </a:r>
            <a:r>
              <a:rPr sz="2300" b="0" dirty="0">
                <a:solidFill>
                  <a:srgbClr val="0B3D6B"/>
                </a:solidFill>
                <a:latin typeface="Consolas"/>
              </a:rPr>
              <a:t>month</a:t>
            </a:r>
            <a:r>
              <a:rPr sz="2500" b="0" dirty="0">
                <a:solidFill>
                  <a:srgbClr val="3A3F47"/>
                </a:solidFill>
                <a:latin typeface="Arial"/>
              </a:rPr>
              <a:t> column</a:t>
            </a:r>
          </a:p>
          <a:p>
            <a:pPr>
              <a:spcAft>
                <a:spcPts val="800"/>
              </a:spcAft>
            </a:pPr>
            <a:r>
              <a:rPr sz="2500" b="0" dirty="0">
                <a:solidFill>
                  <a:srgbClr val="3A3F47"/>
                </a:solidFill>
                <a:latin typeface="Arial"/>
              </a:rPr>
              <a:t>        –   Two variables in one column: </a:t>
            </a:r>
            <a:r>
              <a:rPr sz="2300" b="0" dirty="0">
                <a:solidFill>
                  <a:srgbClr val="0B3D6B"/>
                </a:solidFill>
                <a:latin typeface="Consolas"/>
              </a:rPr>
              <a:t>"Oslo, 0150"</a:t>
            </a:r>
          </a:p>
          <a:p>
            <a:pPr>
              <a:spcAft>
                <a:spcPts val="800"/>
              </a:spcAft>
            </a:pPr>
            <a:r>
              <a:rPr sz="2500" b="0" dirty="0">
                <a:solidFill>
                  <a:srgbClr val="3A3F47"/>
                </a:solidFill>
                <a:latin typeface="Arial"/>
              </a:rPr>
              <a:t>        –   A single cell holding a comma-separated list</a:t>
            </a:r>
            <a:endParaRPr lang="nb-NO" sz="2500" b="0" dirty="0">
              <a:solidFill>
                <a:srgbClr val="3A3F47"/>
              </a:solidFill>
              <a:latin typeface="Arial"/>
            </a:endParaRPr>
          </a:p>
          <a:p>
            <a:pPr>
              <a:spcAft>
                <a:spcPts val="800"/>
              </a:spcAft>
            </a:pPr>
            <a:endParaRPr lang="en-US" sz="2500" dirty="0">
              <a:solidFill>
                <a:srgbClr val="3A3F47"/>
              </a:solidFill>
              <a:latin typeface="Arial"/>
            </a:endParaRPr>
          </a:p>
          <a:p>
            <a:pPr>
              <a:spcAft>
                <a:spcPts val="1400"/>
              </a:spcAft>
            </a:pPr>
            <a:r>
              <a:rPr lang="en-US" sz="2800" dirty="0">
                <a:solidFill>
                  <a:srgbClr val="16181D"/>
                </a:solidFill>
              </a:rPr>
              <a:t>▪   One </a:t>
            </a:r>
            <a:r>
              <a:rPr lang="en-US" sz="2800" b="1" dirty="0">
                <a:solidFill>
                  <a:srgbClr val="16181D"/>
                </a:solidFill>
              </a:rPr>
              <a:t>row</a:t>
            </a:r>
            <a:r>
              <a:rPr lang="en-US" sz="2800" dirty="0">
                <a:solidFill>
                  <a:srgbClr val="16181D"/>
                </a:solidFill>
              </a:rPr>
              <a:t> per observation</a:t>
            </a:r>
          </a:p>
          <a:p>
            <a:pPr>
              <a:spcAft>
                <a:spcPts val="1400"/>
              </a:spcAft>
            </a:pPr>
            <a:r>
              <a:rPr lang="en-US" sz="2800" dirty="0">
                <a:solidFill>
                  <a:srgbClr val="16181D"/>
                </a:solidFill>
              </a:rPr>
              <a:t>▪   One </a:t>
            </a:r>
            <a:r>
              <a:rPr lang="en-US" sz="2800" b="1" dirty="0">
                <a:solidFill>
                  <a:srgbClr val="16181D"/>
                </a:solidFill>
              </a:rPr>
              <a:t>column</a:t>
            </a:r>
            <a:r>
              <a:rPr lang="en-US" sz="2800" dirty="0">
                <a:solidFill>
                  <a:srgbClr val="16181D"/>
                </a:solidFill>
              </a:rPr>
              <a:t> per variable</a:t>
            </a:r>
          </a:p>
          <a:p>
            <a:pPr>
              <a:spcAft>
                <a:spcPts val="1400"/>
              </a:spcAft>
            </a:pPr>
            <a:r>
              <a:rPr lang="en-US" sz="2800" dirty="0">
                <a:solidFill>
                  <a:srgbClr val="16181D"/>
                </a:solidFill>
              </a:rPr>
              <a:t>▪   One </a:t>
            </a:r>
            <a:r>
              <a:rPr lang="en-US" sz="2800" b="1" dirty="0">
                <a:solidFill>
                  <a:srgbClr val="16181D"/>
                </a:solidFill>
              </a:rPr>
              <a:t>table</a:t>
            </a:r>
            <a:r>
              <a:rPr lang="en-US" sz="2800" dirty="0">
                <a:solidFill>
                  <a:srgbClr val="16181D"/>
                </a:solidFill>
              </a:rPr>
              <a:t> per kind of observation</a:t>
            </a:r>
          </a:p>
          <a:p>
            <a:pPr>
              <a:spcAft>
                <a:spcPts val="800"/>
              </a:spcAft>
            </a:pPr>
            <a:endParaRPr sz="2500" b="0" dirty="0">
              <a:solidFill>
                <a:srgbClr val="3A3F47"/>
              </a:solidFill>
              <a:latin typeface="Arial"/>
            </a:endParaRP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      ·      reference slide — also in the handout</a:t>
            </a:r>
          </a:p>
        </p:txBody>
      </p:sp>
      <p:sp>
        <p:nvSpPr>
          <p:cNvPr id="7" name="TextBox 6"/>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30</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Loading a file defensively</a:t>
            </a:r>
          </a:p>
        </p:txBody>
      </p:sp>
      <p:sp>
        <p:nvSpPr>
          <p:cNvPr id="4" name="TextBox 3"/>
          <p:cNvSpPr txBox="1"/>
          <p:nvPr/>
        </p:nvSpPr>
        <p:spPr>
          <a:xfrm>
            <a:off x="969264" y="1874519"/>
            <a:ext cx="15371063" cy="548640"/>
          </a:xfrm>
          <a:prstGeom prst="rect">
            <a:avLst/>
          </a:prstGeom>
          <a:noFill/>
        </p:spPr>
        <p:txBody>
          <a:bodyPr wrap="none">
            <a:spAutoFit/>
          </a:bodyPr>
          <a:lstStyle/>
          <a:p>
            <a:r>
              <a:rPr sz="2400" b="0">
                <a:solidFill>
                  <a:srgbClr val="3A3F47"/>
                </a:solidFill>
                <a:latin typeface="Arial"/>
              </a:rPr>
              <a:t>The read_csv call you should be writing for Norwegian data</a:t>
            </a:r>
          </a:p>
        </p:txBody>
      </p:sp>
      <p:sp>
        <p:nvSpPr>
          <p:cNvPr id="5" name="Rectangle 4"/>
          <p:cNvSpPr/>
          <p:nvPr/>
        </p:nvSpPr>
        <p:spPr>
          <a:xfrm>
            <a:off x="969264" y="2606040"/>
            <a:ext cx="15371063" cy="4032504"/>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69264" y="2606040"/>
            <a:ext cx="82296" cy="403250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89304" y="2770632"/>
            <a:ext cx="14822423" cy="3758184"/>
          </a:xfrm>
          <a:prstGeom prst="rect">
            <a:avLst/>
          </a:prstGeom>
          <a:noFill/>
        </p:spPr>
        <p:txBody>
          <a:bodyPr wrap="none">
            <a:spAutoFit/>
          </a:bodyPr>
          <a:lstStyle/>
          <a:p>
            <a:pPr>
              <a:spcAft>
                <a:spcPts val="200"/>
              </a:spcAft>
            </a:pPr>
            <a:r>
              <a:rPr sz="2100">
                <a:solidFill>
                  <a:srgbClr val="16181D"/>
                </a:solidFill>
                <a:latin typeface="Consolas"/>
              </a:rPr>
              <a:t>df = pd.read_csv(</a:t>
            </a:r>
          </a:p>
          <a:p>
            <a:pPr>
              <a:spcAft>
                <a:spcPts val="200"/>
              </a:spcAft>
            </a:pPr>
            <a:r>
              <a:rPr sz="2100">
                <a:solidFill>
                  <a:srgbClr val="16181D"/>
                </a:solidFill>
                <a:latin typeface="Consolas"/>
              </a:rPr>
              <a:t>    "sales.csv",</a:t>
            </a:r>
          </a:p>
          <a:p>
            <a:pPr>
              <a:spcAft>
                <a:spcPts val="200"/>
              </a:spcAft>
            </a:pPr>
            <a:r>
              <a:rPr sz="2100">
                <a:solidFill>
                  <a:srgbClr val="16181D"/>
                </a:solidFill>
                <a:latin typeface="Consolas"/>
              </a:rPr>
              <a:t>    sep=";",                 </a:t>
            </a:r>
            <a:r>
              <a:rPr sz="2100">
                <a:solidFill>
                  <a:srgbClr val="1B7F4B"/>
                </a:solidFill>
                <a:latin typeface="Consolas"/>
              </a:rPr>
              <a:t># European CSVs are usually semicolon-separated</a:t>
            </a:r>
          </a:p>
          <a:p>
            <a:pPr>
              <a:spcAft>
                <a:spcPts val="200"/>
              </a:spcAft>
            </a:pPr>
            <a:r>
              <a:rPr sz="2100">
                <a:solidFill>
                  <a:srgbClr val="16181D"/>
                </a:solidFill>
                <a:latin typeface="Consolas"/>
              </a:rPr>
              <a:t>    decimal=",",             </a:t>
            </a:r>
            <a:r>
              <a:rPr sz="2100">
                <a:solidFill>
                  <a:srgbClr val="1B7F4B"/>
                </a:solidFill>
                <a:latin typeface="Consolas"/>
              </a:rPr>
              <a:t># "1 234,50" is one number, not text</a:t>
            </a:r>
          </a:p>
          <a:p>
            <a:pPr>
              <a:spcAft>
                <a:spcPts val="200"/>
              </a:spcAft>
            </a:pPr>
            <a:r>
              <a:rPr sz="2100">
                <a:solidFill>
                  <a:srgbClr val="16181D"/>
                </a:solidFill>
                <a:latin typeface="Consolas"/>
              </a:rPr>
              <a:t>    thousands=" ",</a:t>
            </a:r>
          </a:p>
          <a:p>
            <a:pPr>
              <a:spcAft>
                <a:spcPts val="200"/>
              </a:spcAft>
            </a:pPr>
            <a:r>
              <a:rPr sz="2100">
                <a:solidFill>
                  <a:srgbClr val="16181D"/>
                </a:solidFill>
                <a:latin typeface="Consolas"/>
              </a:rPr>
              <a:t>    encoding="utf-8",        </a:t>
            </a:r>
            <a:r>
              <a:rPr sz="2100">
                <a:solidFill>
                  <a:srgbClr val="1B7F4B"/>
                </a:solidFill>
                <a:latin typeface="Consolas"/>
              </a:rPr>
              <a:t># try "latin-1" if you see Ã¦ Ã¸ Ã¥</a:t>
            </a:r>
          </a:p>
          <a:p>
            <a:pPr>
              <a:spcAft>
                <a:spcPts val="200"/>
              </a:spcAft>
            </a:pPr>
            <a:r>
              <a:rPr sz="2100">
                <a:solidFill>
                  <a:srgbClr val="16181D"/>
                </a:solidFill>
                <a:latin typeface="Consolas"/>
              </a:rPr>
              <a:t>    na_values=["", " ", "-", "..", ":", "ukjent", "unknown"],</a:t>
            </a:r>
          </a:p>
          <a:p>
            <a:pPr>
              <a:spcAft>
                <a:spcPts val="200"/>
              </a:spcAft>
            </a:pPr>
            <a:r>
              <a:rPr sz="2100">
                <a:solidFill>
                  <a:srgbClr val="16181D"/>
                </a:solidFill>
                <a:latin typeface="Consolas"/>
              </a:rPr>
              <a:t>    dtype={"postnr": "string"},   </a:t>
            </a:r>
            <a:r>
              <a:rPr sz="2100">
                <a:solidFill>
                  <a:srgbClr val="1B7F4B"/>
                </a:solidFill>
                <a:latin typeface="Consolas"/>
              </a:rPr>
              <a:t># keep the leading zero</a:t>
            </a:r>
          </a:p>
          <a:p>
            <a:pPr>
              <a:spcAft>
                <a:spcPts val="200"/>
              </a:spcAft>
            </a:pPr>
            <a:r>
              <a:rPr sz="2100">
                <a:solidFill>
                  <a:srgbClr val="16181D"/>
                </a:solidFill>
                <a:latin typeface="Consolas"/>
              </a:rPr>
              <a:t>)</a:t>
            </a:r>
          </a:p>
        </p:txBody>
      </p:sp>
      <p:sp>
        <p:nvSpPr>
          <p:cNvPr id="8" name="TextBox 7"/>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9" name="TextBox 8"/>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33</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Fix the dtypes immediately after loading</a:t>
            </a:r>
          </a:p>
        </p:txBody>
      </p:sp>
      <p:sp>
        <p:nvSpPr>
          <p:cNvPr id="4" name="Rectangle 3"/>
          <p:cNvSpPr/>
          <p:nvPr/>
        </p:nvSpPr>
        <p:spPr>
          <a:xfrm>
            <a:off x="969264" y="2057400"/>
            <a:ext cx="15371063" cy="2496312"/>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9264" y="2057400"/>
            <a:ext cx="82296" cy="2496312"/>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89304" y="2221992"/>
            <a:ext cx="14822423" cy="2221992"/>
          </a:xfrm>
          <a:prstGeom prst="rect">
            <a:avLst/>
          </a:prstGeom>
          <a:noFill/>
        </p:spPr>
        <p:txBody>
          <a:bodyPr wrap="none">
            <a:spAutoFit/>
          </a:bodyPr>
          <a:lstStyle/>
          <a:p>
            <a:pPr>
              <a:spcAft>
                <a:spcPts val="200"/>
              </a:spcAft>
            </a:pPr>
            <a:r>
              <a:rPr sz="2100">
                <a:solidFill>
                  <a:srgbClr val="16181D"/>
                </a:solidFill>
                <a:latin typeface="Consolas"/>
              </a:rPr>
              <a:t>df["price"] = pd.to_numeric(df["price"], errors="coerce")   </a:t>
            </a:r>
            <a:r>
              <a:rPr sz="2100">
                <a:solidFill>
                  <a:srgbClr val="1B7F4B"/>
                </a:solidFill>
                <a:latin typeface="Consolas"/>
              </a:rPr>
              <a:t># bad -&gt; NaN, no crash</a:t>
            </a:r>
          </a:p>
          <a:p>
            <a:pPr>
              <a:spcAft>
                <a:spcPts val="200"/>
              </a:spcAft>
            </a:pPr>
            <a:r>
              <a:rPr sz="2100">
                <a:solidFill>
                  <a:srgbClr val="16181D"/>
                </a:solidFill>
                <a:latin typeface="Consolas"/>
              </a:rPr>
              <a:t>df["date"]  = pd.to_datetime(df["date"], format="%d.%m.%Y", errors="coerce")</a:t>
            </a:r>
          </a:p>
          <a:p>
            <a:pPr>
              <a:spcAft>
                <a:spcPts val="200"/>
              </a:spcAft>
            </a:pPr>
            <a:r>
              <a:rPr sz="2100">
                <a:solidFill>
                  <a:srgbClr val="16181D"/>
                </a:solidFill>
                <a:latin typeface="Consolas"/>
              </a:rPr>
              <a:t>df["city"]  = df["city"].astype("category")</a:t>
            </a:r>
          </a:p>
          <a:p>
            <a:pPr>
              <a:spcAft>
                <a:spcPts val="200"/>
              </a:spcAft>
            </a:pPr>
            <a:endParaRPr sz="2100">
              <a:solidFill>
                <a:srgbClr val="16181D"/>
              </a:solidFill>
              <a:latin typeface="Consolas"/>
            </a:endParaRPr>
          </a:p>
          <a:p>
            <a:pPr>
              <a:spcAft>
                <a:spcPts val="200"/>
              </a:spcAft>
            </a:pPr>
            <a:r>
              <a:rPr sz="2100">
                <a:solidFill>
                  <a:srgbClr val="16181D"/>
                </a:solidFill>
                <a:latin typeface="Consolas"/>
              </a:rPr>
              <a:t>df["price"].isnull().sum()   </a:t>
            </a:r>
            <a:r>
              <a:rPr sz="2100">
                <a:solidFill>
                  <a:srgbClr val="1B7F4B"/>
                </a:solidFill>
                <a:latin typeface="Consolas"/>
              </a:rPr>
              <a:t># how much did coercion silently throw away?</a:t>
            </a:r>
          </a:p>
        </p:txBody>
      </p:sp>
      <p:sp>
        <p:nvSpPr>
          <p:cNvPr id="7" name="TextBox 6"/>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8" name="TextBox 7"/>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35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First contact with a dataset</a:t>
            </a:r>
          </a:p>
        </p:txBody>
      </p:sp>
      <p:sp>
        <p:nvSpPr>
          <p:cNvPr id="3" name="Rectangle 2"/>
          <p:cNvSpPr/>
          <p:nvPr/>
        </p:nvSpPr>
        <p:spPr>
          <a:xfrm>
            <a:off x="969264" y="3566160"/>
            <a:ext cx="2926080" cy="201168"/>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2963962"/>
            <a:ext cx="12801600" cy="548640"/>
          </a:xfrm>
          <a:prstGeom prst="rect">
            <a:avLst/>
          </a:prstGeom>
          <a:noFill/>
        </p:spPr>
        <p:txBody>
          <a:bodyPr wrap="none">
            <a:spAutoFit/>
          </a:bodyPr>
          <a:lstStyle/>
          <a:p>
            <a:r>
              <a:rPr sz="2000" b="1" dirty="0">
                <a:solidFill>
                  <a:srgbClr val="6B7280"/>
                </a:solidFill>
                <a:latin typeface="Arial"/>
              </a:rPr>
              <a:t>PART 4</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36</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Five commands, always in this order</a:t>
            </a:r>
          </a:p>
        </p:txBody>
      </p:sp>
      <p:sp>
        <p:nvSpPr>
          <p:cNvPr id="4" name="Rectangle 3"/>
          <p:cNvSpPr/>
          <p:nvPr/>
        </p:nvSpPr>
        <p:spPr>
          <a:xfrm>
            <a:off x="969264" y="2057400"/>
            <a:ext cx="15371063" cy="2496312"/>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9264" y="2057400"/>
            <a:ext cx="82296" cy="2496312"/>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89304" y="2221992"/>
            <a:ext cx="14822423" cy="2221992"/>
          </a:xfrm>
          <a:prstGeom prst="rect">
            <a:avLst/>
          </a:prstGeom>
          <a:noFill/>
        </p:spPr>
        <p:txBody>
          <a:bodyPr wrap="none">
            <a:spAutoFit/>
          </a:bodyPr>
          <a:lstStyle/>
          <a:p>
            <a:pPr>
              <a:spcAft>
                <a:spcPts val="200"/>
              </a:spcAft>
            </a:pPr>
            <a:r>
              <a:rPr sz="2100">
                <a:solidFill>
                  <a:srgbClr val="16181D"/>
                </a:solidFill>
                <a:latin typeface="Consolas"/>
              </a:rPr>
              <a:t>df.shape          </a:t>
            </a:r>
            <a:r>
              <a:rPr sz="2100">
                <a:solidFill>
                  <a:srgbClr val="1B7F4B"/>
                </a:solidFill>
                <a:latin typeface="Consolas"/>
              </a:rPr>
              <a:t># (891, 12) -&gt; (rows, columns).  NOT the element count.</a:t>
            </a:r>
          </a:p>
          <a:p>
            <a:pPr>
              <a:spcAft>
                <a:spcPts val="200"/>
              </a:spcAft>
            </a:pPr>
            <a:r>
              <a:rPr sz="2100">
                <a:solidFill>
                  <a:srgbClr val="16181D"/>
                </a:solidFill>
                <a:latin typeface="Consolas"/>
              </a:rPr>
              <a:t>df.head()         </a:t>
            </a:r>
            <a:r>
              <a:rPr sz="2100">
                <a:solidFill>
                  <a:srgbClr val="1B7F4B"/>
                </a:solidFill>
                <a:latin typeface="Consolas"/>
              </a:rPr>
              <a:t># do the values match what the column names promise?</a:t>
            </a:r>
          </a:p>
          <a:p>
            <a:pPr>
              <a:spcAft>
                <a:spcPts val="200"/>
              </a:spcAft>
            </a:pPr>
            <a:r>
              <a:rPr sz="2100">
                <a:solidFill>
                  <a:srgbClr val="16181D"/>
                </a:solidFill>
                <a:latin typeface="Consolas"/>
              </a:rPr>
              <a:t>df.info()         </a:t>
            </a:r>
            <a:r>
              <a:rPr sz="2100">
                <a:solidFill>
                  <a:srgbClr val="1B7F4B"/>
                </a:solidFill>
                <a:latin typeface="Consolas"/>
              </a:rPr>
              <a:t># dtype + non-null count per column — the most useful one</a:t>
            </a:r>
          </a:p>
          <a:p>
            <a:pPr>
              <a:spcAft>
                <a:spcPts val="200"/>
              </a:spcAft>
            </a:pPr>
            <a:r>
              <a:rPr sz="2100">
                <a:solidFill>
                  <a:srgbClr val="16181D"/>
                </a:solidFill>
                <a:latin typeface="Consolas"/>
              </a:rPr>
              <a:t>df.describe()     </a:t>
            </a:r>
            <a:r>
              <a:rPr sz="2100">
                <a:solidFill>
                  <a:srgbClr val="1B7F4B"/>
                </a:solidFill>
                <a:latin typeface="Consolas"/>
              </a:rPr>
              <a:t># count/mean/std/min/quartiles/max — numerical columns</a:t>
            </a:r>
          </a:p>
          <a:p>
            <a:pPr>
              <a:spcAft>
                <a:spcPts val="200"/>
              </a:spcAft>
            </a:pPr>
            <a:r>
              <a:rPr sz="2100">
                <a:solidFill>
                  <a:srgbClr val="16181D"/>
                </a:solidFill>
                <a:latin typeface="Consolas"/>
              </a:rPr>
              <a:t>df.describe(include="object")   </a:t>
            </a:r>
            <a:r>
              <a:rPr sz="2100">
                <a:solidFill>
                  <a:srgbClr val="1B7F4B"/>
                </a:solidFill>
                <a:latin typeface="Consolas"/>
              </a:rPr>
              <a:t># count/unique/top/freq — text columns</a:t>
            </a:r>
          </a:p>
        </p:txBody>
      </p:sp>
      <p:sp>
        <p:nvSpPr>
          <p:cNvPr id="7" name="TextBox 6"/>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8" name="TextBox 7"/>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37</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Reading df.info() — three things at once</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3000" b="0">
                <a:solidFill>
                  <a:srgbClr val="16181D"/>
                </a:solidFill>
                <a:latin typeface="Arial"/>
              </a:rPr>
              <a:t>▪   </a:t>
            </a:r>
            <a:r>
              <a:rPr sz="3000" b="1">
                <a:solidFill>
                  <a:srgbClr val="16181D"/>
                </a:solidFill>
                <a:latin typeface="Arial"/>
              </a:rPr>
              <a:t>Non-null count below the row count</a:t>
            </a:r>
            <a:r>
              <a:rPr sz="3000" b="0">
                <a:solidFill>
                  <a:srgbClr val="16181D"/>
                </a:solidFill>
                <a:latin typeface="Arial"/>
              </a:rPr>
              <a:t> → missing values in that column</a:t>
            </a:r>
          </a:p>
          <a:p>
            <a:pPr>
              <a:spcAft>
                <a:spcPts val="1400"/>
              </a:spcAft>
            </a:pPr>
            <a:r>
              <a:rPr sz="3000" b="0">
                <a:solidFill>
                  <a:srgbClr val="16181D"/>
                </a:solidFill>
                <a:latin typeface="Arial"/>
              </a:rPr>
              <a:t>▪   </a:t>
            </a:r>
            <a:r>
              <a:rPr sz="3000" b="1">
                <a:solidFill>
                  <a:srgbClr val="16181D"/>
                </a:solidFill>
                <a:latin typeface="Arial"/>
              </a:rPr>
              <a:t>`object` dtype on something that should be numeric</a:t>
            </a:r>
            <a:r>
              <a:rPr sz="3000" b="0">
                <a:solidFill>
                  <a:srgbClr val="16181D"/>
                </a:solidFill>
                <a:latin typeface="Arial"/>
              </a:rPr>
              <a:t> → there is dirt in it</a:t>
            </a:r>
          </a:p>
          <a:p>
            <a:pPr>
              <a:spcAft>
                <a:spcPts val="1400"/>
              </a:spcAft>
            </a:pPr>
            <a:r>
              <a:rPr sz="3000" b="0">
                <a:solidFill>
                  <a:srgbClr val="16181D"/>
                </a:solidFill>
                <a:latin typeface="Arial"/>
              </a:rPr>
              <a:t>▪   </a:t>
            </a:r>
            <a:r>
              <a:rPr sz="3000" b="1">
                <a:solidFill>
                  <a:srgbClr val="16181D"/>
                </a:solidFill>
                <a:latin typeface="Arial"/>
              </a:rPr>
              <a:t>A column you did not expect</a:t>
            </a:r>
            <a:r>
              <a:rPr sz="3000" b="0">
                <a:solidFill>
                  <a:srgbClr val="16181D"/>
                </a:solidFill>
                <a:latin typeface="Arial"/>
              </a:rPr>
              <a:t> → a stray index, or an ID that must never be a feature</a:t>
            </a:r>
          </a:p>
        </p:txBody>
      </p:sp>
      <p:sp>
        <p:nvSpPr>
          <p:cNvPr id="5" name="TextBox 4"/>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If you only ever run one command on a new dataset, run this one.</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      ·      reference slide — also in the handout</a:t>
            </a:r>
          </a:p>
        </p:txBody>
      </p:sp>
      <p:sp>
        <p:nvSpPr>
          <p:cNvPr id="7" name="TextBox 6"/>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38</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Then look at columns one at a time</a:t>
            </a:r>
          </a:p>
        </p:txBody>
      </p:sp>
      <p:sp>
        <p:nvSpPr>
          <p:cNvPr id="4" name="Rectangle 3"/>
          <p:cNvSpPr/>
          <p:nvPr/>
        </p:nvSpPr>
        <p:spPr>
          <a:xfrm>
            <a:off x="969264" y="2057400"/>
            <a:ext cx="15371063" cy="2880360"/>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9264" y="2057400"/>
            <a:ext cx="82296" cy="288036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89304" y="2221992"/>
            <a:ext cx="14822423" cy="2606040"/>
          </a:xfrm>
          <a:prstGeom prst="rect">
            <a:avLst/>
          </a:prstGeom>
          <a:noFill/>
        </p:spPr>
        <p:txBody>
          <a:bodyPr wrap="none">
            <a:spAutoFit/>
          </a:bodyPr>
          <a:lstStyle/>
          <a:p>
            <a:pPr>
              <a:spcAft>
                <a:spcPts val="200"/>
              </a:spcAft>
            </a:pPr>
            <a:r>
              <a:rPr sz="2100">
                <a:solidFill>
                  <a:srgbClr val="16181D"/>
                </a:solidFill>
                <a:latin typeface="Consolas"/>
              </a:rPr>
              <a:t>df["Embarked"].value_counts(dropna=False)    </a:t>
            </a:r>
            <a:r>
              <a:rPr sz="2100">
                <a:solidFill>
                  <a:srgbClr val="1B7F4B"/>
                </a:solidFill>
                <a:latin typeface="Consolas"/>
              </a:rPr>
              <a:t># dropna=False so you SEE the NaNs</a:t>
            </a:r>
          </a:p>
          <a:p>
            <a:pPr>
              <a:spcAft>
                <a:spcPts val="200"/>
              </a:spcAft>
            </a:pPr>
            <a:r>
              <a:rPr sz="2100">
                <a:solidFill>
                  <a:srgbClr val="16181D"/>
                </a:solidFill>
                <a:latin typeface="Consolas"/>
              </a:rPr>
              <a:t>df["Survived"].value_counts(normalize=True)  </a:t>
            </a:r>
            <a:r>
              <a:rPr sz="2100">
                <a:solidFill>
                  <a:srgbClr val="1B7F4B"/>
                </a:solidFill>
                <a:latin typeface="Consolas"/>
              </a:rPr>
              <a:t># class balance — always check</a:t>
            </a:r>
          </a:p>
          <a:p>
            <a:pPr>
              <a:spcAft>
                <a:spcPts val="200"/>
              </a:spcAft>
            </a:pPr>
            <a:r>
              <a:rPr sz="2100">
                <a:solidFill>
                  <a:srgbClr val="16181D"/>
                </a:solidFill>
                <a:latin typeface="Consolas"/>
              </a:rPr>
              <a:t>df["Age"].hist(bins=30)                      </a:t>
            </a:r>
            <a:r>
              <a:rPr sz="2100">
                <a:solidFill>
                  <a:srgbClr val="1B7F4B"/>
                </a:solidFill>
                <a:latin typeface="Consolas"/>
              </a:rPr>
              <a:t># shape of the distribution</a:t>
            </a:r>
          </a:p>
          <a:p>
            <a:pPr>
              <a:spcAft>
                <a:spcPts val="200"/>
              </a:spcAft>
            </a:pPr>
            <a:r>
              <a:rPr sz="2100">
                <a:solidFill>
                  <a:srgbClr val="16181D"/>
                </a:solidFill>
                <a:latin typeface="Consolas"/>
              </a:rPr>
              <a:t>df.boxplot(column="Fare")                    </a:t>
            </a:r>
            <a:r>
              <a:rPr sz="2100">
                <a:solidFill>
                  <a:srgbClr val="1B7F4B"/>
                </a:solidFill>
                <a:latin typeface="Consolas"/>
              </a:rPr>
              <a:t># the standard outlier view</a:t>
            </a:r>
          </a:p>
          <a:p>
            <a:pPr>
              <a:spcAft>
                <a:spcPts val="200"/>
              </a:spcAft>
            </a:pPr>
            <a:r>
              <a:rPr sz="2100">
                <a:solidFill>
                  <a:srgbClr val="16181D"/>
                </a:solidFill>
                <a:latin typeface="Consolas"/>
              </a:rPr>
              <a:t>df.corr(numeric_only=True)                   </a:t>
            </a:r>
            <a:r>
              <a:rPr sz="2100">
                <a:solidFill>
                  <a:srgbClr val="1B7F4B"/>
                </a:solidFill>
                <a:latin typeface="Consolas"/>
              </a:rPr>
              <a:t># linear relationships</a:t>
            </a:r>
          </a:p>
          <a:p>
            <a:pPr>
              <a:spcAft>
                <a:spcPts val="200"/>
              </a:spcAft>
            </a:pPr>
            <a:r>
              <a:rPr sz="2100">
                <a:solidFill>
                  <a:srgbClr val="16181D"/>
                </a:solidFill>
                <a:latin typeface="Consolas"/>
              </a:rPr>
              <a:t>df.nunique()                                 </a:t>
            </a:r>
            <a:r>
              <a:rPr sz="2100">
                <a:solidFill>
                  <a:srgbClr val="1B7F4B"/>
                </a:solidFill>
                <a:latin typeface="Consolas"/>
              </a:rPr>
              <a:t># 1 = useless, n = identifier</a:t>
            </a:r>
          </a:p>
        </p:txBody>
      </p:sp>
      <p:sp>
        <p:nvSpPr>
          <p:cNvPr id="7" name="TextBox 6"/>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8" name="TextBox 7"/>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39</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E02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237744"/>
            <a:ext cx="15371063" cy="384048"/>
          </a:xfrm>
          <a:prstGeom prst="rect">
            <a:avLst/>
          </a:prstGeom>
          <a:noFill/>
        </p:spPr>
        <p:txBody>
          <a:bodyPr wrap="none">
            <a:spAutoFit/>
          </a:bodyPr>
          <a:lstStyle/>
          <a:p>
            <a:r>
              <a:rPr sz="1500" b="1">
                <a:solidFill>
                  <a:srgbClr val="FFFFFF"/>
                </a:solidFill>
                <a:latin typeface="Arial"/>
              </a:rPr>
              <a:t>EVERYONE VOTES  ·  NO RUNNING IT</a:t>
            </a:r>
          </a:p>
        </p:txBody>
      </p:sp>
      <p:sp>
        <p:nvSpPr>
          <p:cNvPr id="4" name="TextBox 3"/>
          <p:cNvSpPr txBox="1"/>
          <p:nvPr/>
        </p:nvSpPr>
        <p:spPr>
          <a:xfrm>
            <a:off x="969264" y="658368"/>
            <a:ext cx="15371063" cy="868680"/>
          </a:xfrm>
          <a:prstGeom prst="rect">
            <a:avLst/>
          </a:prstGeom>
          <a:noFill/>
        </p:spPr>
        <p:txBody>
          <a:bodyPr wrap="square">
            <a:spAutoFit/>
          </a:bodyPr>
          <a:lstStyle/>
          <a:p>
            <a:r>
              <a:rPr sz="4400" b="1">
                <a:solidFill>
                  <a:srgbClr val="FFFFFF"/>
                </a:solidFill>
                <a:latin typeface="Arial"/>
              </a:rPr>
              <a:t>Predict the output</a:t>
            </a:r>
          </a:p>
        </p:txBody>
      </p:sp>
      <p:sp>
        <p:nvSpPr>
          <p:cNvPr id="5" name="Rectangle 4"/>
          <p:cNvSpPr/>
          <p:nvPr/>
        </p:nvSpPr>
        <p:spPr>
          <a:xfrm>
            <a:off x="969264" y="2057400"/>
            <a:ext cx="15371063" cy="3264408"/>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69264" y="2057400"/>
            <a:ext cx="82296" cy="3264408"/>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89304" y="2221992"/>
            <a:ext cx="14822423" cy="2990088"/>
          </a:xfrm>
          <a:prstGeom prst="rect">
            <a:avLst/>
          </a:prstGeom>
          <a:noFill/>
        </p:spPr>
        <p:txBody>
          <a:bodyPr wrap="none">
            <a:spAutoFit/>
          </a:bodyPr>
          <a:lstStyle/>
          <a:p>
            <a:pPr>
              <a:spcAft>
                <a:spcPts val="200"/>
              </a:spcAft>
            </a:pPr>
            <a:r>
              <a:rPr sz="2100">
                <a:solidFill>
                  <a:srgbClr val="16181D"/>
                </a:solidFill>
                <a:latin typeface="Consolas"/>
              </a:rPr>
              <a:t>data = {</a:t>
            </a:r>
          </a:p>
          <a:p>
            <a:pPr>
              <a:spcAft>
                <a:spcPts val="200"/>
              </a:spcAft>
            </a:pPr>
            <a:r>
              <a:rPr sz="2100">
                <a:solidFill>
                  <a:srgbClr val="16181D"/>
                </a:solidFill>
                <a:latin typeface="Consolas"/>
              </a:rPr>
              <a:t>    "A": [1, 8, np.nan, None],</a:t>
            </a:r>
          </a:p>
          <a:p>
            <a:pPr>
              <a:spcAft>
                <a:spcPts val="200"/>
              </a:spcAft>
            </a:pPr>
            <a:r>
              <a:rPr sz="2100">
                <a:solidFill>
                  <a:srgbClr val="16181D"/>
                </a:solidFill>
                <a:latin typeface="Consolas"/>
              </a:rPr>
              <a:t>    "B": [5, None, 7, 8],</a:t>
            </a:r>
          </a:p>
          <a:p>
            <a:pPr>
              <a:spcAft>
                <a:spcPts val="200"/>
              </a:spcAft>
            </a:pPr>
            <a:r>
              <a:rPr sz="2100">
                <a:solidFill>
                  <a:srgbClr val="16181D"/>
                </a:solidFill>
                <a:latin typeface="Consolas"/>
              </a:rPr>
              <a:t>    "C": ["X", "", "None", " "],</a:t>
            </a:r>
          </a:p>
          <a:p>
            <a:pPr>
              <a:spcAft>
                <a:spcPts val="200"/>
              </a:spcAft>
            </a:pPr>
            <a:r>
              <a:rPr sz="2100">
                <a:solidFill>
                  <a:srgbClr val="16181D"/>
                </a:solidFill>
                <a:latin typeface="Consolas"/>
              </a:rPr>
              <a:t>}</a:t>
            </a:r>
          </a:p>
          <a:p>
            <a:pPr>
              <a:spcAft>
                <a:spcPts val="200"/>
              </a:spcAft>
            </a:pPr>
            <a:r>
              <a:rPr sz="2100">
                <a:solidFill>
                  <a:srgbClr val="16181D"/>
                </a:solidFill>
                <a:latin typeface="Consolas"/>
              </a:rPr>
              <a:t>df = pd.DataFrame(data)</a:t>
            </a:r>
          </a:p>
          <a:p>
            <a:pPr>
              <a:spcAft>
                <a:spcPts val="200"/>
              </a:spcAft>
            </a:pPr>
            <a:r>
              <a:rPr sz="2100">
                <a:solidFill>
                  <a:srgbClr val="16181D"/>
                </a:solidFill>
                <a:latin typeface="Consolas"/>
              </a:rPr>
              <a:t>df.isnull().sum()</a:t>
            </a:r>
          </a:p>
        </p:txBody>
      </p:sp>
      <p:sp>
        <p:nvSpPr>
          <p:cNvPr id="8" name="TextBox 7"/>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9" name="TextBox 8"/>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E02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237744"/>
            <a:ext cx="15371063" cy="384048"/>
          </a:xfrm>
          <a:prstGeom prst="rect">
            <a:avLst/>
          </a:prstGeom>
          <a:noFill/>
        </p:spPr>
        <p:txBody>
          <a:bodyPr wrap="none">
            <a:spAutoFit/>
          </a:bodyPr>
          <a:lstStyle/>
          <a:p>
            <a:r>
              <a:rPr sz="1500" b="1">
                <a:solidFill>
                  <a:srgbClr val="FFFFFF"/>
                </a:solidFill>
                <a:latin typeface="Arial"/>
              </a:rPr>
              <a:t>VOTE</a:t>
            </a:r>
          </a:p>
        </p:txBody>
      </p:sp>
      <p:sp>
        <p:nvSpPr>
          <p:cNvPr id="4" name="TextBox 3"/>
          <p:cNvSpPr txBox="1"/>
          <p:nvPr/>
        </p:nvSpPr>
        <p:spPr>
          <a:xfrm>
            <a:off x="969264" y="658368"/>
            <a:ext cx="15371063" cy="868680"/>
          </a:xfrm>
          <a:prstGeom prst="rect">
            <a:avLst/>
          </a:prstGeom>
          <a:noFill/>
        </p:spPr>
        <p:txBody>
          <a:bodyPr wrap="square">
            <a:spAutoFit/>
          </a:bodyPr>
          <a:lstStyle/>
          <a:p>
            <a:r>
              <a:rPr sz="4400" b="1">
                <a:solidFill>
                  <a:srgbClr val="FFFFFF"/>
                </a:solidFill>
                <a:latin typeface="Arial"/>
              </a:rPr>
              <a:t>Which is it?</a:t>
            </a:r>
          </a:p>
        </p:txBody>
      </p:sp>
      <p:sp>
        <p:nvSpPr>
          <p:cNvPr id="5" name="TextBox 4"/>
          <p:cNvSpPr txBox="1"/>
          <p:nvPr/>
        </p:nvSpPr>
        <p:spPr>
          <a:xfrm>
            <a:off x="969264" y="2057400"/>
            <a:ext cx="15371063" cy="6446520"/>
          </a:xfrm>
          <a:prstGeom prst="rect">
            <a:avLst/>
          </a:prstGeom>
          <a:noFill/>
        </p:spPr>
        <p:txBody>
          <a:bodyPr wrap="square">
            <a:spAutoFit/>
          </a:bodyPr>
          <a:lstStyle/>
          <a:p>
            <a:pPr>
              <a:spcAft>
                <a:spcPts val="1400"/>
              </a:spcAft>
            </a:pPr>
            <a:r>
              <a:rPr sz="3000" b="0">
                <a:solidFill>
                  <a:srgbClr val="16181D"/>
                </a:solidFill>
                <a:latin typeface="Arial"/>
              </a:rPr>
              <a:t>▪   </a:t>
            </a:r>
            <a:r>
              <a:rPr sz="3000" b="1">
                <a:solidFill>
                  <a:srgbClr val="16181D"/>
                </a:solidFill>
                <a:latin typeface="Arial"/>
              </a:rPr>
              <a:t>A</a:t>
            </a:r>
            <a:r>
              <a:rPr sz="3000" b="0">
                <a:solidFill>
                  <a:srgbClr val="16181D"/>
                </a:solidFill>
                <a:latin typeface="Arial"/>
              </a:rPr>
              <a:t>   A→2   B→1   C→0</a:t>
            </a:r>
          </a:p>
          <a:p>
            <a:pPr>
              <a:spcAft>
                <a:spcPts val="1400"/>
              </a:spcAft>
            </a:pPr>
            <a:r>
              <a:rPr sz="3000" b="0">
                <a:solidFill>
                  <a:srgbClr val="16181D"/>
                </a:solidFill>
                <a:latin typeface="Arial"/>
              </a:rPr>
              <a:t>▪   </a:t>
            </a:r>
            <a:r>
              <a:rPr sz="3000" b="1">
                <a:solidFill>
                  <a:srgbClr val="16181D"/>
                </a:solidFill>
                <a:latin typeface="Arial"/>
              </a:rPr>
              <a:t>B</a:t>
            </a:r>
            <a:r>
              <a:rPr sz="3000" b="0">
                <a:solidFill>
                  <a:srgbClr val="16181D"/>
                </a:solidFill>
                <a:latin typeface="Arial"/>
              </a:rPr>
              <a:t>   A→2   B→1   C→3</a:t>
            </a:r>
          </a:p>
          <a:p>
            <a:pPr>
              <a:spcAft>
                <a:spcPts val="1400"/>
              </a:spcAft>
            </a:pPr>
            <a:r>
              <a:rPr sz="3000" b="0">
                <a:solidFill>
                  <a:srgbClr val="16181D"/>
                </a:solidFill>
                <a:latin typeface="Arial"/>
              </a:rPr>
              <a:t>▪   </a:t>
            </a:r>
            <a:r>
              <a:rPr sz="3000" b="1">
                <a:solidFill>
                  <a:srgbClr val="16181D"/>
                </a:solidFill>
                <a:latin typeface="Arial"/>
              </a:rPr>
              <a:t>C</a:t>
            </a:r>
            <a:r>
              <a:rPr sz="3000" b="0">
                <a:solidFill>
                  <a:srgbClr val="16181D"/>
                </a:solidFill>
                <a:latin typeface="Arial"/>
              </a:rPr>
              <a:t>   A→1   B→1   C→1</a:t>
            </a:r>
          </a:p>
          <a:p>
            <a:pPr>
              <a:spcAft>
                <a:spcPts val="1400"/>
              </a:spcAft>
            </a:pPr>
            <a:r>
              <a:rPr sz="3000" b="0">
                <a:solidFill>
                  <a:srgbClr val="16181D"/>
                </a:solidFill>
                <a:latin typeface="Arial"/>
              </a:rPr>
              <a:t>▪   </a:t>
            </a:r>
            <a:r>
              <a:rPr sz="3000" b="1">
                <a:solidFill>
                  <a:srgbClr val="16181D"/>
                </a:solidFill>
                <a:latin typeface="Arial"/>
              </a:rPr>
              <a:t>D</a:t>
            </a:r>
            <a:r>
              <a:rPr sz="3000" b="0">
                <a:solidFill>
                  <a:srgbClr val="16181D"/>
                </a:solidFill>
                <a:latin typeface="Arial"/>
              </a:rPr>
              <a:t>   A→2   B→1   C→1</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42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The answer: C reports zero missing values</a:t>
            </a:r>
          </a:p>
        </p:txBody>
      </p:sp>
      <p:sp>
        <p:nvSpPr>
          <p:cNvPr id="4" name="TextBox 3"/>
          <p:cNvSpPr txBox="1"/>
          <p:nvPr/>
        </p:nvSpPr>
        <p:spPr>
          <a:xfrm>
            <a:off x="969264" y="1874519"/>
            <a:ext cx="15371063" cy="548640"/>
          </a:xfrm>
          <a:prstGeom prst="rect">
            <a:avLst/>
          </a:prstGeom>
          <a:noFill/>
        </p:spPr>
        <p:txBody>
          <a:bodyPr wrap="none">
            <a:spAutoFit/>
          </a:bodyPr>
          <a:lstStyle/>
          <a:p>
            <a:r>
              <a:rPr sz="2200" b="0">
                <a:solidFill>
                  <a:srgbClr val="0B3D6B"/>
                </a:solidFill>
                <a:latin typeface="Consolas"/>
              </a:rPr>
              <a:t>""</a:t>
            </a:r>
            <a:r>
              <a:rPr sz="2400" b="0">
                <a:solidFill>
                  <a:srgbClr val="3A3F47"/>
                </a:solidFill>
                <a:latin typeface="Arial"/>
              </a:rPr>
              <a:t> is an empty string. </a:t>
            </a:r>
            <a:r>
              <a:rPr sz="2200" b="0">
                <a:solidFill>
                  <a:srgbClr val="0B3D6B"/>
                </a:solidFill>
                <a:latin typeface="Consolas"/>
              </a:rPr>
              <a:t>"None"</a:t>
            </a:r>
            <a:r>
              <a:rPr sz="2400" b="0">
                <a:solidFill>
                  <a:srgbClr val="3A3F47"/>
                </a:solidFill>
                <a:latin typeface="Arial"/>
              </a:rPr>
              <a:t> is four characters. </a:t>
            </a:r>
            <a:r>
              <a:rPr sz="2200" b="0">
                <a:solidFill>
                  <a:srgbClr val="0B3D6B"/>
                </a:solidFill>
                <a:latin typeface="Consolas"/>
              </a:rPr>
              <a:t>" "</a:t>
            </a:r>
            <a:r>
              <a:rPr sz="2400" b="0">
                <a:solidFill>
                  <a:srgbClr val="3A3F47"/>
                </a:solidFill>
                <a:latin typeface="Arial"/>
              </a:rPr>
              <a:t> is a space. All valid strings.</a:t>
            </a:r>
          </a:p>
        </p:txBody>
      </p:sp>
      <p:sp>
        <p:nvSpPr>
          <p:cNvPr id="5" name="Rectangle 4"/>
          <p:cNvSpPr/>
          <p:nvPr/>
        </p:nvSpPr>
        <p:spPr>
          <a:xfrm>
            <a:off x="969264" y="2606040"/>
            <a:ext cx="15371063" cy="1728216"/>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69264" y="2606040"/>
            <a:ext cx="82296" cy="1728216"/>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89304" y="2770632"/>
            <a:ext cx="14822423" cy="1453896"/>
          </a:xfrm>
          <a:prstGeom prst="rect">
            <a:avLst/>
          </a:prstGeom>
          <a:noFill/>
        </p:spPr>
        <p:txBody>
          <a:bodyPr wrap="none">
            <a:spAutoFit/>
          </a:bodyPr>
          <a:lstStyle/>
          <a:p>
            <a:pPr>
              <a:spcAft>
                <a:spcPts val="200"/>
              </a:spcAft>
            </a:pPr>
            <a:r>
              <a:rPr sz="2100">
                <a:solidFill>
                  <a:srgbClr val="16181D"/>
                </a:solidFill>
                <a:latin typeface="Consolas"/>
              </a:rPr>
              <a:t>A    2</a:t>
            </a:r>
          </a:p>
          <a:p>
            <a:pPr>
              <a:spcAft>
                <a:spcPts val="200"/>
              </a:spcAft>
            </a:pPr>
            <a:r>
              <a:rPr sz="2100">
                <a:solidFill>
                  <a:srgbClr val="16181D"/>
                </a:solidFill>
                <a:latin typeface="Consolas"/>
              </a:rPr>
              <a:t>B    1</a:t>
            </a:r>
          </a:p>
          <a:p>
            <a:pPr>
              <a:spcAft>
                <a:spcPts val="200"/>
              </a:spcAft>
            </a:pPr>
            <a:r>
              <a:rPr sz="2100">
                <a:solidFill>
                  <a:srgbClr val="16181D"/>
                </a:solidFill>
                <a:latin typeface="Consolas"/>
              </a:rPr>
              <a:t>C    0     </a:t>
            </a:r>
            <a:r>
              <a:rPr sz="2100">
                <a:solidFill>
                  <a:srgbClr val="1B7F4B"/>
                </a:solidFill>
                <a:latin typeface="Consolas"/>
              </a:rPr>
              <a:t># &lt;-- zero</a:t>
            </a:r>
          </a:p>
        </p:txBody>
      </p:sp>
      <p:sp>
        <p:nvSpPr>
          <p:cNvPr id="8" name="TextBox 7"/>
          <p:cNvSpPr txBox="1"/>
          <p:nvPr/>
        </p:nvSpPr>
        <p:spPr>
          <a:xfrm>
            <a:off x="969264" y="4562856"/>
            <a:ext cx="15371063" cy="1280160"/>
          </a:xfrm>
          <a:prstGeom prst="rect">
            <a:avLst/>
          </a:prstGeom>
          <a:noFill/>
        </p:spPr>
        <p:txBody>
          <a:bodyPr wrap="square">
            <a:spAutoFit/>
          </a:bodyPr>
          <a:lstStyle/>
          <a:p>
            <a:r>
              <a:rPr sz="2400" b="1">
                <a:solidFill>
                  <a:srgbClr val="16181D"/>
                </a:solidFill>
                <a:latin typeface="Arial"/>
              </a:rPr>
              <a:t>Only np.nan and None count as null to pandas.</a:t>
            </a:r>
          </a:p>
          <a:p>
            <a:r>
              <a:rPr sz="2400" b="0">
                <a:solidFill>
                  <a:srgbClr val="16181D"/>
                </a:solidFill>
                <a:latin typeface="Arial"/>
              </a:rPr>
              <a:t>Everything else that LOOKS missing is not.</a:t>
            </a:r>
          </a:p>
        </p:txBody>
      </p:sp>
      <p:sp>
        <p:nvSpPr>
          <p:cNvPr id="9" name="TextBox 8"/>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10" name="TextBox 9"/>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43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So strip the disguises first</a:t>
            </a:r>
          </a:p>
        </p:txBody>
      </p:sp>
      <p:sp>
        <p:nvSpPr>
          <p:cNvPr id="4" name="Rectangle 3"/>
          <p:cNvSpPr/>
          <p:nvPr/>
        </p:nvSpPr>
        <p:spPr>
          <a:xfrm>
            <a:off x="969264" y="2057400"/>
            <a:ext cx="15371063" cy="2880360"/>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9264" y="2057400"/>
            <a:ext cx="82296" cy="288036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89304" y="2221992"/>
            <a:ext cx="14822423" cy="2606040"/>
          </a:xfrm>
          <a:prstGeom prst="rect">
            <a:avLst/>
          </a:prstGeom>
          <a:noFill/>
        </p:spPr>
        <p:txBody>
          <a:bodyPr wrap="none">
            <a:spAutoFit/>
          </a:bodyPr>
          <a:lstStyle/>
          <a:p>
            <a:pPr>
              <a:spcAft>
                <a:spcPts val="200"/>
              </a:spcAft>
            </a:pPr>
            <a:r>
              <a:rPr sz="2100">
                <a:solidFill>
                  <a:srgbClr val="16181D"/>
                </a:solidFill>
                <a:latin typeface="Consolas"/>
              </a:rPr>
              <a:t>df = df.replace(["", " ", "-", "..", "None", "N/A", "unknown"], np.nan)</a:t>
            </a:r>
          </a:p>
          <a:p>
            <a:pPr>
              <a:spcAft>
                <a:spcPts val="200"/>
              </a:spcAft>
            </a:pPr>
            <a:r>
              <a:rPr sz="2100">
                <a:solidFill>
                  <a:srgbClr val="16181D"/>
                </a:solidFill>
                <a:latin typeface="Consolas"/>
              </a:rPr>
              <a:t>df["C"] = df["C"].str.strip().replace("", np.nan)</a:t>
            </a:r>
          </a:p>
          <a:p>
            <a:pPr>
              <a:spcAft>
                <a:spcPts val="200"/>
              </a:spcAft>
            </a:pPr>
            <a:endParaRPr sz="2100">
              <a:solidFill>
                <a:srgbClr val="16181D"/>
              </a:solidFill>
              <a:latin typeface="Consolas"/>
            </a:endParaRPr>
          </a:p>
          <a:p>
            <a:pPr>
              <a:spcAft>
                <a:spcPts val="200"/>
              </a:spcAft>
            </a:pPr>
            <a:r>
              <a:rPr sz="2100">
                <a:solidFill>
                  <a:srgbClr val="1B7F4B"/>
                </a:solidFill>
                <a:latin typeface="Consolas"/>
              </a:rPr>
              <a:t># and watch for NUMERIC sentinels, which are worse:</a:t>
            </a:r>
          </a:p>
          <a:p>
            <a:pPr>
              <a:spcAft>
                <a:spcPts val="200"/>
              </a:spcAft>
            </a:pPr>
            <a:r>
              <a:rPr sz="2100">
                <a:solidFill>
                  <a:srgbClr val="1B7F4B"/>
                </a:solidFill>
                <a:latin typeface="Consolas"/>
              </a:rPr>
              <a:t>#   -1 for an unknown count, 999 for an unrecorded age,</a:t>
            </a:r>
          </a:p>
          <a:p>
            <a:pPr>
              <a:spcAft>
                <a:spcPts val="200"/>
              </a:spcAft>
            </a:pPr>
            <a:r>
              <a:rPr sz="2100">
                <a:solidFill>
                  <a:srgbClr val="1B7F4B"/>
                </a:solidFill>
                <a:latin typeface="Consolas"/>
              </a:rPr>
              <a:t>#   0 for a missing blood-pressure reading</a:t>
            </a:r>
          </a:p>
        </p:txBody>
      </p:sp>
      <p:sp>
        <p:nvSpPr>
          <p:cNvPr id="7" name="TextBox 6"/>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8" name="TextBox 7"/>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44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What “clean data” actually means</a:t>
            </a:r>
          </a:p>
        </p:txBody>
      </p:sp>
      <p:sp>
        <p:nvSpPr>
          <p:cNvPr id="3" name="Rectangle 2"/>
          <p:cNvSpPr/>
          <p:nvPr/>
        </p:nvSpPr>
        <p:spPr>
          <a:xfrm>
            <a:off x="969264" y="3566160"/>
            <a:ext cx="2926080" cy="201168"/>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3886200"/>
            <a:ext cx="12801600" cy="548640"/>
          </a:xfrm>
          <a:prstGeom prst="rect">
            <a:avLst/>
          </a:prstGeom>
          <a:noFill/>
        </p:spPr>
        <p:txBody>
          <a:bodyPr wrap="none">
            <a:spAutoFit/>
          </a:bodyPr>
          <a:lstStyle/>
          <a:p>
            <a:r>
              <a:rPr sz="2000" b="1">
                <a:solidFill>
                  <a:srgbClr val="6B7280"/>
                </a:solidFill>
                <a:latin typeface="Arial"/>
              </a:rPr>
              <a:t>PART 5</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45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dirty="0">
                <a:solidFill>
                  <a:srgbClr val="16181D"/>
                </a:solidFill>
                <a:latin typeface="Arial"/>
              </a:rPr>
              <a:t>Who is missing from these rows?</a:t>
            </a:r>
          </a:p>
        </p:txBody>
      </p:sp>
      <p:sp>
        <p:nvSpPr>
          <p:cNvPr id="4" name="TextBox 3"/>
          <p:cNvSpPr txBox="1"/>
          <p:nvPr/>
        </p:nvSpPr>
        <p:spPr>
          <a:xfrm>
            <a:off x="969264" y="2057400"/>
            <a:ext cx="15371063" cy="4888518"/>
          </a:xfrm>
          <a:prstGeom prst="rect">
            <a:avLst/>
          </a:prstGeom>
          <a:noFill/>
        </p:spPr>
        <p:txBody>
          <a:bodyPr wrap="square">
            <a:spAutoFit/>
          </a:bodyPr>
          <a:lstStyle/>
          <a:p>
            <a:pPr>
              <a:spcAft>
                <a:spcPts val="1400"/>
              </a:spcAft>
            </a:pPr>
            <a:r>
              <a:rPr sz="3000" b="0" dirty="0">
                <a:solidFill>
                  <a:srgbClr val="16181D"/>
                </a:solidFill>
                <a:latin typeface="Arial"/>
              </a:rPr>
              <a:t>▪   Facial recognition trained mostly on light-skinned faces → worse on dark-skinned faces</a:t>
            </a:r>
          </a:p>
          <a:p>
            <a:pPr>
              <a:spcAft>
                <a:spcPts val="1400"/>
              </a:spcAft>
            </a:pPr>
            <a:endParaRPr lang="nb-NO" sz="3000" b="0" dirty="0">
              <a:solidFill>
                <a:srgbClr val="16181D"/>
              </a:solidFill>
              <a:latin typeface="Arial"/>
            </a:endParaRPr>
          </a:p>
          <a:p>
            <a:pPr>
              <a:spcAft>
                <a:spcPts val="1400"/>
              </a:spcAft>
            </a:pPr>
            <a:r>
              <a:rPr sz="3000" b="0" dirty="0">
                <a:solidFill>
                  <a:srgbClr val="16181D"/>
                </a:solidFill>
                <a:latin typeface="Arial"/>
              </a:rPr>
              <a:t>▪ A recruitment model trained on past hires → learns the company's past preferences</a:t>
            </a:r>
          </a:p>
          <a:p>
            <a:pPr>
              <a:spcAft>
                <a:spcPts val="800"/>
              </a:spcAft>
            </a:pPr>
            <a:r>
              <a:rPr sz="2500" b="0" dirty="0">
                <a:solidFill>
                  <a:srgbClr val="3A3F47"/>
                </a:solidFill>
                <a:latin typeface="Arial"/>
              </a:rPr>
              <a:t>        –   Including preferences it is illegal to act on, reconstructed from proxy variables</a:t>
            </a:r>
          </a:p>
          <a:p>
            <a:pPr>
              <a:spcAft>
                <a:spcPts val="1400"/>
              </a:spcAft>
            </a:pPr>
            <a:r>
              <a:rPr sz="3000" b="0" dirty="0">
                <a:solidFill>
                  <a:srgbClr val="16181D"/>
                </a:solidFill>
                <a:latin typeface="Arial"/>
              </a:rPr>
              <a:t>▪   A speech model trained on Oslo speakers → struggles with Bergen dialects</a:t>
            </a:r>
          </a:p>
          <a:p>
            <a:pPr>
              <a:spcAft>
                <a:spcPts val="1400"/>
              </a:spcAft>
            </a:pPr>
            <a:endParaRPr lang="nb-NO" sz="3000" b="0" dirty="0">
              <a:solidFill>
                <a:srgbClr val="16181D"/>
              </a:solidFill>
              <a:latin typeface="Arial"/>
            </a:endParaRPr>
          </a:p>
          <a:p>
            <a:pPr>
              <a:spcAft>
                <a:spcPts val="1400"/>
              </a:spcAft>
            </a:pPr>
            <a:r>
              <a:rPr sz="3000" b="0" dirty="0">
                <a:solidFill>
                  <a:srgbClr val="16181D"/>
                </a:solidFill>
                <a:latin typeface="Arial"/>
              </a:rPr>
              <a:t>▪   A health model that works in one hospital → fails in another</a:t>
            </a:r>
          </a:p>
          <a:p>
            <a:pPr>
              <a:spcAft>
                <a:spcPts val="600"/>
              </a:spcAft>
            </a:pPr>
            <a:endParaRPr sz="3000" b="0" dirty="0">
              <a:solidFill>
                <a:srgbClr val="16181D"/>
              </a:solidFill>
              <a:latin typeface="Arial"/>
            </a:endParaRP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48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380FE-51DD-8EAC-F791-9355FACADC3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CA34496-C2A4-E087-076E-34C59718A76D}"/>
              </a:ext>
            </a:extLst>
          </p:cNvPr>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734144E9-0777-98B3-F5C3-C3CC93D57EC3}"/>
              </a:ext>
            </a:extLst>
          </p:cNvPr>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Data pitfalls — the classics</a:t>
            </a:r>
          </a:p>
        </p:txBody>
      </p:sp>
      <p:sp>
        <p:nvSpPr>
          <p:cNvPr id="4" name="TextBox 3">
            <a:extLst>
              <a:ext uri="{FF2B5EF4-FFF2-40B4-BE49-F238E27FC236}">
                <a16:creationId xmlns:a16="http://schemas.microsoft.com/office/drawing/2014/main" id="{C6D36F24-84A5-60CD-D01D-8C2FB5DCFD0E}"/>
              </a:ext>
            </a:extLst>
          </p:cNvPr>
          <p:cNvSpPr txBox="1"/>
          <p:nvPr/>
        </p:nvSpPr>
        <p:spPr>
          <a:xfrm>
            <a:off x="969264" y="2057400"/>
            <a:ext cx="15371063" cy="6446520"/>
          </a:xfrm>
          <a:prstGeom prst="rect">
            <a:avLst/>
          </a:prstGeom>
          <a:noFill/>
        </p:spPr>
        <p:txBody>
          <a:bodyPr wrap="square">
            <a:spAutoFit/>
          </a:bodyPr>
          <a:lstStyle/>
          <a:p>
            <a:pPr>
              <a:spcAft>
                <a:spcPts val="1400"/>
              </a:spcAft>
            </a:pPr>
            <a:r>
              <a:rPr sz="3000" b="0">
                <a:solidFill>
                  <a:srgbClr val="16181D"/>
                </a:solidFill>
                <a:latin typeface="Arial"/>
              </a:rPr>
              <a:t>▪   </a:t>
            </a:r>
            <a:r>
              <a:rPr sz="3000" b="1">
                <a:solidFill>
                  <a:srgbClr val="16181D"/>
                </a:solidFill>
                <a:latin typeface="Arial"/>
              </a:rPr>
              <a:t>Assuming the data is clean</a:t>
            </a:r>
            <a:r>
              <a:rPr sz="3000" b="0">
                <a:solidFill>
                  <a:srgbClr val="16181D"/>
                </a:solidFill>
                <a:latin typeface="Arial"/>
              </a:rPr>
              <a:t>  — spelling mistakes, stray text, wrong units</a:t>
            </a:r>
          </a:p>
          <a:p>
            <a:pPr>
              <a:spcAft>
                <a:spcPts val="1400"/>
              </a:spcAft>
            </a:pPr>
            <a:r>
              <a:rPr sz="3000" b="0">
                <a:solidFill>
                  <a:srgbClr val="16181D"/>
                </a:solidFill>
                <a:latin typeface="Arial"/>
              </a:rPr>
              <a:t>▪   </a:t>
            </a:r>
            <a:r>
              <a:rPr sz="3000" b="1">
                <a:solidFill>
                  <a:srgbClr val="16181D"/>
                </a:solidFill>
                <a:latin typeface="Arial"/>
              </a:rPr>
              <a:t>Outliers</a:t>
            </a:r>
            <a:r>
              <a:rPr sz="3000" b="0">
                <a:solidFill>
                  <a:srgbClr val="16181D"/>
                </a:solidFill>
                <a:latin typeface="Arial"/>
              </a:rPr>
              <a:t>  — excluding them, or including them, without deciding which</a:t>
            </a:r>
          </a:p>
          <a:p>
            <a:pPr>
              <a:spcAft>
                <a:spcPts val="1400"/>
              </a:spcAft>
            </a:pPr>
            <a:r>
              <a:rPr sz="3000" b="0">
                <a:solidFill>
                  <a:srgbClr val="16181D"/>
                </a:solidFill>
                <a:latin typeface="Arial"/>
              </a:rPr>
              <a:t>▪   </a:t>
            </a:r>
            <a:r>
              <a:rPr sz="3000" b="1">
                <a:solidFill>
                  <a:srgbClr val="16181D"/>
                </a:solidFill>
                <a:latin typeface="Arial"/>
              </a:rPr>
              <a:t>Ignoring seasonality</a:t>
            </a:r>
            <a:r>
              <a:rPr sz="3000" b="0">
                <a:solidFill>
                  <a:srgbClr val="16181D"/>
                </a:solidFill>
                <a:latin typeface="Arial"/>
              </a:rPr>
              <a:t>  — Easter, summer holidays, Black Friday</a:t>
            </a:r>
          </a:p>
          <a:p>
            <a:pPr>
              <a:spcAft>
                <a:spcPts val="800"/>
              </a:spcAft>
            </a:pPr>
            <a:r>
              <a:rPr sz="2500" b="0">
                <a:solidFill>
                  <a:srgbClr val="3A3F47"/>
                </a:solidFill>
                <a:latin typeface="Arial"/>
              </a:rPr>
              <a:t>        –   A 'collapse in sales' that is just July</a:t>
            </a:r>
          </a:p>
          <a:p>
            <a:pPr>
              <a:spcAft>
                <a:spcPts val="1400"/>
              </a:spcAft>
            </a:pPr>
            <a:r>
              <a:rPr sz="3000" b="0">
                <a:solidFill>
                  <a:srgbClr val="16181D"/>
                </a:solidFill>
                <a:latin typeface="Arial"/>
              </a:rPr>
              <a:t>▪   </a:t>
            </a:r>
            <a:r>
              <a:rPr sz="3000" b="1">
                <a:solidFill>
                  <a:srgbClr val="16181D"/>
                </a:solidFill>
                <a:latin typeface="Arial"/>
              </a:rPr>
              <a:t>Losing the context</a:t>
            </a:r>
            <a:r>
              <a:rPr sz="3000" b="0">
                <a:solidFill>
                  <a:srgbClr val="16181D"/>
                </a:solidFill>
                <a:latin typeface="Arial"/>
              </a:rPr>
              <a:t>  — ignoring size when reporting growth</a:t>
            </a:r>
          </a:p>
          <a:p>
            <a:pPr>
              <a:spcAft>
                <a:spcPts val="800"/>
              </a:spcAft>
            </a:pPr>
            <a:r>
              <a:rPr sz="2500" b="0">
                <a:solidFill>
                  <a:srgbClr val="3A3F47"/>
                </a:solidFill>
                <a:latin typeface="Arial"/>
              </a:rPr>
              <a:t>        –   'Sales grew 300%!'  … from one unit to four</a:t>
            </a:r>
          </a:p>
          <a:p>
            <a:pPr>
              <a:spcAft>
                <a:spcPts val="1400"/>
              </a:spcAft>
            </a:pPr>
            <a:r>
              <a:rPr sz="3000" b="0">
                <a:solidFill>
                  <a:srgbClr val="16181D"/>
                </a:solidFill>
                <a:latin typeface="Arial"/>
              </a:rPr>
              <a:t>▪   </a:t>
            </a:r>
            <a:r>
              <a:rPr sz="3000" b="1">
                <a:solidFill>
                  <a:srgbClr val="16181D"/>
                </a:solidFill>
                <a:latin typeface="Arial"/>
              </a:rPr>
              <a:t>Poor data insights</a:t>
            </a:r>
            <a:r>
              <a:rPr sz="3000" b="0">
                <a:solidFill>
                  <a:srgbClr val="16181D"/>
                </a:solidFill>
                <a:latin typeface="Arial"/>
              </a:rPr>
              <a:t>, </a:t>
            </a:r>
            <a:r>
              <a:rPr sz="3000" b="1">
                <a:solidFill>
                  <a:srgbClr val="16181D"/>
                </a:solidFill>
                <a:latin typeface="Arial"/>
              </a:rPr>
              <a:t>not connecting to external data</a:t>
            </a:r>
            <a:r>
              <a:rPr sz="3000" b="0">
                <a:solidFill>
                  <a:srgbClr val="16181D"/>
                </a:solidFill>
                <a:latin typeface="Arial"/>
              </a:rPr>
              <a:t>, </a:t>
            </a:r>
            <a:r>
              <a:rPr sz="3000" b="1">
                <a:solidFill>
                  <a:srgbClr val="16181D"/>
                </a:solidFill>
                <a:latin typeface="Arial"/>
              </a:rPr>
              <a:t>no business understanding</a:t>
            </a:r>
          </a:p>
        </p:txBody>
      </p:sp>
      <p:sp>
        <p:nvSpPr>
          <p:cNvPr id="5" name="TextBox 4">
            <a:extLst>
              <a:ext uri="{FF2B5EF4-FFF2-40B4-BE49-F238E27FC236}">
                <a16:creationId xmlns:a16="http://schemas.microsoft.com/office/drawing/2014/main" id="{5D99E6C5-37F7-627D-0769-50721E6122D0}"/>
              </a:ext>
            </a:extLst>
          </p:cNvPr>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a:extLst>
              <a:ext uri="{FF2B5EF4-FFF2-40B4-BE49-F238E27FC236}">
                <a16:creationId xmlns:a16="http://schemas.microsoft.com/office/drawing/2014/main" id="{B11F31E7-A305-3326-D98B-BCB1EB004520}"/>
              </a:ext>
            </a:extLst>
          </p:cNvPr>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47</a:t>
            </a:r>
          </a:p>
        </p:txBody>
      </p:sp>
    </p:spTree>
    <p:extLst>
      <p:ext uri="{BB962C8B-B14F-4D97-AF65-F5344CB8AC3E}">
        <p14:creationId xmlns:p14="http://schemas.microsoft.com/office/powerpoint/2010/main" val="33433313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007A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658368"/>
            <a:ext cx="15371063" cy="769441"/>
          </a:xfrm>
          <a:prstGeom prst="rect">
            <a:avLst/>
          </a:prstGeom>
          <a:noFill/>
        </p:spPr>
        <p:txBody>
          <a:bodyPr wrap="square">
            <a:spAutoFit/>
          </a:bodyPr>
          <a:lstStyle/>
          <a:p>
            <a:r>
              <a:rPr lang="nb-NO" sz="4400" b="1" dirty="0" err="1">
                <a:solidFill>
                  <a:srgbClr val="FFFFFF"/>
                </a:solidFill>
                <a:latin typeface="Arial"/>
              </a:rPr>
              <a:t>Annonymous</a:t>
            </a:r>
            <a:r>
              <a:rPr lang="nb-NO" sz="4400" b="1" dirty="0">
                <a:solidFill>
                  <a:srgbClr val="FFFFFF"/>
                </a:solidFill>
                <a:latin typeface="Arial"/>
              </a:rPr>
              <a:t> </a:t>
            </a:r>
            <a:r>
              <a:rPr lang="nb-NO" sz="4400" b="1" dirty="0" err="1">
                <a:solidFill>
                  <a:srgbClr val="FFFFFF"/>
                </a:solidFill>
                <a:latin typeface="Arial"/>
              </a:rPr>
              <a:t>customer</a:t>
            </a:r>
            <a:r>
              <a:rPr lang="nb-NO" sz="4400" b="1" dirty="0">
                <a:solidFill>
                  <a:srgbClr val="FFFFFF"/>
                </a:solidFill>
                <a:latin typeface="Arial"/>
              </a:rPr>
              <a:t> profiling</a:t>
            </a:r>
            <a:endParaRPr sz="4400" b="1" dirty="0">
              <a:solidFill>
                <a:srgbClr val="FFFFFF"/>
              </a:solidFill>
              <a:latin typeface="Arial"/>
            </a:endParaRP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49</a:t>
            </a:r>
          </a:p>
        </p:txBody>
      </p:sp>
      <p:sp>
        <p:nvSpPr>
          <p:cNvPr id="9" name="TextBox 8">
            <a:extLst>
              <a:ext uri="{FF2B5EF4-FFF2-40B4-BE49-F238E27FC236}">
                <a16:creationId xmlns:a16="http://schemas.microsoft.com/office/drawing/2014/main" id="{4EE7EB82-94C3-26E6-77CE-9CF8BB30843D}"/>
              </a:ext>
            </a:extLst>
          </p:cNvPr>
          <p:cNvSpPr txBox="1"/>
          <p:nvPr/>
        </p:nvSpPr>
        <p:spPr>
          <a:xfrm>
            <a:off x="1498147" y="3187770"/>
            <a:ext cx="8678634" cy="923330"/>
          </a:xfrm>
          <a:prstGeom prst="rect">
            <a:avLst/>
          </a:prstGeom>
          <a:noFill/>
        </p:spPr>
        <p:txBody>
          <a:bodyPr wrap="square">
            <a:spAutoFit/>
          </a:bodyPr>
          <a:lstStyle/>
          <a:p>
            <a:r>
              <a:rPr lang="en-US" sz="5400" b="1" dirty="0">
                <a:solidFill>
                  <a:srgbClr val="16181D"/>
                </a:solidFill>
                <a:latin typeface="Arial"/>
              </a:rPr>
              <a:t>Postcode</a:t>
            </a:r>
            <a:endParaRPr lang="en-US" dirty="0"/>
          </a:p>
        </p:txBody>
      </p:sp>
      <p:sp>
        <p:nvSpPr>
          <p:cNvPr id="11" name="TextBox 10">
            <a:extLst>
              <a:ext uri="{FF2B5EF4-FFF2-40B4-BE49-F238E27FC236}">
                <a16:creationId xmlns:a16="http://schemas.microsoft.com/office/drawing/2014/main" id="{ACCC559D-6205-5A6F-1910-53686C354929}"/>
              </a:ext>
            </a:extLst>
          </p:cNvPr>
          <p:cNvSpPr txBox="1"/>
          <p:nvPr/>
        </p:nvSpPr>
        <p:spPr>
          <a:xfrm>
            <a:off x="1498147" y="4444198"/>
            <a:ext cx="8678634" cy="923330"/>
          </a:xfrm>
          <a:prstGeom prst="rect">
            <a:avLst/>
          </a:prstGeom>
          <a:noFill/>
        </p:spPr>
        <p:txBody>
          <a:bodyPr wrap="square">
            <a:spAutoFit/>
          </a:bodyPr>
          <a:lstStyle/>
          <a:p>
            <a:r>
              <a:rPr lang="en-US" sz="5400" b="1" dirty="0">
                <a:solidFill>
                  <a:srgbClr val="16181D"/>
                </a:solidFill>
                <a:latin typeface="Arial"/>
              </a:rPr>
              <a:t>gender</a:t>
            </a:r>
            <a:endParaRPr lang="en-US" dirty="0"/>
          </a:p>
        </p:txBody>
      </p:sp>
      <p:sp>
        <p:nvSpPr>
          <p:cNvPr id="13" name="TextBox 12">
            <a:extLst>
              <a:ext uri="{FF2B5EF4-FFF2-40B4-BE49-F238E27FC236}">
                <a16:creationId xmlns:a16="http://schemas.microsoft.com/office/drawing/2014/main" id="{3A1628AC-E940-BC86-CB32-FD829169C003}"/>
              </a:ext>
            </a:extLst>
          </p:cNvPr>
          <p:cNvSpPr txBox="1"/>
          <p:nvPr/>
        </p:nvSpPr>
        <p:spPr>
          <a:xfrm>
            <a:off x="1498147" y="5953324"/>
            <a:ext cx="8678634" cy="923330"/>
          </a:xfrm>
          <a:prstGeom prst="rect">
            <a:avLst/>
          </a:prstGeom>
          <a:noFill/>
        </p:spPr>
        <p:txBody>
          <a:bodyPr wrap="square">
            <a:spAutoFit/>
          </a:bodyPr>
          <a:lstStyle/>
          <a:p>
            <a:r>
              <a:rPr lang="en-US" sz="5400" b="1" dirty="0">
                <a:solidFill>
                  <a:srgbClr val="16181D"/>
                </a:solidFill>
                <a:latin typeface="Arial"/>
              </a:rPr>
              <a:t>date of birth </a:t>
            </a:r>
            <a:endParaRPr lang="en-US" dirty="0"/>
          </a:p>
        </p:txBody>
      </p:sp>
      <p:sp>
        <p:nvSpPr>
          <p:cNvPr id="14" name="TextBox 13">
            <a:extLst>
              <a:ext uri="{FF2B5EF4-FFF2-40B4-BE49-F238E27FC236}">
                <a16:creationId xmlns:a16="http://schemas.microsoft.com/office/drawing/2014/main" id="{552B1E00-F493-7663-CCAC-B6B8DA926B22}"/>
              </a:ext>
            </a:extLst>
          </p:cNvPr>
          <p:cNvSpPr txBox="1"/>
          <p:nvPr/>
        </p:nvSpPr>
        <p:spPr>
          <a:xfrm>
            <a:off x="8407907" y="3164618"/>
            <a:ext cx="4867222" cy="923330"/>
          </a:xfrm>
          <a:prstGeom prst="rect">
            <a:avLst/>
          </a:prstGeom>
          <a:noFill/>
        </p:spPr>
        <p:txBody>
          <a:bodyPr wrap="square">
            <a:spAutoFit/>
          </a:bodyPr>
          <a:lstStyle/>
          <a:p>
            <a:r>
              <a:rPr lang="en-US" sz="5400" b="1" dirty="0">
                <a:solidFill>
                  <a:srgbClr val="16181D"/>
                </a:solidFill>
                <a:latin typeface="Arial"/>
              </a:rPr>
              <a:t>Travel pattern</a:t>
            </a:r>
            <a:endParaRPr lang="en-US" dirty="0"/>
          </a:p>
        </p:txBody>
      </p:sp>
      <p:sp>
        <p:nvSpPr>
          <p:cNvPr id="15" name="TextBox 14">
            <a:extLst>
              <a:ext uri="{FF2B5EF4-FFF2-40B4-BE49-F238E27FC236}">
                <a16:creationId xmlns:a16="http://schemas.microsoft.com/office/drawing/2014/main" id="{9881A183-7F24-E9C9-A120-FADBE05B4359}"/>
              </a:ext>
            </a:extLst>
          </p:cNvPr>
          <p:cNvSpPr txBox="1"/>
          <p:nvPr/>
        </p:nvSpPr>
        <p:spPr>
          <a:xfrm>
            <a:off x="8407907" y="4610681"/>
            <a:ext cx="4867222" cy="923330"/>
          </a:xfrm>
          <a:prstGeom prst="rect">
            <a:avLst/>
          </a:prstGeom>
          <a:noFill/>
        </p:spPr>
        <p:txBody>
          <a:bodyPr wrap="square">
            <a:spAutoFit/>
          </a:bodyPr>
          <a:lstStyle/>
          <a:p>
            <a:r>
              <a:rPr lang="en-US" sz="5400" b="1" dirty="0">
                <a:solidFill>
                  <a:srgbClr val="16181D"/>
                </a:solidFill>
                <a:latin typeface="Arial"/>
              </a:rPr>
              <a:t>Food interest</a:t>
            </a:r>
            <a:endParaRPr lang="en-US" dirty="0"/>
          </a:p>
        </p:txBody>
      </p:sp>
      <p:sp>
        <p:nvSpPr>
          <p:cNvPr id="16" name="TextBox 15">
            <a:extLst>
              <a:ext uri="{FF2B5EF4-FFF2-40B4-BE49-F238E27FC236}">
                <a16:creationId xmlns:a16="http://schemas.microsoft.com/office/drawing/2014/main" id="{4C58707E-6F4B-A51C-28A3-D0C9C45FF676}"/>
              </a:ext>
            </a:extLst>
          </p:cNvPr>
          <p:cNvSpPr txBox="1"/>
          <p:nvPr/>
        </p:nvSpPr>
        <p:spPr>
          <a:xfrm>
            <a:off x="8407907" y="6016676"/>
            <a:ext cx="4867222" cy="1754326"/>
          </a:xfrm>
          <a:prstGeom prst="rect">
            <a:avLst/>
          </a:prstGeom>
          <a:noFill/>
        </p:spPr>
        <p:txBody>
          <a:bodyPr wrap="square">
            <a:spAutoFit/>
          </a:bodyPr>
          <a:lstStyle/>
          <a:p>
            <a:r>
              <a:rPr lang="en-US" sz="5400" b="1" dirty="0">
                <a:solidFill>
                  <a:srgbClr val="16181D"/>
                </a:solidFill>
                <a:latin typeface="Arial"/>
              </a:rPr>
              <a:t>Social media feeds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9264" y="2743200"/>
            <a:ext cx="15371063" cy="38404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69264" y="2743200"/>
            <a:ext cx="82296" cy="3840480"/>
          </a:xfrm>
          <a:prstGeom prst="rect">
            <a:avLst/>
          </a:prstGeom>
          <a:solidFill>
            <a:srgbClr val="007A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54480" y="3416945"/>
            <a:ext cx="14173200" cy="2492990"/>
          </a:xfrm>
          <a:prstGeom prst="rect">
            <a:avLst/>
          </a:prstGeom>
          <a:noFill/>
        </p:spPr>
        <p:txBody>
          <a:bodyPr wrap="square" anchor="ctr">
            <a:spAutoFit/>
          </a:bodyPr>
          <a:lstStyle/>
          <a:p>
            <a:r>
              <a:rPr sz="5400" b="1" dirty="0">
                <a:solidFill>
                  <a:srgbClr val="16181D"/>
                </a:solidFill>
                <a:latin typeface="Arial"/>
              </a:rPr>
              <a:t>Postcode + date of birth + gender identifies most individuals uniquely.</a:t>
            </a:r>
          </a:p>
          <a:p>
            <a:pPr>
              <a:spcBef>
                <a:spcPts val="2400"/>
              </a:spcBef>
            </a:pPr>
            <a:r>
              <a:rPr sz="2800" b="0" dirty="0">
                <a:solidFill>
                  <a:srgbClr val="3A3F47"/>
                </a:solidFill>
                <a:latin typeface="Arial"/>
              </a:rPr>
              <a:t>Removing names is not </a:t>
            </a:r>
            <a:r>
              <a:rPr sz="2800" b="0" dirty="0" err="1">
                <a:solidFill>
                  <a:srgbClr val="3A3F47"/>
                </a:solidFill>
                <a:latin typeface="Arial"/>
              </a:rPr>
              <a:t>anonymisation</a:t>
            </a:r>
            <a:r>
              <a:rPr sz="2800" b="0" dirty="0">
                <a:solidFill>
                  <a:srgbClr val="3A3F47"/>
                </a:solidFill>
                <a:latin typeface="Arial"/>
              </a:rPr>
              <a:t>.</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50</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The working checklist</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2500" b="0">
                <a:solidFill>
                  <a:srgbClr val="16181D"/>
                </a:solidFill>
                <a:latin typeface="Arial"/>
              </a:rPr>
              <a:t>▪   Missing values  ·  </a:t>
            </a:r>
            <a:r>
              <a:rPr sz="2500" b="1">
                <a:solidFill>
                  <a:srgbClr val="16181D"/>
                </a:solidFill>
                <a:latin typeface="Arial"/>
              </a:rPr>
              <a:t>disguised</a:t>
            </a:r>
            <a:r>
              <a:rPr sz="2500" b="0">
                <a:solidFill>
                  <a:srgbClr val="16181D"/>
                </a:solidFill>
                <a:latin typeface="Arial"/>
              </a:rPr>
              <a:t> missing values  ·  duplicate rows</a:t>
            </a:r>
          </a:p>
          <a:p>
            <a:pPr>
              <a:spcAft>
                <a:spcPts val="1400"/>
              </a:spcAft>
            </a:pPr>
            <a:r>
              <a:rPr sz="2500" b="0">
                <a:solidFill>
                  <a:srgbClr val="16181D"/>
                </a:solidFill>
                <a:latin typeface="Arial"/>
              </a:rPr>
              <a:t>▪   Wrong data type  ·  inconsistent categories  ·  spelling mistakes</a:t>
            </a:r>
          </a:p>
          <a:p>
            <a:pPr>
              <a:spcAft>
                <a:spcPts val="1400"/>
              </a:spcAft>
            </a:pPr>
            <a:r>
              <a:rPr sz="2500" b="0">
                <a:solidFill>
                  <a:srgbClr val="16181D"/>
                </a:solidFill>
                <a:latin typeface="Arial"/>
              </a:rPr>
              <a:t>▪   Outliers  ·  impossible values  ·  mixed units and formats</a:t>
            </a:r>
          </a:p>
          <a:p>
            <a:pPr>
              <a:spcAft>
                <a:spcPts val="1400"/>
              </a:spcAft>
            </a:pPr>
            <a:r>
              <a:rPr sz="2500" b="0">
                <a:solidFill>
                  <a:srgbClr val="16181D"/>
                </a:solidFill>
                <a:latin typeface="Arial"/>
              </a:rPr>
              <a:t>▪   Constant columns  ·  identifier columns</a:t>
            </a:r>
          </a:p>
          <a:p>
            <a:pPr>
              <a:spcAft>
                <a:spcPts val="1400"/>
              </a:spcAft>
            </a:pPr>
            <a:r>
              <a:rPr sz="2500" b="0">
                <a:solidFill>
                  <a:srgbClr val="16181D"/>
                </a:solidFill>
                <a:latin typeface="Arial"/>
              </a:rPr>
              <a:t>▪   Ignored seasonality  ·  wrong denominator  ·  unrepresentative data</a:t>
            </a:r>
          </a:p>
          <a:p>
            <a:pPr>
              <a:spcAft>
                <a:spcPts val="1400"/>
              </a:spcAft>
            </a:pPr>
            <a:r>
              <a:rPr sz="2500" b="0">
                <a:solidFill>
                  <a:srgbClr val="16181D"/>
                </a:solidFill>
                <a:latin typeface="Arial"/>
              </a:rPr>
              <a:t>▪   </a:t>
            </a:r>
            <a:r>
              <a:rPr sz="2500" b="1">
                <a:solidFill>
                  <a:srgbClr val="16181D"/>
                </a:solidFill>
                <a:latin typeface="Arial"/>
              </a:rPr>
              <a:t>Data leakage</a:t>
            </a:r>
            <a:r>
              <a:rPr sz="2500" b="0">
                <a:solidFill>
                  <a:srgbClr val="16181D"/>
                </a:solidFill>
                <a:latin typeface="Arial"/>
              </a:rPr>
              <a:t>  ·  stale data  ·  mislabelled targets</a:t>
            </a:r>
          </a:p>
          <a:p>
            <a:pPr>
              <a:spcAft>
                <a:spcPts val="600"/>
              </a:spcAft>
            </a:pPr>
            <a:endParaRPr sz="2500" b="0">
              <a:solidFill>
                <a:srgbClr val="16181D"/>
              </a:solidFill>
              <a:latin typeface="Arial"/>
            </a:endParaRPr>
          </a:p>
          <a:p>
            <a:pPr>
              <a:spcAft>
                <a:spcPts val="1400"/>
              </a:spcAft>
            </a:pPr>
            <a:r>
              <a:rPr sz="2500" b="0">
                <a:solidFill>
                  <a:srgbClr val="16181D"/>
                </a:solidFill>
                <a:latin typeface="Arial"/>
              </a:rPr>
              <a:t>▪   The first eleven have a pandas command. The last five need you to understand</a:t>
            </a:r>
          </a:p>
          <a:p>
            <a:pPr>
              <a:spcAft>
                <a:spcPts val="1400"/>
              </a:spcAft>
            </a:pPr>
            <a:r>
              <a:rPr sz="2500" b="0">
                <a:solidFill>
                  <a:srgbClr val="16181D"/>
                </a:solidFill>
                <a:latin typeface="Arial"/>
              </a:rPr>
              <a:t>▪   where the data came from.</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      ·      reference slide — also in the handout</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51</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Six dimensions of data quality</a:t>
            </a:r>
          </a:p>
        </p:txBody>
      </p:sp>
      <p:graphicFrame>
        <p:nvGraphicFramePr>
          <p:cNvPr id="4" name="Table 3"/>
          <p:cNvGraphicFramePr>
            <a:graphicFrameLocks noGrp="1"/>
          </p:cNvGraphicFramePr>
          <p:nvPr>
            <p:extLst>
              <p:ext uri="{D42A27DB-BD31-4B8C-83A1-F6EECF244321}">
                <p14:modId xmlns:p14="http://schemas.microsoft.com/office/powerpoint/2010/main" val="303580544"/>
              </p:ext>
            </p:extLst>
          </p:nvPr>
        </p:nvGraphicFramePr>
        <p:xfrm>
          <a:off x="1188721" y="3543300"/>
          <a:ext cx="15371062" cy="3968496"/>
        </p:xfrm>
        <a:graphic>
          <a:graphicData uri="http://schemas.openxmlformats.org/drawingml/2006/table">
            <a:tbl>
              <a:tblPr firstRow="1" bandRow="1">
                <a:tableStyleId>{5C22544A-7EE6-4342-B048-85BDC9FD1C3A}</a:tableStyleId>
              </a:tblPr>
              <a:tblGrid>
                <a:gridCol w="4192108">
                  <a:extLst>
                    <a:ext uri="{9D8B030D-6E8A-4147-A177-3AD203B41FA5}">
                      <a16:colId xmlns:a16="http://schemas.microsoft.com/office/drawing/2014/main" val="20000"/>
                    </a:ext>
                  </a:extLst>
                </a:gridCol>
                <a:gridCol w="5589477">
                  <a:extLst>
                    <a:ext uri="{9D8B030D-6E8A-4147-A177-3AD203B41FA5}">
                      <a16:colId xmlns:a16="http://schemas.microsoft.com/office/drawing/2014/main" val="20001"/>
                    </a:ext>
                  </a:extLst>
                </a:gridCol>
                <a:gridCol w="5589477">
                  <a:extLst>
                    <a:ext uri="{9D8B030D-6E8A-4147-A177-3AD203B41FA5}">
                      <a16:colId xmlns:a16="http://schemas.microsoft.com/office/drawing/2014/main" val="20002"/>
                    </a:ext>
                  </a:extLst>
                </a:gridCol>
              </a:tblGrid>
              <a:tr h="566928">
                <a:tc>
                  <a:txBody>
                    <a:bodyPr/>
                    <a:lstStyle/>
                    <a:p>
                      <a:r>
                        <a:rPr sz="2100" b="1">
                          <a:solidFill>
                            <a:srgbClr val="16181D"/>
                          </a:solidFill>
                          <a:latin typeface="Arial"/>
                        </a:rPr>
                        <a:t>Dimension</a:t>
                      </a:r>
                    </a:p>
                  </a:txBody>
                  <a:tcPr marL="109728" marR="109728">
                    <a:solidFill>
                      <a:srgbClr val="FFDC00"/>
                    </a:solidFill>
                  </a:tcPr>
                </a:tc>
                <a:tc>
                  <a:txBody>
                    <a:bodyPr/>
                    <a:lstStyle/>
                    <a:p>
                      <a:r>
                        <a:rPr sz="2100" b="1" dirty="0">
                          <a:solidFill>
                            <a:srgbClr val="16181D"/>
                          </a:solidFill>
                          <a:latin typeface="Arial"/>
                        </a:rPr>
                        <a:t>Question</a:t>
                      </a:r>
                    </a:p>
                  </a:txBody>
                  <a:tcPr marL="109728" marR="109728">
                    <a:solidFill>
                      <a:srgbClr val="FFDC00"/>
                    </a:solidFill>
                  </a:tcPr>
                </a:tc>
                <a:tc>
                  <a:txBody>
                    <a:bodyPr/>
                    <a:lstStyle/>
                    <a:p>
                      <a:r>
                        <a:rPr sz="2100" b="1">
                          <a:solidFill>
                            <a:srgbClr val="16181D"/>
                          </a:solidFill>
                          <a:latin typeface="Arial"/>
                        </a:rPr>
                        <a:t>Example failure</a:t>
                      </a:r>
                    </a:p>
                  </a:txBody>
                  <a:tcPr marL="109728" marR="109728">
                    <a:solidFill>
                      <a:srgbClr val="FFDC00"/>
                    </a:solidFill>
                  </a:tcPr>
                </a:tc>
                <a:extLst>
                  <a:ext uri="{0D108BD9-81ED-4DB2-BD59-A6C34878D82A}">
                    <a16:rowId xmlns:a16="http://schemas.microsoft.com/office/drawing/2014/main" val="10000"/>
                  </a:ext>
                </a:extLst>
              </a:tr>
              <a:tr h="566928">
                <a:tc>
                  <a:txBody>
                    <a:bodyPr/>
                    <a:lstStyle/>
                    <a:p>
                      <a:r>
                        <a:rPr sz="2000" b="0">
                          <a:solidFill>
                            <a:srgbClr val="16181D"/>
                          </a:solidFill>
                          <a:latin typeface="Arial"/>
                        </a:rPr>
                        <a:t>Completeness</a:t>
                      </a:r>
                    </a:p>
                  </a:txBody>
                  <a:tcPr marL="109728" marR="109728">
                    <a:solidFill>
                      <a:srgbClr val="FFFFFF"/>
                    </a:solidFill>
                  </a:tcPr>
                </a:tc>
                <a:tc>
                  <a:txBody>
                    <a:bodyPr/>
                    <a:lstStyle/>
                    <a:p>
                      <a:r>
                        <a:rPr sz="2000" b="0">
                          <a:solidFill>
                            <a:srgbClr val="16181D"/>
                          </a:solidFill>
                          <a:latin typeface="Arial"/>
                        </a:rPr>
                        <a:t>Are values present?</a:t>
                      </a:r>
                    </a:p>
                  </a:txBody>
                  <a:tcPr marL="109728" marR="109728">
                    <a:solidFill>
                      <a:srgbClr val="FFFFFF"/>
                    </a:solidFill>
                  </a:tcPr>
                </a:tc>
                <a:tc>
                  <a:txBody>
                    <a:bodyPr/>
                    <a:lstStyle/>
                    <a:p>
                      <a:r>
                        <a:rPr sz="2000" b="0">
                          <a:solidFill>
                            <a:srgbClr val="16181D"/>
                          </a:solidFill>
                          <a:latin typeface="Arial"/>
                        </a:rPr>
                        <a:t>77% of Cabin is missing</a:t>
                      </a:r>
                    </a:p>
                  </a:txBody>
                  <a:tcPr marL="109728" marR="109728">
                    <a:solidFill>
                      <a:srgbClr val="FFFFFF"/>
                    </a:solidFill>
                  </a:tcPr>
                </a:tc>
                <a:extLst>
                  <a:ext uri="{0D108BD9-81ED-4DB2-BD59-A6C34878D82A}">
                    <a16:rowId xmlns:a16="http://schemas.microsoft.com/office/drawing/2014/main" val="10001"/>
                  </a:ext>
                </a:extLst>
              </a:tr>
              <a:tr h="566928">
                <a:tc>
                  <a:txBody>
                    <a:bodyPr/>
                    <a:lstStyle/>
                    <a:p>
                      <a:r>
                        <a:rPr sz="2000" b="0">
                          <a:solidFill>
                            <a:srgbClr val="16181D"/>
                          </a:solidFill>
                          <a:latin typeface="Arial"/>
                        </a:rPr>
                        <a:t>Validity</a:t>
                      </a:r>
                    </a:p>
                  </a:txBody>
                  <a:tcPr marL="109728" marR="109728">
                    <a:solidFill>
                      <a:srgbClr val="F7F8FA"/>
                    </a:solidFill>
                  </a:tcPr>
                </a:tc>
                <a:tc>
                  <a:txBody>
                    <a:bodyPr/>
                    <a:lstStyle/>
                    <a:p>
                      <a:r>
                        <a:rPr sz="2000" b="0">
                          <a:solidFill>
                            <a:srgbClr val="16181D"/>
                          </a:solidFill>
                          <a:latin typeface="Arial"/>
                        </a:rPr>
                        <a:t>Do values obey the field's rules?</a:t>
                      </a:r>
                    </a:p>
                  </a:txBody>
                  <a:tcPr marL="109728" marR="109728">
                    <a:solidFill>
                      <a:srgbClr val="F7F8FA"/>
                    </a:solidFill>
                  </a:tcPr>
                </a:tc>
                <a:tc>
                  <a:txBody>
                    <a:bodyPr/>
                    <a:lstStyle/>
                    <a:p>
                      <a:r>
                        <a:rPr sz="2000" b="0">
                          <a:solidFill>
                            <a:srgbClr val="16181D"/>
                          </a:solidFill>
                          <a:latin typeface="Arial"/>
                        </a:rPr>
                        <a:t>Age 180, month 13, negative price</a:t>
                      </a:r>
                    </a:p>
                  </a:txBody>
                  <a:tcPr marL="109728" marR="109728">
                    <a:solidFill>
                      <a:srgbClr val="F7F8FA"/>
                    </a:solidFill>
                  </a:tcPr>
                </a:tc>
                <a:extLst>
                  <a:ext uri="{0D108BD9-81ED-4DB2-BD59-A6C34878D82A}">
                    <a16:rowId xmlns:a16="http://schemas.microsoft.com/office/drawing/2014/main" val="10002"/>
                  </a:ext>
                </a:extLst>
              </a:tr>
              <a:tr h="566928">
                <a:tc>
                  <a:txBody>
                    <a:bodyPr/>
                    <a:lstStyle/>
                    <a:p>
                      <a:r>
                        <a:rPr sz="2000" b="0">
                          <a:solidFill>
                            <a:srgbClr val="16181D"/>
                          </a:solidFill>
                          <a:latin typeface="Arial"/>
                        </a:rPr>
                        <a:t>Accuracy</a:t>
                      </a:r>
                    </a:p>
                  </a:txBody>
                  <a:tcPr marL="109728" marR="109728">
                    <a:solidFill>
                      <a:srgbClr val="FFFFFF"/>
                    </a:solidFill>
                  </a:tcPr>
                </a:tc>
                <a:tc>
                  <a:txBody>
                    <a:bodyPr/>
                    <a:lstStyle/>
                    <a:p>
                      <a:r>
                        <a:rPr sz="2000" b="0">
                          <a:solidFill>
                            <a:srgbClr val="16181D"/>
                          </a:solidFill>
                          <a:latin typeface="Arial"/>
                        </a:rPr>
                        <a:t>Do values match reality?</a:t>
                      </a:r>
                    </a:p>
                  </a:txBody>
                  <a:tcPr marL="109728" marR="109728">
                    <a:solidFill>
                      <a:srgbClr val="FFFFFF"/>
                    </a:solidFill>
                  </a:tcPr>
                </a:tc>
                <a:tc>
                  <a:txBody>
                    <a:bodyPr/>
                    <a:lstStyle/>
                    <a:p>
                      <a:r>
                        <a:rPr sz="2000" b="0">
                          <a:solidFill>
                            <a:srgbClr val="16181D"/>
                          </a:solidFill>
                          <a:latin typeface="Arial"/>
                        </a:rPr>
                        <a:t>Valid address, but they moved</a:t>
                      </a:r>
                    </a:p>
                  </a:txBody>
                  <a:tcPr marL="109728" marR="109728">
                    <a:solidFill>
                      <a:srgbClr val="FFFFFF"/>
                    </a:solidFill>
                  </a:tcPr>
                </a:tc>
                <a:extLst>
                  <a:ext uri="{0D108BD9-81ED-4DB2-BD59-A6C34878D82A}">
                    <a16:rowId xmlns:a16="http://schemas.microsoft.com/office/drawing/2014/main" val="10003"/>
                  </a:ext>
                </a:extLst>
              </a:tr>
              <a:tr h="566928">
                <a:tc>
                  <a:txBody>
                    <a:bodyPr/>
                    <a:lstStyle/>
                    <a:p>
                      <a:r>
                        <a:rPr sz="2000" b="0">
                          <a:solidFill>
                            <a:srgbClr val="16181D"/>
                          </a:solidFill>
                          <a:latin typeface="Arial"/>
                        </a:rPr>
                        <a:t>Consistency</a:t>
                      </a:r>
                    </a:p>
                  </a:txBody>
                  <a:tcPr marL="109728" marR="109728">
                    <a:solidFill>
                      <a:srgbClr val="F7F8FA"/>
                    </a:solidFill>
                  </a:tcPr>
                </a:tc>
                <a:tc>
                  <a:txBody>
                    <a:bodyPr/>
                    <a:lstStyle/>
                    <a:p>
                      <a:r>
                        <a:rPr sz="2000" b="0">
                          <a:solidFill>
                            <a:srgbClr val="16181D"/>
                          </a:solidFill>
                          <a:latin typeface="Arial"/>
                        </a:rPr>
                        <a:t>Do values agree with each other?</a:t>
                      </a:r>
                    </a:p>
                  </a:txBody>
                  <a:tcPr marL="109728" marR="109728">
                    <a:solidFill>
                      <a:srgbClr val="F7F8FA"/>
                    </a:solidFill>
                  </a:tcPr>
                </a:tc>
                <a:tc>
                  <a:txBody>
                    <a:bodyPr/>
                    <a:lstStyle/>
                    <a:p>
                      <a:r>
                        <a:rPr sz="2000" b="0">
                          <a:solidFill>
                            <a:srgbClr val="16181D"/>
                          </a:solidFill>
                          <a:latin typeface="Arial"/>
                        </a:rPr>
                        <a:t>Oslo vs OSLO; total ≠ sum of parts</a:t>
                      </a:r>
                    </a:p>
                  </a:txBody>
                  <a:tcPr marL="109728" marR="109728">
                    <a:solidFill>
                      <a:srgbClr val="F7F8FA"/>
                    </a:solidFill>
                  </a:tcPr>
                </a:tc>
                <a:extLst>
                  <a:ext uri="{0D108BD9-81ED-4DB2-BD59-A6C34878D82A}">
                    <a16:rowId xmlns:a16="http://schemas.microsoft.com/office/drawing/2014/main" val="10004"/>
                  </a:ext>
                </a:extLst>
              </a:tr>
              <a:tr h="566928">
                <a:tc>
                  <a:txBody>
                    <a:bodyPr/>
                    <a:lstStyle/>
                    <a:p>
                      <a:r>
                        <a:rPr sz="2000" b="0">
                          <a:solidFill>
                            <a:srgbClr val="16181D"/>
                          </a:solidFill>
                          <a:latin typeface="Arial"/>
                        </a:rPr>
                        <a:t>Uniqueness</a:t>
                      </a:r>
                    </a:p>
                  </a:txBody>
                  <a:tcPr marL="109728" marR="109728">
                    <a:solidFill>
                      <a:srgbClr val="FFFFFF"/>
                    </a:solidFill>
                  </a:tcPr>
                </a:tc>
                <a:tc>
                  <a:txBody>
                    <a:bodyPr/>
                    <a:lstStyle/>
                    <a:p>
                      <a:r>
                        <a:rPr sz="2000" b="0">
                          <a:solidFill>
                            <a:srgbClr val="16181D"/>
                          </a:solidFill>
                          <a:latin typeface="Arial"/>
                        </a:rPr>
                        <a:t>Is each real thing recorded once?</a:t>
                      </a:r>
                    </a:p>
                  </a:txBody>
                  <a:tcPr marL="109728" marR="109728">
                    <a:solidFill>
                      <a:srgbClr val="FFFFFF"/>
                    </a:solidFill>
                  </a:tcPr>
                </a:tc>
                <a:tc>
                  <a:txBody>
                    <a:bodyPr/>
                    <a:lstStyle/>
                    <a:p>
                      <a:r>
                        <a:rPr sz="2000" b="0">
                          <a:solidFill>
                            <a:srgbClr val="16181D"/>
                          </a:solidFill>
                          <a:latin typeface="Arial"/>
                        </a:rPr>
                        <a:t>The same order imported twice</a:t>
                      </a:r>
                    </a:p>
                  </a:txBody>
                  <a:tcPr marL="109728" marR="109728">
                    <a:solidFill>
                      <a:srgbClr val="FFFFFF"/>
                    </a:solidFill>
                  </a:tcPr>
                </a:tc>
                <a:extLst>
                  <a:ext uri="{0D108BD9-81ED-4DB2-BD59-A6C34878D82A}">
                    <a16:rowId xmlns:a16="http://schemas.microsoft.com/office/drawing/2014/main" val="10005"/>
                  </a:ext>
                </a:extLst>
              </a:tr>
              <a:tr h="566928">
                <a:tc>
                  <a:txBody>
                    <a:bodyPr/>
                    <a:lstStyle/>
                    <a:p>
                      <a:r>
                        <a:rPr sz="2000" b="0">
                          <a:solidFill>
                            <a:srgbClr val="16181D"/>
                          </a:solidFill>
                          <a:latin typeface="Arial"/>
                        </a:rPr>
                        <a:t>Timeliness</a:t>
                      </a:r>
                    </a:p>
                  </a:txBody>
                  <a:tcPr marL="109728" marR="109728">
                    <a:solidFill>
                      <a:srgbClr val="F7F8FA"/>
                    </a:solidFill>
                  </a:tcPr>
                </a:tc>
                <a:tc>
                  <a:txBody>
                    <a:bodyPr/>
                    <a:lstStyle/>
                    <a:p>
                      <a:r>
                        <a:rPr sz="2000" b="0">
                          <a:solidFill>
                            <a:srgbClr val="16181D"/>
                          </a:solidFill>
                          <a:latin typeface="Arial"/>
                        </a:rPr>
                        <a:t>Is it current enough to be useful?</a:t>
                      </a:r>
                    </a:p>
                  </a:txBody>
                  <a:tcPr marL="109728" marR="109728">
                    <a:solidFill>
                      <a:srgbClr val="F7F8FA"/>
                    </a:solidFill>
                  </a:tcPr>
                </a:tc>
                <a:tc>
                  <a:txBody>
                    <a:bodyPr/>
                    <a:lstStyle/>
                    <a:p>
                      <a:r>
                        <a:rPr sz="2000" b="0" dirty="0">
                          <a:solidFill>
                            <a:srgbClr val="16181D"/>
                          </a:solidFill>
                          <a:latin typeface="Arial"/>
                        </a:rPr>
                        <a:t>Prices from 2019</a:t>
                      </a:r>
                    </a:p>
                  </a:txBody>
                  <a:tcPr marL="109728" marR="109728">
                    <a:solidFill>
                      <a:srgbClr val="F7F8FA"/>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969263" y="1928731"/>
            <a:ext cx="15371063" cy="457200"/>
          </a:xfrm>
          <a:prstGeom prst="rect">
            <a:avLst/>
          </a:prstGeom>
          <a:noFill/>
        </p:spPr>
        <p:txBody>
          <a:bodyPr wrap="none">
            <a:spAutoFit/>
          </a:bodyPr>
          <a:lstStyle/>
          <a:p>
            <a:r>
              <a:rPr sz="1700" b="0" dirty="0">
                <a:solidFill>
                  <a:srgbClr val="6B7280"/>
                </a:solidFill>
                <a:latin typeface="Arial"/>
              </a:rPr>
              <a:t>Accuracy is the one you cannot check from inside the file. That is why domain knowledge is irreplaceable.</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      ·      reference slide — also in the handout</a:t>
            </a:r>
          </a:p>
        </p:txBody>
      </p:sp>
      <p:sp>
        <p:nvSpPr>
          <p:cNvPr id="7" name="TextBox 6"/>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46</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958" y="2315244"/>
            <a:ext cx="15373922" cy="6317254"/>
          </a:xfrm>
        </p:spPr>
        <p:txBody>
          <a:bodyPr>
            <a:normAutofit fontScale="90000"/>
          </a:bodyPr>
          <a:lstStyle/>
          <a:p>
            <a:r>
              <a:rPr dirty="0"/>
              <a:t>Cleaning</a:t>
            </a:r>
            <a:r>
              <a:rPr lang="nb-NO" dirty="0"/>
              <a:t> </a:t>
            </a:r>
            <a:r>
              <a:rPr lang="nb-NO" dirty="0" err="1"/>
              <a:t>DATa</a:t>
            </a:r>
            <a:r>
              <a:rPr dirty="0"/>
              <a:t>: </a:t>
            </a:r>
            <a:br>
              <a:rPr lang="nb-NO" dirty="0"/>
            </a:br>
            <a:r>
              <a:rPr dirty="0"/>
              <a:t>missing, duplicate, extreme, inconsistent</a:t>
            </a:r>
          </a:p>
        </p:txBody>
      </p:sp>
      <p:sp>
        <p:nvSpPr>
          <p:cNvPr id="4" name="TextBox 3"/>
          <p:cNvSpPr txBox="1"/>
          <p:nvPr/>
        </p:nvSpPr>
        <p:spPr>
          <a:xfrm>
            <a:off x="969264" y="2040924"/>
            <a:ext cx="12801600" cy="548640"/>
          </a:xfrm>
          <a:prstGeom prst="rect">
            <a:avLst/>
          </a:prstGeom>
          <a:noFill/>
        </p:spPr>
        <p:txBody>
          <a:bodyPr wrap="none">
            <a:spAutoFit/>
          </a:bodyPr>
          <a:lstStyle/>
          <a:p>
            <a:r>
              <a:rPr sz="2000" b="1">
                <a:solidFill>
                  <a:srgbClr val="6B7280"/>
                </a:solidFill>
                <a:latin typeface="Arial"/>
              </a:rPr>
              <a:t>PART 6</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52</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Missing values: find them</a:t>
            </a:r>
          </a:p>
        </p:txBody>
      </p:sp>
      <p:sp>
        <p:nvSpPr>
          <p:cNvPr id="4" name="Rectangle 3"/>
          <p:cNvSpPr/>
          <p:nvPr/>
        </p:nvSpPr>
        <p:spPr>
          <a:xfrm>
            <a:off x="969264" y="3639312"/>
            <a:ext cx="15371063" cy="1728216"/>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9264" y="3639312"/>
            <a:ext cx="82296" cy="1728216"/>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89304" y="3803904"/>
            <a:ext cx="14822423" cy="1453896"/>
          </a:xfrm>
          <a:prstGeom prst="rect">
            <a:avLst/>
          </a:prstGeom>
          <a:noFill/>
        </p:spPr>
        <p:txBody>
          <a:bodyPr wrap="none">
            <a:spAutoFit/>
          </a:bodyPr>
          <a:lstStyle/>
          <a:p>
            <a:pPr>
              <a:spcAft>
                <a:spcPts val="200"/>
              </a:spcAft>
            </a:pPr>
            <a:r>
              <a:rPr sz="2100">
                <a:solidFill>
                  <a:srgbClr val="16181D"/>
                </a:solidFill>
                <a:latin typeface="Consolas"/>
              </a:rPr>
              <a:t>df.isnull().sum()               </a:t>
            </a:r>
            <a:r>
              <a:rPr sz="2100">
                <a:solidFill>
                  <a:srgbClr val="1B7F4B"/>
                </a:solidFill>
                <a:latin typeface="Consolas"/>
              </a:rPr>
              <a:t># count per column</a:t>
            </a:r>
          </a:p>
          <a:p>
            <a:pPr>
              <a:spcAft>
                <a:spcPts val="200"/>
              </a:spcAft>
            </a:pPr>
            <a:r>
              <a:rPr sz="2100">
                <a:solidFill>
                  <a:srgbClr val="16181D"/>
                </a:solidFill>
                <a:latin typeface="Consolas"/>
              </a:rPr>
              <a:t>df.isnull().mean().round(3)     </a:t>
            </a:r>
            <a:r>
              <a:rPr sz="2100">
                <a:solidFill>
                  <a:srgbClr val="1B7F4B"/>
                </a:solidFill>
                <a:latin typeface="Consolas"/>
              </a:rPr>
              <a:t># proportion per column — usually more useful</a:t>
            </a:r>
          </a:p>
          <a:p>
            <a:pPr>
              <a:spcAft>
                <a:spcPts val="200"/>
              </a:spcAft>
            </a:pPr>
            <a:r>
              <a:rPr sz="2100">
                <a:solidFill>
                  <a:srgbClr val="16181D"/>
                </a:solidFill>
                <a:latin typeface="Consolas"/>
              </a:rPr>
              <a:t>df.isnull().sum(axis=1).value_counts()   </a:t>
            </a:r>
            <a:r>
              <a:rPr sz="2100">
                <a:solidFill>
                  <a:srgbClr val="1B7F4B"/>
                </a:solidFill>
                <a:latin typeface="Consolas"/>
              </a:rPr>
              <a:t># rows with 1, 2, 3... missing fields</a:t>
            </a:r>
          </a:p>
        </p:txBody>
      </p:sp>
      <p:sp>
        <p:nvSpPr>
          <p:cNvPr id="7" name="TextBox 6"/>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8" name="TextBox 7"/>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53</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3800" b="1">
                <a:solidFill>
                  <a:srgbClr val="16181D"/>
                </a:solidFill>
                <a:latin typeface="Arial"/>
              </a:rPr>
              <a:t>Then decide — there is no universally right answer</a:t>
            </a:r>
          </a:p>
        </p:txBody>
      </p:sp>
      <p:graphicFrame>
        <p:nvGraphicFramePr>
          <p:cNvPr id="4" name="Table 3"/>
          <p:cNvGraphicFramePr>
            <a:graphicFrameLocks noGrp="1"/>
          </p:cNvGraphicFramePr>
          <p:nvPr/>
        </p:nvGraphicFramePr>
        <p:xfrm>
          <a:off x="969264" y="2057400"/>
          <a:ext cx="15371061" cy="5102352"/>
        </p:xfrm>
        <a:graphic>
          <a:graphicData uri="http://schemas.openxmlformats.org/drawingml/2006/table">
            <a:tbl>
              <a:tblPr firstRow="1" bandRow="1">
                <a:tableStyleId>{5C22544A-7EE6-4342-B048-85BDC9FD1C3A}</a:tableStyleId>
              </a:tblPr>
              <a:tblGrid>
                <a:gridCol w="3842765">
                  <a:extLst>
                    <a:ext uri="{9D8B030D-6E8A-4147-A177-3AD203B41FA5}">
                      <a16:colId xmlns:a16="http://schemas.microsoft.com/office/drawing/2014/main" val="20000"/>
                    </a:ext>
                  </a:extLst>
                </a:gridCol>
                <a:gridCol w="6404609">
                  <a:extLst>
                    <a:ext uri="{9D8B030D-6E8A-4147-A177-3AD203B41FA5}">
                      <a16:colId xmlns:a16="http://schemas.microsoft.com/office/drawing/2014/main" val="20001"/>
                    </a:ext>
                  </a:extLst>
                </a:gridCol>
                <a:gridCol w="5123687">
                  <a:extLst>
                    <a:ext uri="{9D8B030D-6E8A-4147-A177-3AD203B41FA5}">
                      <a16:colId xmlns:a16="http://schemas.microsoft.com/office/drawing/2014/main" val="20002"/>
                    </a:ext>
                  </a:extLst>
                </a:gridCol>
              </a:tblGrid>
              <a:tr h="566928">
                <a:tc>
                  <a:txBody>
                    <a:bodyPr/>
                    <a:lstStyle/>
                    <a:p>
                      <a:r>
                        <a:rPr sz="2100" b="1">
                          <a:solidFill>
                            <a:srgbClr val="16181D"/>
                          </a:solidFill>
                          <a:latin typeface="Arial"/>
                        </a:rPr>
                        <a:t>Strategy</a:t>
                      </a:r>
                    </a:p>
                  </a:txBody>
                  <a:tcPr marL="109728" marR="109728">
                    <a:solidFill>
                      <a:srgbClr val="FFDC00"/>
                    </a:solidFill>
                  </a:tcPr>
                </a:tc>
                <a:tc>
                  <a:txBody>
                    <a:bodyPr/>
                    <a:lstStyle/>
                    <a:p>
                      <a:r>
                        <a:rPr sz="2100" b="1">
                          <a:solidFill>
                            <a:srgbClr val="16181D"/>
                          </a:solidFill>
                          <a:latin typeface="Arial"/>
                        </a:rPr>
                        <a:t>Use when</a:t>
                      </a:r>
                    </a:p>
                  </a:txBody>
                  <a:tcPr marL="109728" marR="109728">
                    <a:solidFill>
                      <a:srgbClr val="FFDC00"/>
                    </a:solidFill>
                  </a:tcPr>
                </a:tc>
                <a:tc>
                  <a:txBody>
                    <a:bodyPr/>
                    <a:lstStyle/>
                    <a:p>
                      <a:r>
                        <a:rPr sz="2100" b="1">
                          <a:solidFill>
                            <a:srgbClr val="16181D"/>
                          </a:solidFill>
                          <a:latin typeface="Arial"/>
                        </a:rPr>
                        <a:t>Cost</a:t>
                      </a:r>
                    </a:p>
                  </a:txBody>
                  <a:tcPr marL="109728" marR="109728">
                    <a:solidFill>
                      <a:srgbClr val="FFDC00"/>
                    </a:solidFill>
                  </a:tcPr>
                </a:tc>
                <a:extLst>
                  <a:ext uri="{0D108BD9-81ED-4DB2-BD59-A6C34878D82A}">
                    <a16:rowId xmlns:a16="http://schemas.microsoft.com/office/drawing/2014/main" val="10000"/>
                  </a:ext>
                </a:extLst>
              </a:tr>
              <a:tr h="566928">
                <a:tc>
                  <a:txBody>
                    <a:bodyPr/>
                    <a:lstStyle/>
                    <a:p>
                      <a:r>
                        <a:rPr sz="2000" b="0">
                          <a:solidFill>
                            <a:srgbClr val="16181D"/>
                          </a:solidFill>
                          <a:latin typeface="Arial"/>
                        </a:rPr>
                        <a:t>Drop rows</a:t>
                      </a:r>
                    </a:p>
                  </a:txBody>
                  <a:tcPr marL="109728" marR="109728">
                    <a:solidFill>
                      <a:srgbClr val="FFFFFF"/>
                    </a:solidFill>
                  </a:tcPr>
                </a:tc>
                <a:tc>
                  <a:txBody>
                    <a:bodyPr/>
                    <a:lstStyle/>
                    <a:p>
                      <a:r>
                        <a:rPr sz="2000" b="0">
                          <a:solidFill>
                            <a:srgbClr val="16181D"/>
                          </a:solidFill>
                          <a:latin typeface="Arial"/>
                        </a:rPr>
                        <a:t>Few rows (&lt;5%), data is plentiful</a:t>
                      </a:r>
                    </a:p>
                  </a:txBody>
                  <a:tcPr marL="109728" marR="109728">
                    <a:solidFill>
                      <a:srgbClr val="FFFFFF"/>
                    </a:solidFill>
                  </a:tcPr>
                </a:tc>
                <a:tc>
                  <a:txBody>
                    <a:bodyPr/>
                    <a:lstStyle/>
                    <a:p>
                      <a:r>
                        <a:rPr sz="2000" b="0">
                          <a:solidFill>
                            <a:srgbClr val="16181D"/>
                          </a:solidFill>
                          <a:latin typeface="Arial"/>
                        </a:rPr>
                        <a:t>Biases the sample if not random</a:t>
                      </a:r>
                    </a:p>
                  </a:txBody>
                  <a:tcPr marL="109728" marR="109728">
                    <a:solidFill>
                      <a:srgbClr val="FFFFFF"/>
                    </a:solidFill>
                  </a:tcPr>
                </a:tc>
                <a:extLst>
                  <a:ext uri="{0D108BD9-81ED-4DB2-BD59-A6C34878D82A}">
                    <a16:rowId xmlns:a16="http://schemas.microsoft.com/office/drawing/2014/main" val="10001"/>
                  </a:ext>
                </a:extLst>
              </a:tr>
              <a:tr h="566928">
                <a:tc>
                  <a:txBody>
                    <a:bodyPr/>
                    <a:lstStyle/>
                    <a:p>
                      <a:r>
                        <a:rPr sz="2000" b="0">
                          <a:solidFill>
                            <a:srgbClr val="16181D"/>
                          </a:solidFill>
                          <a:latin typeface="Arial"/>
                        </a:rPr>
                        <a:t>Drop the column</a:t>
                      </a:r>
                    </a:p>
                  </a:txBody>
                  <a:tcPr marL="109728" marR="109728">
                    <a:solidFill>
                      <a:srgbClr val="F7F8FA"/>
                    </a:solidFill>
                  </a:tcPr>
                </a:tc>
                <a:tc>
                  <a:txBody>
                    <a:bodyPr/>
                    <a:lstStyle/>
                    <a:p>
                      <a:r>
                        <a:rPr sz="2000" b="0">
                          <a:solidFill>
                            <a:srgbClr val="16181D"/>
                          </a:solidFill>
                          <a:latin typeface="Arial"/>
                        </a:rPr>
                        <a:t>Most of it is missing (Cabin ≈ 77%)</a:t>
                      </a:r>
                    </a:p>
                  </a:txBody>
                  <a:tcPr marL="109728" marR="109728">
                    <a:solidFill>
                      <a:srgbClr val="F7F8FA"/>
                    </a:solidFill>
                  </a:tcPr>
                </a:tc>
                <a:tc>
                  <a:txBody>
                    <a:bodyPr/>
                    <a:lstStyle/>
                    <a:p>
                      <a:r>
                        <a:rPr sz="2000" b="0">
                          <a:solidFill>
                            <a:srgbClr val="16181D"/>
                          </a:solidFill>
                          <a:latin typeface="Arial"/>
                        </a:rPr>
                        <a:t>Lose a possible signal</a:t>
                      </a:r>
                    </a:p>
                  </a:txBody>
                  <a:tcPr marL="109728" marR="109728">
                    <a:solidFill>
                      <a:srgbClr val="F7F8FA"/>
                    </a:solidFill>
                  </a:tcPr>
                </a:tc>
                <a:extLst>
                  <a:ext uri="{0D108BD9-81ED-4DB2-BD59-A6C34878D82A}">
                    <a16:rowId xmlns:a16="http://schemas.microsoft.com/office/drawing/2014/main" val="10002"/>
                  </a:ext>
                </a:extLst>
              </a:tr>
              <a:tr h="566928">
                <a:tc>
                  <a:txBody>
                    <a:bodyPr/>
                    <a:lstStyle/>
                    <a:p>
                      <a:r>
                        <a:rPr sz="2000" b="0">
                          <a:solidFill>
                            <a:srgbClr val="16181D"/>
                          </a:solidFill>
                          <a:latin typeface="Arial"/>
                        </a:rPr>
                        <a:t>Mean</a:t>
                      </a:r>
                    </a:p>
                  </a:txBody>
                  <a:tcPr marL="109728" marR="109728">
                    <a:solidFill>
                      <a:srgbClr val="FFFFFF"/>
                    </a:solidFill>
                  </a:tcPr>
                </a:tc>
                <a:tc>
                  <a:txBody>
                    <a:bodyPr/>
                    <a:lstStyle/>
                    <a:p>
                      <a:r>
                        <a:rPr sz="2000" b="0">
                          <a:solidFill>
                            <a:srgbClr val="16181D"/>
                          </a:solidFill>
                          <a:latin typeface="Arial"/>
                        </a:rPr>
                        <a:t>Roughly symmetric numbers</a:t>
                      </a:r>
                    </a:p>
                  </a:txBody>
                  <a:tcPr marL="109728" marR="109728">
                    <a:solidFill>
                      <a:srgbClr val="FFFFFF"/>
                    </a:solidFill>
                  </a:tcPr>
                </a:tc>
                <a:tc>
                  <a:txBody>
                    <a:bodyPr/>
                    <a:lstStyle/>
                    <a:p>
                      <a:r>
                        <a:rPr sz="2000" b="0">
                          <a:solidFill>
                            <a:srgbClr val="16181D"/>
                          </a:solidFill>
                          <a:latin typeface="Arial"/>
                        </a:rPr>
                        <a:t>Shrinks variance; outlier-sensitive</a:t>
                      </a:r>
                    </a:p>
                  </a:txBody>
                  <a:tcPr marL="109728" marR="109728">
                    <a:solidFill>
                      <a:srgbClr val="FFFFFF"/>
                    </a:solidFill>
                  </a:tcPr>
                </a:tc>
                <a:extLst>
                  <a:ext uri="{0D108BD9-81ED-4DB2-BD59-A6C34878D82A}">
                    <a16:rowId xmlns:a16="http://schemas.microsoft.com/office/drawing/2014/main" val="10003"/>
                  </a:ext>
                </a:extLst>
              </a:tr>
              <a:tr h="566928">
                <a:tc>
                  <a:txBody>
                    <a:bodyPr/>
                    <a:lstStyle/>
                    <a:p>
                      <a:r>
                        <a:rPr sz="2000" b="0">
                          <a:solidFill>
                            <a:srgbClr val="16181D"/>
                          </a:solidFill>
                          <a:latin typeface="Arial"/>
                        </a:rPr>
                        <a:t>Median</a:t>
                      </a:r>
                    </a:p>
                  </a:txBody>
                  <a:tcPr marL="109728" marR="109728">
                    <a:solidFill>
                      <a:srgbClr val="F7F8FA"/>
                    </a:solidFill>
                  </a:tcPr>
                </a:tc>
                <a:tc>
                  <a:txBody>
                    <a:bodyPr/>
                    <a:lstStyle/>
                    <a:p>
                      <a:r>
                        <a:rPr sz="2000" b="0">
                          <a:solidFill>
                            <a:srgbClr val="16181D"/>
                          </a:solidFill>
                          <a:latin typeface="Arial"/>
                        </a:rPr>
                        <a:t>Skewed data (income, price)</a:t>
                      </a:r>
                    </a:p>
                  </a:txBody>
                  <a:tcPr marL="109728" marR="109728">
                    <a:solidFill>
                      <a:srgbClr val="F7F8FA"/>
                    </a:solidFill>
                  </a:tcPr>
                </a:tc>
                <a:tc>
                  <a:txBody>
                    <a:bodyPr/>
                    <a:lstStyle/>
                    <a:p>
                      <a:r>
                        <a:rPr sz="2000" b="0">
                          <a:solidFill>
                            <a:srgbClr val="16181D"/>
                          </a:solidFill>
                          <a:latin typeface="Arial"/>
                        </a:rPr>
                        <a:t>Safer default</a:t>
                      </a:r>
                    </a:p>
                  </a:txBody>
                  <a:tcPr marL="109728" marR="109728">
                    <a:solidFill>
                      <a:srgbClr val="F7F8FA"/>
                    </a:solidFill>
                  </a:tcPr>
                </a:tc>
                <a:extLst>
                  <a:ext uri="{0D108BD9-81ED-4DB2-BD59-A6C34878D82A}">
                    <a16:rowId xmlns:a16="http://schemas.microsoft.com/office/drawing/2014/main" val="10004"/>
                  </a:ext>
                </a:extLst>
              </a:tr>
              <a:tr h="566928">
                <a:tc>
                  <a:txBody>
                    <a:bodyPr/>
                    <a:lstStyle/>
                    <a:p>
                      <a:r>
                        <a:rPr sz="2000" b="0">
                          <a:solidFill>
                            <a:srgbClr val="16181D"/>
                          </a:solidFill>
                          <a:latin typeface="Arial"/>
                        </a:rPr>
                        <a:t>Mode</a:t>
                      </a:r>
                    </a:p>
                  </a:txBody>
                  <a:tcPr marL="109728" marR="109728">
                    <a:solidFill>
                      <a:srgbClr val="FFFFFF"/>
                    </a:solidFill>
                  </a:tcPr>
                </a:tc>
                <a:tc>
                  <a:txBody>
                    <a:bodyPr/>
                    <a:lstStyle/>
                    <a:p>
                      <a:r>
                        <a:rPr sz="2000" b="0">
                          <a:solidFill>
                            <a:srgbClr val="16181D"/>
                          </a:solidFill>
                          <a:latin typeface="Arial"/>
                        </a:rPr>
                        <a:t>Categorical columns</a:t>
                      </a:r>
                    </a:p>
                  </a:txBody>
                  <a:tcPr marL="109728" marR="109728">
                    <a:solidFill>
                      <a:srgbClr val="FFFFFF"/>
                    </a:solidFill>
                  </a:tcPr>
                </a:tc>
                <a:tc>
                  <a:txBody>
                    <a:bodyPr/>
                    <a:lstStyle/>
                    <a:p>
                      <a:r>
                        <a:rPr sz="2000" b="0">
                          <a:solidFill>
                            <a:srgbClr val="16181D"/>
                          </a:solidFill>
                          <a:latin typeface="Arial"/>
                        </a:rPr>
                        <a:t>Over-represents the commonest</a:t>
                      </a:r>
                    </a:p>
                  </a:txBody>
                  <a:tcPr marL="109728" marR="109728">
                    <a:solidFill>
                      <a:srgbClr val="FFFFFF"/>
                    </a:solidFill>
                  </a:tcPr>
                </a:tc>
                <a:extLst>
                  <a:ext uri="{0D108BD9-81ED-4DB2-BD59-A6C34878D82A}">
                    <a16:rowId xmlns:a16="http://schemas.microsoft.com/office/drawing/2014/main" val="10005"/>
                  </a:ext>
                </a:extLst>
              </a:tr>
              <a:tr h="566928">
                <a:tc>
                  <a:txBody>
                    <a:bodyPr/>
                    <a:lstStyle/>
                    <a:p>
                      <a:r>
                        <a:rPr sz="2000" b="0">
                          <a:solidFill>
                            <a:srgbClr val="16181D"/>
                          </a:solidFill>
                          <a:latin typeface="Arial"/>
                        </a:rPr>
                        <a:t>Explicit category</a:t>
                      </a:r>
                    </a:p>
                  </a:txBody>
                  <a:tcPr marL="109728" marR="109728">
                    <a:solidFill>
                      <a:srgbClr val="F7F8FA"/>
                    </a:solidFill>
                  </a:tcPr>
                </a:tc>
                <a:tc>
                  <a:txBody>
                    <a:bodyPr/>
                    <a:lstStyle/>
                    <a:p>
                      <a:r>
                        <a:rPr sz="2000" b="0">
                          <a:solidFill>
                            <a:srgbClr val="16181D"/>
                          </a:solidFill>
                          <a:latin typeface="Arial"/>
                        </a:rPr>
                        <a:t>'Missing' is itself meaningful</a:t>
                      </a:r>
                    </a:p>
                  </a:txBody>
                  <a:tcPr marL="109728" marR="109728">
                    <a:solidFill>
                      <a:srgbClr val="F7F8FA"/>
                    </a:solidFill>
                  </a:tcPr>
                </a:tc>
                <a:tc>
                  <a:txBody>
                    <a:bodyPr/>
                    <a:lstStyle/>
                    <a:p>
                      <a:r>
                        <a:rPr sz="2000" b="0">
                          <a:solidFill>
                            <a:srgbClr val="16181D"/>
                          </a:solidFill>
                          <a:latin typeface="Arial"/>
                        </a:rPr>
                        <a:t>Adds a category</a:t>
                      </a:r>
                    </a:p>
                  </a:txBody>
                  <a:tcPr marL="109728" marR="109728">
                    <a:solidFill>
                      <a:srgbClr val="F7F8FA"/>
                    </a:solidFill>
                  </a:tcPr>
                </a:tc>
                <a:extLst>
                  <a:ext uri="{0D108BD9-81ED-4DB2-BD59-A6C34878D82A}">
                    <a16:rowId xmlns:a16="http://schemas.microsoft.com/office/drawing/2014/main" val="10006"/>
                  </a:ext>
                </a:extLst>
              </a:tr>
              <a:tr h="566928">
                <a:tc>
                  <a:txBody>
                    <a:bodyPr/>
                    <a:lstStyle/>
                    <a:p>
                      <a:r>
                        <a:rPr sz="2000" b="0">
                          <a:solidFill>
                            <a:srgbClr val="16181D"/>
                          </a:solidFill>
                          <a:latin typeface="Arial"/>
                        </a:rPr>
                        <a:t>Group-wise median</a:t>
                      </a:r>
                    </a:p>
                  </a:txBody>
                  <a:tcPr marL="109728" marR="109728">
                    <a:solidFill>
                      <a:srgbClr val="FFFFFF"/>
                    </a:solidFill>
                  </a:tcPr>
                </a:tc>
                <a:tc>
                  <a:txBody>
                    <a:bodyPr/>
                    <a:lstStyle/>
                    <a:p>
                      <a:r>
                        <a:rPr sz="2000" b="0">
                          <a:solidFill>
                            <a:srgbClr val="16181D"/>
                          </a:solidFill>
                          <a:latin typeface="Arial"/>
                        </a:rPr>
                        <a:t>A related column predicts it</a:t>
                      </a:r>
                    </a:p>
                  </a:txBody>
                  <a:tcPr marL="109728" marR="109728">
                    <a:solidFill>
                      <a:srgbClr val="FFFFFF"/>
                    </a:solidFill>
                  </a:tcPr>
                </a:tc>
                <a:tc>
                  <a:txBody>
                    <a:bodyPr/>
                    <a:lstStyle/>
                    <a:p>
                      <a:r>
                        <a:rPr sz="2000" b="0">
                          <a:solidFill>
                            <a:srgbClr val="16181D"/>
                          </a:solidFill>
                          <a:latin typeface="Arial"/>
                        </a:rPr>
                        <a:t>Nearly free, usually better</a:t>
                      </a:r>
                    </a:p>
                  </a:txBody>
                  <a:tcPr marL="109728" marR="109728">
                    <a:solidFill>
                      <a:srgbClr val="FFFFFF"/>
                    </a:solidFill>
                  </a:tcPr>
                </a:tc>
                <a:extLst>
                  <a:ext uri="{0D108BD9-81ED-4DB2-BD59-A6C34878D82A}">
                    <a16:rowId xmlns:a16="http://schemas.microsoft.com/office/drawing/2014/main" val="10007"/>
                  </a:ext>
                </a:extLst>
              </a:tr>
              <a:tr h="566928">
                <a:tc>
                  <a:txBody>
                    <a:bodyPr/>
                    <a:lstStyle/>
                    <a:p>
                      <a:r>
                        <a:rPr sz="2000" b="0">
                          <a:solidFill>
                            <a:srgbClr val="16181D"/>
                          </a:solidFill>
                          <a:latin typeface="Arial"/>
                        </a:rPr>
                        <a:t>Missingness flag</a:t>
                      </a:r>
                    </a:p>
                  </a:txBody>
                  <a:tcPr marL="109728" marR="109728">
                    <a:solidFill>
                      <a:srgbClr val="F7F8FA"/>
                    </a:solidFill>
                  </a:tcPr>
                </a:tc>
                <a:tc>
                  <a:txBody>
                    <a:bodyPr/>
                    <a:lstStyle/>
                    <a:p>
                      <a:r>
                        <a:rPr sz="2000" b="0">
                          <a:solidFill>
                            <a:srgbClr val="16181D"/>
                          </a:solidFill>
                          <a:latin typeface="Arial"/>
                        </a:rPr>
                        <a:t>Alongside </a:t>
                      </a:r>
                      <a:r>
                        <a:rPr sz="2000" b="1">
                          <a:solidFill>
                            <a:srgbClr val="16181D"/>
                          </a:solidFill>
                          <a:latin typeface="Arial"/>
                        </a:rPr>
                        <a:t>any</a:t>
                      </a:r>
                      <a:r>
                        <a:rPr sz="2000" b="0">
                          <a:solidFill>
                            <a:srgbClr val="16181D"/>
                          </a:solidFill>
                          <a:latin typeface="Arial"/>
                        </a:rPr>
                        <a:t> imputation</a:t>
                      </a:r>
                    </a:p>
                  </a:txBody>
                  <a:tcPr marL="109728" marR="109728">
                    <a:solidFill>
                      <a:srgbClr val="F7F8FA"/>
                    </a:solidFill>
                  </a:tcPr>
                </a:tc>
                <a:tc>
                  <a:txBody>
                    <a:bodyPr/>
                    <a:lstStyle/>
                    <a:p>
                      <a:r>
                        <a:rPr sz="2000" b="0">
                          <a:solidFill>
                            <a:srgbClr val="16181D"/>
                          </a:solidFill>
                          <a:latin typeface="Arial"/>
                        </a:rPr>
                        <a:t>One extra column</a:t>
                      </a:r>
                    </a:p>
                  </a:txBody>
                  <a:tcPr marL="109728" marR="109728">
                    <a:solidFill>
                      <a:srgbClr val="F7F8FA"/>
                    </a:solidFill>
                  </a:tcPr>
                </a:tc>
                <a:extLst>
                  <a:ext uri="{0D108BD9-81ED-4DB2-BD59-A6C34878D82A}">
                    <a16:rowId xmlns:a16="http://schemas.microsoft.com/office/drawing/2014/main" val="10008"/>
                  </a:ext>
                </a:extLst>
              </a:tr>
            </a:tbl>
          </a:graphicData>
        </a:graphic>
      </p:graphicFrame>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      ·      reference slide — also in the handout</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54</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Always ask WHY it is missing</a:t>
            </a:r>
          </a:p>
        </p:txBody>
      </p:sp>
      <p:sp>
        <p:nvSpPr>
          <p:cNvPr id="4" name="TextBox 3"/>
          <p:cNvSpPr txBox="1"/>
          <p:nvPr/>
        </p:nvSpPr>
        <p:spPr>
          <a:xfrm>
            <a:off x="969264" y="2507742"/>
            <a:ext cx="11640174" cy="461665"/>
          </a:xfrm>
          <a:prstGeom prst="rect">
            <a:avLst/>
          </a:prstGeom>
          <a:noFill/>
        </p:spPr>
        <p:txBody>
          <a:bodyPr wrap="none">
            <a:spAutoFit/>
          </a:bodyPr>
          <a:lstStyle/>
          <a:p>
            <a:r>
              <a:rPr sz="2400" b="0" dirty="0">
                <a:solidFill>
                  <a:srgbClr val="00B050"/>
                </a:solidFill>
                <a:latin typeface="Arial"/>
              </a:rPr>
              <a:t>High earners decline to state income. </a:t>
            </a:r>
            <a:r>
              <a:rPr sz="2400" b="0" dirty="0">
                <a:solidFill>
                  <a:srgbClr val="3A3F47"/>
                </a:solidFill>
                <a:latin typeface="Arial"/>
              </a:rPr>
              <a:t>The sickest patients never finished the survey.</a:t>
            </a:r>
          </a:p>
        </p:txBody>
      </p:sp>
      <p:sp>
        <p:nvSpPr>
          <p:cNvPr id="5" name="Rectangle 4"/>
          <p:cNvSpPr/>
          <p:nvPr/>
        </p:nvSpPr>
        <p:spPr>
          <a:xfrm>
            <a:off x="986980" y="3927348"/>
            <a:ext cx="15371063" cy="2880360"/>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86980" y="3927348"/>
            <a:ext cx="82296" cy="288036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07020" y="4091940"/>
            <a:ext cx="14822423" cy="2606040"/>
          </a:xfrm>
          <a:prstGeom prst="rect">
            <a:avLst/>
          </a:prstGeom>
          <a:noFill/>
        </p:spPr>
        <p:txBody>
          <a:bodyPr wrap="none">
            <a:spAutoFit/>
          </a:bodyPr>
          <a:lstStyle/>
          <a:p>
            <a:pPr>
              <a:spcAft>
                <a:spcPts val="200"/>
              </a:spcAft>
            </a:pPr>
            <a:r>
              <a:rPr sz="2100">
                <a:solidFill>
                  <a:srgbClr val="16181D"/>
                </a:solidFill>
                <a:latin typeface="Consolas"/>
              </a:rPr>
              <a:t>df.groupby(df["Age"].isnull())["Survived"].mean()</a:t>
            </a:r>
          </a:p>
          <a:p>
            <a:pPr>
              <a:spcAft>
                <a:spcPts val="200"/>
              </a:spcAft>
            </a:pPr>
            <a:endParaRPr sz="2100">
              <a:solidFill>
                <a:srgbClr val="16181D"/>
              </a:solidFill>
              <a:latin typeface="Consolas"/>
            </a:endParaRPr>
          </a:p>
          <a:p>
            <a:pPr>
              <a:spcAft>
                <a:spcPts val="200"/>
              </a:spcAft>
            </a:pPr>
            <a:r>
              <a:rPr sz="2100">
                <a:solidFill>
                  <a:srgbClr val="1B7F4B"/>
                </a:solidFill>
                <a:latin typeface="Consolas"/>
              </a:rPr>
              <a:t># If those two numbers differ, the missingness is NOT random —</a:t>
            </a:r>
          </a:p>
          <a:p>
            <a:pPr>
              <a:spcAft>
                <a:spcPts val="200"/>
              </a:spcAft>
            </a:pPr>
            <a:r>
              <a:rPr sz="2100">
                <a:solidFill>
                  <a:srgbClr val="1B7F4B"/>
                </a:solidFill>
                <a:latin typeface="Consolas"/>
              </a:rPr>
              <a:t># and imputing the mean fabricates a pattern that was never there.</a:t>
            </a:r>
          </a:p>
          <a:p>
            <a:pPr>
              <a:spcAft>
                <a:spcPts val="200"/>
              </a:spcAft>
            </a:pPr>
            <a:endParaRPr sz="2100">
              <a:solidFill>
                <a:srgbClr val="1B7F4B"/>
              </a:solidFill>
              <a:latin typeface="Consolas"/>
            </a:endParaRPr>
          </a:p>
          <a:p>
            <a:pPr>
              <a:spcAft>
                <a:spcPts val="200"/>
              </a:spcAft>
            </a:pPr>
            <a:r>
              <a:rPr sz="2100">
                <a:solidFill>
                  <a:srgbClr val="16181D"/>
                </a:solidFill>
                <a:latin typeface="Consolas"/>
              </a:rPr>
              <a:t>df["Age_missing"] = df["Age"].isnull().astype(int)   </a:t>
            </a:r>
            <a:r>
              <a:rPr sz="2100">
                <a:solidFill>
                  <a:srgbClr val="1B7F4B"/>
                </a:solidFill>
                <a:latin typeface="Consolas"/>
              </a:rPr>
              <a:t># keep the signal</a:t>
            </a:r>
          </a:p>
        </p:txBody>
      </p:sp>
      <p:sp>
        <p:nvSpPr>
          <p:cNvPr id="8" name="TextBox 7"/>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9" name="TextBox 8"/>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55</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Duplicates</a:t>
            </a:r>
          </a:p>
        </p:txBody>
      </p:sp>
      <p:sp>
        <p:nvSpPr>
          <p:cNvPr id="4" name="TextBox 3"/>
          <p:cNvSpPr txBox="1"/>
          <p:nvPr/>
        </p:nvSpPr>
        <p:spPr>
          <a:xfrm>
            <a:off x="986980" y="2411730"/>
            <a:ext cx="15371063" cy="548640"/>
          </a:xfrm>
          <a:prstGeom prst="rect">
            <a:avLst/>
          </a:prstGeom>
          <a:noFill/>
        </p:spPr>
        <p:txBody>
          <a:bodyPr wrap="none">
            <a:spAutoFit/>
          </a:bodyPr>
          <a:lstStyle/>
          <a:p>
            <a:r>
              <a:rPr sz="2400" b="0" dirty="0">
                <a:solidFill>
                  <a:srgbClr val="3A3F47"/>
                </a:solidFill>
                <a:latin typeface="Arial"/>
              </a:rPr>
              <a:t>"</a:t>
            </a:r>
            <a:r>
              <a:rPr sz="2400" b="0" dirty="0" err="1">
                <a:solidFill>
                  <a:srgbClr val="3A3F47"/>
                </a:solidFill>
                <a:latin typeface="Arial"/>
              </a:rPr>
              <a:t>Ole@x.no</a:t>
            </a:r>
            <a:r>
              <a:rPr sz="2400" b="0" dirty="0">
                <a:solidFill>
                  <a:srgbClr val="3A3F47"/>
                </a:solidFill>
                <a:latin typeface="Arial"/>
              </a:rPr>
              <a:t>" and "</a:t>
            </a:r>
            <a:r>
              <a:rPr sz="2400" b="0" dirty="0" err="1">
                <a:solidFill>
                  <a:srgbClr val="3A3F47"/>
                </a:solidFill>
                <a:latin typeface="Arial"/>
              </a:rPr>
              <a:t>ole@x.no</a:t>
            </a:r>
            <a:r>
              <a:rPr sz="2400" b="0" dirty="0">
                <a:solidFill>
                  <a:srgbClr val="3A3F47"/>
                </a:solidFill>
                <a:latin typeface="Arial"/>
              </a:rPr>
              <a:t> " are not duplicates until you have </a:t>
            </a:r>
            <a:r>
              <a:rPr sz="2400" b="0" dirty="0" err="1">
                <a:solidFill>
                  <a:srgbClr val="3A3F47"/>
                </a:solidFill>
                <a:latin typeface="Arial"/>
              </a:rPr>
              <a:t>normalised</a:t>
            </a:r>
            <a:r>
              <a:rPr sz="2400" b="0" dirty="0">
                <a:solidFill>
                  <a:srgbClr val="3A3F47"/>
                </a:solidFill>
                <a:latin typeface="Arial"/>
              </a:rPr>
              <a:t> them.</a:t>
            </a:r>
          </a:p>
        </p:txBody>
      </p:sp>
      <p:sp>
        <p:nvSpPr>
          <p:cNvPr id="5" name="Rectangle 4"/>
          <p:cNvSpPr/>
          <p:nvPr/>
        </p:nvSpPr>
        <p:spPr>
          <a:xfrm>
            <a:off x="986980" y="3735324"/>
            <a:ext cx="15371063" cy="3264408"/>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86980" y="3735324"/>
            <a:ext cx="82296" cy="3264408"/>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07020" y="3899916"/>
            <a:ext cx="14822423" cy="2990088"/>
          </a:xfrm>
          <a:prstGeom prst="rect">
            <a:avLst/>
          </a:prstGeom>
          <a:noFill/>
        </p:spPr>
        <p:txBody>
          <a:bodyPr wrap="none">
            <a:spAutoFit/>
          </a:bodyPr>
          <a:lstStyle/>
          <a:p>
            <a:pPr>
              <a:spcAft>
                <a:spcPts val="200"/>
              </a:spcAft>
            </a:pPr>
            <a:r>
              <a:rPr sz="2100">
                <a:solidFill>
                  <a:srgbClr val="16181D"/>
                </a:solidFill>
                <a:latin typeface="Consolas"/>
              </a:rPr>
              <a:t>df.duplicated().sum()                       </a:t>
            </a:r>
            <a:r>
              <a:rPr sz="2100">
                <a:solidFill>
                  <a:srgbClr val="1B7F4B"/>
                </a:solidFill>
                <a:latin typeface="Consolas"/>
              </a:rPr>
              <a:t># fully identical rows</a:t>
            </a:r>
          </a:p>
          <a:p>
            <a:pPr>
              <a:spcAft>
                <a:spcPts val="200"/>
              </a:spcAft>
            </a:pPr>
            <a:r>
              <a:rPr sz="2100">
                <a:solidFill>
                  <a:srgbClr val="16181D"/>
                </a:solidFill>
                <a:latin typeface="Consolas"/>
              </a:rPr>
              <a:t>df[df.duplicated(keep=False)].sort_values("Name")   </a:t>
            </a:r>
            <a:r>
              <a:rPr sz="2100">
                <a:solidFill>
                  <a:srgbClr val="1B7F4B"/>
                </a:solidFill>
                <a:latin typeface="Consolas"/>
              </a:rPr>
              <a:t># LOOK before deleting</a:t>
            </a:r>
          </a:p>
          <a:p>
            <a:pPr>
              <a:spcAft>
                <a:spcPts val="200"/>
              </a:spcAft>
            </a:pPr>
            <a:r>
              <a:rPr sz="2100">
                <a:solidFill>
                  <a:srgbClr val="16181D"/>
                </a:solidFill>
                <a:latin typeface="Consolas"/>
              </a:rPr>
              <a:t>df = df.drop_duplicates()</a:t>
            </a:r>
          </a:p>
          <a:p>
            <a:pPr>
              <a:spcAft>
                <a:spcPts val="200"/>
              </a:spcAft>
            </a:pPr>
            <a:endParaRPr sz="2100">
              <a:solidFill>
                <a:srgbClr val="16181D"/>
              </a:solidFill>
              <a:latin typeface="Consolas"/>
            </a:endParaRPr>
          </a:p>
          <a:p>
            <a:pPr>
              <a:spcAft>
                <a:spcPts val="200"/>
              </a:spcAft>
            </a:pPr>
            <a:r>
              <a:rPr sz="2100">
                <a:solidFill>
                  <a:srgbClr val="1B7F4B"/>
                </a:solidFill>
                <a:latin typeface="Consolas"/>
              </a:rPr>
              <a:t># partial duplicates: normalise FIRST, then deduplicate</a:t>
            </a:r>
          </a:p>
          <a:p>
            <a:pPr>
              <a:spcAft>
                <a:spcPts val="200"/>
              </a:spcAft>
            </a:pPr>
            <a:r>
              <a:rPr sz="2100">
                <a:solidFill>
                  <a:srgbClr val="16181D"/>
                </a:solidFill>
                <a:latin typeface="Consolas"/>
              </a:rPr>
              <a:t>df["email"] = df["email"].str.strip().str.lower()</a:t>
            </a:r>
          </a:p>
          <a:p>
            <a:pPr>
              <a:spcAft>
                <a:spcPts val="200"/>
              </a:spcAft>
            </a:pPr>
            <a:r>
              <a:rPr sz="2100">
                <a:solidFill>
                  <a:srgbClr val="16181D"/>
                </a:solidFill>
                <a:latin typeface="Consolas"/>
              </a:rPr>
              <a:t>df = df.sort_values("updated_at").drop_duplicates(subset=["email"], keep="last")</a:t>
            </a:r>
          </a:p>
        </p:txBody>
      </p:sp>
      <p:sp>
        <p:nvSpPr>
          <p:cNvPr id="8" name="TextBox 7"/>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9" name="TextBox 8"/>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56</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3800" b="1">
                <a:solidFill>
                  <a:srgbClr val="16181D"/>
                </a:solidFill>
                <a:latin typeface="Arial"/>
              </a:rPr>
              <a:t>Outliers: the IQR rule is what a box plot draws</a:t>
            </a:r>
          </a:p>
        </p:txBody>
      </p:sp>
      <p:sp>
        <p:nvSpPr>
          <p:cNvPr id="8" name="TextBox 7"/>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9" name="TextBox 8"/>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57</a:t>
            </a:r>
          </a:p>
        </p:txBody>
      </p:sp>
      <p:sp>
        <p:nvSpPr>
          <p:cNvPr id="12" name="TextBox 11">
            <a:extLst>
              <a:ext uri="{FF2B5EF4-FFF2-40B4-BE49-F238E27FC236}">
                <a16:creationId xmlns:a16="http://schemas.microsoft.com/office/drawing/2014/main" id="{B704024B-8B85-A570-2EDB-7A6C4053F5B6}"/>
              </a:ext>
            </a:extLst>
          </p:cNvPr>
          <p:cNvSpPr txBox="1"/>
          <p:nvPr/>
        </p:nvSpPr>
        <p:spPr>
          <a:xfrm>
            <a:off x="1106260" y="3011832"/>
            <a:ext cx="14324240" cy="2677656"/>
          </a:xfrm>
          <a:prstGeom prst="rect">
            <a:avLst/>
          </a:prstGeom>
          <a:noFill/>
        </p:spPr>
        <p:txBody>
          <a:bodyPr wrap="square">
            <a:spAutoFit/>
          </a:bodyPr>
          <a:lstStyle/>
          <a:p>
            <a:r>
              <a:rPr lang="en-GB" sz="2800" dirty="0"/>
              <a:t>Outliers: In statistics, an outlier is a data point that differs significantly from other observations. </a:t>
            </a:r>
          </a:p>
          <a:p>
            <a:endParaRPr lang="en-GB" sz="2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2800" dirty="0"/>
              <a:t>E</a:t>
            </a:r>
            <a:r>
              <a:rPr lang="en-NO" sz="2800"/>
              <a:t>xcluding outliers: </a:t>
            </a:r>
            <a:r>
              <a:rPr lang="en-GB" sz="2800" dirty="0"/>
              <a:t>Those 21 people using your product more than a thousand times a day? Either they’re your biggest fans, or bots crawling your site for content. Whichever they are, ignoring them would be a mistake.</a:t>
            </a:r>
            <a:endParaRPr lang="en-US" sz="4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Then decide what the outlier means</a:t>
            </a:r>
          </a:p>
        </p:txBody>
      </p:sp>
      <p:sp>
        <p:nvSpPr>
          <p:cNvPr id="4" name="Rectangle 3"/>
          <p:cNvSpPr/>
          <p:nvPr/>
        </p:nvSpPr>
        <p:spPr>
          <a:xfrm>
            <a:off x="969264" y="2057400"/>
            <a:ext cx="7452360" cy="6035040"/>
          </a:xfrm>
          <a:prstGeom prst="rect">
            <a:avLst/>
          </a:prstGeom>
          <a:solidFill>
            <a:srgbClr val="FAFBFC"/>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9264" y="2057400"/>
            <a:ext cx="82296" cy="6035040"/>
          </a:xfrm>
          <a:prstGeom prst="rect">
            <a:avLst/>
          </a:prstGeom>
          <a:solidFill>
            <a:srgbClr val="E02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43584" y="2221992"/>
            <a:ext cx="6995160" cy="640080"/>
          </a:xfrm>
          <a:prstGeom prst="rect">
            <a:avLst/>
          </a:prstGeom>
          <a:noFill/>
        </p:spPr>
        <p:txBody>
          <a:bodyPr wrap="none">
            <a:spAutoFit/>
          </a:bodyPr>
          <a:lstStyle/>
          <a:p>
            <a:r>
              <a:rPr sz="2800" b="1">
                <a:solidFill>
                  <a:srgbClr val="16181D"/>
                </a:solidFill>
                <a:latin typeface="Arial"/>
              </a:rPr>
              <a:t>It is an error</a:t>
            </a:r>
          </a:p>
        </p:txBody>
      </p:sp>
      <p:sp>
        <p:nvSpPr>
          <p:cNvPr id="7" name="TextBox 6"/>
          <p:cNvSpPr txBox="1"/>
          <p:nvPr/>
        </p:nvSpPr>
        <p:spPr>
          <a:xfrm>
            <a:off x="1243584" y="2971800"/>
            <a:ext cx="6949440" cy="4937760"/>
          </a:xfrm>
          <a:prstGeom prst="rect">
            <a:avLst/>
          </a:prstGeom>
          <a:noFill/>
        </p:spPr>
        <p:txBody>
          <a:bodyPr wrap="square">
            <a:spAutoFit/>
          </a:bodyPr>
          <a:lstStyle/>
          <a:p>
            <a:pPr>
              <a:spcAft>
                <a:spcPts val="1100"/>
              </a:spcAft>
            </a:pPr>
            <a:r>
              <a:rPr sz="2400" b="0">
                <a:solidFill>
                  <a:srgbClr val="16181D"/>
                </a:solidFill>
                <a:latin typeface="Arial"/>
              </a:rPr>
              <a:t>▪   Negative age, price of 0, duplicate sensor spike</a:t>
            </a:r>
          </a:p>
          <a:p>
            <a:pPr>
              <a:spcAft>
                <a:spcPts val="1100"/>
              </a:spcAft>
            </a:pPr>
            <a:r>
              <a:rPr sz="2400" b="0">
                <a:solidFill>
                  <a:srgbClr val="16181D"/>
                </a:solidFill>
                <a:latin typeface="Arial"/>
              </a:rPr>
              <a:t>▪   </a:t>
            </a:r>
            <a:r>
              <a:rPr sz="2400" b="1">
                <a:solidFill>
                  <a:srgbClr val="16181D"/>
                </a:solidFill>
                <a:latin typeface="Arial"/>
              </a:rPr>
              <a:t>Remove</a:t>
            </a:r>
            <a:r>
              <a:rPr sz="2400" b="0">
                <a:solidFill>
                  <a:srgbClr val="16181D"/>
                </a:solidFill>
                <a:latin typeface="Arial"/>
              </a:rPr>
              <a:t> it — a validity failure</a:t>
            </a:r>
          </a:p>
          <a:p>
            <a:pPr>
              <a:spcAft>
                <a:spcPts val="1100"/>
              </a:spcAft>
            </a:pPr>
            <a:r>
              <a:rPr sz="2400" b="0">
                <a:solidFill>
                  <a:srgbClr val="16181D"/>
                </a:solidFill>
                <a:latin typeface="Arial"/>
              </a:rPr>
              <a:t>▪   Or </a:t>
            </a:r>
            <a:r>
              <a:rPr sz="2400" b="1">
                <a:solidFill>
                  <a:srgbClr val="16181D"/>
                </a:solidFill>
                <a:latin typeface="Arial"/>
              </a:rPr>
              <a:t>cap</a:t>
            </a:r>
            <a:r>
              <a:rPr sz="2400" b="0">
                <a:solidFill>
                  <a:srgbClr val="16181D"/>
                </a:solidFill>
                <a:latin typeface="Arial"/>
              </a:rPr>
              <a:t> it to the IQR bound to keep the row</a:t>
            </a:r>
          </a:p>
        </p:txBody>
      </p:sp>
      <p:sp>
        <p:nvSpPr>
          <p:cNvPr id="8" name="Rectangle 7"/>
          <p:cNvSpPr/>
          <p:nvPr/>
        </p:nvSpPr>
        <p:spPr>
          <a:xfrm>
            <a:off x="8878824" y="2057400"/>
            <a:ext cx="7452360" cy="6035040"/>
          </a:xfrm>
          <a:prstGeom prst="rect">
            <a:avLst/>
          </a:prstGeom>
          <a:solidFill>
            <a:srgbClr val="FAFBFC"/>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878824" y="2057400"/>
            <a:ext cx="82296" cy="60350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53144" y="2221992"/>
            <a:ext cx="6995160" cy="640080"/>
          </a:xfrm>
          <a:prstGeom prst="rect">
            <a:avLst/>
          </a:prstGeom>
          <a:noFill/>
        </p:spPr>
        <p:txBody>
          <a:bodyPr wrap="none">
            <a:spAutoFit/>
          </a:bodyPr>
          <a:lstStyle/>
          <a:p>
            <a:r>
              <a:rPr sz="2800" b="1">
                <a:solidFill>
                  <a:srgbClr val="16181D"/>
                </a:solidFill>
                <a:latin typeface="Arial"/>
              </a:rPr>
              <a:t>It is real</a:t>
            </a:r>
          </a:p>
        </p:txBody>
      </p:sp>
      <p:sp>
        <p:nvSpPr>
          <p:cNvPr id="11" name="TextBox 10"/>
          <p:cNvSpPr txBox="1"/>
          <p:nvPr/>
        </p:nvSpPr>
        <p:spPr>
          <a:xfrm>
            <a:off x="9153144" y="2971800"/>
            <a:ext cx="6949440" cy="4937760"/>
          </a:xfrm>
          <a:prstGeom prst="rect">
            <a:avLst/>
          </a:prstGeom>
          <a:noFill/>
        </p:spPr>
        <p:txBody>
          <a:bodyPr wrap="square">
            <a:spAutoFit/>
          </a:bodyPr>
          <a:lstStyle/>
          <a:p>
            <a:pPr>
              <a:spcAft>
                <a:spcPts val="1100"/>
              </a:spcAft>
            </a:pPr>
            <a:r>
              <a:rPr sz="2400" b="0">
                <a:solidFill>
                  <a:srgbClr val="16181D"/>
                </a:solidFill>
                <a:latin typeface="Arial"/>
              </a:rPr>
              <a:t>▪   The fraudulent transaction. The failing machine.</a:t>
            </a:r>
          </a:p>
          <a:p>
            <a:pPr>
              <a:spcAft>
                <a:spcPts val="1100"/>
              </a:spcAft>
            </a:pPr>
            <a:r>
              <a:rPr sz="2400" b="0">
                <a:solidFill>
                  <a:srgbClr val="16181D"/>
                </a:solidFill>
                <a:latin typeface="Arial"/>
              </a:rPr>
              <a:t>▪   </a:t>
            </a:r>
            <a:r>
              <a:rPr sz="2400" b="1">
                <a:solidFill>
                  <a:srgbClr val="16181D"/>
                </a:solidFill>
                <a:latin typeface="Arial"/>
              </a:rPr>
              <a:t>Keep</a:t>
            </a:r>
            <a:r>
              <a:rPr sz="2400" b="0">
                <a:solidFill>
                  <a:srgbClr val="16181D"/>
                </a:solidFill>
                <a:latin typeface="Arial"/>
              </a:rPr>
              <a:t> it — in fraud and predictive maintenance the outliers ARE the target</a:t>
            </a:r>
          </a:p>
          <a:p>
            <a:pPr>
              <a:spcAft>
                <a:spcPts val="1100"/>
              </a:spcAft>
            </a:pPr>
            <a:r>
              <a:rPr sz="2400" b="0">
                <a:solidFill>
                  <a:srgbClr val="16181D"/>
                </a:solidFill>
                <a:latin typeface="Arial"/>
              </a:rPr>
              <a:t>▪   If the whole column is skewed, </a:t>
            </a:r>
            <a:r>
              <a:rPr sz="2400" b="1">
                <a:solidFill>
                  <a:srgbClr val="16181D"/>
                </a:solidFill>
                <a:latin typeface="Arial"/>
              </a:rPr>
              <a:t>transform</a:t>
            </a:r>
            <a:r>
              <a:rPr sz="2400" b="0">
                <a:solidFill>
                  <a:srgbClr val="16181D"/>
                </a:solidFill>
                <a:latin typeface="Arial"/>
              </a:rPr>
              <a:t> it: </a:t>
            </a:r>
            <a:r>
              <a:rPr sz="2200" b="0">
                <a:solidFill>
                  <a:srgbClr val="0B3D6B"/>
                </a:solidFill>
                <a:latin typeface="Consolas"/>
              </a:rPr>
              <a:t>np.log1p</a:t>
            </a:r>
          </a:p>
        </p:txBody>
      </p:sp>
      <p:sp>
        <p:nvSpPr>
          <p:cNvPr id="12" name="TextBox 11"/>
          <p:cNvSpPr txBox="1"/>
          <p:nvPr/>
        </p:nvSpPr>
        <p:spPr>
          <a:xfrm>
            <a:off x="969264" y="8366760"/>
            <a:ext cx="15371063" cy="457200"/>
          </a:xfrm>
          <a:prstGeom prst="rect">
            <a:avLst/>
          </a:prstGeom>
          <a:noFill/>
        </p:spPr>
        <p:txBody>
          <a:bodyPr wrap="none">
            <a:spAutoFit/>
          </a:bodyPr>
          <a:lstStyle/>
          <a:p>
            <a:r>
              <a:rPr sz="1700" b="0" dirty="0">
                <a:solidFill>
                  <a:srgbClr val="6B7280"/>
                </a:solidFill>
                <a:latin typeface="Arial"/>
              </a:rPr>
              <a:t>Both blanket policies are wrong. Deleting every outlier makes your model good at data that does not exist.</a:t>
            </a:r>
          </a:p>
        </p:txBody>
      </p:sp>
      <p:sp>
        <p:nvSpPr>
          <p:cNvPr id="13" name="TextBox 12"/>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14" name="TextBox 13"/>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58</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Inconsistent categories</a:t>
            </a:r>
          </a:p>
        </p:txBody>
      </p:sp>
      <p:sp>
        <p:nvSpPr>
          <p:cNvPr id="4" name="Rectangle 3"/>
          <p:cNvSpPr/>
          <p:nvPr/>
        </p:nvSpPr>
        <p:spPr>
          <a:xfrm>
            <a:off x="969264" y="2057400"/>
            <a:ext cx="15371063" cy="3648456"/>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9264" y="2057400"/>
            <a:ext cx="82296" cy="3648456"/>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89304" y="2221992"/>
            <a:ext cx="14822423" cy="3374136"/>
          </a:xfrm>
          <a:prstGeom prst="rect">
            <a:avLst/>
          </a:prstGeom>
          <a:noFill/>
        </p:spPr>
        <p:txBody>
          <a:bodyPr wrap="none">
            <a:spAutoFit/>
          </a:bodyPr>
          <a:lstStyle/>
          <a:p>
            <a:pPr>
              <a:spcAft>
                <a:spcPts val="200"/>
              </a:spcAft>
            </a:pPr>
            <a:r>
              <a:rPr sz="2100">
                <a:solidFill>
                  <a:srgbClr val="16181D"/>
                </a:solidFill>
                <a:latin typeface="Consolas"/>
              </a:rPr>
              <a:t>df["City"].nunique()     </a:t>
            </a:r>
            <a:r>
              <a:rPr sz="2100">
                <a:solidFill>
                  <a:srgbClr val="1B7F4B"/>
                </a:solidFill>
                <a:latin typeface="Consolas"/>
              </a:rPr>
              <a:t># 340 — but Norway has fewer relevant cities than that</a:t>
            </a:r>
          </a:p>
          <a:p>
            <a:pPr>
              <a:spcAft>
                <a:spcPts val="200"/>
              </a:spcAft>
            </a:pPr>
            <a:endParaRPr sz="2100">
              <a:solidFill>
                <a:srgbClr val="1B7F4B"/>
              </a:solidFill>
              <a:latin typeface="Consolas"/>
            </a:endParaRPr>
          </a:p>
          <a:p>
            <a:pPr>
              <a:spcAft>
                <a:spcPts val="200"/>
              </a:spcAft>
            </a:pPr>
            <a:r>
              <a:rPr sz="2100">
                <a:solidFill>
                  <a:srgbClr val="16181D"/>
                </a:solidFill>
                <a:latin typeface="Consolas"/>
              </a:rPr>
              <a:t>df["City"] = (df["City"]</a:t>
            </a:r>
          </a:p>
          <a:p>
            <a:pPr>
              <a:spcAft>
                <a:spcPts val="200"/>
              </a:spcAft>
            </a:pPr>
            <a:r>
              <a:rPr sz="2100">
                <a:solidFill>
                  <a:srgbClr val="16181D"/>
                </a:solidFill>
                <a:latin typeface="Consolas"/>
              </a:rPr>
              <a:t>              .str.strip()                            </a:t>
            </a:r>
            <a:r>
              <a:rPr sz="2100">
                <a:solidFill>
                  <a:srgbClr val="1B7F4B"/>
                </a:solidFill>
                <a:latin typeface="Consolas"/>
              </a:rPr>
              <a:t># trailing whitespace</a:t>
            </a:r>
          </a:p>
          <a:p>
            <a:pPr>
              <a:spcAft>
                <a:spcPts val="200"/>
              </a:spcAft>
            </a:pPr>
            <a:r>
              <a:rPr sz="2100">
                <a:solidFill>
                  <a:srgbClr val="16181D"/>
                </a:solidFill>
                <a:latin typeface="Consolas"/>
              </a:rPr>
              <a:t>              .str.replace(r"\s+", " ", regex=True)    </a:t>
            </a:r>
            <a:r>
              <a:rPr sz="2100">
                <a:solidFill>
                  <a:srgbClr val="1B7F4B"/>
                </a:solidFill>
                <a:latin typeface="Consolas"/>
              </a:rPr>
              <a:t># internal whitespace</a:t>
            </a:r>
          </a:p>
          <a:p>
            <a:pPr>
              <a:spcAft>
                <a:spcPts val="200"/>
              </a:spcAft>
            </a:pPr>
            <a:r>
              <a:rPr sz="2100">
                <a:solidFill>
                  <a:srgbClr val="16181D"/>
                </a:solidFill>
                <a:latin typeface="Consolas"/>
              </a:rPr>
              <a:t>              .str.lower())                           </a:t>
            </a:r>
            <a:r>
              <a:rPr sz="2100">
                <a:solidFill>
                  <a:srgbClr val="1B7F4B"/>
                </a:solidFill>
                <a:latin typeface="Consolas"/>
              </a:rPr>
              <a:t># case-fold</a:t>
            </a:r>
          </a:p>
          <a:p>
            <a:pPr>
              <a:spcAft>
                <a:spcPts val="200"/>
              </a:spcAft>
            </a:pPr>
            <a:endParaRPr sz="2100">
              <a:solidFill>
                <a:srgbClr val="1B7F4B"/>
              </a:solidFill>
              <a:latin typeface="Consolas"/>
            </a:endParaRPr>
          </a:p>
          <a:p>
            <a:pPr>
              <a:spcAft>
                <a:spcPts val="200"/>
              </a:spcAft>
            </a:pPr>
            <a:r>
              <a:rPr sz="2100">
                <a:solidFill>
                  <a:srgbClr val="16181D"/>
                </a:solidFill>
                <a:latin typeface="Consolas"/>
              </a:rPr>
              <a:t>df["City"] = df["City"].replace({"olso": "oslo"}).str.title()</a:t>
            </a:r>
          </a:p>
        </p:txBody>
      </p:sp>
      <p:sp>
        <p:nvSpPr>
          <p:cNvPr id="7" name="TextBox 6"/>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8" name="TextBox 7"/>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59</a:t>
            </a:r>
          </a:p>
        </p:txBody>
      </p:sp>
      <p:pic>
        <p:nvPicPr>
          <p:cNvPr id="9" name="Picture 2" descr="Image">
            <a:extLst>
              <a:ext uri="{FF2B5EF4-FFF2-40B4-BE49-F238E27FC236}">
                <a16:creationId xmlns:a16="http://schemas.microsoft.com/office/drawing/2014/main" id="{3127F618-932E-8010-3C11-253A61380B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28422" y="1630439"/>
            <a:ext cx="1050496" cy="93569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Merging datasets: three ways it goes wrong</a:t>
            </a:r>
          </a:p>
        </p:txBody>
      </p:sp>
      <p:sp>
        <p:nvSpPr>
          <p:cNvPr id="4" name="TextBox 3"/>
          <p:cNvSpPr txBox="1"/>
          <p:nvPr/>
        </p:nvSpPr>
        <p:spPr>
          <a:xfrm>
            <a:off x="969264" y="2057400"/>
            <a:ext cx="15371063" cy="5683607"/>
          </a:xfrm>
          <a:prstGeom prst="rect">
            <a:avLst/>
          </a:prstGeom>
          <a:noFill/>
        </p:spPr>
        <p:txBody>
          <a:bodyPr wrap="square">
            <a:spAutoFit/>
          </a:bodyPr>
          <a:lstStyle/>
          <a:p>
            <a:pPr>
              <a:spcAft>
                <a:spcPts val="1400"/>
              </a:spcAft>
            </a:pPr>
            <a:r>
              <a:rPr sz="3000" b="0" dirty="0">
                <a:solidFill>
                  <a:srgbClr val="16181D"/>
                </a:solidFill>
                <a:latin typeface="Arial"/>
              </a:rPr>
              <a:t>▪   </a:t>
            </a:r>
            <a:r>
              <a:rPr sz="3000" b="1" dirty="0">
                <a:solidFill>
                  <a:srgbClr val="16181D"/>
                </a:solidFill>
                <a:latin typeface="Arial"/>
              </a:rPr>
              <a:t>Rows vanish</a:t>
            </a:r>
            <a:r>
              <a:rPr sz="3000" b="0" dirty="0">
                <a:solidFill>
                  <a:srgbClr val="16181D"/>
                </a:solidFill>
                <a:latin typeface="Arial"/>
              </a:rPr>
              <a:t> — </a:t>
            </a:r>
            <a:r>
              <a:rPr sz="2800" b="0" dirty="0">
                <a:solidFill>
                  <a:srgbClr val="0B3D6B"/>
                </a:solidFill>
                <a:latin typeface="Consolas"/>
              </a:rPr>
              <a:t>how="inner"</a:t>
            </a:r>
            <a:r>
              <a:rPr sz="3000" b="0" dirty="0">
                <a:solidFill>
                  <a:srgbClr val="16181D"/>
                </a:solidFill>
                <a:latin typeface="Arial"/>
              </a:rPr>
              <a:t> is the default, and half your keys did not match</a:t>
            </a:r>
          </a:p>
          <a:p>
            <a:pPr>
              <a:spcAft>
                <a:spcPts val="800"/>
              </a:spcAft>
            </a:pPr>
            <a:r>
              <a:rPr sz="2500" b="0" dirty="0">
                <a:solidFill>
                  <a:srgbClr val="3A3F47"/>
                </a:solidFill>
                <a:latin typeface="Arial"/>
              </a:rPr>
              <a:t>        –   Usually because one key is "0150" (string) and the other is 150 (int)</a:t>
            </a:r>
          </a:p>
          <a:p>
            <a:pPr>
              <a:spcAft>
                <a:spcPts val="1400"/>
              </a:spcAft>
            </a:pPr>
            <a:r>
              <a:rPr sz="3000" b="0" dirty="0">
                <a:solidFill>
                  <a:srgbClr val="16181D"/>
                </a:solidFill>
                <a:latin typeface="Arial"/>
              </a:rPr>
              <a:t>  </a:t>
            </a:r>
            <a:endParaRPr lang="nb-NO" sz="3000" b="0" dirty="0">
              <a:solidFill>
                <a:srgbClr val="16181D"/>
              </a:solidFill>
              <a:latin typeface="Arial"/>
            </a:endParaRPr>
          </a:p>
          <a:p>
            <a:pPr>
              <a:spcAft>
                <a:spcPts val="1400"/>
              </a:spcAft>
            </a:pPr>
            <a:r>
              <a:rPr lang="en-US" sz="3000" dirty="0">
                <a:solidFill>
                  <a:srgbClr val="16181D"/>
                </a:solidFill>
              </a:rPr>
              <a:t>▪  </a:t>
            </a:r>
            <a:r>
              <a:rPr sz="3000" b="1" dirty="0">
                <a:solidFill>
                  <a:srgbClr val="16181D"/>
                </a:solidFill>
                <a:latin typeface="Arial"/>
              </a:rPr>
              <a:t>Rows multiply</a:t>
            </a:r>
            <a:r>
              <a:rPr sz="3000" b="0" dirty="0">
                <a:solidFill>
                  <a:srgbClr val="16181D"/>
                </a:solidFill>
                <a:latin typeface="Arial"/>
              </a:rPr>
              <a:t> — the right table had duplicate keys; 10 000 orders become 34 000</a:t>
            </a:r>
          </a:p>
          <a:p>
            <a:pPr>
              <a:spcAft>
                <a:spcPts val="800"/>
              </a:spcAft>
            </a:pPr>
            <a:r>
              <a:rPr sz="2500" b="0" dirty="0">
                <a:solidFill>
                  <a:srgbClr val="3A3F47"/>
                </a:solidFill>
                <a:latin typeface="Arial"/>
              </a:rPr>
              <a:t>        –   </a:t>
            </a:r>
            <a:r>
              <a:rPr sz="2300" b="0" dirty="0">
                <a:solidFill>
                  <a:srgbClr val="0B3D6B"/>
                </a:solidFill>
                <a:latin typeface="Consolas"/>
              </a:rPr>
              <a:t>validate="</a:t>
            </a:r>
            <a:r>
              <a:rPr sz="2300" b="0" dirty="0" err="1">
                <a:solidFill>
                  <a:srgbClr val="0B3D6B"/>
                </a:solidFill>
                <a:latin typeface="Consolas"/>
              </a:rPr>
              <a:t>many_to_one</a:t>
            </a:r>
            <a:r>
              <a:rPr sz="2300" b="0" dirty="0">
                <a:solidFill>
                  <a:srgbClr val="0B3D6B"/>
                </a:solidFill>
                <a:latin typeface="Consolas"/>
              </a:rPr>
              <a:t>"</a:t>
            </a:r>
            <a:r>
              <a:rPr sz="2500" b="0" dirty="0">
                <a:solidFill>
                  <a:srgbClr val="3A3F47"/>
                </a:solidFill>
                <a:latin typeface="Arial"/>
              </a:rPr>
              <a:t> raises immediately instead of corrupting quietly</a:t>
            </a:r>
          </a:p>
          <a:p>
            <a:pPr>
              <a:spcAft>
                <a:spcPts val="1400"/>
              </a:spcAft>
            </a:pPr>
            <a:endParaRPr lang="nb-NO" sz="3000" b="0" dirty="0">
              <a:solidFill>
                <a:srgbClr val="16181D"/>
              </a:solidFill>
              <a:latin typeface="Arial"/>
            </a:endParaRPr>
          </a:p>
          <a:p>
            <a:pPr>
              <a:spcAft>
                <a:spcPts val="1400"/>
              </a:spcAft>
            </a:pPr>
            <a:r>
              <a:rPr sz="3000" b="0" dirty="0">
                <a:solidFill>
                  <a:srgbClr val="16181D"/>
                </a:solidFill>
                <a:latin typeface="Arial"/>
              </a:rPr>
              <a:t>▪   </a:t>
            </a:r>
            <a:r>
              <a:rPr sz="3000" b="1" dirty="0">
                <a:solidFill>
                  <a:srgbClr val="16181D"/>
                </a:solidFill>
                <a:latin typeface="Arial"/>
              </a:rPr>
              <a:t>Silent nulls</a:t>
            </a:r>
            <a:r>
              <a:rPr sz="3000" b="0" dirty="0">
                <a:solidFill>
                  <a:srgbClr val="16181D"/>
                </a:solidFill>
                <a:latin typeface="Arial"/>
              </a:rPr>
              <a:t> — a left join fills unmatched columns with </a:t>
            </a:r>
            <a:r>
              <a:rPr sz="3000" b="0" dirty="0" err="1">
                <a:solidFill>
                  <a:srgbClr val="16181D"/>
                </a:solidFill>
                <a:latin typeface="Arial"/>
              </a:rPr>
              <a:t>NaN</a:t>
            </a:r>
            <a:r>
              <a:rPr sz="3000" b="0" dirty="0">
                <a:solidFill>
                  <a:srgbClr val="16181D"/>
                </a:solidFill>
                <a:latin typeface="Arial"/>
              </a:rPr>
              <a:t>…</a:t>
            </a:r>
          </a:p>
          <a:p>
            <a:pPr>
              <a:spcAft>
                <a:spcPts val="800"/>
              </a:spcAft>
            </a:pPr>
            <a:r>
              <a:rPr sz="2500" b="0" dirty="0">
                <a:solidFill>
                  <a:srgbClr val="3A3F47"/>
                </a:solidFill>
                <a:latin typeface="Arial"/>
              </a:rPr>
              <a:t>        –   …which you then dutifully impute, inventing data for records that never existed</a:t>
            </a:r>
          </a:p>
          <a:p>
            <a:pPr>
              <a:spcAft>
                <a:spcPts val="600"/>
              </a:spcAft>
            </a:pPr>
            <a:endParaRPr sz="2500" b="0" dirty="0">
              <a:solidFill>
                <a:srgbClr val="3A3F47"/>
              </a:solidFill>
              <a:latin typeface="Arial"/>
            </a:endParaRPr>
          </a:p>
          <a:p>
            <a:pPr>
              <a:spcAft>
                <a:spcPts val="1400"/>
              </a:spcAft>
            </a:pPr>
            <a:endParaRPr lang="nb-NO" sz="3000" b="0" dirty="0">
              <a:solidFill>
                <a:srgbClr val="16181D"/>
              </a:solidFill>
              <a:latin typeface="Arial"/>
            </a:endParaRP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      ·      reference slide — also in the handout</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60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2122" y="2449287"/>
            <a:ext cx="15373922" cy="5402854"/>
          </a:xfrm>
        </p:spPr>
        <p:txBody>
          <a:bodyPr>
            <a:normAutofit/>
          </a:bodyPr>
          <a:lstStyle/>
          <a:p>
            <a:r>
              <a:rPr dirty="0"/>
              <a:t>Making data </a:t>
            </a:r>
            <a:r>
              <a:rPr lang="nb-NO" dirty="0" err="1"/>
              <a:t>which</a:t>
            </a:r>
            <a:r>
              <a:rPr lang="nb-NO" dirty="0"/>
              <a:t> AN </a:t>
            </a:r>
            <a:r>
              <a:rPr dirty="0"/>
              <a:t>a</a:t>
            </a:r>
            <a:r>
              <a:rPr lang="nb-NO" dirty="0"/>
              <a:t>i</a:t>
            </a:r>
            <a:r>
              <a:rPr dirty="0"/>
              <a:t> model can use</a:t>
            </a:r>
          </a:p>
        </p:txBody>
      </p:sp>
      <p:sp>
        <p:nvSpPr>
          <p:cNvPr id="4" name="TextBox 3"/>
          <p:cNvSpPr txBox="1"/>
          <p:nvPr/>
        </p:nvSpPr>
        <p:spPr>
          <a:xfrm>
            <a:off x="969264" y="1899872"/>
            <a:ext cx="12801600" cy="548640"/>
          </a:xfrm>
          <a:prstGeom prst="rect">
            <a:avLst/>
          </a:prstGeom>
          <a:noFill/>
        </p:spPr>
        <p:txBody>
          <a:bodyPr wrap="none">
            <a:spAutoFit/>
          </a:bodyPr>
          <a:lstStyle/>
          <a:p>
            <a:r>
              <a:rPr sz="2000" b="1">
                <a:solidFill>
                  <a:srgbClr val="6B7280"/>
                </a:solidFill>
                <a:latin typeface="Arial"/>
              </a:rPr>
              <a:t>PART 7</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61</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9264" y="2743200"/>
            <a:ext cx="15371063" cy="38404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69264" y="2743200"/>
            <a:ext cx="82296" cy="3840480"/>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54480" y="3063240"/>
            <a:ext cx="14173200" cy="3200400"/>
          </a:xfrm>
          <a:prstGeom prst="rect">
            <a:avLst/>
          </a:prstGeom>
          <a:noFill/>
        </p:spPr>
        <p:txBody>
          <a:bodyPr wrap="square" anchor="ctr">
            <a:spAutoFit/>
          </a:bodyPr>
          <a:lstStyle/>
          <a:p>
            <a:r>
              <a:rPr sz="5400" b="1" dirty="0">
                <a:solidFill>
                  <a:srgbClr val="16181D"/>
                </a:solidFill>
                <a:latin typeface="Arial"/>
              </a:rPr>
              <a:t>Encoding Oslo=0, Bergen=1, Trondheim=2 tells the model that Bergen is halfway between Oslo and Trondheim.</a:t>
            </a:r>
          </a:p>
          <a:p>
            <a:pPr>
              <a:spcBef>
                <a:spcPts val="2400"/>
              </a:spcBef>
            </a:pPr>
            <a:r>
              <a:rPr sz="2800" b="0" dirty="0">
                <a:solidFill>
                  <a:srgbClr val="3A3F47"/>
                </a:solidFill>
                <a:latin typeface="Arial"/>
              </a:rPr>
              <a:t>A linear model takes that literally. Use one-hot for nominal categories.</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63</a:t>
            </a:r>
          </a:p>
        </p:txBody>
      </p:sp>
      <p:sp>
        <p:nvSpPr>
          <p:cNvPr id="7" name="Rectangle 6">
            <a:extLst>
              <a:ext uri="{FF2B5EF4-FFF2-40B4-BE49-F238E27FC236}">
                <a16:creationId xmlns:a16="http://schemas.microsoft.com/office/drawing/2014/main" id="{54E645FF-91D8-E0FA-DBB9-2DC42643446B}"/>
              </a:ext>
            </a:extLst>
          </p:cNvPr>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E84B7D67-5713-5B88-5F7A-1E0F1E20F9FE}"/>
              </a:ext>
            </a:extLst>
          </p:cNvPr>
          <p:cNvSpPr txBox="1"/>
          <p:nvPr/>
        </p:nvSpPr>
        <p:spPr>
          <a:xfrm>
            <a:off x="969264" y="384048"/>
            <a:ext cx="15371063" cy="960120"/>
          </a:xfrm>
          <a:prstGeom prst="rect">
            <a:avLst/>
          </a:prstGeom>
          <a:noFill/>
        </p:spPr>
        <p:txBody>
          <a:bodyPr wrap="square">
            <a:spAutoFit/>
          </a:bodyPr>
          <a:lstStyle/>
          <a:p>
            <a:r>
              <a:rPr sz="4400" b="1" dirty="0">
                <a:solidFill>
                  <a:srgbClr val="16181D"/>
                </a:solidFill>
                <a:latin typeface="Arial"/>
              </a:rPr>
              <a:t>One-hot encoding — for nominal categories</a:t>
            </a:r>
          </a:p>
        </p:txBody>
      </p:sp>
      <p:pic>
        <p:nvPicPr>
          <p:cNvPr id="10" name="Picture 9">
            <a:extLst>
              <a:ext uri="{FF2B5EF4-FFF2-40B4-BE49-F238E27FC236}">
                <a16:creationId xmlns:a16="http://schemas.microsoft.com/office/drawing/2014/main" id="{C587F06C-1C17-154C-13BB-206E3E5E0E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07907" y="6746240"/>
            <a:ext cx="6680200" cy="27178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9264" y="2743200"/>
            <a:ext cx="15371063" cy="38404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69264" y="2743200"/>
            <a:ext cx="82296" cy="3840480"/>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54480" y="3063240"/>
            <a:ext cx="14173200" cy="3200400"/>
          </a:xfrm>
          <a:prstGeom prst="rect">
            <a:avLst/>
          </a:prstGeom>
          <a:noFill/>
        </p:spPr>
        <p:txBody>
          <a:bodyPr wrap="square" anchor="ctr">
            <a:spAutoFit/>
          </a:bodyPr>
          <a:lstStyle/>
          <a:p>
            <a:r>
              <a:rPr sz="5400" b="1" dirty="0">
                <a:solidFill>
                  <a:srgbClr val="16181D"/>
                </a:solidFill>
                <a:latin typeface="Arial"/>
              </a:rPr>
              <a:t>Age: 0–80.   Salary: 300 000–1 200 000.</a:t>
            </a:r>
          </a:p>
          <a:p>
            <a:pPr>
              <a:spcBef>
                <a:spcPts val="2400"/>
              </a:spcBef>
            </a:pPr>
            <a:r>
              <a:rPr sz="2800" b="0" dirty="0">
                <a:solidFill>
                  <a:srgbClr val="3A3F47"/>
                </a:solidFill>
                <a:latin typeface="Arial"/>
              </a:rPr>
              <a:t>Compute the distance between two people and age effectively stops existing.</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64</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Which algorithms need scaling?</a:t>
            </a:r>
          </a:p>
        </p:txBody>
      </p:sp>
      <p:graphicFrame>
        <p:nvGraphicFramePr>
          <p:cNvPr id="4" name="Table 3"/>
          <p:cNvGraphicFramePr>
            <a:graphicFrameLocks noGrp="1"/>
          </p:cNvGraphicFramePr>
          <p:nvPr/>
        </p:nvGraphicFramePr>
        <p:xfrm>
          <a:off x="969264" y="2057400"/>
          <a:ext cx="15371061" cy="3401568"/>
        </p:xfrm>
        <a:graphic>
          <a:graphicData uri="http://schemas.openxmlformats.org/drawingml/2006/table">
            <a:tbl>
              <a:tblPr firstRow="1" bandRow="1">
                <a:tableStyleId>{5C22544A-7EE6-4342-B048-85BDC9FD1C3A}</a:tableStyleId>
              </a:tblPr>
              <a:tblGrid>
                <a:gridCol w="4729557">
                  <a:extLst>
                    <a:ext uri="{9D8B030D-6E8A-4147-A177-3AD203B41FA5}">
                      <a16:colId xmlns:a16="http://schemas.microsoft.com/office/drawing/2014/main" val="20000"/>
                    </a:ext>
                  </a:extLst>
                </a:gridCol>
                <a:gridCol w="5911947">
                  <a:extLst>
                    <a:ext uri="{9D8B030D-6E8A-4147-A177-3AD203B41FA5}">
                      <a16:colId xmlns:a16="http://schemas.microsoft.com/office/drawing/2014/main" val="20001"/>
                    </a:ext>
                  </a:extLst>
                </a:gridCol>
                <a:gridCol w="4729557">
                  <a:extLst>
                    <a:ext uri="{9D8B030D-6E8A-4147-A177-3AD203B41FA5}">
                      <a16:colId xmlns:a16="http://schemas.microsoft.com/office/drawing/2014/main" val="20002"/>
                    </a:ext>
                  </a:extLst>
                </a:gridCol>
              </a:tblGrid>
              <a:tr h="566928">
                <a:tc>
                  <a:txBody>
                    <a:bodyPr/>
                    <a:lstStyle/>
                    <a:p>
                      <a:r>
                        <a:rPr sz="2100" b="1">
                          <a:solidFill>
                            <a:srgbClr val="16181D"/>
                          </a:solidFill>
                          <a:latin typeface="Arial"/>
                        </a:rPr>
                        <a:t>Needs it</a:t>
                      </a:r>
                    </a:p>
                  </a:txBody>
                  <a:tcPr marL="109728" marR="109728">
                    <a:solidFill>
                      <a:srgbClr val="FFDC00"/>
                    </a:solidFill>
                  </a:tcPr>
                </a:tc>
                <a:tc>
                  <a:txBody>
                    <a:bodyPr/>
                    <a:lstStyle/>
                    <a:p>
                      <a:r>
                        <a:rPr sz="2100" b="1">
                          <a:solidFill>
                            <a:srgbClr val="16181D"/>
                          </a:solidFill>
                          <a:latin typeface="Arial"/>
                        </a:rPr>
                        <a:t>Why</a:t>
                      </a:r>
                    </a:p>
                  </a:txBody>
                  <a:tcPr marL="109728" marR="109728">
                    <a:solidFill>
                      <a:srgbClr val="FFDC00"/>
                    </a:solidFill>
                  </a:tcPr>
                </a:tc>
                <a:tc>
                  <a:txBody>
                    <a:bodyPr/>
                    <a:lstStyle/>
                    <a:p>
                      <a:r>
                        <a:rPr sz="2100" b="1">
                          <a:solidFill>
                            <a:srgbClr val="16181D"/>
                          </a:solidFill>
                          <a:latin typeface="Arial"/>
                        </a:rPr>
                        <a:t>Does not need it</a:t>
                      </a:r>
                    </a:p>
                  </a:txBody>
                  <a:tcPr marL="109728" marR="109728">
                    <a:solidFill>
                      <a:srgbClr val="FFDC00"/>
                    </a:solidFill>
                  </a:tcPr>
                </a:tc>
                <a:extLst>
                  <a:ext uri="{0D108BD9-81ED-4DB2-BD59-A6C34878D82A}">
                    <a16:rowId xmlns:a16="http://schemas.microsoft.com/office/drawing/2014/main" val="10000"/>
                  </a:ext>
                </a:extLst>
              </a:tr>
              <a:tr h="566928">
                <a:tc>
                  <a:txBody>
                    <a:bodyPr/>
                    <a:lstStyle/>
                    <a:p>
                      <a:r>
                        <a:rPr sz="2000" b="1">
                          <a:solidFill>
                            <a:srgbClr val="16181D"/>
                          </a:solidFill>
                          <a:latin typeface="Arial"/>
                        </a:rPr>
                        <a:t>KNN</a:t>
                      </a:r>
                    </a:p>
                  </a:txBody>
                  <a:tcPr marL="109728" marR="109728">
                    <a:solidFill>
                      <a:srgbClr val="FFFFFF"/>
                    </a:solidFill>
                  </a:tcPr>
                </a:tc>
                <a:tc>
                  <a:txBody>
                    <a:bodyPr/>
                    <a:lstStyle/>
                    <a:p>
                      <a:r>
                        <a:rPr sz="2000" b="0">
                          <a:solidFill>
                            <a:srgbClr val="16181D"/>
                          </a:solidFill>
                          <a:latin typeface="Arial"/>
                        </a:rPr>
                        <a:t>Literally distance-based</a:t>
                      </a:r>
                    </a:p>
                  </a:txBody>
                  <a:tcPr marL="109728" marR="109728">
                    <a:solidFill>
                      <a:srgbClr val="FFFFFF"/>
                    </a:solidFill>
                  </a:tcPr>
                </a:tc>
                <a:tc>
                  <a:txBody>
                    <a:bodyPr/>
                    <a:lstStyle/>
                    <a:p>
                      <a:r>
                        <a:rPr sz="2000" b="0">
                          <a:solidFill>
                            <a:srgbClr val="16181D"/>
                          </a:solidFill>
                          <a:latin typeface="Arial"/>
                        </a:rPr>
                        <a:t>Decision trees</a:t>
                      </a:r>
                    </a:p>
                  </a:txBody>
                  <a:tcPr marL="109728" marR="109728">
                    <a:solidFill>
                      <a:srgbClr val="FFFFFF"/>
                    </a:solidFill>
                  </a:tcPr>
                </a:tc>
                <a:extLst>
                  <a:ext uri="{0D108BD9-81ED-4DB2-BD59-A6C34878D82A}">
                    <a16:rowId xmlns:a16="http://schemas.microsoft.com/office/drawing/2014/main" val="10001"/>
                  </a:ext>
                </a:extLst>
              </a:tr>
              <a:tr h="566928">
                <a:tc>
                  <a:txBody>
                    <a:bodyPr/>
                    <a:lstStyle/>
                    <a:p>
                      <a:r>
                        <a:rPr sz="2000" b="1">
                          <a:solidFill>
                            <a:srgbClr val="16181D"/>
                          </a:solidFill>
                          <a:latin typeface="Arial"/>
                        </a:rPr>
                        <a:t>SVM</a:t>
                      </a:r>
                    </a:p>
                  </a:txBody>
                  <a:tcPr marL="109728" marR="109728">
                    <a:solidFill>
                      <a:srgbClr val="F7F8FA"/>
                    </a:solidFill>
                  </a:tcPr>
                </a:tc>
                <a:tc>
                  <a:txBody>
                    <a:bodyPr/>
                    <a:lstStyle/>
                    <a:p>
                      <a:r>
                        <a:rPr sz="2000" b="0">
                          <a:solidFill>
                            <a:srgbClr val="16181D"/>
                          </a:solidFill>
                          <a:latin typeface="Arial"/>
                        </a:rPr>
                        <a:t>Margins depend on distances</a:t>
                      </a:r>
                    </a:p>
                  </a:txBody>
                  <a:tcPr marL="109728" marR="109728">
                    <a:solidFill>
                      <a:srgbClr val="F7F8FA"/>
                    </a:solidFill>
                  </a:tcPr>
                </a:tc>
                <a:tc>
                  <a:txBody>
                    <a:bodyPr/>
                    <a:lstStyle/>
                    <a:p>
                      <a:r>
                        <a:rPr sz="2000" b="0">
                          <a:solidFill>
                            <a:srgbClr val="16181D"/>
                          </a:solidFill>
                          <a:latin typeface="Arial"/>
                        </a:rPr>
                        <a:t>Random forests</a:t>
                      </a:r>
                    </a:p>
                  </a:txBody>
                  <a:tcPr marL="109728" marR="109728">
                    <a:solidFill>
                      <a:srgbClr val="F7F8FA"/>
                    </a:solidFill>
                  </a:tcPr>
                </a:tc>
                <a:extLst>
                  <a:ext uri="{0D108BD9-81ED-4DB2-BD59-A6C34878D82A}">
                    <a16:rowId xmlns:a16="http://schemas.microsoft.com/office/drawing/2014/main" val="10002"/>
                  </a:ext>
                </a:extLst>
              </a:tr>
              <a:tr h="566928">
                <a:tc>
                  <a:txBody>
                    <a:bodyPr/>
                    <a:lstStyle/>
                    <a:p>
                      <a:r>
                        <a:rPr sz="2000" b="1">
                          <a:solidFill>
                            <a:srgbClr val="16181D"/>
                          </a:solidFill>
                          <a:latin typeface="Arial"/>
                        </a:rPr>
                        <a:t>K-means</a:t>
                      </a:r>
                    </a:p>
                  </a:txBody>
                  <a:tcPr marL="109728" marR="109728">
                    <a:solidFill>
                      <a:srgbClr val="FFFFFF"/>
                    </a:solidFill>
                  </a:tcPr>
                </a:tc>
                <a:tc>
                  <a:txBody>
                    <a:bodyPr/>
                    <a:lstStyle/>
                    <a:p>
                      <a:r>
                        <a:rPr sz="2000" b="0">
                          <a:solidFill>
                            <a:srgbClr val="16181D"/>
                          </a:solidFill>
                          <a:latin typeface="Arial"/>
                        </a:rPr>
                        <a:t>Distance to centroids</a:t>
                      </a:r>
                    </a:p>
                  </a:txBody>
                  <a:tcPr marL="109728" marR="109728">
                    <a:solidFill>
                      <a:srgbClr val="FFFFFF"/>
                    </a:solidFill>
                  </a:tcPr>
                </a:tc>
                <a:tc>
                  <a:txBody>
                    <a:bodyPr/>
                    <a:lstStyle/>
                    <a:p>
                      <a:r>
                        <a:rPr sz="2000" b="0">
                          <a:solidFill>
                            <a:srgbClr val="16181D"/>
                          </a:solidFill>
                          <a:latin typeface="Arial"/>
                        </a:rPr>
                        <a:t>Gradient-boosted trees</a:t>
                      </a:r>
                    </a:p>
                  </a:txBody>
                  <a:tcPr marL="109728" marR="109728">
                    <a:solidFill>
                      <a:srgbClr val="FFFFFF"/>
                    </a:solidFill>
                  </a:tcPr>
                </a:tc>
                <a:extLst>
                  <a:ext uri="{0D108BD9-81ED-4DB2-BD59-A6C34878D82A}">
                    <a16:rowId xmlns:a16="http://schemas.microsoft.com/office/drawing/2014/main" val="10003"/>
                  </a:ext>
                </a:extLst>
              </a:tr>
              <a:tr h="566928">
                <a:tc>
                  <a:txBody>
                    <a:bodyPr/>
                    <a:lstStyle/>
                    <a:p>
                      <a:r>
                        <a:rPr sz="2000" b="1">
                          <a:solidFill>
                            <a:srgbClr val="16181D"/>
                          </a:solidFill>
                          <a:latin typeface="Arial"/>
                        </a:rPr>
                        <a:t>Neural networks</a:t>
                      </a:r>
                    </a:p>
                  </a:txBody>
                  <a:tcPr marL="109728" marR="109728">
                    <a:solidFill>
                      <a:srgbClr val="F7F8FA"/>
                    </a:solidFill>
                  </a:tcPr>
                </a:tc>
                <a:tc>
                  <a:txBody>
                    <a:bodyPr/>
                    <a:lstStyle/>
                    <a:p>
                      <a:r>
                        <a:rPr sz="2000" b="0">
                          <a:solidFill>
                            <a:srgbClr val="16181D"/>
                          </a:solidFill>
                          <a:latin typeface="Arial"/>
                        </a:rPr>
                        <a:t>Gradient descent converges badly</a:t>
                      </a:r>
                    </a:p>
                  </a:txBody>
                  <a:tcPr marL="109728" marR="109728">
                    <a:solidFill>
                      <a:srgbClr val="F7F8FA"/>
                    </a:solidFill>
                  </a:tcPr>
                </a:tc>
                <a:tc>
                  <a:txBody>
                    <a:bodyPr/>
                    <a:lstStyle/>
                    <a:p>
                      <a:r>
                        <a:rPr sz="2000" b="0">
                          <a:solidFill>
                            <a:srgbClr val="16181D"/>
                          </a:solidFill>
                          <a:latin typeface="Arial"/>
                        </a:rPr>
                        <a:t>Naive Bayes (mostly)</a:t>
                      </a:r>
                    </a:p>
                  </a:txBody>
                  <a:tcPr marL="109728" marR="109728">
                    <a:solidFill>
                      <a:srgbClr val="F7F8FA"/>
                    </a:solidFill>
                  </a:tcPr>
                </a:tc>
                <a:extLst>
                  <a:ext uri="{0D108BD9-81ED-4DB2-BD59-A6C34878D82A}">
                    <a16:rowId xmlns:a16="http://schemas.microsoft.com/office/drawing/2014/main" val="10004"/>
                  </a:ext>
                </a:extLst>
              </a:tr>
              <a:tr h="566928">
                <a:tc>
                  <a:txBody>
                    <a:bodyPr/>
                    <a:lstStyle/>
                    <a:p>
                      <a:r>
                        <a:rPr sz="2000" b="1">
                          <a:solidFill>
                            <a:srgbClr val="16181D"/>
                          </a:solidFill>
                          <a:latin typeface="Arial"/>
                        </a:rPr>
                        <a:t>PCA, Ridge, Lasso</a:t>
                      </a:r>
                    </a:p>
                  </a:txBody>
                  <a:tcPr marL="109728" marR="109728">
                    <a:solidFill>
                      <a:srgbClr val="FFFFFF"/>
                    </a:solidFill>
                  </a:tcPr>
                </a:tc>
                <a:tc>
                  <a:txBody>
                    <a:bodyPr/>
                    <a:lstStyle/>
                    <a:p>
                      <a:r>
                        <a:rPr sz="2000" b="0">
                          <a:solidFill>
                            <a:srgbClr val="16181D"/>
                          </a:solidFill>
                          <a:latin typeface="Arial"/>
                        </a:rPr>
                        <a:t>Variance and penalties are scale-sensitive</a:t>
                      </a:r>
                    </a:p>
                  </a:txBody>
                  <a:tcPr marL="109728" marR="109728">
                    <a:solidFill>
                      <a:srgbClr val="FFFFFF"/>
                    </a:solidFill>
                  </a:tcPr>
                </a:tc>
                <a:tc>
                  <a:txBody>
                    <a:bodyPr/>
                    <a:lstStyle/>
                    <a:p>
                      <a:r>
                        <a:rPr sz="2000" b="0">
                          <a:solidFill>
                            <a:srgbClr val="16181D"/>
                          </a:solidFill>
                          <a:latin typeface="Arial"/>
                        </a:rPr>
                        <a:t>Plain linear regression*</a:t>
                      </a:r>
                    </a:p>
                  </a:txBody>
                  <a:tcPr marL="109728" marR="109728">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 Its predictions are unaffected — but its coefficient sizes are, so never read unscaled coefficients as importances.</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      ·      reference slide — also in the handout</a:t>
            </a:r>
          </a:p>
        </p:txBody>
      </p:sp>
      <p:sp>
        <p:nvSpPr>
          <p:cNvPr id="7" name="TextBox 6"/>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65</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3400" b="1">
                <a:solidFill>
                  <a:srgbClr val="16181D"/>
                </a:solidFill>
                <a:latin typeface="Arial"/>
              </a:rPr>
              <a:t>Feature engineering: this is where you beat a fancier model</a:t>
            </a:r>
          </a:p>
        </p:txBody>
      </p:sp>
      <p:sp>
        <p:nvSpPr>
          <p:cNvPr id="4" name="TextBox 3"/>
          <p:cNvSpPr txBox="1"/>
          <p:nvPr/>
        </p:nvSpPr>
        <p:spPr>
          <a:xfrm>
            <a:off x="969264" y="1874519"/>
            <a:ext cx="15371063" cy="548640"/>
          </a:xfrm>
          <a:prstGeom prst="rect">
            <a:avLst/>
          </a:prstGeom>
          <a:noFill/>
        </p:spPr>
        <p:txBody>
          <a:bodyPr wrap="none">
            <a:spAutoFit/>
          </a:bodyPr>
          <a:lstStyle/>
          <a:p>
            <a:r>
              <a:rPr sz="2400" b="0" dirty="0">
                <a:solidFill>
                  <a:srgbClr val="3A3F47"/>
                </a:solidFill>
                <a:latin typeface="Arial"/>
              </a:rPr>
              <a:t>Title extracts class, sex and rough age from a text field that looked useless.</a:t>
            </a:r>
          </a:p>
        </p:txBody>
      </p:sp>
      <p:sp>
        <p:nvSpPr>
          <p:cNvPr id="5" name="Rectangle 4"/>
          <p:cNvSpPr/>
          <p:nvPr/>
        </p:nvSpPr>
        <p:spPr>
          <a:xfrm>
            <a:off x="969264" y="2606040"/>
            <a:ext cx="15371063" cy="2496312"/>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69264" y="2606040"/>
            <a:ext cx="82296" cy="2496312"/>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89304" y="2770632"/>
            <a:ext cx="14822423" cy="2221992"/>
          </a:xfrm>
          <a:prstGeom prst="rect">
            <a:avLst/>
          </a:prstGeom>
          <a:noFill/>
        </p:spPr>
        <p:txBody>
          <a:bodyPr wrap="none">
            <a:spAutoFit/>
          </a:bodyPr>
          <a:lstStyle/>
          <a:p>
            <a:pPr>
              <a:spcAft>
                <a:spcPts val="200"/>
              </a:spcAft>
            </a:pPr>
            <a:r>
              <a:rPr sz="2100">
                <a:solidFill>
                  <a:srgbClr val="16181D"/>
                </a:solidFill>
                <a:latin typeface="Consolas"/>
              </a:rPr>
              <a:t>df["FamilySize"]    = df["SibSp"] + df["Parch"] + 1</a:t>
            </a:r>
          </a:p>
          <a:p>
            <a:pPr>
              <a:spcAft>
                <a:spcPts val="200"/>
              </a:spcAft>
            </a:pPr>
            <a:r>
              <a:rPr sz="2100">
                <a:solidFill>
                  <a:srgbClr val="16181D"/>
                </a:solidFill>
                <a:latin typeface="Consolas"/>
              </a:rPr>
              <a:t>df["IsAlone"]       = (df["FamilySize"] == 1).astype(int)</a:t>
            </a:r>
          </a:p>
          <a:p>
            <a:pPr>
              <a:spcAft>
                <a:spcPts val="200"/>
              </a:spcAft>
            </a:pPr>
            <a:r>
              <a:rPr sz="2100">
                <a:solidFill>
                  <a:srgbClr val="16181D"/>
                </a:solidFill>
                <a:latin typeface="Consolas"/>
              </a:rPr>
              <a:t>df["FarePerPerson"] = df["Fare"] / df["FamilySize"]</a:t>
            </a:r>
          </a:p>
          <a:p>
            <a:pPr>
              <a:spcAft>
                <a:spcPts val="200"/>
              </a:spcAft>
            </a:pPr>
            <a:r>
              <a:rPr sz="2100">
                <a:solidFill>
                  <a:srgbClr val="16181D"/>
                </a:solidFill>
                <a:latin typeface="Consolas"/>
              </a:rPr>
              <a:t>df["Title"]  = df["Name"].str.extract(r",\s*([^\.]+)\.")   </a:t>
            </a:r>
            <a:r>
              <a:rPr sz="2100">
                <a:solidFill>
                  <a:srgbClr val="1B7F4B"/>
                </a:solidFill>
                <a:latin typeface="Consolas"/>
              </a:rPr>
              <a:t># Mr, Mrs, Miss, Master</a:t>
            </a:r>
          </a:p>
          <a:p>
            <a:pPr>
              <a:spcAft>
                <a:spcPts val="200"/>
              </a:spcAft>
            </a:pPr>
            <a:r>
              <a:rPr sz="2100">
                <a:solidFill>
                  <a:srgbClr val="16181D"/>
                </a:solidFill>
                <a:latin typeface="Consolas"/>
              </a:rPr>
              <a:t>df["HasCabin"] = df["Cabin"].notna().astype(int)          </a:t>
            </a:r>
            <a:r>
              <a:rPr sz="2100">
                <a:solidFill>
                  <a:srgbClr val="1B7F4B"/>
                </a:solidFill>
                <a:latin typeface="Consolas"/>
              </a:rPr>
              <a:t># from a 77%-missing column</a:t>
            </a:r>
          </a:p>
        </p:txBody>
      </p:sp>
      <p:sp>
        <p:nvSpPr>
          <p:cNvPr id="8" name="TextBox 7"/>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9" name="TextBox 8"/>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67</a:t>
            </a:r>
          </a:p>
        </p:txBody>
      </p:sp>
      <p:pic>
        <p:nvPicPr>
          <p:cNvPr id="10" name="Picture 2" descr="Feature Engineering for Machine Learning: A Comprehensive Overview">
            <a:extLst>
              <a:ext uri="{FF2B5EF4-FFF2-40B4-BE49-F238E27FC236}">
                <a16:creationId xmlns:a16="http://schemas.microsoft.com/office/drawing/2014/main" id="{2581F7A6-D2C7-B3BF-7A11-4843734931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31438" y="5431163"/>
            <a:ext cx="5004802" cy="422941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F11E743E-518D-559B-A90B-3E0993D37010}"/>
              </a:ext>
            </a:extLst>
          </p:cNvPr>
          <p:cNvSpPr/>
          <p:nvPr/>
        </p:nvSpPr>
        <p:spPr>
          <a:xfrm>
            <a:off x="969264" y="6603299"/>
            <a:ext cx="10330089" cy="1274195"/>
          </a:xfrm>
          <a:prstGeom prst="rect">
            <a:avLst/>
          </a:prstGeom>
        </p:spPr>
        <p:txBody>
          <a:bodyPr wrap="square">
            <a:spAutoFit/>
          </a:bodyPr>
          <a:lstStyle/>
          <a:p>
            <a:r>
              <a:rPr lang="en-GB" dirty="0">
                <a:hlinkClick r:id="rId4"/>
              </a:rPr>
              <a:t>Feature engineering</a:t>
            </a:r>
            <a:r>
              <a:rPr lang="en-GB" dirty="0"/>
              <a:t>, also known as feature creation, is the process of constructing new features from existing data to train a machine learning model.</a:t>
            </a:r>
            <a:endParaRPr lang="en-NO"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3AF77-B30E-C045-AA28-9B8D06DDA4CE}"/>
              </a:ext>
            </a:extLst>
          </p:cNvPr>
          <p:cNvSpPr>
            <a:spLocks noGrp="1"/>
          </p:cNvSpPr>
          <p:nvPr>
            <p:ph type="title"/>
          </p:nvPr>
        </p:nvSpPr>
        <p:spPr>
          <a:xfrm>
            <a:off x="2362010" y="783703"/>
            <a:ext cx="15373922" cy="664797"/>
          </a:xfrm>
        </p:spPr>
        <p:txBody>
          <a:bodyPr/>
          <a:lstStyle/>
          <a:p>
            <a:r>
              <a:rPr lang="en-NO" dirty="0"/>
              <a:t>For example</a:t>
            </a:r>
          </a:p>
        </p:txBody>
      </p:sp>
      <p:sp>
        <p:nvSpPr>
          <p:cNvPr id="3" name="Content Placeholder 2">
            <a:extLst>
              <a:ext uri="{FF2B5EF4-FFF2-40B4-BE49-F238E27FC236}">
                <a16:creationId xmlns:a16="http://schemas.microsoft.com/office/drawing/2014/main" id="{62062D24-58F6-2B4C-A924-8D198CF8F18B}"/>
              </a:ext>
            </a:extLst>
          </p:cNvPr>
          <p:cNvSpPr>
            <a:spLocks noGrp="1"/>
          </p:cNvSpPr>
          <p:nvPr>
            <p:ph idx="1"/>
          </p:nvPr>
        </p:nvSpPr>
        <p:spPr>
          <a:xfrm>
            <a:off x="972122" y="2103120"/>
            <a:ext cx="15373922" cy="6602597"/>
          </a:xfrm>
        </p:spPr>
        <p:txBody>
          <a:bodyPr>
            <a:normAutofit fontScale="92500"/>
          </a:bodyPr>
          <a:lstStyle/>
          <a:p>
            <a:r>
              <a:rPr lang="en-NO" dirty="0"/>
              <a:t>Character recognition</a:t>
            </a:r>
          </a:p>
          <a:p>
            <a:pPr lvl="1"/>
            <a:r>
              <a:rPr lang="en-GB" dirty="0"/>
              <a:t>features may include </a:t>
            </a:r>
            <a:r>
              <a:rPr lang="en-GB" dirty="0">
                <a:hlinkClick r:id="rId2" tooltip="Histogram"/>
              </a:rPr>
              <a:t>histograms</a:t>
            </a:r>
            <a:r>
              <a:rPr lang="en-GB" dirty="0"/>
              <a:t> counting the number of black pixels along horizontal and vertical directions, number of internal holes, stroke detection and many others. </a:t>
            </a:r>
          </a:p>
          <a:p>
            <a:r>
              <a:rPr lang="en-GB" dirty="0"/>
              <a:t>Speech recognition</a:t>
            </a:r>
          </a:p>
          <a:p>
            <a:pPr lvl="1"/>
            <a:r>
              <a:rPr lang="en-GB" dirty="0"/>
              <a:t>features for recognizing </a:t>
            </a:r>
            <a:r>
              <a:rPr lang="en-GB" dirty="0">
                <a:hlinkClick r:id="rId3" tooltip="Phonemes"/>
              </a:rPr>
              <a:t>phonemes</a:t>
            </a:r>
            <a:r>
              <a:rPr lang="en-GB" dirty="0"/>
              <a:t> can include noise ratios, length of sounds, relative power, filter matches and many others. </a:t>
            </a:r>
          </a:p>
          <a:p>
            <a:r>
              <a:rPr lang="en-GB" dirty="0"/>
              <a:t>Spam detection</a:t>
            </a:r>
          </a:p>
          <a:p>
            <a:pPr lvl="1"/>
            <a:r>
              <a:rPr lang="en-GB" dirty="0"/>
              <a:t>features may include the presence or absence of certain email headers, the email structure, the language, the frequency of specific terms, the grammatical correctness of the text. </a:t>
            </a:r>
          </a:p>
          <a:p>
            <a:r>
              <a:rPr lang="en-GB" dirty="0"/>
              <a:t>Computer vision</a:t>
            </a:r>
          </a:p>
          <a:p>
            <a:pPr lvl="1"/>
            <a:r>
              <a:rPr lang="en-GB" dirty="0"/>
              <a:t>there are a large number of possible </a:t>
            </a:r>
            <a:r>
              <a:rPr lang="en-GB" dirty="0">
                <a:hlinkClick r:id="rId4" tooltip="Feature (computer vision)"/>
              </a:rPr>
              <a:t>features</a:t>
            </a:r>
            <a:r>
              <a:rPr lang="en-GB" dirty="0"/>
              <a:t>, such as edges and objects. </a:t>
            </a:r>
          </a:p>
          <a:p>
            <a:pPr lvl="1"/>
            <a:endParaRPr lang="en-GB" dirty="0"/>
          </a:p>
          <a:p>
            <a:pPr lvl="1"/>
            <a:endParaRPr lang="en-GB" dirty="0"/>
          </a:p>
          <a:p>
            <a:pPr lvl="1"/>
            <a:endParaRPr lang="en-GB" dirty="0"/>
          </a:p>
          <a:p>
            <a:pPr lvl="1"/>
            <a:endParaRPr lang="en-GB" dirty="0"/>
          </a:p>
          <a:p>
            <a:endParaRPr lang="en-NO" dirty="0"/>
          </a:p>
        </p:txBody>
      </p:sp>
      <p:sp>
        <p:nvSpPr>
          <p:cNvPr id="4" name="Footer Placeholder 3">
            <a:extLst>
              <a:ext uri="{FF2B5EF4-FFF2-40B4-BE49-F238E27FC236}">
                <a16:creationId xmlns:a16="http://schemas.microsoft.com/office/drawing/2014/main" id="{E87B19B3-EBE7-0D4A-BD81-FA55AEC1AA72}"/>
              </a:ext>
            </a:extLst>
          </p:cNvPr>
          <p:cNvSpPr>
            <a:spLocks noGrp="1"/>
          </p:cNvSpPr>
          <p:nvPr>
            <p:ph type="ftr" sz="quarter" idx="11"/>
          </p:nvPr>
        </p:nvSpPr>
        <p:spPr/>
        <p:txBody>
          <a:bodyPr/>
          <a:lstStyle/>
          <a:p>
            <a:r>
              <a:rPr lang="nb-NO"/>
              <a:t>Introduction to A.I - Umair M.I</a:t>
            </a:r>
          </a:p>
        </p:txBody>
      </p:sp>
    </p:spTree>
    <p:extLst>
      <p:ext uri="{BB962C8B-B14F-4D97-AF65-F5344CB8AC3E}">
        <p14:creationId xmlns:p14="http://schemas.microsoft.com/office/powerpoint/2010/main" val="2023907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Feature Engineering">
            <a:extLst>
              <a:ext uri="{FF2B5EF4-FFF2-40B4-BE49-F238E27FC236}">
                <a16:creationId xmlns:a16="http://schemas.microsoft.com/office/drawing/2014/main" id="{1A7AF562-A1ED-D043-B02D-30A8BDFFF6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4602" y="195943"/>
            <a:ext cx="15595819" cy="8775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26739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9644F4A-43A7-5043-AA61-8519D5E19990}"/>
              </a:ext>
            </a:extLst>
          </p:cNvPr>
          <p:cNvSpPr>
            <a:spLocks noGrp="1"/>
          </p:cNvSpPr>
          <p:nvPr>
            <p:ph type="ftr" sz="quarter" idx="11"/>
          </p:nvPr>
        </p:nvSpPr>
        <p:spPr/>
        <p:txBody>
          <a:bodyPr/>
          <a:lstStyle/>
          <a:p>
            <a:r>
              <a:rPr lang="nb-NO"/>
              <a:t>Introduction to A.I - Umair M.I</a:t>
            </a:r>
          </a:p>
        </p:txBody>
      </p:sp>
      <p:pic>
        <p:nvPicPr>
          <p:cNvPr id="1028" name="Picture 4" descr="Tesla Model 3">
            <a:extLst>
              <a:ext uri="{FF2B5EF4-FFF2-40B4-BE49-F238E27FC236}">
                <a16:creationId xmlns:a16="http://schemas.microsoft.com/office/drawing/2014/main" id="{9F67E736-ACDE-394D-ABDD-F8089B0D3E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6513" y="1446213"/>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57965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Feature Engineering Example - Quora">
            <a:extLst>
              <a:ext uri="{FF2B5EF4-FFF2-40B4-BE49-F238E27FC236}">
                <a16:creationId xmlns:a16="http://schemas.microsoft.com/office/drawing/2014/main" id="{CC387870-5EF7-FD40-8265-20BACAB0B9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44228" y="4745135"/>
            <a:ext cx="8665437" cy="4876006"/>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Feature Engineering Example - Quora">
            <a:extLst>
              <a:ext uri="{FF2B5EF4-FFF2-40B4-BE49-F238E27FC236}">
                <a16:creationId xmlns:a16="http://schemas.microsoft.com/office/drawing/2014/main" id="{9538476D-98FD-844E-85A5-2D5162EF47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056" y="0"/>
            <a:ext cx="8668456" cy="4876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8574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Ratios, dates and groups</a:t>
            </a:r>
          </a:p>
        </p:txBody>
      </p:sp>
      <p:sp>
        <p:nvSpPr>
          <p:cNvPr id="4" name="Rectangle 3"/>
          <p:cNvSpPr/>
          <p:nvPr/>
        </p:nvSpPr>
        <p:spPr>
          <a:xfrm>
            <a:off x="969264" y="2057400"/>
            <a:ext cx="15371063" cy="3648456"/>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9264" y="2057400"/>
            <a:ext cx="82296" cy="3648456"/>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89304" y="2221992"/>
            <a:ext cx="14822423" cy="3374136"/>
          </a:xfrm>
          <a:prstGeom prst="rect">
            <a:avLst/>
          </a:prstGeom>
          <a:noFill/>
        </p:spPr>
        <p:txBody>
          <a:bodyPr wrap="none">
            <a:spAutoFit/>
          </a:bodyPr>
          <a:lstStyle/>
          <a:p>
            <a:pPr>
              <a:spcAft>
                <a:spcPts val="200"/>
              </a:spcAft>
            </a:pPr>
            <a:r>
              <a:rPr sz="2100">
                <a:solidFill>
                  <a:srgbClr val="1B7F4B"/>
                </a:solidFill>
                <a:latin typeface="Consolas"/>
              </a:rPr>
              <a:t># models struggle to learn a / b from a and b — so give them the ratio</a:t>
            </a:r>
          </a:p>
          <a:p>
            <a:pPr>
              <a:spcAft>
                <a:spcPts val="200"/>
              </a:spcAft>
            </a:pPr>
            <a:r>
              <a:rPr sz="2100">
                <a:solidFill>
                  <a:srgbClr val="16181D"/>
                </a:solidFill>
                <a:latin typeface="Consolas"/>
              </a:rPr>
              <a:t>df["price_per_m2"] = df["price"] / df["area"]</a:t>
            </a:r>
          </a:p>
          <a:p>
            <a:pPr>
              <a:spcAft>
                <a:spcPts val="200"/>
              </a:spcAft>
            </a:pPr>
            <a:endParaRPr sz="2100">
              <a:solidFill>
                <a:srgbClr val="16181D"/>
              </a:solidFill>
              <a:latin typeface="Consolas"/>
            </a:endParaRPr>
          </a:p>
          <a:p>
            <a:pPr>
              <a:spcAft>
                <a:spcPts val="200"/>
              </a:spcAft>
            </a:pPr>
            <a:r>
              <a:rPr sz="2100">
                <a:solidFill>
                  <a:srgbClr val="16181D"/>
                </a:solidFill>
                <a:latin typeface="Consolas"/>
              </a:rPr>
              <a:t>df["hour"]       = df["ts"].dt.hour          </a:t>
            </a:r>
            <a:r>
              <a:rPr sz="2100">
                <a:solidFill>
                  <a:srgbClr val="1B7F4B"/>
                </a:solidFill>
                <a:latin typeface="Consolas"/>
              </a:rPr>
              <a:t># a raw timestamp is nearly useless</a:t>
            </a:r>
          </a:p>
          <a:p>
            <a:pPr>
              <a:spcAft>
                <a:spcPts val="200"/>
              </a:spcAft>
            </a:pPr>
            <a:r>
              <a:rPr sz="2100">
                <a:solidFill>
                  <a:srgbClr val="16181D"/>
                </a:solidFill>
                <a:latin typeface="Consolas"/>
              </a:rPr>
              <a:t>df["is_weekend"] = df["ts"].dt.dayofweek.isin([5, 6]).astype(int)</a:t>
            </a:r>
          </a:p>
          <a:p>
            <a:pPr>
              <a:spcAft>
                <a:spcPts val="200"/>
              </a:spcAft>
            </a:pPr>
            <a:endParaRPr sz="2100">
              <a:solidFill>
                <a:srgbClr val="16181D"/>
              </a:solidFill>
              <a:latin typeface="Consolas"/>
            </a:endParaRPr>
          </a:p>
          <a:p>
            <a:pPr>
              <a:spcAft>
                <a:spcPts val="200"/>
              </a:spcAft>
            </a:pPr>
            <a:r>
              <a:rPr sz="2100">
                <a:solidFill>
                  <a:srgbClr val="1B7F4B"/>
                </a:solidFill>
                <a:latin typeface="Consolas"/>
              </a:rPr>
              <a:t># aggregate when the data is finer-grained than the prediction</a:t>
            </a:r>
          </a:p>
          <a:p>
            <a:pPr>
              <a:spcAft>
                <a:spcPts val="200"/>
              </a:spcAft>
            </a:pPr>
            <a:r>
              <a:rPr sz="2100">
                <a:solidFill>
                  <a:srgbClr val="16181D"/>
                </a:solidFill>
                <a:latin typeface="Consolas"/>
              </a:rPr>
              <a:t>df["mean_fare_for_class"] = df.groupby("Pclass")["Fare"].transform("mean")</a:t>
            </a:r>
          </a:p>
        </p:txBody>
      </p:sp>
      <p:sp>
        <p:nvSpPr>
          <p:cNvPr id="7" name="TextBox 6"/>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8" name="TextBox 7"/>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68</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More features is not better</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3000" b="0" dirty="0">
                <a:solidFill>
                  <a:srgbClr val="16181D"/>
                </a:solidFill>
                <a:latin typeface="Arial"/>
              </a:rPr>
              <a:t>▪   Irrelevant features add noise, raise overfitting risk and hide the explanation</a:t>
            </a:r>
          </a:p>
          <a:p>
            <a:pPr>
              <a:spcAft>
                <a:spcPts val="1400"/>
              </a:spcAft>
            </a:pPr>
            <a:r>
              <a:rPr sz="3000" b="0" dirty="0">
                <a:solidFill>
                  <a:srgbClr val="16181D"/>
                </a:solidFill>
                <a:latin typeface="Arial"/>
              </a:rPr>
              <a:t>▪   </a:t>
            </a:r>
            <a:r>
              <a:rPr sz="3000" b="1" dirty="0">
                <a:solidFill>
                  <a:srgbClr val="16181D"/>
                </a:solidFill>
                <a:latin typeface="Arial"/>
              </a:rPr>
              <a:t>Curse of dimensionality:</a:t>
            </a:r>
            <a:r>
              <a:rPr sz="3000" b="0" dirty="0">
                <a:solidFill>
                  <a:srgbClr val="16181D"/>
                </a:solidFill>
                <a:latin typeface="Arial"/>
              </a:rPr>
              <a:t> as features grow, the space grows exponentially, your data becomes sparse in it, and distances between points become almost uniform</a:t>
            </a:r>
          </a:p>
          <a:p>
            <a:pPr>
              <a:spcAft>
                <a:spcPts val="800"/>
              </a:spcAft>
            </a:pPr>
            <a:r>
              <a:rPr sz="2500" b="0" dirty="0">
                <a:solidFill>
                  <a:srgbClr val="3A3F47"/>
                </a:solidFill>
                <a:latin typeface="Arial"/>
              </a:rPr>
              <a:t>        –   Which is precisely what breaks KNN, K-means and SVM</a:t>
            </a:r>
          </a:p>
          <a:p>
            <a:pPr>
              <a:spcAft>
                <a:spcPts val="1400"/>
              </a:spcAft>
            </a:pPr>
            <a:r>
              <a:rPr sz="3000" b="0" dirty="0">
                <a:solidFill>
                  <a:srgbClr val="16181D"/>
                </a:solidFill>
                <a:latin typeface="Arial"/>
              </a:rPr>
              <a:t>▪   Free wins: drop identifiers, drop constant columns, drop one of every near-duplicate pair</a:t>
            </a:r>
          </a:p>
          <a:p>
            <a:pPr>
              <a:spcAft>
                <a:spcPts val="1400"/>
              </a:spcAft>
            </a:pPr>
            <a:r>
              <a:rPr sz="3000" b="0" dirty="0">
                <a:solidFill>
                  <a:srgbClr val="16181D"/>
                </a:solidFill>
                <a:latin typeface="Arial"/>
              </a:rPr>
              <a:t>▪   Then: correlation pruning → </a:t>
            </a:r>
            <a:r>
              <a:rPr sz="2800" b="0" dirty="0" err="1">
                <a:solidFill>
                  <a:srgbClr val="0B3D6B"/>
                </a:solidFill>
                <a:latin typeface="Consolas"/>
              </a:rPr>
              <a:t>SelectKBest</a:t>
            </a:r>
            <a:r>
              <a:rPr sz="3000" b="0" dirty="0">
                <a:solidFill>
                  <a:srgbClr val="16181D"/>
                </a:solidFill>
                <a:latin typeface="Arial"/>
              </a:rPr>
              <a:t> → tree importances / Lasso → </a:t>
            </a:r>
            <a:r>
              <a:rPr sz="2800" b="0" dirty="0">
                <a:solidFill>
                  <a:srgbClr val="0B3D6B"/>
                </a:solidFill>
                <a:latin typeface="Consolas"/>
              </a:rPr>
              <a:t>RFE</a:t>
            </a:r>
          </a:p>
          <a:p>
            <a:pPr>
              <a:spcAft>
                <a:spcPts val="600"/>
              </a:spcAft>
            </a:pPr>
            <a:endParaRPr sz="2800" b="0" dirty="0">
              <a:solidFill>
                <a:srgbClr val="0B3D6B"/>
              </a:solidFill>
              <a:latin typeface="Consolas"/>
            </a:endParaRPr>
          </a:p>
          <a:p>
            <a:pPr>
              <a:spcAft>
                <a:spcPts val="1400"/>
              </a:spcAft>
            </a:pPr>
            <a:r>
              <a:rPr sz="3000" b="0" dirty="0">
                <a:solidFill>
                  <a:srgbClr val="16181D"/>
                </a:solidFill>
                <a:latin typeface="Arial"/>
              </a:rPr>
              <a:t>▪   </a:t>
            </a:r>
            <a:r>
              <a:rPr sz="3000" b="1" dirty="0">
                <a:solidFill>
                  <a:srgbClr val="16181D"/>
                </a:solidFill>
                <a:latin typeface="Arial"/>
              </a:rPr>
              <a:t>Any selection that looks at the target must be fitted on train only.</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69</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b-NO" dirty="0"/>
              <a:t>DATA </a:t>
            </a:r>
            <a:r>
              <a:rPr dirty="0"/>
              <a:t>Splitting</a:t>
            </a:r>
            <a:r>
              <a:rPr lang="en-US" dirty="0"/>
              <a:t>, and why it happens before everything</a:t>
            </a:r>
            <a:endParaRPr dirty="0"/>
          </a:p>
        </p:txBody>
      </p:sp>
      <p:sp>
        <p:nvSpPr>
          <p:cNvPr id="4" name="TextBox 3"/>
          <p:cNvSpPr txBox="1"/>
          <p:nvPr/>
        </p:nvSpPr>
        <p:spPr>
          <a:xfrm>
            <a:off x="969264" y="2220686"/>
            <a:ext cx="12801600" cy="548640"/>
          </a:xfrm>
          <a:prstGeom prst="rect">
            <a:avLst/>
          </a:prstGeom>
          <a:noFill/>
        </p:spPr>
        <p:txBody>
          <a:bodyPr wrap="none">
            <a:spAutoFit/>
          </a:bodyPr>
          <a:lstStyle/>
          <a:p>
            <a:r>
              <a:rPr sz="2000" b="1" dirty="0">
                <a:solidFill>
                  <a:srgbClr val="6B7280"/>
                </a:solidFill>
                <a:latin typeface="Arial"/>
              </a:rPr>
              <a:t>PART 8</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70</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train_test_split</a:t>
            </a:r>
          </a:p>
        </p:txBody>
      </p:sp>
      <p:sp>
        <p:nvSpPr>
          <p:cNvPr id="4" name="Rectangle 3"/>
          <p:cNvSpPr/>
          <p:nvPr/>
        </p:nvSpPr>
        <p:spPr>
          <a:xfrm>
            <a:off x="969264" y="2057400"/>
            <a:ext cx="15371063" cy="4032504"/>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9264" y="2057400"/>
            <a:ext cx="82296" cy="403250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89304" y="2221992"/>
            <a:ext cx="14822423" cy="3758184"/>
          </a:xfrm>
          <a:prstGeom prst="rect">
            <a:avLst/>
          </a:prstGeom>
          <a:noFill/>
        </p:spPr>
        <p:txBody>
          <a:bodyPr wrap="none">
            <a:spAutoFit/>
          </a:bodyPr>
          <a:lstStyle/>
          <a:p>
            <a:pPr>
              <a:spcAft>
                <a:spcPts val="200"/>
              </a:spcAft>
            </a:pPr>
            <a:r>
              <a:rPr sz="2100">
                <a:solidFill>
                  <a:srgbClr val="16181D"/>
                </a:solidFill>
                <a:latin typeface="Consolas"/>
              </a:rPr>
              <a:t>X = df.drop(columns=["Survived"])     </a:t>
            </a:r>
            <a:r>
              <a:rPr sz="2100">
                <a:solidFill>
                  <a:srgbClr val="1B7F4B"/>
                </a:solidFill>
                <a:latin typeface="Consolas"/>
              </a:rPr>
              <a:t># features</a:t>
            </a:r>
          </a:p>
          <a:p>
            <a:pPr>
              <a:spcAft>
                <a:spcPts val="200"/>
              </a:spcAft>
            </a:pPr>
            <a:r>
              <a:rPr sz="2100">
                <a:solidFill>
                  <a:srgbClr val="16181D"/>
                </a:solidFill>
                <a:latin typeface="Consolas"/>
              </a:rPr>
              <a:t>y = df["Survived"]                    </a:t>
            </a:r>
            <a:r>
              <a:rPr sz="2100">
                <a:solidFill>
                  <a:srgbClr val="1B7F4B"/>
                </a:solidFill>
                <a:latin typeface="Consolas"/>
              </a:rPr>
              <a:t># target</a:t>
            </a:r>
          </a:p>
          <a:p>
            <a:pPr>
              <a:spcAft>
                <a:spcPts val="200"/>
              </a:spcAft>
            </a:pPr>
            <a:endParaRPr sz="2100">
              <a:solidFill>
                <a:srgbClr val="1B7F4B"/>
              </a:solidFill>
              <a:latin typeface="Consolas"/>
            </a:endParaRPr>
          </a:p>
          <a:p>
            <a:pPr>
              <a:spcAft>
                <a:spcPts val="200"/>
              </a:spcAft>
            </a:pPr>
            <a:r>
              <a:rPr sz="2100">
                <a:solidFill>
                  <a:srgbClr val="16181D"/>
                </a:solidFill>
                <a:latin typeface="Consolas"/>
              </a:rPr>
              <a:t>X_train, X_test, y_train, y_test = train_test_split(</a:t>
            </a:r>
          </a:p>
          <a:p>
            <a:pPr>
              <a:spcAft>
                <a:spcPts val="200"/>
              </a:spcAft>
            </a:pPr>
            <a:r>
              <a:rPr sz="2100">
                <a:solidFill>
                  <a:srgbClr val="16181D"/>
                </a:solidFill>
                <a:latin typeface="Consolas"/>
              </a:rPr>
              <a:t>    X, y,</a:t>
            </a:r>
          </a:p>
          <a:p>
            <a:pPr>
              <a:spcAft>
                <a:spcPts val="200"/>
              </a:spcAft>
            </a:pPr>
            <a:r>
              <a:rPr sz="2100">
                <a:solidFill>
                  <a:srgbClr val="16181D"/>
                </a:solidFill>
                <a:latin typeface="Consolas"/>
              </a:rPr>
              <a:t>    test_size=0.2,        </a:t>
            </a:r>
            <a:r>
              <a:rPr sz="2100">
                <a:solidFill>
                  <a:srgbClr val="1B7F4B"/>
                </a:solidFill>
                <a:latin typeface="Consolas"/>
              </a:rPr>
              <a:t># 80% train, 20% test</a:t>
            </a:r>
          </a:p>
          <a:p>
            <a:pPr>
              <a:spcAft>
                <a:spcPts val="200"/>
              </a:spcAft>
            </a:pPr>
            <a:r>
              <a:rPr sz="2100">
                <a:solidFill>
                  <a:srgbClr val="16181D"/>
                </a:solidFill>
                <a:latin typeface="Consolas"/>
              </a:rPr>
              <a:t>    random_state=42,      </a:t>
            </a:r>
            <a:r>
              <a:rPr sz="2100">
                <a:solidFill>
                  <a:srgbClr val="1B7F4B"/>
                </a:solidFill>
                <a:latin typeface="Consolas"/>
              </a:rPr>
              <a:t># same split every run</a:t>
            </a:r>
          </a:p>
          <a:p>
            <a:pPr>
              <a:spcAft>
                <a:spcPts val="200"/>
              </a:spcAft>
            </a:pPr>
            <a:r>
              <a:rPr sz="2100">
                <a:solidFill>
                  <a:srgbClr val="16181D"/>
                </a:solidFill>
                <a:latin typeface="Consolas"/>
              </a:rPr>
              <a:t>    stratify=y            </a:t>
            </a:r>
            <a:r>
              <a:rPr sz="2100">
                <a:solidFill>
                  <a:srgbClr val="1B7F4B"/>
                </a:solidFill>
                <a:latin typeface="Consolas"/>
              </a:rPr>
              <a:t># preserve the class balance in both halves</a:t>
            </a:r>
          </a:p>
          <a:p>
            <a:pPr>
              <a:spcAft>
                <a:spcPts val="200"/>
              </a:spcAft>
            </a:pPr>
            <a:r>
              <a:rPr sz="2100">
                <a:solidFill>
                  <a:srgbClr val="16181D"/>
                </a:solidFill>
                <a:latin typeface="Consolas"/>
              </a:rPr>
              <a:t>)</a:t>
            </a:r>
          </a:p>
        </p:txBody>
      </p:sp>
      <p:sp>
        <p:nvSpPr>
          <p:cNvPr id="7" name="TextBox 6"/>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8" name="TextBox 7"/>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71</a:t>
            </a:r>
          </a:p>
        </p:txBody>
      </p:sp>
      <p:sp>
        <p:nvSpPr>
          <p:cNvPr id="10" name="TextBox 9">
            <a:extLst>
              <a:ext uri="{FF2B5EF4-FFF2-40B4-BE49-F238E27FC236}">
                <a16:creationId xmlns:a16="http://schemas.microsoft.com/office/drawing/2014/main" id="{5C943C78-0448-9B93-7742-852378632737}"/>
              </a:ext>
            </a:extLst>
          </p:cNvPr>
          <p:cNvSpPr txBox="1"/>
          <p:nvPr/>
        </p:nvSpPr>
        <p:spPr>
          <a:xfrm>
            <a:off x="5982789" y="540287"/>
            <a:ext cx="8678634" cy="355034"/>
          </a:xfrm>
          <a:prstGeom prst="rect">
            <a:avLst/>
          </a:prstGeom>
          <a:noFill/>
        </p:spPr>
        <p:txBody>
          <a:bodyPr wrap="square">
            <a:spAutoFit/>
          </a:bodyPr>
          <a:lstStyle/>
          <a:p>
            <a:r>
              <a:rPr lang="en-US" sz="1707" dirty="0" err="1"/>
              <a:t>X_train</a:t>
            </a:r>
            <a:r>
              <a:rPr lang="en-US" sz="1707" dirty="0"/>
              <a:t>, </a:t>
            </a:r>
            <a:r>
              <a:rPr lang="en-US" sz="1707" dirty="0" err="1"/>
              <a:t>X_test</a:t>
            </a:r>
            <a:r>
              <a:rPr lang="en-US" sz="1707" dirty="0"/>
              <a:t>, </a:t>
            </a:r>
            <a:r>
              <a:rPr lang="en-US" sz="1707" dirty="0" err="1"/>
              <a:t>y_train</a:t>
            </a:r>
            <a:r>
              <a:rPr lang="en-US" sz="1707" dirty="0"/>
              <a:t>, </a:t>
            </a:r>
            <a:r>
              <a:rPr lang="en-US" sz="1707" dirty="0" err="1"/>
              <a:t>y_test</a:t>
            </a:r>
            <a:r>
              <a:rPr lang="en-US" sz="1707" dirty="0"/>
              <a:t> </a:t>
            </a: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Three arguments, three reasons</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3000" b="0">
                <a:solidFill>
                  <a:srgbClr val="16181D"/>
                </a:solidFill>
                <a:latin typeface="Arial"/>
              </a:rPr>
              <a:t>▪   </a:t>
            </a:r>
            <a:r>
              <a:rPr sz="3000" b="1">
                <a:solidFill>
                  <a:srgbClr val="16181D"/>
                </a:solidFill>
                <a:latin typeface="Arial"/>
              </a:rPr>
              <a:t>`test_size=0.2`</a:t>
            </a:r>
            <a:r>
              <a:rPr sz="3000" b="0">
                <a:solidFill>
                  <a:srgbClr val="16181D"/>
                </a:solidFill>
                <a:latin typeface="Arial"/>
              </a:rPr>
              <a:t> → 80% train / 20% test. Not the other way round.</a:t>
            </a:r>
          </a:p>
          <a:p>
            <a:pPr>
              <a:spcAft>
                <a:spcPts val="1400"/>
              </a:spcAft>
            </a:pPr>
            <a:r>
              <a:rPr sz="3000" b="0">
                <a:solidFill>
                  <a:srgbClr val="16181D"/>
                </a:solidFill>
                <a:latin typeface="Arial"/>
              </a:rPr>
              <a:t>▪   </a:t>
            </a:r>
            <a:r>
              <a:rPr sz="3000" b="1">
                <a:solidFill>
                  <a:srgbClr val="16181D"/>
                </a:solidFill>
                <a:latin typeface="Arial"/>
              </a:rPr>
              <a:t>`random_state=42`</a:t>
            </a:r>
            <a:r>
              <a:rPr sz="3000" b="0">
                <a:solidFill>
                  <a:srgbClr val="16181D"/>
                </a:solidFill>
                <a:latin typeface="Arial"/>
              </a:rPr>
              <a:t> → your group gets the same split and the same numbers</a:t>
            </a:r>
          </a:p>
          <a:p>
            <a:pPr>
              <a:spcAft>
                <a:spcPts val="800"/>
              </a:spcAft>
            </a:pPr>
            <a:r>
              <a:rPr sz="2500" b="0">
                <a:solidFill>
                  <a:srgbClr val="3A3F47"/>
                </a:solidFill>
                <a:latin typeface="Arial"/>
              </a:rPr>
              <a:t>        –   Without it, your 'improvement' may just be a luckier shuffle</a:t>
            </a:r>
          </a:p>
          <a:p>
            <a:pPr>
              <a:spcAft>
                <a:spcPts val="1400"/>
              </a:spcAft>
            </a:pPr>
            <a:r>
              <a:rPr sz="3000" b="0">
                <a:solidFill>
                  <a:srgbClr val="16181D"/>
                </a:solidFill>
                <a:latin typeface="Arial"/>
              </a:rPr>
              <a:t>▪   </a:t>
            </a:r>
            <a:r>
              <a:rPr sz="3000" b="1">
                <a:solidFill>
                  <a:srgbClr val="16181D"/>
                </a:solidFill>
                <a:latin typeface="Arial"/>
              </a:rPr>
              <a:t>`stratify=y`</a:t>
            </a:r>
            <a:r>
              <a:rPr sz="3000" b="0">
                <a:solidFill>
                  <a:srgbClr val="16181D"/>
                </a:solidFill>
                <a:latin typeface="Arial"/>
              </a:rPr>
              <a:t> → keeps the class balance identical in both halves</a:t>
            </a:r>
          </a:p>
          <a:p>
            <a:pPr>
              <a:spcAft>
                <a:spcPts val="800"/>
              </a:spcAft>
            </a:pPr>
            <a:r>
              <a:rPr sz="2500" b="0">
                <a:solidFill>
                  <a:srgbClr val="3A3F47"/>
                </a:solidFill>
                <a:latin typeface="Arial"/>
              </a:rPr>
              <a:t>        –   With 10% positives and no stratification, the test set can end up with almost none</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      ·      reference slide — also in the handout</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72</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Three sets, not two</a:t>
            </a:r>
          </a:p>
        </p:txBody>
      </p:sp>
      <p:graphicFrame>
        <p:nvGraphicFramePr>
          <p:cNvPr id="4" name="Table 3"/>
          <p:cNvGraphicFramePr>
            <a:graphicFrameLocks noGrp="1"/>
          </p:cNvGraphicFramePr>
          <p:nvPr/>
        </p:nvGraphicFramePr>
        <p:xfrm>
          <a:off x="969264" y="2057400"/>
          <a:ext cx="15371061" cy="2267712"/>
        </p:xfrm>
        <a:graphic>
          <a:graphicData uri="http://schemas.openxmlformats.org/drawingml/2006/table">
            <a:tbl>
              <a:tblPr firstRow="1" bandRow="1">
                <a:tableStyleId>{5C22544A-7EE6-4342-B048-85BDC9FD1C3A}</a:tableStyleId>
              </a:tblPr>
              <a:tblGrid>
                <a:gridCol w="2561843">
                  <a:extLst>
                    <a:ext uri="{9D8B030D-6E8A-4147-A177-3AD203B41FA5}">
                      <a16:colId xmlns:a16="http://schemas.microsoft.com/office/drawing/2014/main" val="20000"/>
                    </a:ext>
                  </a:extLst>
                </a:gridCol>
                <a:gridCol w="7685531">
                  <a:extLst>
                    <a:ext uri="{9D8B030D-6E8A-4147-A177-3AD203B41FA5}">
                      <a16:colId xmlns:a16="http://schemas.microsoft.com/office/drawing/2014/main" val="20001"/>
                    </a:ext>
                  </a:extLst>
                </a:gridCol>
                <a:gridCol w="5123687">
                  <a:extLst>
                    <a:ext uri="{9D8B030D-6E8A-4147-A177-3AD203B41FA5}">
                      <a16:colId xmlns:a16="http://schemas.microsoft.com/office/drawing/2014/main" val="20002"/>
                    </a:ext>
                  </a:extLst>
                </a:gridCol>
              </a:tblGrid>
              <a:tr h="566928">
                <a:tc>
                  <a:txBody>
                    <a:bodyPr/>
                    <a:lstStyle/>
                    <a:p>
                      <a:r>
                        <a:rPr sz="2100" b="1">
                          <a:solidFill>
                            <a:srgbClr val="16181D"/>
                          </a:solidFill>
                          <a:latin typeface="Arial"/>
                        </a:rPr>
                        <a:t>Set</a:t>
                      </a:r>
                    </a:p>
                  </a:txBody>
                  <a:tcPr marL="109728" marR="109728">
                    <a:solidFill>
                      <a:srgbClr val="FFDC00"/>
                    </a:solidFill>
                  </a:tcPr>
                </a:tc>
                <a:tc>
                  <a:txBody>
                    <a:bodyPr/>
                    <a:lstStyle/>
                    <a:p>
                      <a:r>
                        <a:rPr sz="2100" b="1">
                          <a:solidFill>
                            <a:srgbClr val="16181D"/>
                          </a:solidFill>
                          <a:latin typeface="Arial"/>
                        </a:rPr>
                        <a:t>Purpose</a:t>
                      </a:r>
                    </a:p>
                  </a:txBody>
                  <a:tcPr marL="109728" marR="109728">
                    <a:solidFill>
                      <a:srgbClr val="FFDC00"/>
                    </a:solidFill>
                  </a:tcPr>
                </a:tc>
                <a:tc>
                  <a:txBody>
                    <a:bodyPr/>
                    <a:lstStyle/>
                    <a:p>
                      <a:r>
                        <a:rPr sz="2100" b="1">
                          <a:solidFill>
                            <a:srgbClr val="16181D"/>
                          </a:solidFill>
                          <a:latin typeface="Arial"/>
                        </a:rPr>
                        <a:t>Seen by the model?</a:t>
                      </a:r>
                    </a:p>
                  </a:txBody>
                  <a:tcPr marL="109728" marR="109728">
                    <a:solidFill>
                      <a:srgbClr val="FFDC00"/>
                    </a:solidFill>
                  </a:tcPr>
                </a:tc>
                <a:extLst>
                  <a:ext uri="{0D108BD9-81ED-4DB2-BD59-A6C34878D82A}">
                    <a16:rowId xmlns:a16="http://schemas.microsoft.com/office/drawing/2014/main" val="10000"/>
                  </a:ext>
                </a:extLst>
              </a:tr>
              <a:tr h="566928">
                <a:tc>
                  <a:txBody>
                    <a:bodyPr/>
                    <a:lstStyle/>
                    <a:p>
                      <a:r>
                        <a:rPr sz="2000" b="0">
                          <a:solidFill>
                            <a:srgbClr val="16181D"/>
                          </a:solidFill>
                          <a:latin typeface="Arial"/>
                        </a:rPr>
                        <a:t>Training</a:t>
                      </a:r>
                    </a:p>
                  </a:txBody>
                  <a:tcPr marL="109728" marR="109728">
                    <a:solidFill>
                      <a:srgbClr val="FFFFFF"/>
                    </a:solidFill>
                  </a:tcPr>
                </a:tc>
                <a:tc>
                  <a:txBody>
                    <a:bodyPr/>
                    <a:lstStyle/>
                    <a:p>
                      <a:r>
                        <a:rPr sz="2000" b="0">
                          <a:solidFill>
                            <a:srgbClr val="16181D"/>
                          </a:solidFill>
                          <a:latin typeface="Arial"/>
                        </a:rPr>
                        <a:t>Fit the model's parameters</a:t>
                      </a:r>
                    </a:p>
                  </a:txBody>
                  <a:tcPr marL="109728" marR="109728">
                    <a:solidFill>
                      <a:srgbClr val="FFFFFF"/>
                    </a:solidFill>
                  </a:tcPr>
                </a:tc>
                <a:tc>
                  <a:txBody>
                    <a:bodyPr/>
                    <a:lstStyle/>
                    <a:p>
                      <a:r>
                        <a:rPr sz="2000" b="0">
                          <a:solidFill>
                            <a:srgbClr val="16181D"/>
                          </a:solidFill>
                          <a:latin typeface="Arial"/>
                        </a:rPr>
                        <a:t>Yes, directly</a:t>
                      </a:r>
                    </a:p>
                  </a:txBody>
                  <a:tcPr marL="109728" marR="109728">
                    <a:solidFill>
                      <a:srgbClr val="FFFFFF"/>
                    </a:solidFill>
                  </a:tcPr>
                </a:tc>
                <a:extLst>
                  <a:ext uri="{0D108BD9-81ED-4DB2-BD59-A6C34878D82A}">
                    <a16:rowId xmlns:a16="http://schemas.microsoft.com/office/drawing/2014/main" val="10001"/>
                  </a:ext>
                </a:extLst>
              </a:tr>
              <a:tr h="566928">
                <a:tc>
                  <a:txBody>
                    <a:bodyPr/>
                    <a:lstStyle/>
                    <a:p>
                      <a:r>
                        <a:rPr sz="2000" b="0">
                          <a:solidFill>
                            <a:srgbClr val="16181D"/>
                          </a:solidFill>
                          <a:latin typeface="Arial"/>
                        </a:rPr>
                        <a:t>Validation</a:t>
                      </a:r>
                    </a:p>
                  </a:txBody>
                  <a:tcPr marL="109728" marR="109728">
                    <a:solidFill>
                      <a:srgbClr val="F7F8FA"/>
                    </a:solidFill>
                  </a:tcPr>
                </a:tc>
                <a:tc>
                  <a:txBody>
                    <a:bodyPr/>
                    <a:lstStyle/>
                    <a:p>
                      <a:r>
                        <a:rPr sz="2000" b="0">
                          <a:solidFill>
                            <a:srgbClr val="16181D"/>
                          </a:solidFill>
                          <a:latin typeface="Arial"/>
                        </a:rPr>
                        <a:t>Choose hyperparameters, compare models</a:t>
                      </a:r>
                    </a:p>
                  </a:txBody>
                  <a:tcPr marL="109728" marR="109728">
                    <a:solidFill>
                      <a:srgbClr val="F7F8FA"/>
                    </a:solidFill>
                  </a:tcPr>
                </a:tc>
                <a:tc>
                  <a:txBody>
                    <a:bodyPr/>
                    <a:lstStyle/>
                    <a:p>
                      <a:r>
                        <a:rPr sz="2000" b="0">
                          <a:solidFill>
                            <a:srgbClr val="16181D"/>
                          </a:solidFill>
                          <a:latin typeface="Arial"/>
                        </a:rPr>
                        <a:t>Indirectly — through your choices</a:t>
                      </a:r>
                    </a:p>
                  </a:txBody>
                  <a:tcPr marL="109728" marR="109728">
                    <a:solidFill>
                      <a:srgbClr val="F7F8FA"/>
                    </a:solidFill>
                  </a:tcPr>
                </a:tc>
                <a:extLst>
                  <a:ext uri="{0D108BD9-81ED-4DB2-BD59-A6C34878D82A}">
                    <a16:rowId xmlns:a16="http://schemas.microsoft.com/office/drawing/2014/main" val="10002"/>
                  </a:ext>
                </a:extLst>
              </a:tr>
              <a:tr h="566928">
                <a:tc>
                  <a:txBody>
                    <a:bodyPr/>
                    <a:lstStyle/>
                    <a:p>
                      <a:r>
                        <a:rPr sz="2000" b="0">
                          <a:solidFill>
                            <a:srgbClr val="16181D"/>
                          </a:solidFill>
                          <a:latin typeface="Arial"/>
                        </a:rPr>
                        <a:t>Test</a:t>
                      </a:r>
                    </a:p>
                  </a:txBody>
                  <a:tcPr marL="109728" marR="109728">
                    <a:solidFill>
                      <a:srgbClr val="FFFFFF"/>
                    </a:solidFill>
                  </a:tcPr>
                </a:tc>
                <a:tc>
                  <a:txBody>
                    <a:bodyPr/>
                    <a:lstStyle/>
                    <a:p>
                      <a:r>
                        <a:rPr sz="2000" b="0">
                          <a:solidFill>
                            <a:srgbClr val="16181D"/>
                          </a:solidFill>
                          <a:latin typeface="Arial"/>
                        </a:rPr>
                        <a:t>One final honest estimate</a:t>
                      </a:r>
                    </a:p>
                  </a:txBody>
                  <a:tcPr marL="109728" marR="109728">
                    <a:solidFill>
                      <a:srgbClr val="FFFFFF"/>
                    </a:solidFill>
                  </a:tcPr>
                </a:tc>
                <a:tc>
                  <a:txBody>
                    <a:bodyPr/>
                    <a:lstStyle/>
                    <a:p>
                      <a:r>
                        <a:rPr sz="2000" b="0">
                          <a:solidFill>
                            <a:srgbClr val="16181D"/>
                          </a:solidFill>
                          <a:latin typeface="Arial"/>
                        </a:rPr>
                        <a:t>No — ideally used once</a:t>
                      </a:r>
                    </a:p>
                  </a:txBody>
                  <a:tcPr marL="109728" marR="109728">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969264" y="7237413"/>
            <a:ext cx="15371063" cy="457200"/>
          </a:xfrm>
          <a:prstGeom prst="rect">
            <a:avLst/>
          </a:prstGeom>
          <a:noFill/>
        </p:spPr>
        <p:txBody>
          <a:bodyPr wrap="none">
            <a:spAutoFit/>
          </a:bodyPr>
          <a:lstStyle/>
          <a:p>
            <a:r>
              <a:rPr sz="1700" b="0" dirty="0">
                <a:solidFill>
                  <a:srgbClr val="6B7280"/>
                </a:solidFill>
                <a:latin typeface="Arial"/>
              </a:rPr>
              <a:t>Every time you look at the test score and change something, you leak information through your own decisions.</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73</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When random splitting is wrong</a:t>
            </a:r>
          </a:p>
        </p:txBody>
      </p:sp>
      <p:sp>
        <p:nvSpPr>
          <p:cNvPr id="4" name="TextBox 3"/>
          <p:cNvSpPr txBox="1"/>
          <p:nvPr/>
        </p:nvSpPr>
        <p:spPr>
          <a:xfrm>
            <a:off x="969264" y="2057400"/>
            <a:ext cx="15371063" cy="4503797"/>
          </a:xfrm>
          <a:prstGeom prst="rect">
            <a:avLst/>
          </a:prstGeom>
          <a:noFill/>
        </p:spPr>
        <p:txBody>
          <a:bodyPr wrap="square">
            <a:spAutoFit/>
          </a:bodyPr>
          <a:lstStyle/>
          <a:p>
            <a:pPr>
              <a:spcAft>
                <a:spcPts val="1400"/>
              </a:spcAft>
            </a:pPr>
            <a:r>
              <a:rPr sz="3000" b="0" dirty="0">
                <a:solidFill>
                  <a:srgbClr val="16181D"/>
                </a:solidFill>
                <a:latin typeface="Arial"/>
              </a:rPr>
              <a:t>▪   </a:t>
            </a:r>
            <a:r>
              <a:rPr sz="3000" b="1" dirty="0">
                <a:solidFill>
                  <a:srgbClr val="16181D"/>
                </a:solidFill>
                <a:latin typeface="Arial"/>
              </a:rPr>
              <a:t>Time series</a:t>
            </a:r>
            <a:r>
              <a:rPr sz="3000" b="0" dirty="0">
                <a:solidFill>
                  <a:srgbClr val="16181D"/>
                </a:solidFill>
                <a:latin typeface="Arial"/>
              </a:rPr>
              <a:t> — predicting the past from the future is leakage</a:t>
            </a:r>
          </a:p>
          <a:p>
            <a:pPr>
              <a:spcAft>
                <a:spcPts val="800"/>
              </a:spcAft>
            </a:pPr>
            <a:r>
              <a:rPr sz="2500" b="0" dirty="0">
                <a:solidFill>
                  <a:srgbClr val="3A3F47"/>
                </a:solidFill>
                <a:latin typeface="Arial"/>
              </a:rPr>
              <a:t>        –   Split by time: train on Jan–Sep, test on Oct–Dec. </a:t>
            </a:r>
            <a:r>
              <a:rPr sz="2300" b="0" dirty="0" err="1">
                <a:solidFill>
                  <a:srgbClr val="0B3D6B"/>
                </a:solidFill>
                <a:latin typeface="Consolas"/>
              </a:rPr>
              <a:t>TimeSeriesSplit</a:t>
            </a:r>
            <a:r>
              <a:rPr sz="2500" b="0" dirty="0">
                <a:solidFill>
                  <a:srgbClr val="3A3F47"/>
                </a:solidFill>
                <a:latin typeface="Arial"/>
              </a:rPr>
              <a:t>.</a:t>
            </a:r>
            <a:endParaRPr lang="nb-NO" sz="2500" b="0" dirty="0">
              <a:solidFill>
                <a:srgbClr val="3A3F47"/>
              </a:solidFill>
              <a:latin typeface="Arial"/>
            </a:endParaRPr>
          </a:p>
          <a:p>
            <a:pPr>
              <a:spcAft>
                <a:spcPts val="800"/>
              </a:spcAft>
            </a:pPr>
            <a:endParaRPr sz="2500" b="0" dirty="0">
              <a:solidFill>
                <a:srgbClr val="3A3F47"/>
              </a:solidFill>
              <a:latin typeface="Arial"/>
            </a:endParaRPr>
          </a:p>
          <a:p>
            <a:pPr>
              <a:spcAft>
                <a:spcPts val="1400"/>
              </a:spcAft>
            </a:pPr>
            <a:r>
              <a:rPr sz="3000" b="0" dirty="0">
                <a:solidFill>
                  <a:srgbClr val="16181D"/>
                </a:solidFill>
                <a:latin typeface="Arial"/>
              </a:rPr>
              <a:t>▪   </a:t>
            </a:r>
            <a:r>
              <a:rPr sz="3000" b="1" dirty="0">
                <a:solidFill>
                  <a:srgbClr val="16181D"/>
                </a:solidFill>
                <a:latin typeface="Arial"/>
              </a:rPr>
              <a:t>Grouped data</a:t>
            </a:r>
            <a:r>
              <a:rPr sz="3000" b="0" dirty="0">
                <a:solidFill>
                  <a:srgbClr val="16181D"/>
                </a:solidFill>
                <a:latin typeface="Arial"/>
              </a:rPr>
              <a:t> — ten photos of the same patient, twenty reviews by the same user</a:t>
            </a:r>
          </a:p>
          <a:p>
            <a:pPr>
              <a:spcAft>
                <a:spcPts val="800"/>
              </a:spcAft>
            </a:pPr>
            <a:r>
              <a:rPr sz="2500" b="0" dirty="0">
                <a:solidFill>
                  <a:srgbClr val="3A3F47"/>
                </a:solidFill>
                <a:latin typeface="Arial"/>
              </a:rPr>
              <a:t>        –   The model learns to </a:t>
            </a:r>
            <a:r>
              <a:rPr sz="2500" b="0" dirty="0" err="1">
                <a:solidFill>
                  <a:srgbClr val="3A3F47"/>
                </a:solidFill>
                <a:latin typeface="Arial"/>
              </a:rPr>
              <a:t>recognise</a:t>
            </a:r>
            <a:r>
              <a:rPr sz="2500" b="0" dirty="0">
                <a:solidFill>
                  <a:srgbClr val="3A3F47"/>
                </a:solidFill>
                <a:latin typeface="Arial"/>
              </a:rPr>
              <a:t> the patient, not the disease. </a:t>
            </a:r>
            <a:r>
              <a:rPr sz="2300" b="0" dirty="0">
                <a:solidFill>
                  <a:srgbClr val="0B3D6B"/>
                </a:solidFill>
                <a:latin typeface="Consolas"/>
              </a:rPr>
              <a:t>GroupShuffleSplit</a:t>
            </a:r>
            <a:r>
              <a:rPr sz="2500" b="0" dirty="0">
                <a:solidFill>
                  <a:srgbClr val="3A3F47"/>
                </a:solidFill>
                <a:latin typeface="Arial"/>
              </a:rPr>
              <a:t>.</a:t>
            </a:r>
          </a:p>
          <a:p>
            <a:pPr>
              <a:spcAft>
                <a:spcPts val="1400"/>
              </a:spcAft>
            </a:pPr>
            <a:endParaRPr lang="nb-NO" sz="3000" b="0" dirty="0">
              <a:solidFill>
                <a:srgbClr val="16181D"/>
              </a:solidFill>
              <a:latin typeface="Arial"/>
            </a:endParaRPr>
          </a:p>
          <a:p>
            <a:pPr>
              <a:spcAft>
                <a:spcPts val="1400"/>
              </a:spcAft>
            </a:pPr>
            <a:r>
              <a:rPr sz="3000" b="0" dirty="0">
                <a:solidFill>
                  <a:srgbClr val="16181D"/>
                </a:solidFill>
                <a:latin typeface="Arial"/>
              </a:rPr>
              <a:t>▪   </a:t>
            </a:r>
            <a:r>
              <a:rPr sz="3000" b="1" dirty="0">
                <a:solidFill>
                  <a:srgbClr val="16181D"/>
                </a:solidFill>
                <a:latin typeface="Arial"/>
              </a:rPr>
              <a:t>Already-oversampled data</a:t>
            </a:r>
            <a:r>
              <a:rPr sz="3000" b="0" dirty="0">
                <a:solidFill>
                  <a:srgbClr val="16181D"/>
                </a:solidFill>
                <a:latin typeface="Arial"/>
              </a:rPr>
              <a:t> — copies of the same row land on both sides</a:t>
            </a:r>
          </a:p>
          <a:p>
            <a:pPr>
              <a:spcAft>
                <a:spcPts val="800"/>
              </a:spcAft>
            </a:pPr>
            <a:r>
              <a:rPr sz="2500" b="0" dirty="0">
                <a:solidFill>
                  <a:srgbClr val="3A3F47"/>
                </a:solidFill>
                <a:latin typeface="Arial"/>
              </a:rPr>
              <a:t>        –   Resample the training set only, and only after splitting</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74</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99% accuracy again — this time honestly</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3000" b="0">
                <a:solidFill>
                  <a:srgbClr val="16181D"/>
                </a:solidFill>
                <a:latin typeface="Arial"/>
              </a:rPr>
              <a:t>▪   99% of transactions are legitimate</a:t>
            </a:r>
          </a:p>
          <a:p>
            <a:pPr>
              <a:spcAft>
                <a:spcPts val="1400"/>
              </a:spcAft>
            </a:pPr>
            <a:r>
              <a:rPr sz="3000" b="0">
                <a:solidFill>
                  <a:srgbClr val="16181D"/>
                </a:solidFill>
                <a:latin typeface="Arial"/>
              </a:rPr>
              <a:t>▪   'Always predict legitimate' → </a:t>
            </a:r>
            <a:r>
              <a:rPr sz="3000" b="1">
                <a:solidFill>
                  <a:srgbClr val="16181D"/>
                </a:solidFill>
                <a:latin typeface="Arial"/>
              </a:rPr>
              <a:t>99% accuracy, zero fraud caught</a:t>
            </a:r>
          </a:p>
          <a:p>
            <a:pPr>
              <a:spcAft>
                <a:spcPts val="600"/>
              </a:spcAft>
            </a:pPr>
            <a:endParaRPr sz="3000" b="1">
              <a:solidFill>
                <a:srgbClr val="16181D"/>
              </a:solidFill>
              <a:latin typeface="Arial"/>
            </a:endParaRPr>
          </a:p>
          <a:p>
            <a:pPr>
              <a:spcAft>
                <a:spcPts val="1400"/>
              </a:spcAft>
            </a:pPr>
            <a:r>
              <a:rPr sz="3000" b="0">
                <a:solidFill>
                  <a:srgbClr val="16181D"/>
                </a:solidFill>
                <a:latin typeface="Arial"/>
              </a:rPr>
              <a:t>▪   What to change:</a:t>
            </a:r>
          </a:p>
          <a:p>
            <a:pPr>
              <a:spcAft>
                <a:spcPts val="800"/>
              </a:spcAft>
            </a:pPr>
            <a:r>
              <a:rPr sz="2500" b="0">
                <a:solidFill>
                  <a:srgbClr val="3A3F47"/>
                </a:solidFill>
                <a:latin typeface="Arial"/>
              </a:rPr>
              <a:t>        –   </a:t>
            </a:r>
            <a:r>
              <a:rPr sz="2500" b="1">
                <a:solidFill>
                  <a:srgbClr val="3A3F47"/>
                </a:solidFill>
                <a:latin typeface="Arial"/>
              </a:rPr>
              <a:t>The metric</a:t>
            </a:r>
            <a:r>
              <a:rPr sz="2500" b="0">
                <a:solidFill>
                  <a:srgbClr val="3A3F47"/>
                </a:solidFill>
                <a:latin typeface="Arial"/>
              </a:rPr>
              <a:t> — precision, recall, F1, confusion matrix (Lecture 6)</a:t>
            </a:r>
          </a:p>
          <a:p>
            <a:pPr>
              <a:spcAft>
                <a:spcPts val="800"/>
              </a:spcAft>
            </a:pPr>
            <a:r>
              <a:rPr sz="2500" b="0">
                <a:solidFill>
                  <a:srgbClr val="3A3F47"/>
                </a:solidFill>
                <a:latin typeface="Arial"/>
              </a:rPr>
              <a:t>        –   </a:t>
            </a:r>
            <a:r>
              <a:rPr sz="2500" b="1">
                <a:solidFill>
                  <a:srgbClr val="3A3F47"/>
                </a:solidFill>
                <a:latin typeface="Arial"/>
              </a:rPr>
              <a:t>`class_weight="balanced"`</a:t>
            </a:r>
            <a:r>
              <a:rPr sz="2500" b="0">
                <a:solidFill>
                  <a:srgbClr val="3A3F47"/>
                </a:solidFill>
                <a:latin typeface="Arial"/>
              </a:rPr>
              <a:t> — errors on the rare class cost more. Try this first.</a:t>
            </a:r>
          </a:p>
          <a:p>
            <a:pPr>
              <a:spcAft>
                <a:spcPts val="800"/>
              </a:spcAft>
            </a:pPr>
            <a:r>
              <a:rPr sz="2500" b="0">
                <a:solidFill>
                  <a:srgbClr val="3A3F47"/>
                </a:solidFill>
                <a:latin typeface="Arial"/>
              </a:rPr>
              <a:t>        –   Undersample the majority, or oversample the minority (SMOTE)</a:t>
            </a:r>
          </a:p>
          <a:p>
            <a:pPr>
              <a:spcAft>
                <a:spcPts val="800"/>
              </a:spcAft>
            </a:pPr>
            <a:r>
              <a:rPr sz="2500" b="0">
                <a:solidFill>
                  <a:srgbClr val="3A3F47"/>
                </a:solidFill>
                <a:latin typeface="Arial"/>
              </a:rPr>
              <a:t>        –   </a:t>
            </a:r>
            <a:r>
              <a:rPr sz="2500" b="1">
                <a:solidFill>
                  <a:srgbClr val="3A3F47"/>
                </a:solidFill>
                <a:latin typeface="Arial"/>
              </a:rPr>
              <a:t>Collect more of the rare class</a:t>
            </a:r>
            <a:r>
              <a:rPr sz="2500" b="0">
                <a:solidFill>
                  <a:srgbClr val="3A3F47"/>
                </a:solidFill>
                <a:latin typeface="Arial"/>
              </a:rPr>
              <a:t> — always the best answer</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75</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Putting it together</a:t>
            </a:r>
          </a:p>
        </p:txBody>
      </p:sp>
      <p:sp>
        <p:nvSpPr>
          <p:cNvPr id="3" name="Rectangle 2"/>
          <p:cNvSpPr/>
          <p:nvPr/>
        </p:nvSpPr>
        <p:spPr>
          <a:xfrm>
            <a:off x="969264" y="3566160"/>
            <a:ext cx="2926080" cy="201168"/>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3886200"/>
            <a:ext cx="12801600" cy="548640"/>
          </a:xfrm>
          <a:prstGeom prst="rect">
            <a:avLst/>
          </a:prstGeom>
          <a:noFill/>
        </p:spPr>
        <p:txBody>
          <a:bodyPr wrap="none">
            <a:spAutoFit/>
          </a:bodyPr>
          <a:lstStyle/>
          <a:p>
            <a:r>
              <a:rPr sz="2000" b="1">
                <a:solidFill>
                  <a:srgbClr val="6B7280"/>
                </a:solidFill>
                <a:latin typeface="Arial"/>
              </a:rPr>
              <a:t>PART 9</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76</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One object that does all of it</a:t>
            </a:r>
          </a:p>
        </p:txBody>
      </p:sp>
      <p:sp>
        <p:nvSpPr>
          <p:cNvPr id="4" name="Rectangle 3"/>
          <p:cNvSpPr/>
          <p:nvPr/>
        </p:nvSpPr>
        <p:spPr>
          <a:xfrm>
            <a:off x="969264" y="2057400"/>
            <a:ext cx="15371063" cy="5184648"/>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9264" y="2057400"/>
            <a:ext cx="82296" cy="5184648"/>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89304" y="2221992"/>
            <a:ext cx="14822423" cy="4910328"/>
          </a:xfrm>
          <a:prstGeom prst="rect">
            <a:avLst/>
          </a:prstGeom>
          <a:noFill/>
        </p:spPr>
        <p:txBody>
          <a:bodyPr wrap="none">
            <a:spAutoFit/>
          </a:bodyPr>
          <a:lstStyle/>
          <a:p>
            <a:pPr>
              <a:spcAft>
                <a:spcPts val="200"/>
              </a:spcAft>
            </a:pPr>
            <a:r>
              <a:rPr sz="1900">
                <a:solidFill>
                  <a:srgbClr val="16181D"/>
                </a:solidFill>
                <a:latin typeface="Consolas"/>
              </a:rPr>
              <a:t>numeric     = ["Age", "Fare", "SibSp", "Parch"]</a:t>
            </a:r>
          </a:p>
          <a:p>
            <a:pPr>
              <a:spcAft>
                <a:spcPts val="200"/>
              </a:spcAft>
            </a:pPr>
            <a:r>
              <a:rPr sz="1900">
                <a:solidFill>
                  <a:srgbClr val="16181D"/>
                </a:solidFill>
                <a:latin typeface="Consolas"/>
              </a:rPr>
              <a:t>categorical = ["Sex", "Embarked", "Pclass"]</a:t>
            </a:r>
          </a:p>
          <a:p>
            <a:pPr>
              <a:spcAft>
                <a:spcPts val="200"/>
              </a:spcAft>
            </a:pPr>
            <a:endParaRPr sz="1900">
              <a:solidFill>
                <a:srgbClr val="16181D"/>
              </a:solidFill>
              <a:latin typeface="Consolas"/>
            </a:endParaRPr>
          </a:p>
          <a:p>
            <a:pPr>
              <a:spcAft>
                <a:spcPts val="200"/>
              </a:spcAft>
            </a:pPr>
            <a:r>
              <a:rPr sz="1900">
                <a:solidFill>
                  <a:srgbClr val="16181D"/>
                </a:solidFill>
                <a:latin typeface="Consolas"/>
              </a:rPr>
              <a:t>preprocessor = ColumnTransformer([</a:t>
            </a:r>
          </a:p>
          <a:p>
            <a:pPr>
              <a:spcAft>
                <a:spcPts val="200"/>
              </a:spcAft>
            </a:pPr>
            <a:r>
              <a:rPr sz="1900">
                <a:solidFill>
                  <a:srgbClr val="16181D"/>
                </a:solidFill>
                <a:latin typeface="Consolas"/>
              </a:rPr>
              <a:t>    ("num", Pipeline([("imp", SimpleImputer(strategy="median")),</a:t>
            </a:r>
          </a:p>
          <a:p>
            <a:pPr>
              <a:spcAft>
                <a:spcPts val="200"/>
              </a:spcAft>
            </a:pPr>
            <a:r>
              <a:rPr sz="1900">
                <a:solidFill>
                  <a:srgbClr val="16181D"/>
                </a:solidFill>
                <a:latin typeface="Consolas"/>
              </a:rPr>
              <a:t>                      ("sc",  StandardScaler())]), numeric),</a:t>
            </a:r>
          </a:p>
          <a:p>
            <a:pPr>
              <a:spcAft>
                <a:spcPts val="200"/>
              </a:spcAft>
            </a:pPr>
            <a:r>
              <a:rPr sz="1900">
                <a:solidFill>
                  <a:srgbClr val="16181D"/>
                </a:solidFill>
                <a:latin typeface="Consolas"/>
              </a:rPr>
              <a:t>    ("cat", Pipeline([("imp", SimpleImputer(strategy="most_frequent")),</a:t>
            </a:r>
          </a:p>
          <a:p>
            <a:pPr>
              <a:spcAft>
                <a:spcPts val="200"/>
              </a:spcAft>
            </a:pPr>
            <a:r>
              <a:rPr sz="1900">
                <a:solidFill>
                  <a:srgbClr val="16181D"/>
                </a:solidFill>
                <a:latin typeface="Consolas"/>
              </a:rPr>
              <a:t>                      ("oh",  OneHotEncoder(handle_unknown="ignore"))]), categorical),</a:t>
            </a:r>
          </a:p>
          <a:p>
            <a:pPr>
              <a:spcAft>
                <a:spcPts val="200"/>
              </a:spcAft>
            </a:pPr>
            <a:r>
              <a:rPr sz="1900">
                <a:solidFill>
                  <a:srgbClr val="16181D"/>
                </a:solidFill>
                <a:latin typeface="Consolas"/>
              </a:rPr>
              <a:t>])</a:t>
            </a:r>
          </a:p>
          <a:p>
            <a:pPr>
              <a:spcAft>
                <a:spcPts val="200"/>
              </a:spcAft>
            </a:pPr>
            <a:endParaRPr sz="1900">
              <a:solidFill>
                <a:srgbClr val="16181D"/>
              </a:solidFill>
              <a:latin typeface="Consolas"/>
            </a:endParaRPr>
          </a:p>
          <a:p>
            <a:pPr>
              <a:spcAft>
                <a:spcPts val="200"/>
              </a:spcAft>
            </a:pPr>
            <a:r>
              <a:rPr sz="1900">
                <a:solidFill>
                  <a:srgbClr val="16181D"/>
                </a:solidFill>
                <a:latin typeface="Consolas"/>
              </a:rPr>
              <a:t>X_train_prep = preprocessor.fit_transform(X_train)   </a:t>
            </a:r>
            <a:r>
              <a:rPr sz="1900">
                <a:solidFill>
                  <a:srgbClr val="1B7F4B"/>
                </a:solidFill>
                <a:latin typeface="Consolas"/>
              </a:rPr>
              <a:t># fit on TRAIN</a:t>
            </a:r>
          </a:p>
          <a:p>
            <a:pPr>
              <a:spcAft>
                <a:spcPts val="200"/>
              </a:spcAft>
            </a:pPr>
            <a:r>
              <a:rPr sz="1900">
                <a:solidFill>
                  <a:srgbClr val="16181D"/>
                </a:solidFill>
                <a:latin typeface="Consolas"/>
              </a:rPr>
              <a:t>X_test_prep  = preprocessor.transform(X_test)        </a:t>
            </a:r>
            <a:r>
              <a:rPr sz="1900">
                <a:solidFill>
                  <a:srgbClr val="1B7F4B"/>
                </a:solidFill>
                <a:latin typeface="Consolas"/>
              </a:rPr>
              <a:t># transform TEST</a:t>
            </a:r>
          </a:p>
        </p:txBody>
      </p:sp>
      <p:sp>
        <p:nvSpPr>
          <p:cNvPr id="7" name="TextBox 6"/>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8" name="TextBox 7"/>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77</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Why a pipeline is not over-engineering</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3000" b="0">
                <a:solidFill>
                  <a:srgbClr val="16181D"/>
                </a:solidFill>
                <a:latin typeface="Arial"/>
              </a:rPr>
              <a:t>▪   </a:t>
            </a:r>
            <a:r>
              <a:rPr sz="3000" b="1">
                <a:solidFill>
                  <a:srgbClr val="16181D"/>
                </a:solidFill>
                <a:latin typeface="Arial"/>
              </a:rPr>
              <a:t>Leakage becomes hard to commit</a:t>
            </a:r>
            <a:r>
              <a:rPr sz="3000" b="0">
                <a:solidFill>
                  <a:srgbClr val="16181D"/>
                </a:solidFill>
                <a:latin typeface="Arial"/>
              </a:rPr>
              <a:t> — there is one </a:t>
            </a:r>
            <a:r>
              <a:rPr sz="2800" b="0">
                <a:solidFill>
                  <a:srgbClr val="0B3D6B"/>
                </a:solidFill>
                <a:latin typeface="Consolas"/>
              </a:rPr>
              <a:t>fit</a:t>
            </a:r>
            <a:r>
              <a:rPr sz="3000" b="0">
                <a:solidFill>
                  <a:srgbClr val="16181D"/>
                </a:solidFill>
                <a:latin typeface="Arial"/>
              </a:rPr>
              <a:t>, and it only sees </a:t>
            </a:r>
            <a:r>
              <a:rPr sz="2800" b="0">
                <a:solidFill>
                  <a:srgbClr val="0B3D6B"/>
                </a:solidFill>
                <a:latin typeface="Consolas"/>
              </a:rPr>
              <a:t>X_train</a:t>
            </a:r>
          </a:p>
          <a:p>
            <a:pPr>
              <a:spcAft>
                <a:spcPts val="1400"/>
              </a:spcAft>
            </a:pPr>
            <a:r>
              <a:rPr sz="3000" b="0">
                <a:solidFill>
                  <a:srgbClr val="16181D"/>
                </a:solidFill>
                <a:latin typeface="Arial"/>
              </a:rPr>
              <a:t>▪   </a:t>
            </a:r>
            <a:r>
              <a:rPr sz="3000" b="1">
                <a:solidFill>
                  <a:srgbClr val="16181D"/>
                </a:solidFill>
                <a:latin typeface="Arial"/>
              </a:rPr>
              <a:t>Cross-validation becomes correct automatically</a:t>
            </a:r>
            <a:r>
              <a:rPr sz="3000" b="0">
                <a:solidFill>
                  <a:srgbClr val="16181D"/>
                </a:solidFill>
                <a:latin typeface="Arial"/>
              </a:rPr>
              <a:t> — each fold re-fits its own preprocessing</a:t>
            </a:r>
          </a:p>
          <a:p>
            <a:pPr>
              <a:spcAft>
                <a:spcPts val="1400"/>
              </a:spcAft>
            </a:pPr>
            <a:r>
              <a:rPr sz="3000" b="0">
                <a:solidFill>
                  <a:srgbClr val="16181D"/>
                </a:solidFill>
                <a:latin typeface="Arial"/>
              </a:rPr>
              <a:t>▪   </a:t>
            </a:r>
            <a:r>
              <a:rPr sz="3000" b="1">
                <a:solidFill>
                  <a:srgbClr val="16181D"/>
                </a:solidFill>
                <a:latin typeface="Arial"/>
              </a:rPr>
              <a:t>Deployment becomes possible</a:t>
            </a:r>
            <a:r>
              <a:rPr sz="3000" b="0">
                <a:solidFill>
                  <a:srgbClr val="16181D"/>
                </a:solidFill>
                <a:latin typeface="Arial"/>
              </a:rPr>
              <a:t> — one object holds every transformation</a:t>
            </a:r>
          </a:p>
          <a:p>
            <a:pPr>
              <a:spcAft>
                <a:spcPts val="800"/>
              </a:spcAft>
            </a:pPr>
            <a:r>
              <a:rPr sz="2500" b="0">
                <a:solidFill>
                  <a:srgbClr val="3A3F47"/>
                </a:solidFill>
                <a:latin typeface="Arial"/>
              </a:rPr>
              <a:t>        –   Hand-written prep code never survives contact with production</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78</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9264" y="2743200"/>
            <a:ext cx="15371063" cy="38404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69264" y="2743200"/>
            <a:ext cx="82296" cy="3840480"/>
          </a:xfrm>
          <a:prstGeom prst="rect">
            <a:avLst/>
          </a:prstGeom>
          <a:solidFill>
            <a:srgbClr val="E02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54480" y="3063240"/>
            <a:ext cx="14173200" cy="3200400"/>
          </a:xfrm>
          <a:prstGeom prst="rect">
            <a:avLst/>
          </a:prstGeom>
          <a:noFill/>
        </p:spPr>
        <p:txBody>
          <a:bodyPr wrap="square" anchor="ctr">
            <a:spAutoFit/>
          </a:bodyPr>
          <a:lstStyle/>
          <a:p>
            <a:r>
              <a:rPr sz="5400" b="1">
                <a:solidFill>
                  <a:srgbClr val="16181D"/>
                </a:solidFill>
                <a:latin typeface="Arial"/>
              </a:rPr>
              <a:t>Clean → engineer → SPLIT → then impute, encode and scale.</a:t>
            </a:r>
          </a:p>
          <a:p>
            <a:pPr>
              <a:spcBef>
                <a:spcPts val="2400"/>
              </a:spcBef>
            </a:pPr>
            <a:r>
              <a:rPr sz="2800" b="0">
                <a:solidFill>
                  <a:srgbClr val="3A3F47"/>
                </a:solidFill>
                <a:latin typeface="Arial"/>
              </a:rPr>
              <a:t>Anything that learns from the data — a mean, a category list, a scale — is fitted after the split.</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79</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Labelling, privacy and fake data</a:t>
            </a:r>
          </a:p>
        </p:txBody>
      </p:sp>
      <p:sp>
        <p:nvSpPr>
          <p:cNvPr id="3" name="Rectangle 2"/>
          <p:cNvSpPr/>
          <p:nvPr/>
        </p:nvSpPr>
        <p:spPr>
          <a:xfrm>
            <a:off x="969264" y="3566160"/>
            <a:ext cx="2926080" cy="201168"/>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3886200"/>
            <a:ext cx="12801600" cy="548640"/>
          </a:xfrm>
          <a:prstGeom prst="rect">
            <a:avLst/>
          </a:prstGeom>
          <a:noFill/>
        </p:spPr>
        <p:txBody>
          <a:bodyPr wrap="none">
            <a:spAutoFit/>
          </a:bodyPr>
          <a:lstStyle/>
          <a:p>
            <a:r>
              <a:rPr sz="2000" b="1">
                <a:solidFill>
                  <a:srgbClr val="6B7280"/>
                </a:solidFill>
                <a:latin typeface="Arial"/>
              </a:rPr>
              <a:t>PART 10</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80</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What is image tagging? - Quora">
            <a:extLst>
              <a:ext uri="{FF2B5EF4-FFF2-40B4-BE49-F238E27FC236}">
                <a16:creationId xmlns:a16="http://schemas.microsoft.com/office/drawing/2014/main" id="{DD856859-55D1-994D-987A-6DA55F0CC72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54937" y="3533890"/>
            <a:ext cx="6501342" cy="4081398"/>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Automatic Image Tagging and Categorization Using Imagga Api">
            <a:extLst>
              <a:ext uri="{FF2B5EF4-FFF2-40B4-BE49-F238E27FC236}">
                <a16:creationId xmlns:a16="http://schemas.microsoft.com/office/drawing/2014/main" id="{48805172-FE3C-EB4D-8FD6-85F5580951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8746" y="3958283"/>
            <a:ext cx="5110777" cy="323261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794D7D54-E810-334A-B50D-F35296D35D5E}"/>
              </a:ext>
            </a:extLst>
          </p:cNvPr>
          <p:cNvSpPr/>
          <p:nvPr/>
        </p:nvSpPr>
        <p:spPr>
          <a:xfrm>
            <a:off x="254832" y="89192"/>
            <a:ext cx="16303182" cy="15412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Title 1">
            <a:extLst>
              <a:ext uri="{FF2B5EF4-FFF2-40B4-BE49-F238E27FC236}">
                <a16:creationId xmlns:a16="http://schemas.microsoft.com/office/drawing/2014/main" id="{0A096F3B-3607-E94C-AED3-3E915F25ECAF}"/>
              </a:ext>
            </a:extLst>
          </p:cNvPr>
          <p:cNvSpPr txBox="1">
            <a:spLocks/>
          </p:cNvSpPr>
          <p:nvPr/>
        </p:nvSpPr>
        <p:spPr>
          <a:xfrm>
            <a:off x="972122" y="527416"/>
            <a:ext cx="15373922" cy="664797"/>
          </a:xfrm>
          <a:prstGeom prst="rect">
            <a:avLst/>
          </a:prstGeom>
        </p:spPr>
        <p:txBody>
          <a:bodyPr vert="horz" lIns="0" tIns="0" rIns="0" bIns="0" rtlCol="0" anchor="b" anchorCtr="0">
            <a:normAutofit/>
          </a:bodyPr>
          <a:lstStyle>
            <a:lvl1pPr algn="l" defTabSz="1300277" rtl="0" eaLnBrk="1" latinLnBrk="0" hangingPunct="1">
              <a:lnSpc>
                <a:spcPct val="90000"/>
              </a:lnSpc>
              <a:spcBef>
                <a:spcPct val="0"/>
              </a:spcBef>
              <a:buNone/>
              <a:defRPr sz="4800" b="1" kern="1200">
                <a:solidFill>
                  <a:schemeClr val="tx1"/>
                </a:solidFill>
                <a:latin typeface="+mj-lt"/>
                <a:ea typeface="+mj-ea"/>
                <a:cs typeface="+mj-cs"/>
              </a:defRPr>
            </a:lvl1pPr>
          </a:lstStyle>
          <a:p>
            <a:r>
              <a:rPr lang="en-NO" dirty="0"/>
              <a:t>1. Data Labeling / annotation</a:t>
            </a:r>
          </a:p>
        </p:txBody>
      </p:sp>
    </p:spTree>
    <p:extLst>
      <p:ext uri="{BB962C8B-B14F-4D97-AF65-F5344CB8AC3E}">
        <p14:creationId xmlns:p14="http://schemas.microsoft.com/office/powerpoint/2010/main" val="181868053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Data Annotation Tools | Appen">
            <a:extLst>
              <a:ext uri="{FF2B5EF4-FFF2-40B4-BE49-F238E27FC236}">
                <a16:creationId xmlns:a16="http://schemas.microsoft.com/office/drawing/2014/main" id="{80D32695-BED6-6245-A720-6E742F20A8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8062" y="4575626"/>
            <a:ext cx="6445112" cy="3630746"/>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New Tool Offers Help with Data Annotation - RTInsights">
            <a:extLst>
              <a:ext uri="{FF2B5EF4-FFF2-40B4-BE49-F238E27FC236}">
                <a16:creationId xmlns:a16="http://schemas.microsoft.com/office/drawing/2014/main" id="{05980888-4275-A34D-A45D-E1E51851011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109839" y="1092584"/>
            <a:ext cx="7227124" cy="4009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663893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271BF-9247-84B3-3DFC-13B1E0067DE6}"/>
              </a:ext>
            </a:extLst>
          </p:cNvPr>
          <p:cNvSpPr>
            <a:spLocks noGrp="1"/>
          </p:cNvSpPr>
          <p:nvPr>
            <p:ph type="title"/>
          </p:nvPr>
        </p:nvSpPr>
        <p:spPr/>
        <p:txBody>
          <a:bodyPr/>
          <a:lstStyle/>
          <a:p>
            <a:endParaRPr lang="en-NO"/>
          </a:p>
        </p:txBody>
      </p:sp>
      <p:pic>
        <p:nvPicPr>
          <p:cNvPr id="7" name="Online Media 6" descr="iMerit provides Data Labeling Services for Autonomous Vehicles">
            <a:hlinkClick r:id="" action="ppaction://media"/>
            <a:extLst>
              <a:ext uri="{FF2B5EF4-FFF2-40B4-BE49-F238E27FC236}">
                <a16:creationId xmlns:a16="http://schemas.microsoft.com/office/drawing/2014/main" id="{EC8B4FCB-AE70-1D93-1A31-3ECADFBFD3B8}"/>
              </a:ext>
            </a:extLst>
          </p:cNvPr>
          <p:cNvPicPr>
            <a:picLocks noGrp="1" noRot="1" noChangeAspect="1"/>
          </p:cNvPicPr>
          <p:nvPr>
            <p:ph idx="1"/>
            <a:videoFile r:link="rId1"/>
          </p:nvPr>
        </p:nvPicPr>
        <p:blipFill>
          <a:blip r:embed="rId3"/>
          <a:stretch>
            <a:fillRect/>
          </a:stretch>
        </p:blipFill>
        <p:spPr>
          <a:xfrm>
            <a:off x="-233426" y="-179239"/>
            <a:ext cx="17578451" cy="9931252"/>
          </a:xfrm>
          <a:prstGeom prst="rect">
            <a:avLst/>
          </a:prstGeom>
        </p:spPr>
      </p:pic>
      <p:sp>
        <p:nvSpPr>
          <p:cNvPr id="4" name="Footer Placeholder 3">
            <a:extLst>
              <a:ext uri="{FF2B5EF4-FFF2-40B4-BE49-F238E27FC236}">
                <a16:creationId xmlns:a16="http://schemas.microsoft.com/office/drawing/2014/main" id="{181EF443-D868-A1DF-5F97-E1B0793BF691}"/>
              </a:ext>
            </a:extLst>
          </p:cNvPr>
          <p:cNvSpPr>
            <a:spLocks noGrp="1"/>
          </p:cNvSpPr>
          <p:nvPr>
            <p:ph type="ftr" sz="quarter" idx="11"/>
          </p:nvPr>
        </p:nvSpPr>
        <p:spPr/>
        <p:txBody>
          <a:bodyPr/>
          <a:lstStyle/>
          <a:p>
            <a:r>
              <a:rPr lang="nb-NO"/>
              <a:t>Introduction to A.I - Umair M.I</a:t>
            </a:r>
          </a:p>
        </p:txBody>
      </p:sp>
    </p:spTree>
    <p:extLst>
      <p:ext uri="{BB962C8B-B14F-4D97-AF65-F5344CB8AC3E}">
        <p14:creationId xmlns:p14="http://schemas.microsoft.com/office/powerpoint/2010/main" val="3895644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9D28E-D912-554B-8B1F-2BA917941553}"/>
              </a:ext>
            </a:extLst>
          </p:cNvPr>
          <p:cNvSpPr>
            <a:spLocks noGrp="1"/>
          </p:cNvSpPr>
          <p:nvPr>
            <p:ph type="title"/>
          </p:nvPr>
        </p:nvSpPr>
        <p:spPr/>
        <p:txBody>
          <a:bodyPr/>
          <a:lstStyle/>
          <a:p>
            <a:endParaRPr lang="en-NO"/>
          </a:p>
        </p:txBody>
      </p:sp>
      <p:pic>
        <p:nvPicPr>
          <p:cNvPr id="5" name="Online Media 4" descr="Data Annotation Services for Autonomous Vehicles – Powering the Future of Self-Driving Cars | Wisepl">
            <a:hlinkClick r:id="" action="ppaction://media"/>
            <a:extLst>
              <a:ext uri="{FF2B5EF4-FFF2-40B4-BE49-F238E27FC236}">
                <a16:creationId xmlns:a16="http://schemas.microsoft.com/office/drawing/2014/main" id="{824D68B3-B5D9-ACEE-3632-7B3B00C15739}"/>
              </a:ext>
            </a:extLst>
          </p:cNvPr>
          <p:cNvPicPr>
            <a:picLocks noGrp="1" noRot="1" noChangeAspect="1"/>
          </p:cNvPicPr>
          <p:nvPr>
            <p:ph idx="1"/>
            <a:videoFile r:link="rId1"/>
          </p:nvPr>
        </p:nvPicPr>
        <p:blipFill>
          <a:blip r:embed="rId4"/>
          <a:stretch>
            <a:fillRect/>
          </a:stretch>
        </p:blipFill>
        <p:spPr>
          <a:xfrm>
            <a:off x="-49623" y="-75397"/>
            <a:ext cx="17394648" cy="9827410"/>
          </a:xfrm>
          <a:prstGeom prst="rect">
            <a:avLst/>
          </a:prstGeom>
        </p:spPr>
      </p:pic>
      <p:sp>
        <p:nvSpPr>
          <p:cNvPr id="4" name="Footer Placeholder 3">
            <a:extLst>
              <a:ext uri="{FF2B5EF4-FFF2-40B4-BE49-F238E27FC236}">
                <a16:creationId xmlns:a16="http://schemas.microsoft.com/office/drawing/2014/main" id="{A66E84E6-657C-1CC4-EFA9-C19677908035}"/>
              </a:ext>
            </a:extLst>
          </p:cNvPr>
          <p:cNvSpPr>
            <a:spLocks noGrp="1"/>
          </p:cNvSpPr>
          <p:nvPr>
            <p:ph type="ftr" sz="quarter" idx="11"/>
          </p:nvPr>
        </p:nvSpPr>
        <p:spPr/>
        <p:txBody>
          <a:bodyPr/>
          <a:lstStyle/>
          <a:p>
            <a:r>
              <a:rPr lang="nb-NO"/>
              <a:t>Introduction to A.I - Umair M.I</a:t>
            </a:r>
          </a:p>
        </p:txBody>
      </p:sp>
    </p:spTree>
    <p:extLst>
      <p:ext uri="{BB962C8B-B14F-4D97-AF65-F5344CB8AC3E}">
        <p14:creationId xmlns:p14="http://schemas.microsoft.com/office/powerpoint/2010/main" val="564241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D18EB-054A-E92C-B610-8FECF9728F64}"/>
              </a:ext>
            </a:extLst>
          </p:cNvPr>
          <p:cNvSpPr>
            <a:spLocks noGrp="1"/>
          </p:cNvSpPr>
          <p:nvPr>
            <p:ph type="title"/>
          </p:nvPr>
        </p:nvSpPr>
        <p:spPr/>
        <p:txBody>
          <a:bodyPr/>
          <a:lstStyle/>
          <a:p>
            <a:endParaRPr lang="en-NO"/>
          </a:p>
        </p:txBody>
      </p:sp>
      <p:pic>
        <p:nvPicPr>
          <p:cNvPr id="7" name="Online Media 6" descr="USE CASE Geospatial - Land Use Classification">
            <a:hlinkClick r:id="" action="ppaction://media"/>
            <a:extLst>
              <a:ext uri="{FF2B5EF4-FFF2-40B4-BE49-F238E27FC236}">
                <a16:creationId xmlns:a16="http://schemas.microsoft.com/office/drawing/2014/main" id="{32A0604C-314A-D393-4F2B-54E47AA549FB}"/>
              </a:ext>
            </a:extLst>
          </p:cNvPr>
          <p:cNvPicPr>
            <a:picLocks noGrp="1" noRot="1" noChangeAspect="1"/>
          </p:cNvPicPr>
          <p:nvPr>
            <p:ph idx="1"/>
            <a:videoFile r:link="rId1"/>
          </p:nvPr>
        </p:nvPicPr>
        <p:blipFill>
          <a:blip r:embed="rId3"/>
          <a:stretch>
            <a:fillRect/>
          </a:stretch>
        </p:blipFill>
        <p:spPr>
          <a:xfrm>
            <a:off x="-191386" y="0"/>
            <a:ext cx="17536411" cy="9907500"/>
          </a:xfrm>
          <a:prstGeom prst="rect">
            <a:avLst/>
          </a:prstGeom>
        </p:spPr>
      </p:pic>
      <p:sp>
        <p:nvSpPr>
          <p:cNvPr id="4" name="Footer Placeholder 3">
            <a:extLst>
              <a:ext uri="{FF2B5EF4-FFF2-40B4-BE49-F238E27FC236}">
                <a16:creationId xmlns:a16="http://schemas.microsoft.com/office/drawing/2014/main" id="{9D223D5C-D38C-3035-F134-C2D29E99E7C0}"/>
              </a:ext>
            </a:extLst>
          </p:cNvPr>
          <p:cNvSpPr>
            <a:spLocks noGrp="1"/>
          </p:cNvSpPr>
          <p:nvPr>
            <p:ph type="ftr" sz="quarter" idx="11"/>
          </p:nvPr>
        </p:nvSpPr>
        <p:spPr/>
        <p:txBody>
          <a:bodyPr/>
          <a:lstStyle/>
          <a:p>
            <a:r>
              <a:rPr lang="nb-NO"/>
              <a:t>Introduction to A.I - Umair M.I</a:t>
            </a:r>
          </a:p>
        </p:txBody>
      </p:sp>
    </p:spTree>
    <p:extLst>
      <p:ext uri="{BB962C8B-B14F-4D97-AF65-F5344CB8AC3E}">
        <p14:creationId xmlns:p14="http://schemas.microsoft.com/office/powerpoint/2010/main" val="1386093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8833C-457C-E4C8-69D8-73D2AFD0C681}"/>
              </a:ext>
            </a:extLst>
          </p:cNvPr>
          <p:cNvSpPr>
            <a:spLocks noGrp="1"/>
          </p:cNvSpPr>
          <p:nvPr>
            <p:ph type="title"/>
          </p:nvPr>
        </p:nvSpPr>
        <p:spPr/>
        <p:txBody>
          <a:bodyPr/>
          <a:lstStyle/>
          <a:p>
            <a:endParaRPr lang="en-NO"/>
          </a:p>
        </p:txBody>
      </p:sp>
      <p:pic>
        <p:nvPicPr>
          <p:cNvPr id="6" name="Content Placeholder 5" descr="A pool in a yard surrounded by trees&#10;&#10;AI-generated content may be incorrect.">
            <a:extLst>
              <a:ext uri="{FF2B5EF4-FFF2-40B4-BE49-F238E27FC236}">
                <a16:creationId xmlns:a16="http://schemas.microsoft.com/office/drawing/2014/main" id="{98F438FB-8392-44E2-5D8B-7BB37AAF41B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92374" y="129583"/>
            <a:ext cx="11680529" cy="9622430"/>
          </a:xfrm>
        </p:spPr>
      </p:pic>
      <p:sp>
        <p:nvSpPr>
          <p:cNvPr id="4" name="Footer Placeholder 3">
            <a:extLst>
              <a:ext uri="{FF2B5EF4-FFF2-40B4-BE49-F238E27FC236}">
                <a16:creationId xmlns:a16="http://schemas.microsoft.com/office/drawing/2014/main" id="{F11DBB77-8C94-0515-1ADB-3AB881E81D49}"/>
              </a:ext>
            </a:extLst>
          </p:cNvPr>
          <p:cNvSpPr>
            <a:spLocks noGrp="1"/>
          </p:cNvSpPr>
          <p:nvPr>
            <p:ph type="ftr" sz="quarter" idx="11"/>
          </p:nvPr>
        </p:nvSpPr>
        <p:spPr/>
        <p:txBody>
          <a:bodyPr/>
          <a:lstStyle/>
          <a:p>
            <a:r>
              <a:rPr lang="nb-NO"/>
              <a:t>Introduction to A.I - Umair M.I</a:t>
            </a:r>
          </a:p>
        </p:txBody>
      </p:sp>
      <p:sp>
        <p:nvSpPr>
          <p:cNvPr id="8" name="TextBox 7">
            <a:extLst>
              <a:ext uri="{FF2B5EF4-FFF2-40B4-BE49-F238E27FC236}">
                <a16:creationId xmlns:a16="http://schemas.microsoft.com/office/drawing/2014/main" id="{A967C534-4A57-4E2A-5EA7-C902910BB745}"/>
              </a:ext>
            </a:extLst>
          </p:cNvPr>
          <p:cNvSpPr txBox="1"/>
          <p:nvPr/>
        </p:nvSpPr>
        <p:spPr>
          <a:xfrm>
            <a:off x="723014" y="6713120"/>
            <a:ext cx="3572539" cy="1938992"/>
          </a:xfrm>
          <a:prstGeom prst="rect">
            <a:avLst/>
          </a:prstGeom>
          <a:noFill/>
        </p:spPr>
        <p:txBody>
          <a:bodyPr wrap="square">
            <a:spAutoFit/>
          </a:bodyPr>
          <a:lstStyle/>
          <a:p>
            <a:pPr algn="ctr"/>
            <a:r>
              <a:rPr lang="en-NO" sz="2000" dirty="0"/>
              <a:t>https://www.connexionfrance.com/practical/french-authorities-use-ai-to-help-recoup-200-million-in-unpaid-tax-from-one-department-alone/701469</a:t>
            </a:r>
          </a:p>
        </p:txBody>
      </p:sp>
    </p:spTree>
    <p:extLst>
      <p:ext uri="{BB962C8B-B14F-4D97-AF65-F5344CB8AC3E}">
        <p14:creationId xmlns:p14="http://schemas.microsoft.com/office/powerpoint/2010/main" val="21634883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AI data labelling start-up Scale valuation doubles to $14bn">
            <a:extLst>
              <a:ext uri="{FF2B5EF4-FFF2-40B4-BE49-F238E27FC236}">
                <a16:creationId xmlns:a16="http://schemas.microsoft.com/office/drawing/2014/main" id="{90E7B914-EF85-1E59-9CBF-CDB0D69077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6191" y="4411968"/>
            <a:ext cx="8829269" cy="496961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screen shot of a website&#10;&#10;AI-generated content may be incorrect.">
            <a:extLst>
              <a:ext uri="{FF2B5EF4-FFF2-40B4-BE49-F238E27FC236}">
                <a16:creationId xmlns:a16="http://schemas.microsoft.com/office/drawing/2014/main" id="{B6D2B4A5-3FC4-DB76-D22B-9D15B573BE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9178" y="221571"/>
            <a:ext cx="12995398" cy="4478020"/>
          </a:xfrm>
          <a:prstGeom prst="rect">
            <a:avLst/>
          </a:prstGeom>
        </p:spPr>
      </p:pic>
    </p:spTree>
    <p:extLst>
      <p:ext uri="{BB962C8B-B14F-4D97-AF65-F5344CB8AC3E}">
        <p14:creationId xmlns:p14="http://schemas.microsoft.com/office/powerpoint/2010/main" val="3315722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Data labelling: what nobody tells you</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3000" b="0">
                <a:solidFill>
                  <a:srgbClr val="16181D"/>
                </a:solidFill>
                <a:latin typeface="Arial"/>
              </a:rPr>
              <a:t>▪   Supervised learning needs labels, and labels usually come from </a:t>
            </a:r>
            <a:r>
              <a:rPr sz="3000" b="1">
                <a:solidFill>
                  <a:srgbClr val="16181D"/>
                </a:solidFill>
                <a:latin typeface="Arial"/>
              </a:rPr>
              <a:t>humans</a:t>
            </a:r>
          </a:p>
          <a:p>
            <a:pPr>
              <a:spcAft>
                <a:spcPts val="1400"/>
              </a:spcAft>
            </a:pPr>
            <a:r>
              <a:rPr sz="3000" b="0">
                <a:solidFill>
                  <a:srgbClr val="16181D"/>
                </a:solidFill>
                <a:latin typeface="Arial"/>
              </a:rPr>
              <a:t>▪   It is slow and expensive — often the true cost of the whole project</a:t>
            </a:r>
          </a:p>
          <a:p>
            <a:pPr>
              <a:spcAft>
                <a:spcPts val="1400"/>
              </a:spcAft>
            </a:pPr>
            <a:r>
              <a:rPr sz="3000" b="0">
                <a:solidFill>
                  <a:srgbClr val="16181D"/>
                </a:solidFill>
                <a:latin typeface="Arial"/>
              </a:rPr>
              <a:t>▪   </a:t>
            </a:r>
            <a:r>
              <a:rPr sz="3000" b="1">
                <a:solidFill>
                  <a:srgbClr val="16181D"/>
                </a:solidFill>
                <a:latin typeface="Arial"/>
              </a:rPr>
              <a:t>Labels are noisy.</a:t>
            </a:r>
            <a:r>
              <a:rPr sz="3000" b="0">
                <a:solidFill>
                  <a:srgbClr val="16181D"/>
                </a:solidFill>
                <a:latin typeface="Arial"/>
              </a:rPr>
              <a:t> Two annotators disagree; measure it (inter-annotator agreement)</a:t>
            </a:r>
          </a:p>
          <a:p>
            <a:pPr>
              <a:spcAft>
                <a:spcPts val="800"/>
              </a:spcAft>
            </a:pPr>
            <a:r>
              <a:rPr sz="2500" b="0">
                <a:solidFill>
                  <a:srgbClr val="3A3F47"/>
                </a:solidFill>
                <a:latin typeface="Arial"/>
              </a:rPr>
              <a:t>        –   If humans cannot agree on a label, no model can learn it reliably</a:t>
            </a:r>
          </a:p>
          <a:p>
            <a:pPr>
              <a:spcAft>
                <a:spcPts val="1400"/>
              </a:spcAft>
            </a:pPr>
            <a:r>
              <a:rPr sz="3000" b="0">
                <a:solidFill>
                  <a:srgbClr val="16181D"/>
                </a:solidFill>
                <a:latin typeface="Arial"/>
              </a:rPr>
              <a:t>▪   You need </a:t>
            </a:r>
            <a:r>
              <a:rPr sz="3000" b="1">
                <a:solidFill>
                  <a:srgbClr val="16181D"/>
                </a:solidFill>
                <a:latin typeface="Arial"/>
              </a:rPr>
              <a:t>written guidelines with edge cases</a:t>
            </a:r>
            <a:r>
              <a:rPr sz="3000" b="0">
                <a:solidFill>
                  <a:srgbClr val="16181D"/>
                </a:solidFill>
                <a:latin typeface="Arial"/>
              </a:rPr>
              <a:t>, or every annotator invents their own definition</a:t>
            </a:r>
          </a:p>
          <a:p>
            <a:pPr>
              <a:spcAft>
                <a:spcPts val="1400"/>
              </a:spcAft>
            </a:pPr>
            <a:r>
              <a:rPr sz="3000" b="0">
                <a:solidFill>
                  <a:srgbClr val="16181D"/>
                </a:solidFill>
                <a:latin typeface="Arial"/>
              </a:rPr>
              <a:t>▪   </a:t>
            </a:r>
            <a:r>
              <a:rPr sz="3000" b="1">
                <a:solidFill>
                  <a:srgbClr val="16181D"/>
                </a:solidFill>
                <a:latin typeface="Arial"/>
              </a:rPr>
              <a:t>Use labels you already have</a:t>
            </a:r>
            <a:r>
              <a:rPr sz="3000" b="0">
                <a:solidFill>
                  <a:srgbClr val="16181D"/>
                </a:solidFill>
                <a:latin typeface="Arial"/>
              </a:rPr>
              <a:t> — a resolved ticket's category, a click, an actual cancellation</a:t>
            </a:r>
          </a:p>
          <a:p>
            <a:pPr>
              <a:spcAft>
                <a:spcPts val="1400"/>
              </a:spcAft>
            </a:pPr>
            <a:r>
              <a:rPr sz="3000" b="0">
                <a:solidFill>
                  <a:srgbClr val="16181D"/>
                </a:solidFill>
                <a:latin typeface="Arial"/>
              </a:rPr>
              <a:t>▪   </a:t>
            </a:r>
            <a:r>
              <a:rPr sz="3000" b="1">
                <a:solidFill>
                  <a:srgbClr val="16181D"/>
                </a:solidFill>
                <a:latin typeface="Arial"/>
              </a:rPr>
              <a:t>Label 200 examples carefully</a:t>
            </a:r>
            <a:r>
              <a:rPr sz="3000" b="0">
                <a:solidFill>
                  <a:srgbClr val="16181D"/>
                </a:solidFill>
                <a:latin typeface="Arial"/>
              </a:rPr>
              <a:t> before labelling 5 000 quickly</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81</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These two words are not synonyms</a:t>
            </a:r>
          </a:p>
        </p:txBody>
      </p:sp>
      <p:graphicFrame>
        <p:nvGraphicFramePr>
          <p:cNvPr id="4" name="Table 3"/>
          <p:cNvGraphicFramePr>
            <a:graphicFrameLocks noGrp="1"/>
          </p:cNvGraphicFramePr>
          <p:nvPr>
            <p:extLst>
              <p:ext uri="{D42A27DB-BD31-4B8C-83A1-F6EECF244321}">
                <p14:modId xmlns:p14="http://schemas.microsoft.com/office/powerpoint/2010/main" val="1580377515"/>
              </p:ext>
            </p:extLst>
          </p:nvPr>
        </p:nvGraphicFramePr>
        <p:xfrm>
          <a:off x="722376" y="2221198"/>
          <a:ext cx="15371062" cy="1969008"/>
        </p:xfrm>
        <a:graphic>
          <a:graphicData uri="http://schemas.openxmlformats.org/drawingml/2006/table">
            <a:tbl>
              <a:tblPr firstRow="1" bandRow="1">
                <a:tableStyleId>{5C22544A-7EE6-4342-B048-85BDC9FD1C3A}</a:tableStyleId>
              </a:tblPr>
              <a:tblGrid>
                <a:gridCol w="3293799">
                  <a:extLst>
                    <a:ext uri="{9D8B030D-6E8A-4147-A177-3AD203B41FA5}">
                      <a16:colId xmlns:a16="http://schemas.microsoft.com/office/drawing/2014/main" val="20000"/>
                    </a:ext>
                  </a:extLst>
                </a:gridCol>
                <a:gridCol w="6587598">
                  <a:extLst>
                    <a:ext uri="{9D8B030D-6E8A-4147-A177-3AD203B41FA5}">
                      <a16:colId xmlns:a16="http://schemas.microsoft.com/office/drawing/2014/main" val="20001"/>
                    </a:ext>
                  </a:extLst>
                </a:gridCol>
                <a:gridCol w="5489665">
                  <a:extLst>
                    <a:ext uri="{9D8B030D-6E8A-4147-A177-3AD203B41FA5}">
                      <a16:colId xmlns:a16="http://schemas.microsoft.com/office/drawing/2014/main" val="20002"/>
                    </a:ext>
                  </a:extLst>
                </a:gridCol>
              </a:tblGrid>
              <a:tr h="566928">
                <a:tc>
                  <a:txBody>
                    <a:bodyPr/>
                    <a:lstStyle/>
                    <a:p>
                      <a:endParaRPr/>
                    </a:p>
                  </a:txBody>
                  <a:tcPr marL="109728" marR="109728">
                    <a:solidFill>
                      <a:srgbClr val="FFDC00"/>
                    </a:solidFill>
                  </a:tcPr>
                </a:tc>
                <a:tc>
                  <a:txBody>
                    <a:bodyPr/>
                    <a:lstStyle/>
                    <a:p>
                      <a:r>
                        <a:rPr sz="2100" b="1">
                          <a:solidFill>
                            <a:srgbClr val="16181D"/>
                          </a:solidFill>
                          <a:latin typeface="Arial"/>
                        </a:rPr>
                        <a:t>What it means</a:t>
                      </a:r>
                    </a:p>
                  </a:txBody>
                  <a:tcPr marL="109728" marR="109728">
                    <a:solidFill>
                      <a:srgbClr val="FFDC00"/>
                    </a:solidFill>
                  </a:tcPr>
                </a:tc>
                <a:tc>
                  <a:txBody>
                    <a:bodyPr/>
                    <a:lstStyle/>
                    <a:p>
                      <a:r>
                        <a:rPr sz="2100" b="1">
                          <a:solidFill>
                            <a:srgbClr val="16181D"/>
                          </a:solidFill>
                          <a:latin typeface="Arial"/>
                        </a:rPr>
                        <a:t>GDPR status</a:t>
                      </a:r>
                    </a:p>
                  </a:txBody>
                  <a:tcPr marL="109728" marR="109728">
                    <a:solidFill>
                      <a:srgbClr val="FFDC00"/>
                    </a:solidFill>
                  </a:tcPr>
                </a:tc>
                <a:extLst>
                  <a:ext uri="{0D108BD9-81ED-4DB2-BD59-A6C34878D82A}">
                    <a16:rowId xmlns:a16="http://schemas.microsoft.com/office/drawing/2014/main" val="10000"/>
                  </a:ext>
                </a:extLst>
              </a:tr>
              <a:tr h="566928">
                <a:tc>
                  <a:txBody>
                    <a:bodyPr/>
                    <a:lstStyle/>
                    <a:p>
                      <a:r>
                        <a:rPr sz="2000" b="1">
                          <a:solidFill>
                            <a:srgbClr val="16181D"/>
                          </a:solidFill>
                          <a:latin typeface="Arial"/>
                        </a:rPr>
                        <a:t>Pseudonymisation</a:t>
                      </a:r>
                    </a:p>
                  </a:txBody>
                  <a:tcPr marL="109728" marR="109728">
                    <a:solidFill>
                      <a:srgbClr val="FFFFFF"/>
                    </a:solidFill>
                  </a:tcPr>
                </a:tc>
                <a:tc>
                  <a:txBody>
                    <a:bodyPr/>
                    <a:lstStyle/>
                    <a:p>
                      <a:r>
                        <a:rPr sz="2000" b="0">
                          <a:solidFill>
                            <a:srgbClr val="16181D"/>
                          </a:solidFill>
                          <a:latin typeface="Arial"/>
                        </a:rPr>
                        <a:t>Identifiers replaced by a key; re-identification still possible</a:t>
                      </a:r>
                    </a:p>
                  </a:txBody>
                  <a:tcPr marL="109728" marR="109728">
                    <a:solidFill>
                      <a:srgbClr val="FFFFFF"/>
                    </a:solidFill>
                  </a:tcPr>
                </a:tc>
                <a:tc>
                  <a:txBody>
                    <a:bodyPr/>
                    <a:lstStyle/>
                    <a:p>
                      <a:r>
                        <a:rPr sz="2000" b="1">
                          <a:solidFill>
                            <a:srgbClr val="16181D"/>
                          </a:solidFill>
                          <a:latin typeface="Arial"/>
                        </a:rPr>
                        <a:t>Still personal data</a:t>
                      </a:r>
                      <a:r>
                        <a:rPr sz="2000" b="0">
                          <a:solidFill>
                            <a:srgbClr val="16181D"/>
                          </a:solidFill>
                          <a:latin typeface="Arial"/>
                        </a:rPr>
                        <a:t> — GDPR applies</a:t>
                      </a:r>
                    </a:p>
                  </a:txBody>
                  <a:tcPr marL="109728" marR="109728">
                    <a:solidFill>
                      <a:srgbClr val="FFFFFF"/>
                    </a:solidFill>
                  </a:tcPr>
                </a:tc>
                <a:extLst>
                  <a:ext uri="{0D108BD9-81ED-4DB2-BD59-A6C34878D82A}">
                    <a16:rowId xmlns:a16="http://schemas.microsoft.com/office/drawing/2014/main" val="10001"/>
                  </a:ext>
                </a:extLst>
              </a:tr>
              <a:tr h="566928">
                <a:tc>
                  <a:txBody>
                    <a:bodyPr/>
                    <a:lstStyle/>
                    <a:p>
                      <a:r>
                        <a:rPr sz="2000" b="1">
                          <a:solidFill>
                            <a:srgbClr val="16181D"/>
                          </a:solidFill>
                          <a:latin typeface="Arial"/>
                        </a:rPr>
                        <a:t>Anonymisation</a:t>
                      </a:r>
                    </a:p>
                  </a:txBody>
                  <a:tcPr marL="109728" marR="109728">
                    <a:solidFill>
                      <a:srgbClr val="F7F8FA"/>
                    </a:solidFill>
                  </a:tcPr>
                </a:tc>
                <a:tc>
                  <a:txBody>
                    <a:bodyPr/>
                    <a:lstStyle/>
                    <a:p>
                      <a:r>
                        <a:rPr sz="2000" b="0" dirty="0">
                          <a:solidFill>
                            <a:srgbClr val="16181D"/>
                          </a:solidFill>
                          <a:latin typeface="Arial"/>
                        </a:rPr>
                        <a:t>Identification irreversibly prevented</a:t>
                      </a:r>
                    </a:p>
                  </a:txBody>
                  <a:tcPr marL="109728" marR="109728">
                    <a:solidFill>
                      <a:srgbClr val="F7F8FA"/>
                    </a:solidFill>
                  </a:tcPr>
                </a:tc>
                <a:tc>
                  <a:txBody>
                    <a:bodyPr/>
                    <a:lstStyle/>
                    <a:p>
                      <a:r>
                        <a:rPr sz="2000" b="1" dirty="0">
                          <a:solidFill>
                            <a:srgbClr val="16181D"/>
                          </a:solidFill>
                          <a:latin typeface="Arial"/>
                        </a:rPr>
                        <a:t>No longer personal data</a:t>
                      </a:r>
                      <a:r>
                        <a:rPr sz="2000" b="0" dirty="0">
                          <a:solidFill>
                            <a:srgbClr val="16181D"/>
                          </a:solidFill>
                          <a:latin typeface="Arial"/>
                        </a:rPr>
                        <a:t> — GDPR does not apply</a:t>
                      </a:r>
                    </a:p>
                  </a:txBody>
                  <a:tcPr marL="109728" marR="109728">
                    <a:solidFill>
                      <a:srgbClr val="F7F8FA"/>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82</a:t>
            </a:r>
          </a:p>
        </p:txBody>
      </p:sp>
      <p:pic>
        <p:nvPicPr>
          <p:cNvPr id="8" name="Picture 7">
            <a:extLst>
              <a:ext uri="{FF2B5EF4-FFF2-40B4-BE49-F238E27FC236}">
                <a16:creationId xmlns:a16="http://schemas.microsoft.com/office/drawing/2014/main" id="{193B123F-D16F-2015-FB7E-49F04354EA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7058" y="5561807"/>
            <a:ext cx="2380919" cy="2790139"/>
          </a:xfrm>
          <a:prstGeom prst="rect">
            <a:avLst/>
          </a:prstGeom>
        </p:spPr>
      </p:pic>
      <p:pic>
        <p:nvPicPr>
          <p:cNvPr id="9" name="Picture 8">
            <a:extLst>
              <a:ext uri="{FF2B5EF4-FFF2-40B4-BE49-F238E27FC236}">
                <a16:creationId xmlns:a16="http://schemas.microsoft.com/office/drawing/2014/main" id="{555A28F0-0F05-EB81-E71A-492B7047DA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56640" y="5708468"/>
            <a:ext cx="2323067" cy="2790139"/>
          </a:xfrm>
          <a:prstGeom prst="rect">
            <a:avLst/>
          </a:prstGeom>
        </p:spPr>
      </p:pic>
      <p:sp>
        <p:nvSpPr>
          <p:cNvPr id="10" name="Notched Right Arrow 9">
            <a:extLst>
              <a:ext uri="{FF2B5EF4-FFF2-40B4-BE49-F238E27FC236}">
                <a16:creationId xmlns:a16="http://schemas.microsoft.com/office/drawing/2014/main" id="{FE0AC573-6400-03E1-FD3F-79589DD9D920}"/>
              </a:ext>
            </a:extLst>
          </p:cNvPr>
          <p:cNvSpPr/>
          <p:nvPr/>
        </p:nvSpPr>
        <p:spPr>
          <a:xfrm>
            <a:off x="7350771" y="6560524"/>
            <a:ext cx="1100115" cy="1019494"/>
          </a:xfrm>
          <a:prstGeom prst="notchedRightArrow">
            <a:avLst/>
          </a:prstGeom>
          <a:ln/>
        </p:spPr>
        <p:style>
          <a:lnRef idx="3">
            <a:schemeClr val="lt1"/>
          </a:lnRef>
          <a:fillRef idx="1">
            <a:schemeClr val="accent3"/>
          </a:fillRef>
          <a:effectRef idx="1">
            <a:schemeClr val="accent3"/>
          </a:effectRef>
          <a:fontRef idx="minor">
            <a:schemeClr val="lt1"/>
          </a:fontRef>
        </p:style>
        <p:txBody>
          <a:bodyPr rtlCol="0" anchor="ctr"/>
          <a:lstStyle/>
          <a:p>
            <a:pPr algn="ctr"/>
            <a:endParaRPr lang="en-NO"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And the model itself can leak</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3000" b="0">
                <a:solidFill>
                  <a:srgbClr val="16181D"/>
                </a:solidFill>
                <a:latin typeface="Arial"/>
              </a:rPr>
              <a:t>▪   Large models can memorise and reproduce training examples verbatim</a:t>
            </a:r>
          </a:p>
          <a:p>
            <a:pPr>
              <a:spcAft>
                <a:spcPts val="1400"/>
              </a:spcAft>
            </a:pPr>
            <a:r>
              <a:rPr sz="3000" b="0">
                <a:solidFill>
                  <a:srgbClr val="16181D"/>
                </a:solidFill>
                <a:latin typeface="Arial"/>
              </a:rPr>
              <a:t>▪   “The data never left our servers, only the model did” is not automatically a privacy guarantee</a:t>
            </a:r>
          </a:p>
          <a:p>
            <a:pPr>
              <a:spcAft>
                <a:spcPts val="1400"/>
              </a:spcAft>
            </a:pPr>
            <a:r>
              <a:rPr sz="3000" b="0">
                <a:solidFill>
                  <a:srgbClr val="16181D"/>
                </a:solidFill>
                <a:latin typeface="Arial"/>
              </a:rPr>
              <a:t>▪   Norwegian checkpoints: Datatilsynet's guidance, your organisation's DPO, Sikt for research data</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      ·      reference slide — also in the handout</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83</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3800" b="1">
                <a:solidFill>
                  <a:srgbClr val="16181D"/>
                </a:solidFill>
                <a:latin typeface="Arial"/>
              </a:rPr>
              <a:t>Synthetic data: genuinely useful, and genuinely limited</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3000" b="0">
                <a:solidFill>
                  <a:srgbClr val="16181D"/>
                </a:solidFill>
                <a:latin typeface="Arial"/>
              </a:rPr>
              <a:t>▪   Build and test a pipeline </a:t>
            </a:r>
            <a:r>
              <a:rPr sz="3000" b="1">
                <a:solidFill>
                  <a:srgbClr val="16181D"/>
                </a:solidFill>
                <a:latin typeface="Arial"/>
              </a:rPr>
              <a:t>before</a:t>
            </a:r>
            <a:r>
              <a:rPr sz="3000" b="0">
                <a:solidFill>
                  <a:srgbClr val="16181D"/>
                </a:solidFill>
                <a:latin typeface="Arial"/>
              </a:rPr>
              <a:t> you are granted access to sensitive data</a:t>
            </a:r>
          </a:p>
          <a:p>
            <a:pPr>
              <a:spcAft>
                <a:spcPts val="1400"/>
              </a:spcAft>
            </a:pPr>
            <a:r>
              <a:rPr sz="3000" b="0">
                <a:solidFill>
                  <a:srgbClr val="16181D"/>
                </a:solidFill>
                <a:latin typeface="Arial"/>
              </a:rPr>
              <a:t>▪   Teaching, demos, public code examples</a:t>
            </a:r>
          </a:p>
          <a:p>
            <a:pPr>
              <a:spcAft>
                <a:spcPts val="1400"/>
              </a:spcAft>
            </a:pPr>
            <a:r>
              <a:rPr sz="3000" b="0">
                <a:solidFill>
                  <a:srgbClr val="16181D"/>
                </a:solidFill>
                <a:latin typeface="Arial"/>
              </a:rPr>
              <a:t>▪   Augment a rare class so the model sees more of it</a:t>
            </a:r>
          </a:p>
          <a:p>
            <a:pPr>
              <a:spcAft>
                <a:spcPts val="1400"/>
              </a:spcAft>
            </a:pPr>
            <a:r>
              <a:rPr sz="3000" b="0">
                <a:solidFill>
                  <a:srgbClr val="16181D"/>
                </a:solidFill>
                <a:latin typeface="Arial"/>
              </a:rPr>
              <a:t>▪   Simulate what you cannot collect</a:t>
            </a:r>
          </a:p>
          <a:p>
            <a:pPr>
              <a:spcAft>
                <a:spcPts val="800"/>
              </a:spcAft>
            </a:pPr>
            <a:r>
              <a:rPr sz="2500" b="0">
                <a:solidFill>
                  <a:srgbClr val="3A3F47"/>
                </a:solidFill>
                <a:latin typeface="Arial"/>
              </a:rPr>
              <a:t>        –   Amazon Go needed data of people taking items off shelves in a shop that did not exist yet — so they built a virtual shop and generated it</a:t>
            </a:r>
          </a:p>
          <a:p>
            <a:pPr>
              <a:spcAft>
                <a:spcPts val="600"/>
              </a:spcAft>
            </a:pPr>
            <a:endParaRPr sz="2500" b="0">
              <a:solidFill>
                <a:srgbClr val="3A3F47"/>
              </a:solidFill>
              <a:latin typeface="Arial"/>
            </a:endParaRPr>
          </a:p>
          <a:p>
            <a:pPr>
              <a:spcAft>
                <a:spcPts val="1400"/>
              </a:spcAft>
            </a:pPr>
            <a:r>
              <a:rPr sz="3000" b="0">
                <a:solidFill>
                  <a:srgbClr val="16181D"/>
                </a:solidFill>
                <a:latin typeface="Arial"/>
              </a:rPr>
              <a:t>▪   </a:t>
            </a:r>
            <a:r>
              <a:rPr sz="3000" b="1">
                <a:solidFill>
                  <a:srgbClr val="16181D"/>
                </a:solidFill>
                <a:latin typeface="Arial"/>
              </a:rPr>
              <a:t>But:</a:t>
            </a:r>
            <a:r>
              <a:rPr sz="3000" b="0">
                <a:solidFill>
                  <a:srgbClr val="16181D"/>
                </a:solidFill>
                <a:latin typeface="Arial"/>
              </a:rPr>
              <a:t> it only contains patterns its generator knows. You inherit the biases and lose the rare edge cases — the ones that matter.</a:t>
            </a:r>
          </a:p>
        </p:txBody>
      </p:sp>
      <p:sp>
        <p:nvSpPr>
          <p:cNvPr id="5" name="TextBox 4"/>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Synthetic data validates your code. It does not validate your conclusions.</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84</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4C1D068-F9A5-3CA9-5299-C2ED87E2E527}"/>
              </a:ext>
            </a:extLst>
          </p:cNvPr>
          <p:cNvSpPr>
            <a:spLocks noGrp="1"/>
          </p:cNvSpPr>
          <p:nvPr>
            <p:ph type="ftr" sz="quarter" idx="11"/>
          </p:nvPr>
        </p:nvSpPr>
        <p:spPr/>
        <p:txBody>
          <a:bodyPr/>
          <a:lstStyle/>
          <a:p>
            <a:r>
              <a:rPr lang="nb-NO"/>
              <a:t>Introduction to A.I - Umair M.I</a:t>
            </a:r>
          </a:p>
        </p:txBody>
      </p:sp>
      <p:pic>
        <p:nvPicPr>
          <p:cNvPr id="3" name="Content Placeholder 4">
            <a:extLst>
              <a:ext uri="{FF2B5EF4-FFF2-40B4-BE49-F238E27FC236}">
                <a16:creationId xmlns:a16="http://schemas.microsoft.com/office/drawing/2014/main" id="{8569A905-4AB3-BF83-C6D4-A67DCC56FB65}"/>
              </a:ext>
            </a:extLst>
          </p:cNvPr>
          <p:cNvPicPr>
            <a:picLocks noChangeAspect="1"/>
          </p:cNvPicPr>
          <p:nvPr/>
        </p:nvPicPr>
        <p:blipFill>
          <a:blip r:embed="rId2"/>
          <a:stretch>
            <a:fillRect/>
          </a:stretch>
        </p:blipFill>
        <p:spPr>
          <a:xfrm>
            <a:off x="4127062" y="1349645"/>
            <a:ext cx="8338343" cy="7565611"/>
          </a:xfrm>
          <a:prstGeom prst="rect">
            <a:avLst/>
          </a:prstGeom>
        </p:spPr>
      </p:pic>
    </p:spTree>
    <p:extLst>
      <p:ext uri="{BB962C8B-B14F-4D97-AF65-F5344CB8AC3E}">
        <p14:creationId xmlns:p14="http://schemas.microsoft.com/office/powerpoint/2010/main" val="306756814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007A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658368"/>
            <a:ext cx="15371063" cy="868680"/>
          </a:xfrm>
          <a:prstGeom prst="rect">
            <a:avLst/>
          </a:prstGeom>
          <a:noFill/>
        </p:spPr>
        <p:txBody>
          <a:bodyPr wrap="square">
            <a:spAutoFit/>
          </a:bodyPr>
          <a:lstStyle/>
          <a:p>
            <a:r>
              <a:rPr sz="4400" b="1">
                <a:solidFill>
                  <a:srgbClr val="FFFFFF"/>
                </a:solidFill>
                <a:latin typeface="Arial"/>
              </a:rPr>
              <a:t>Try it yourself in the lab</a:t>
            </a:r>
          </a:p>
        </p:txBody>
      </p:sp>
      <p:sp>
        <p:nvSpPr>
          <p:cNvPr id="5" name="Rectangle 4"/>
          <p:cNvSpPr/>
          <p:nvPr/>
        </p:nvSpPr>
        <p:spPr>
          <a:xfrm>
            <a:off x="969264" y="2057400"/>
            <a:ext cx="15371063" cy="3264408"/>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69264" y="2057400"/>
            <a:ext cx="82296" cy="3264408"/>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89304" y="2221992"/>
            <a:ext cx="14822423" cy="2990088"/>
          </a:xfrm>
          <a:prstGeom prst="rect">
            <a:avLst/>
          </a:prstGeom>
          <a:noFill/>
        </p:spPr>
        <p:txBody>
          <a:bodyPr wrap="none">
            <a:spAutoFit/>
          </a:bodyPr>
          <a:lstStyle/>
          <a:p>
            <a:pPr>
              <a:spcAft>
                <a:spcPts val="200"/>
              </a:spcAft>
            </a:pPr>
            <a:r>
              <a:rPr sz="2100">
                <a:solidFill>
                  <a:srgbClr val="16181D"/>
                </a:solidFill>
                <a:latin typeface="Consolas"/>
              </a:rPr>
              <a:t>from faker import Faker</a:t>
            </a:r>
          </a:p>
          <a:p>
            <a:pPr>
              <a:spcAft>
                <a:spcPts val="200"/>
              </a:spcAft>
            </a:pPr>
            <a:r>
              <a:rPr sz="2100">
                <a:solidFill>
                  <a:srgbClr val="16181D"/>
                </a:solidFill>
                <a:latin typeface="Consolas"/>
              </a:rPr>
              <a:t>fake = Faker("no_NO")</a:t>
            </a:r>
          </a:p>
          <a:p>
            <a:pPr>
              <a:spcAft>
                <a:spcPts val="200"/>
              </a:spcAft>
            </a:pPr>
            <a:r>
              <a:rPr sz="2100">
                <a:solidFill>
                  <a:srgbClr val="16181D"/>
                </a:solidFill>
                <a:latin typeface="Consolas"/>
              </a:rPr>
              <a:t>[{"name": fake.name(), "city": fake.city(), "born": fake.date_of_birth()}</a:t>
            </a:r>
          </a:p>
          <a:p>
            <a:pPr>
              <a:spcAft>
                <a:spcPts val="200"/>
              </a:spcAft>
            </a:pPr>
            <a:r>
              <a:rPr sz="2100">
                <a:solidFill>
                  <a:srgbClr val="16181D"/>
                </a:solidFill>
                <a:latin typeface="Consolas"/>
              </a:rPr>
              <a:t> for _ in range(5)]</a:t>
            </a:r>
          </a:p>
          <a:p>
            <a:pPr>
              <a:spcAft>
                <a:spcPts val="200"/>
              </a:spcAft>
            </a:pPr>
            <a:endParaRPr sz="2100">
              <a:solidFill>
                <a:srgbClr val="16181D"/>
              </a:solidFill>
              <a:latin typeface="Consolas"/>
            </a:endParaRPr>
          </a:p>
          <a:p>
            <a:pPr>
              <a:spcAft>
                <a:spcPts val="200"/>
              </a:spcAft>
            </a:pPr>
            <a:r>
              <a:rPr sz="2100">
                <a:solidFill>
                  <a:srgbClr val="1B7F4B"/>
                </a:solidFill>
                <a:latin typeface="Consolas"/>
              </a:rPr>
              <a:t># and NAV's laundromat, to mask Norwegian personal data inside free text:</a:t>
            </a:r>
          </a:p>
          <a:p>
            <a:pPr>
              <a:spcAft>
                <a:spcPts val="200"/>
              </a:spcAft>
            </a:pPr>
            <a:r>
              <a:rPr sz="2100">
                <a:solidFill>
                  <a:srgbClr val="1B7F4B"/>
                </a:solidFill>
                <a:latin typeface="Consolas"/>
              </a:rPr>
              <a:t># https://github.com/navikt/laundromat</a:t>
            </a:r>
          </a:p>
        </p:txBody>
      </p:sp>
      <p:sp>
        <p:nvSpPr>
          <p:cNvPr id="8" name="TextBox 7"/>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9" name="TextBox 8"/>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86</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9264" y="2743200"/>
            <a:ext cx="15371063" cy="38404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69264" y="2743200"/>
            <a:ext cx="82296" cy="3840480"/>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54480" y="3063240"/>
            <a:ext cx="14173200" cy="3200400"/>
          </a:xfrm>
          <a:prstGeom prst="rect">
            <a:avLst/>
          </a:prstGeom>
          <a:noFill/>
        </p:spPr>
        <p:txBody>
          <a:bodyPr wrap="square" anchor="ctr">
            <a:spAutoFit/>
          </a:bodyPr>
          <a:lstStyle/>
          <a:p>
            <a:r>
              <a:rPr sz="5400" b="1">
                <a:solidFill>
                  <a:srgbClr val="16181D"/>
                </a:solidFill>
                <a:latin typeface="Arial"/>
              </a:rPr>
              <a:t>The EU AI Act requires providers of high-risk systems to examine their training data for relevance, representativeness and bias — and to document it.</a:t>
            </a:r>
          </a:p>
          <a:p>
            <a:pPr>
              <a:spcBef>
                <a:spcPts val="2400"/>
              </a:spcBef>
            </a:pPr>
            <a:r>
              <a:rPr sz="2800" b="0">
                <a:solidFill>
                  <a:srgbClr val="3A3F47"/>
                </a:solidFill>
                <a:latin typeface="Arial"/>
              </a:rPr>
              <a:t>Documenting your dataset is no longer just good manners. Lecture 11.</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90</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Five things to take away</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3000" b="0">
                <a:solidFill>
                  <a:srgbClr val="16181D"/>
                </a:solidFill>
                <a:latin typeface="Arial"/>
              </a:rPr>
              <a:t>▪   </a:t>
            </a:r>
            <a:r>
              <a:rPr sz="3000" b="1">
                <a:solidFill>
                  <a:srgbClr val="16181D"/>
                </a:solidFill>
                <a:latin typeface="Arial"/>
              </a:rPr>
              <a:t>Data is 80% of the job</a:t>
            </a:r>
            <a:r>
              <a:rPr sz="3000" b="0">
                <a:solidFill>
                  <a:srgbClr val="16181D"/>
                </a:solidFill>
                <a:latin typeface="Arial"/>
              </a:rPr>
              <a:t>, and the fastest route to a better model</a:t>
            </a:r>
          </a:p>
          <a:p>
            <a:pPr>
              <a:spcAft>
                <a:spcPts val="1400"/>
              </a:spcAft>
            </a:pPr>
            <a:r>
              <a:rPr sz="3000" b="0">
                <a:solidFill>
                  <a:srgbClr val="16181D"/>
                </a:solidFill>
                <a:latin typeface="Arial"/>
              </a:rPr>
              <a:t>▪   </a:t>
            </a:r>
            <a:r>
              <a:rPr sz="3000" b="1">
                <a:solidFill>
                  <a:srgbClr val="16181D"/>
                </a:solidFill>
                <a:latin typeface="Arial"/>
              </a:rPr>
              <a:t>Look before you clean</a:t>
            </a:r>
            <a:r>
              <a:rPr sz="3000" b="0">
                <a:solidFill>
                  <a:srgbClr val="16181D"/>
                </a:solidFill>
                <a:latin typeface="Arial"/>
              </a:rPr>
              <a:t> — profile, then decide, then write down why</a:t>
            </a:r>
          </a:p>
          <a:p>
            <a:pPr>
              <a:spcAft>
                <a:spcPts val="1400"/>
              </a:spcAft>
            </a:pPr>
            <a:r>
              <a:rPr sz="3000" b="0">
                <a:solidFill>
                  <a:srgbClr val="16181D"/>
                </a:solidFill>
                <a:latin typeface="Arial"/>
              </a:rPr>
              <a:t>▪   </a:t>
            </a:r>
            <a:r>
              <a:rPr sz="3000" b="1">
                <a:solidFill>
                  <a:srgbClr val="16181D"/>
                </a:solidFill>
                <a:latin typeface="Arial"/>
              </a:rPr>
              <a:t>The dangerous errors are silent</a:t>
            </a:r>
            <a:r>
              <a:rPr sz="3000" b="0">
                <a:solidFill>
                  <a:srgbClr val="16181D"/>
                </a:solidFill>
                <a:latin typeface="Arial"/>
              </a:rPr>
              <a:t> — decimal commas, </a:t>
            </a:r>
            <a:r>
              <a:rPr sz="2800" b="0">
                <a:solidFill>
                  <a:srgbClr val="0B3D6B"/>
                </a:solidFill>
                <a:latin typeface="Consolas"/>
              </a:rPr>
              <a:t>"None"</a:t>
            </a:r>
            <a:r>
              <a:rPr sz="3000" b="0">
                <a:solidFill>
                  <a:srgbClr val="16181D"/>
                </a:solidFill>
                <a:latin typeface="Arial"/>
              </a:rPr>
              <a:t>, dropped rows, lost leading zeros</a:t>
            </a:r>
          </a:p>
          <a:p>
            <a:pPr>
              <a:spcAft>
                <a:spcPts val="1400"/>
              </a:spcAft>
            </a:pPr>
            <a:r>
              <a:rPr sz="3000" b="0">
                <a:solidFill>
                  <a:srgbClr val="16181D"/>
                </a:solidFill>
                <a:latin typeface="Arial"/>
              </a:rPr>
              <a:t>▪   </a:t>
            </a:r>
            <a:r>
              <a:rPr sz="3000" b="1">
                <a:solidFill>
                  <a:srgbClr val="16181D"/>
                </a:solidFill>
                <a:latin typeface="Arial"/>
              </a:rPr>
              <a:t>Leakage is the number one way to fool yourself</a:t>
            </a:r>
          </a:p>
          <a:p>
            <a:pPr>
              <a:spcAft>
                <a:spcPts val="1400"/>
              </a:spcAft>
            </a:pPr>
            <a:r>
              <a:rPr sz="3000" b="0">
                <a:solidFill>
                  <a:srgbClr val="16181D"/>
                </a:solidFill>
                <a:latin typeface="Arial"/>
              </a:rPr>
              <a:t>▪   </a:t>
            </a:r>
            <a:r>
              <a:rPr sz="3000" b="1">
                <a:solidFill>
                  <a:srgbClr val="16181D"/>
                </a:solidFill>
                <a:latin typeface="Arial"/>
              </a:rPr>
              <a:t>Clean → engineer → split → then fit your transformations</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92</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9264" y="2743200"/>
            <a:ext cx="15371063" cy="38404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69264" y="2743200"/>
            <a:ext cx="82296" cy="3840480"/>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54480" y="3063240"/>
            <a:ext cx="14173200" cy="3200400"/>
          </a:xfrm>
          <a:prstGeom prst="rect">
            <a:avLst/>
          </a:prstGeom>
          <a:noFill/>
        </p:spPr>
        <p:txBody>
          <a:bodyPr wrap="square" anchor="ctr">
            <a:spAutoFit/>
          </a:bodyPr>
          <a:lstStyle/>
          <a:p>
            <a:r>
              <a:rPr sz="5400" b="1">
                <a:solidFill>
                  <a:srgbClr val="16181D"/>
                </a:solidFill>
                <a:latin typeface="Arial"/>
              </a:rPr>
              <a:t>Next week: Machine Learning I — we finally train something.</a:t>
            </a:r>
          </a:p>
          <a:p>
            <a:pPr>
              <a:spcBef>
                <a:spcPts val="2400"/>
              </a:spcBef>
            </a:pPr>
            <a:r>
              <a:rPr sz="2800" b="0">
                <a:solidFill>
                  <a:srgbClr val="3A3F47"/>
                </a:solidFill>
                <a:latin typeface="Arial"/>
              </a:rPr>
              <a:t>It will only work because of what you did today.</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95</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Questions?</a:t>
            </a:r>
          </a:p>
        </p:txBody>
      </p:sp>
      <p:sp>
        <p:nvSpPr>
          <p:cNvPr id="3" name="Rectangle 2"/>
          <p:cNvSpPr/>
          <p:nvPr/>
        </p:nvSpPr>
        <p:spPr>
          <a:xfrm>
            <a:off x="969264" y="3566160"/>
            <a:ext cx="2926080" cy="201168"/>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3886200"/>
            <a:ext cx="12801600" cy="548640"/>
          </a:xfrm>
          <a:prstGeom prst="rect">
            <a:avLst/>
          </a:prstGeom>
          <a:noFill/>
        </p:spPr>
        <p:txBody>
          <a:bodyPr wrap="none">
            <a:spAutoFit/>
          </a:bodyPr>
          <a:lstStyle/>
          <a:p>
            <a:endParaRP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Introduction to A.I  ·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96</a:t>
            </a:r>
          </a:p>
        </p:txBody>
      </p:sp>
    </p:spTree>
  </p:cSld>
  <p:clrMapOvr>
    <a:masterClrMapping/>
  </p:clrMapOvr>
</p:sld>
</file>

<file path=ppt/theme/theme1.xml><?xml version="1.0" encoding="utf-8"?>
<a:theme xmlns:a="http://schemas.openxmlformats.org/drawingml/2006/main" name="Office-tema">
  <a:themeElements>
    <a:clrScheme name="OsloMet">
      <a:dk1>
        <a:sysClr val="windowText" lastClr="000000"/>
      </a:dk1>
      <a:lt1>
        <a:sysClr val="window" lastClr="FFFFFF"/>
      </a:lt1>
      <a:dk2>
        <a:srgbClr val="000000"/>
      </a:dk2>
      <a:lt2>
        <a:srgbClr val="D7D7D7"/>
      </a:lt2>
      <a:accent1>
        <a:srgbClr val="FFDC00"/>
      </a:accent1>
      <a:accent2>
        <a:srgbClr val="E02D00"/>
      </a:accent2>
      <a:accent3>
        <a:srgbClr val="007ACC"/>
      </a:accent3>
      <a:accent4>
        <a:srgbClr val="99002B"/>
      </a:accent4>
      <a:accent5>
        <a:srgbClr val="000064"/>
      </a:accent5>
      <a:accent6>
        <a:srgbClr val="FF81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OsloMet_english.pptx" id="{C20C4326-27AB-419E-A60B-DC7B0629D82C}" vid="{20D9E6D3-32F2-4C7A-B997-1D5DBD08A3A1}"/>
    </a:ext>
  </a:extLst>
</a:theme>
</file>

<file path=ppt/theme/theme2.xml><?xml version="1.0" encoding="utf-8"?>
<a:theme xmlns:a="http://schemas.openxmlformats.org/drawingml/2006/main" name="1_Office-tema">
  <a:themeElements>
    <a:clrScheme name="OsloMet">
      <a:dk1>
        <a:sysClr val="windowText" lastClr="000000"/>
      </a:dk1>
      <a:lt1>
        <a:sysClr val="window" lastClr="FFFFFF"/>
      </a:lt1>
      <a:dk2>
        <a:srgbClr val="000000"/>
      </a:dk2>
      <a:lt2>
        <a:srgbClr val="D7D7D7"/>
      </a:lt2>
      <a:accent1>
        <a:srgbClr val="FFDC00"/>
      </a:accent1>
      <a:accent2>
        <a:srgbClr val="E02D00"/>
      </a:accent2>
      <a:accent3>
        <a:srgbClr val="007ACC"/>
      </a:accent3>
      <a:accent4>
        <a:srgbClr val="99002B"/>
      </a:accent4>
      <a:accent5>
        <a:srgbClr val="000064"/>
      </a:accent5>
      <a:accent6>
        <a:srgbClr val="FF81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OsloMet_english.pptx" id="{C20C4326-27AB-419E-A60B-DC7B0629D82C}" vid="{B571884E-641B-4B14-A4C2-E6C27909D956}"/>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1818A354CD664446AEC35BBAE2499562" ma:contentTypeVersion="13" ma:contentTypeDescription="Opprett et nytt dokument." ma:contentTypeScope="" ma:versionID="c05c63c057be531b98f917e986ab73c0">
  <xsd:schema xmlns:xsd="http://www.w3.org/2001/XMLSchema" xmlns:xs="http://www.w3.org/2001/XMLSchema" xmlns:p="http://schemas.microsoft.com/office/2006/metadata/properties" xmlns:ns3="38664639-412d-4c21-8e39-7e7d568987ec" xmlns:ns4="3aca559b-e256-4fa3-843e-2d1bb256df5f" targetNamespace="http://schemas.microsoft.com/office/2006/metadata/properties" ma:root="true" ma:fieldsID="d1ab16c94bf7e86b8919e30ac7bb9e89" ns3:_="" ns4:_="">
    <xsd:import namespace="38664639-412d-4c21-8e39-7e7d568987ec"/>
    <xsd:import namespace="3aca559b-e256-4fa3-843e-2d1bb256df5f"/>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664639-412d-4c21-8e39-7e7d568987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aca559b-e256-4fa3-843e-2d1bb256df5f" elementFormDefault="qualified">
    <xsd:import namespace="http://schemas.microsoft.com/office/2006/documentManagement/types"/>
    <xsd:import namespace="http://schemas.microsoft.com/office/infopath/2007/PartnerControls"/>
    <xsd:element name="SharedWithUsers" ma:index="16"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lingsdetaljer" ma:internalName="SharedWithDetails" ma:readOnly="true">
      <xsd:simpleType>
        <xsd:restriction base="dms:Note">
          <xsd:maxLength value="255"/>
        </xsd:restriction>
      </xsd:simpleType>
    </xsd:element>
    <xsd:element name="SharingHintHash" ma:index="18" nillable="true" ma:displayName="Hash for deling av tips"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8737683-68CB-4077-9859-434B8A1CE3E1}">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38664639-412d-4c21-8e39-7e7d568987ec"/>
    <ds:schemaRef ds:uri="3aca559b-e256-4fa3-843e-2d1bb256df5f"/>
    <ds:schemaRef ds:uri="http://www.w3.org/XML/1998/namespace"/>
    <ds:schemaRef ds:uri="http://purl.org/dc/dcmitype/"/>
  </ds:schemaRefs>
</ds:datastoreItem>
</file>

<file path=customXml/itemProps2.xml><?xml version="1.0" encoding="utf-8"?>
<ds:datastoreItem xmlns:ds="http://schemas.openxmlformats.org/officeDocument/2006/customXml" ds:itemID="{9BA0E907-83E9-4FEC-BCF8-F9D0EC14FF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8664639-412d-4c21-8e39-7e7d568987ec"/>
    <ds:schemaRef ds:uri="3aca559b-e256-4fa3-843e-2d1bb256df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8E28474-1722-4CE4-848A-F0F44280BEB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presentation OsloMet_english</Template>
  <TotalTime>4688</TotalTime>
  <Words>12817</Words>
  <Application>Microsoft Macintosh PowerPoint</Application>
  <PresentationFormat>Custom</PresentationFormat>
  <Paragraphs>1018</Paragraphs>
  <Slides>99</Slides>
  <Notes>78</Notes>
  <HiddenSlides>3</HiddenSlides>
  <MMClips>3</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99</vt:i4>
      </vt:variant>
    </vt:vector>
  </HeadingPairs>
  <TitlesOfParts>
    <vt:vector size="104" baseType="lpstr">
      <vt:lpstr>Arial</vt:lpstr>
      <vt:lpstr>Calibri</vt:lpstr>
      <vt:lpstr>Consolas</vt:lpstr>
      <vt:lpstr>Office-tema</vt:lpstr>
      <vt:lpstr>1_Office-tema</vt:lpstr>
      <vt:lpstr>Data for AI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is the job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You have the Data....  Now You improve the AI model</vt:lpstr>
      <vt:lpstr> Your model is 99% accurate.</vt:lpstr>
      <vt:lpstr>PowerPoint Presentation</vt:lpstr>
      <vt:lpstr>PowerPoint Presentation</vt:lpstr>
      <vt:lpstr>PowerPoint Presentation</vt:lpstr>
      <vt:lpstr>PowerPoint Presentation</vt:lpstr>
      <vt:lpstr>PowerPoint Presentation</vt:lpstr>
      <vt:lpstr>PowerPoint Presentation</vt:lpstr>
      <vt:lpstr>Know your data before you touch 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First contact with a dataset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“clean data” actually means</vt:lpstr>
      <vt:lpstr>PowerPoint Presentation</vt:lpstr>
      <vt:lpstr>PowerPoint Presentation</vt:lpstr>
      <vt:lpstr>PowerPoint Presentation</vt:lpstr>
      <vt:lpstr>PowerPoint Presentation</vt:lpstr>
      <vt:lpstr>PowerPoint Presentation</vt:lpstr>
      <vt:lpstr>PowerPoint Presentation</vt:lpstr>
      <vt:lpstr>Cleaning DATa:  missing, duplicate, extreme, inconsistent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Making data which AN ai model can use</vt:lpstr>
      <vt:lpstr>PowerPoint Presentation</vt:lpstr>
      <vt:lpstr>PowerPoint Presentation</vt:lpstr>
      <vt:lpstr>PowerPoint Presentation</vt:lpstr>
      <vt:lpstr>PowerPoint Presentation</vt:lpstr>
      <vt:lpstr>For example</vt:lpstr>
      <vt:lpstr>PowerPoint Presentation</vt:lpstr>
      <vt:lpstr>PowerPoint Presentation</vt:lpstr>
      <vt:lpstr>PowerPoint Presentation</vt:lpstr>
      <vt:lpstr>PowerPoint Presentation</vt:lpstr>
      <vt:lpstr>PowerPoint Presentation</vt:lpstr>
      <vt:lpstr>DATA Splitting, and why it happens before everything</vt:lpstr>
      <vt:lpstr>PowerPoint Presentation</vt:lpstr>
      <vt:lpstr>PowerPoint Presentation</vt:lpstr>
      <vt:lpstr>PowerPoint Presentation</vt:lpstr>
      <vt:lpstr>PowerPoint Presentation</vt:lpstr>
      <vt:lpstr>PowerPoint Presentation</vt:lpstr>
      <vt:lpstr>Putting it together</vt:lpstr>
      <vt:lpstr>PowerPoint Presentation</vt:lpstr>
      <vt:lpstr>PowerPoint Presentation</vt:lpstr>
      <vt:lpstr>PowerPoint Presentation</vt:lpstr>
      <vt:lpstr>Labelling, privacy and fake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vt:lpstr>
    </vt:vector>
  </TitlesOfParts>
  <Company>Høgskolen i Oslo og Akershus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OsloMet –  Oslo Metropolitan University </dc:title>
  <dc:creator>Gustavo Mello</dc:creator>
  <dc:description>template by officeconsult.no</dc:description>
  <cp:lastModifiedBy>Umair M.Imam</cp:lastModifiedBy>
  <cp:revision>306</cp:revision>
  <dcterms:created xsi:type="dcterms:W3CDTF">2020-07-02T15:35:18Z</dcterms:created>
  <dcterms:modified xsi:type="dcterms:W3CDTF">2026-09-01T14:25:13Z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0x0101001818A354CD664446AEC35BBAE2499562</vt:lpwstr>
  </property>
</Properties>
</file>