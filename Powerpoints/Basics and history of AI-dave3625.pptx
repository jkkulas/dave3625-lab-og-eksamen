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Lst>
  <p:notesMasterIdLst>
    <p:notesMasterId r:id="rId40"/>
  </p:notesMasterIdLst>
  <p:sldIdLst>
    <p:sldId id="309" r:id="rId6"/>
    <p:sldId id="263" r:id="rId7"/>
    <p:sldId id="262" r:id="rId8"/>
    <p:sldId id="261" r:id="rId9"/>
    <p:sldId id="257" r:id="rId10"/>
    <p:sldId id="339" r:id="rId11"/>
    <p:sldId id="340" r:id="rId12"/>
    <p:sldId id="334" r:id="rId13"/>
    <p:sldId id="350" r:id="rId14"/>
    <p:sldId id="335" r:id="rId15"/>
    <p:sldId id="328" r:id="rId16"/>
    <p:sldId id="331" r:id="rId17"/>
    <p:sldId id="276" r:id="rId18"/>
    <p:sldId id="279" r:id="rId19"/>
    <p:sldId id="344" r:id="rId20"/>
    <p:sldId id="336" r:id="rId21"/>
    <p:sldId id="345" r:id="rId22"/>
    <p:sldId id="346" r:id="rId23"/>
    <p:sldId id="347" r:id="rId24"/>
    <p:sldId id="348" r:id="rId25"/>
    <p:sldId id="260" r:id="rId26"/>
    <p:sldId id="269" r:id="rId27"/>
    <p:sldId id="273" r:id="rId28"/>
    <p:sldId id="271" r:id="rId29"/>
    <p:sldId id="270" r:id="rId30"/>
    <p:sldId id="274" r:id="rId31"/>
    <p:sldId id="275" r:id="rId32"/>
    <p:sldId id="264" r:id="rId33"/>
    <p:sldId id="265" r:id="rId34"/>
    <p:sldId id="266" r:id="rId35"/>
    <p:sldId id="349" r:id="rId36"/>
    <p:sldId id="267" r:id="rId37"/>
    <p:sldId id="333" r:id="rId38"/>
    <p:sldId id="338" r:id="rId39"/>
  </p:sldIdLst>
  <p:sldSz cx="17345025" cy="9752013"/>
  <p:notesSz cx="6858000" cy="1866900"/>
  <p:defaultTextStyle>
    <a:defPPr>
      <a:defRPr lang="nb-NO"/>
    </a:defPPr>
    <a:lvl1pPr marL="0" algn="l" defTabSz="1300643" rtl="0" eaLnBrk="1" latinLnBrk="0" hangingPunct="1">
      <a:defRPr sz="2560" kern="1200">
        <a:solidFill>
          <a:schemeClr val="tx1"/>
        </a:solidFill>
        <a:latin typeface="+mn-lt"/>
        <a:ea typeface="+mn-ea"/>
        <a:cs typeface="+mn-cs"/>
      </a:defRPr>
    </a:lvl1pPr>
    <a:lvl2pPr marL="650321" algn="l" defTabSz="1300643" rtl="0" eaLnBrk="1" latinLnBrk="0" hangingPunct="1">
      <a:defRPr sz="2560" kern="1200">
        <a:solidFill>
          <a:schemeClr val="tx1"/>
        </a:solidFill>
        <a:latin typeface="+mn-lt"/>
        <a:ea typeface="+mn-ea"/>
        <a:cs typeface="+mn-cs"/>
      </a:defRPr>
    </a:lvl2pPr>
    <a:lvl3pPr marL="1300643" algn="l" defTabSz="1300643" rtl="0" eaLnBrk="1" latinLnBrk="0" hangingPunct="1">
      <a:defRPr sz="2560" kern="1200">
        <a:solidFill>
          <a:schemeClr val="tx1"/>
        </a:solidFill>
        <a:latin typeface="+mn-lt"/>
        <a:ea typeface="+mn-ea"/>
        <a:cs typeface="+mn-cs"/>
      </a:defRPr>
    </a:lvl3pPr>
    <a:lvl4pPr marL="1950964" algn="l" defTabSz="1300643" rtl="0" eaLnBrk="1" latinLnBrk="0" hangingPunct="1">
      <a:defRPr sz="2560" kern="1200">
        <a:solidFill>
          <a:schemeClr val="tx1"/>
        </a:solidFill>
        <a:latin typeface="+mn-lt"/>
        <a:ea typeface="+mn-ea"/>
        <a:cs typeface="+mn-cs"/>
      </a:defRPr>
    </a:lvl4pPr>
    <a:lvl5pPr marL="2601285" algn="l" defTabSz="1300643" rtl="0" eaLnBrk="1" latinLnBrk="0" hangingPunct="1">
      <a:defRPr sz="2560" kern="1200">
        <a:solidFill>
          <a:schemeClr val="tx1"/>
        </a:solidFill>
        <a:latin typeface="+mn-lt"/>
        <a:ea typeface="+mn-ea"/>
        <a:cs typeface="+mn-cs"/>
      </a:defRPr>
    </a:lvl5pPr>
    <a:lvl6pPr marL="3251606" algn="l" defTabSz="1300643" rtl="0" eaLnBrk="1" latinLnBrk="0" hangingPunct="1">
      <a:defRPr sz="2560" kern="1200">
        <a:solidFill>
          <a:schemeClr val="tx1"/>
        </a:solidFill>
        <a:latin typeface="+mn-lt"/>
        <a:ea typeface="+mn-ea"/>
        <a:cs typeface="+mn-cs"/>
      </a:defRPr>
    </a:lvl6pPr>
    <a:lvl7pPr marL="3901928" algn="l" defTabSz="1300643" rtl="0" eaLnBrk="1" latinLnBrk="0" hangingPunct="1">
      <a:defRPr sz="2560" kern="1200">
        <a:solidFill>
          <a:schemeClr val="tx1"/>
        </a:solidFill>
        <a:latin typeface="+mn-lt"/>
        <a:ea typeface="+mn-ea"/>
        <a:cs typeface="+mn-cs"/>
      </a:defRPr>
    </a:lvl7pPr>
    <a:lvl8pPr marL="4552249" algn="l" defTabSz="1300643" rtl="0" eaLnBrk="1" latinLnBrk="0" hangingPunct="1">
      <a:defRPr sz="2560" kern="1200">
        <a:solidFill>
          <a:schemeClr val="tx1"/>
        </a:solidFill>
        <a:latin typeface="+mn-lt"/>
        <a:ea typeface="+mn-ea"/>
        <a:cs typeface="+mn-cs"/>
      </a:defRPr>
    </a:lvl8pPr>
    <a:lvl9pPr marL="5202570" algn="l" defTabSz="1300643"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0DDD49-8066-4352-B6B5-FC1A8E5854EA}">
  <a:tblStyle styleId="{5F0DDD49-8066-4352-B6B5-FC1A8E5854EA}" styleName="Oslo Met tabellstil">
    <a:wholeTbl>
      <a:tcTxStyle>
        <a:fontRef idx="minor">
          <a:prstClr val="black"/>
        </a:fontRef>
        <a:schemeClr val="dk1"/>
      </a:tcTxStyle>
      <a:tcStyle>
        <a:tcBdr>
          <a:left>
            <a:ln w="0" cmpd="sng">
              <a:solidFill>
                <a:schemeClr val="lt1"/>
              </a:solidFill>
            </a:ln>
          </a:left>
          <a:right>
            <a:ln w="0" cmpd="sng">
              <a:solidFill>
                <a:schemeClr val="lt1"/>
              </a:solidFill>
            </a:ln>
          </a:right>
          <a:top>
            <a:ln w="6350" cmpd="sng">
              <a:solidFill>
                <a:srgbClr val="D7D7D7"/>
              </a:solidFill>
            </a:ln>
          </a:top>
          <a:bottom>
            <a:ln w="6350" cmpd="sng">
              <a:solidFill>
                <a:srgbClr val="D7D7D7"/>
              </a:solidFill>
            </a:ln>
          </a:bottom>
          <a:insideH>
            <a:ln w="6350" cmpd="sng">
              <a:solidFill>
                <a:srgbClr val="D7D7D7"/>
              </a:solidFill>
            </a:ln>
          </a:insideH>
          <a:insideV>
            <a:ln w="0" cmpd="sng">
              <a:solidFill>
                <a:schemeClr val="lt1"/>
              </a:solidFill>
            </a:ln>
          </a:insideV>
        </a:tcBdr>
        <a:fill>
          <a:solidFill>
            <a:schemeClr val="lt1"/>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w="19050" cmpd="sng">
              <a:solidFill>
                <a:schemeClr val="accent1"/>
              </a:solidFill>
            </a:ln>
          </a:top>
          <a:bottom>
            <a:ln w="19050" cmpd="sng">
              <a:solidFill>
                <a:schemeClr val="accent1"/>
              </a:solidFill>
            </a:ln>
          </a:bottom>
        </a:tcBdr>
        <a:fill>
          <a:noFill/>
        </a:fill>
      </a:tcStyle>
    </a:lastRow>
    <a:firstRow>
      <a:tcTxStyle b="on">
        <a:fontRef idx="minor">
          <a:prstClr val="black"/>
        </a:fontRef>
        <a:schemeClr val="dk1"/>
      </a:tcTxStyle>
      <a:tcStyle>
        <a:tcBdr>
          <a:bottom>
            <a:ln w="19050" cmpd="sng">
              <a:solidFill>
                <a:schemeClr val="accent1"/>
              </a:solidFill>
            </a:ln>
          </a:bottom>
        </a:tcBdr>
        <a:fill>
          <a:noFill/>
        </a:fill>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ys stil 1 – uthev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979" autoAdjust="0"/>
    <p:restoredTop sz="86712" autoAdjust="0"/>
  </p:normalViewPr>
  <p:slideViewPr>
    <p:cSldViewPr snapToGrid="0">
      <p:cViewPr varScale="1">
        <p:scale>
          <a:sx n="77" d="100"/>
          <a:sy n="77" d="100"/>
        </p:scale>
        <p:origin x="2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Judged to be the human (%)</c:v>
                </c:pt>
              </c:strCache>
            </c:strRef>
          </c:tx>
          <c:spPr>
            <a:solidFill>
              <a:srgbClr val="007ACC"/>
            </a:solidFill>
          </c:spPr>
          <c:invertIfNegative val="1"/>
          <c:dPt>
            <c:idx val="0"/>
            <c:invertIfNegative val="1"/>
            <c:bubble3D val="0"/>
            <c:spPr>
              <a:solidFill>
                <a:srgbClr val="99002B"/>
              </a:solidFill>
            </c:spPr>
            <c:extLst>
              <c:ext xmlns:c16="http://schemas.microsoft.com/office/drawing/2014/chart" uri="{C3380CC4-5D6E-409C-BE32-E72D297353CC}">
                <c16:uniqueId val="{00000001-5361-DB42-AF25-BA91A4C502B8}"/>
              </c:ext>
            </c:extLst>
          </c:dPt>
          <c:dPt>
            <c:idx val="1"/>
            <c:invertIfNegative val="1"/>
            <c:bubble3D val="0"/>
            <c:spPr>
              <a:solidFill>
                <a:srgbClr val="FF8100"/>
              </a:solidFill>
            </c:spPr>
            <c:extLst>
              <c:ext xmlns:c16="http://schemas.microsoft.com/office/drawing/2014/chart" uri="{C3380CC4-5D6E-409C-BE32-E72D297353CC}">
                <c16:uniqueId val="{00000003-5361-DB42-AF25-BA91A4C502B8}"/>
              </c:ext>
            </c:extLst>
          </c:dPt>
          <c:dPt>
            <c:idx val="2"/>
            <c:invertIfNegative val="1"/>
            <c:bubble3D val="0"/>
            <c:spPr>
              <a:solidFill>
                <a:srgbClr val="8C8C8C"/>
              </a:solidFill>
            </c:spPr>
            <c:extLst>
              <c:ext xmlns:c16="http://schemas.microsoft.com/office/drawing/2014/chart" uri="{C3380CC4-5D6E-409C-BE32-E72D297353CC}">
                <c16:uniqueId val="{00000005-5361-DB42-AF25-BA91A4C502B8}"/>
              </c:ext>
            </c:extLst>
          </c:dPt>
          <c:dPt>
            <c:idx val="3"/>
            <c:invertIfNegative val="1"/>
            <c:bubble3D val="0"/>
            <c:spPr>
              <a:solidFill>
                <a:srgbClr val="8C8C8C"/>
              </a:solidFill>
            </c:spPr>
            <c:extLst>
              <c:ext xmlns:c16="http://schemas.microsoft.com/office/drawing/2014/chart" uri="{C3380CC4-5D6E-409C-BE32-E72D297353CC}">
                <c16:uniqueId val="{00000007-5361-DB42-AF25-BA91A4C502B8}"/>
              </c:ext>
            </c:extLst>
          </c:dPt>
          <c:dLbls>
            <c:numFmt formatCode="0&quot;%&quot;" sourceLinked="0"/>
            <c:spPr>
              <a:noFill/>
              <a:ln>
                <a:noFill/>
              </a:ln>
              <a:effectLst/>
            </c:spPr>
            <c:txPr>
              <a:bodyPr/>
              <a:lstStyle/>
              <a:p>
                <a:pPr>
                  <a:defRPr sz="2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GPT-4.5
(with persona)</c:v>
                </c:pt>
                <c:pt idx="1">
                  <c:v>LLaMa-3.1-405B
(with persona)</c:v>
                </c:pt>
                <c:pt idx="2">
                  <c:v>GPT-4o
(no persona)</c:v>
                </c:pt>
                <c:pt idx="3">
                  <c:v>ELIZA
(1966 baseline)</c:v>
                </c:pt>
              </c:strCache>
            </c:strRef>
          </c:cat>
          <c:val>
            <c:numRef>
              <c:f>Sheet1!$B$2:$B$5</c:f>
              <c:numCache>
                <c:formatCode>General</c:formatCode>
                <c:ptCount val="4"/>
                <c:pt idx="0">
                  <c:v>73</c:v>
                </c:pt>
                <c:pt idx="1">
                  <c:v>56</c:v>
                </c:pt>
                <c:pt idx="2">
                  <c:v>21</c:v>
                </c:pt>
                <c:pt idx="3">
                  <c:v>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5361-DB42-AF25-BA91A4C502B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500" b="1"/>
            </a:pPr>
            <a:endParaRPr lang="en-US"/>
          </a:p>
        </c:txPr>
        <c:crossAx val="-2113994440"/>
        <c:crosses val="autoZero"/>
        <c:auto val="1"/>
        <c:lblAlgn val="ctr"/>
        <c:lblOffset val="100"/>
        <c:noMultiLvlLbl val="0"/>
      </c:catAx>
      <c:valAx>
        <c:axId val="-2113994440"/>
        <c:scaling>
          <c:orientation val="minMax"/>
          <c:max val="80"/>
          <c:min val="0"/>
        </c:scaling>
        <c:delete val="0"/>
        <c:axPos val="l"/>
        <c:majorGridlines/>
        <c:numFmt formatCode="General" sourceLinked="1"/>
        <c:majorTickMark val="out"/>
        <c:minorTickMark val="none"/>
        <c:tickLblPos val="nextTo"/>
        <c:txPr>
          <a:bodyPr/>
          <a:lstStyle/>
          <a:p>
            <a:pPr>
              <a:defRPr sz="14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7B040-7AAC-4A31-805D-A772300221D6}" type="datetimeFigureOut">
              <a:rPr lang="en-US" smtClean="0"/>
              <a:t>8/18/26</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C6333F-E368-4746-A020-FE91A90E005B}" type="slidenum">
              <a:rPr lang="en-US" smtClean="0"/>
              <a:t>‹#›</a:t>
            </a:fld>
            <a:endParaRPr lang="en-US"/>
          </a:p>
        </p:txBody>
      </p:sp>
    </p:spTree>
    <p:extLst>
      <p:ext uri="{BB962C8B-B14F-4D97-AF65-F5344CB8AC3E}">
        <p14:creationId xmlns:p14="http://schemas.microsoft.com/office/powerpoint/2010/main" val="1894998186"/>
      </p:ext>
    </p:extLst>
  </p:cSld>
  <p:clrMap bg1="lt1" tx1="dk1" bg2="lt2" tx2="dk2" accent1="accent1" accent2="accent2" accent3="accent3" accent4="accent4" accent5="accent5" accent6="accent6" hlink="hlink" folHlink="folHlink"/>
  <p:notesStyle>
    <a:lvl1pPr marL="0" algn="l" defTabSz="1300643" rtl="0" eaLnBrk="1" latinLnBrk="0" hangingPunct="1">
      <a:defRPr sz="1707" kern="1200">
        <a:solidFill>
          <a:schemeClr val="tx1"/>
        </a:solidFill>
        <a:latin typeface="+mn-lt"/>
        <a:ea typeface="+mn-ea"/>
        <a:cs typeface="+mn-cs"/>
      </a:defRPr>
    </a:lvl1pPr>
    <a:lvl2pPr marL="650321" algn="l" defTabSz="1300643" rtl="0" eaLnBrk="1" latinLnBrk="0" hangingPunct="1">
      <a:defRPr sz="1707" kern="1200">
        <a:solidFill>
          <a:schemeClr val="tx1"/>
        </a:solidFill>
        <a:latin typeface="+mn-lt"/>
        <a:ea typeface="+mn-ea"/>
        <a:cs typeface="+mn-cs"/>
      </a:defRPr>
    </a:lvl2pPr>
    <a:lvl3pPr marL="1300643" algn="l" defTabSz="1300643" rtl="0" eaLnBrk="1" latinLnBrk="0" hangingPunct="1">
      <a:defRPr sz="1707" kern="1200">
        <a:solidFill>
          <a:schemeClr val="tx1"/>
        </a:solidFill>
        <a:latin typeface="+mn-lt"/>
        <a:ea typeface="+mn-ea"/>
        <a:cs typeface="+mn-cs"/>
      </a:defRPr>
    </a:lvl3pPr>
    <a:lvl4pPr marL="1950964" algn="l" defTabSz="1300643" rtl="0" eaLnBrk="1" latinLnBrk="0" hangingPunct="1">
      <a:defRPr sz="1707" kern="1200">
        <a:solidFill>
          <a:schemeClr val="tx1"/>
        </a:solidFill>
        <a:latin typeface="+mn-lt"/>
        <a:ea typeface="+mn-ea"/>
        <a:cs typeface="+mn-cs"/>
      </a:defRPr>
    </a:lvl4pPr>
    <a:lvl5pPr marL="2601285" algn="l" defTabSz="1300643" rtl="0" eaLnBrk="1" latinLnBrk="0" hangingPunct="1">
      <a:defRPr sz="1707" kern="1200">
        <a:solidFill>
          <a:schemeClr val="tx1"/>
        </a:solidFill>
        <a:latin typeface="+mn-lt"/>
        <a:ea typeface="+mn-ea"/>
        <a:cs typeface="+mn-cs"/>
      </a:defRPr>
    </a:lvl5pPr>
    <a:lvl6pPr marL="3251606" algn="l" defTabSz="1300643" rtl="0" eaLnBrk="1" latinLnBrk="0" hangingPunct="1">
      <a:defRPr sz="1707" kern="1200">
        <a:solidFill>
          <a:schemeClr val="tx1"/>
        </a:solidFill>
        <a:latin typeface="+mn-lt"/>
        <a:ea typeface="+mn-ea"/>
        <a:cs typeface="+mn-cs"/>
      </a:defRPr>
    </a:lvl6pPr>
    <a:lvl7pPr marL="3901928" algn="l" defTabSz="1300643" rtl="0" eaLnBrk="1" latinLnBrk="0" hangingPunct="1">
      <a:defRPr sz="1707" kern="1200">
        <a:solidFill>
          <a:schemeClr val="tx1"/>
        </a:solidFill>
        <a:latin typeface="+mn-lt"/>
        <a:ea typeface="+mn-ea"/>
        <a:cs typeface="+mn-cs"/>
      </a:defRPr>
    </a:lvl7pPr>
    <a:lvl8pPr marL="4552249" algn="l" defTabSz="1300643" rtl="0" eaLnBrk="1" latinLnBrk="0" hangingPunct="1">
      <a:defRPr sz="1707" kern="1200">
        <a:solidFill>
          <a:schemeClr val="tx1"/>
        </a:solidFill>
        <a:latin typeface="+mn-lt"/>
        <a:ea typeface="+mn-ea"/>
        <a:cs typeface="+mn-cs"/>
      </a:defRPr>
    </a:lvl8pPr>
    <a:lvl9pPr marL="5202570" algn="l" defTabSz="1300643" rtl="0" eaLnBrk="1" latinLnBrk="0" hangingPunct="1">
      <a:defRPr sz="1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Alan_Turing"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s://en.wikipedia.org/wiki/Artificial_intelligence"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a:t>
            </a:r>
            <a:r>
              <a:rPr lang="en-GB" dirty="0" err="1"/>
              <a:t>www.verywellmind.com</a:t>
            </a:r>
            <a:r>
              <a:rPr lang="en-GB" dirty="0"/>
              <a:t>/theories-of-intelligence-2795035</a:t>
            </a:r>
            <a:endParaRPr lang="en-NO" dirty="0"/>
          </a:p>
        </p:txBody>
      </p:sp>
      <p:sp>
        <p:nvSpPr>
          <p:cNvPr id="4" name="Slide Number Placeholder 3"/>
          <p:cNvSpPr>
            <a:spLocks noGrp="1"/>
          </p:cNvSpPr>
          <p:nvPr>
            <p:ph type="sldNum" sz="quarter" idx="5"/>
          </p:nvPr>
        </p:nvSpPr>
        <p:spPr/>
        <p:txBody>
          <a:bodyPr/>
          <a:lstStyle/>
          <a:p>
            <a:fld id="{D20B45A5-7E4F-BE48-B381-202D8735B8D4}" type="slidenum">
              <a:rPr lang="en-NO" smtClean="0"/>
              <a:t>4</a:t>
            </a:fld>
            <a:endParaRPr lang="en-NO"/>
          </a:p>
        </p:txBody>
      </p:sp>
    </p:spTree>
    <p:extLst>
      <p:ext uri="{BB962C8B-B14F-4D97-AF65-F5344CB8AC3E}">
        <p14:creationId xmlns:p14="http://schemas.microsoft.com/office/powerpoint/2010/main" val="2943448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O" dirty="0"/>
              <a:t>There is no universal definition of A.I</a:t>
            </a:r>
          </a:p>
          <a:p>
            <a:endParaRPr lang="en-NO" dirty="0"/>
          </a:p>
        </p:txBody>
      </p:sp>
      <p:sp>
        <p:nvSpPr>
          <p:cNvPr id="4" name="Slide Number Placeholder 3"/>
          <p:cNvSpPr>
            <a:spLocks noGrp="1"/>
          </p:cNvSpPr>
          <p:nvPr>
            <p:ph type="sldNum" sz="quarter" idx="5"/>
          </p:nvPr>
        </p:nvSpPr>
        <p:spPr/>
        <p:txBody>
          <a:bodyPr/>
          <a:lstStyle/>
          <a:p>
            <a:fld id="{D20B45A5-7E4F-BE48-B381-202D8735B8D4}" type="slidenum">
              <a:rPr lang="en-NO" smtClean="0"/>
              <a:t>5</a:t>
            </a:fld>
            <a:endParaRPr lang="en-NO"/>
          </a:p>
        </p:txBody>
      </p:sp>
    </p:spTree>
    <p:extLst>
      <p:ext uri="{BB962C8B-B14F-4D97-AF65-F5344CB8AC3E}">
        <p14:creationId xmlns:p14="http://schemas.microsoft.com/office/powerpoint/2010/main" val="107760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exam-safe one-liner. Contrast with the next slide: in conventional programming a human supplies the rules; in AI the machine derives them from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single most useful diagram in the course. Students routinely use 'AI' and 'ML' interchangeably and treat Gen AI as something separate — it is not, it lives in the innermost ring.</a:t>
            </a:r>
          </a:p>
          <a:p>
            <a:endParaRPr dirty="0"/>
          </a:p>
          <a:p>
            <a:r>
              <a:rPr dirty="0"/>
              <a:t>Two things to say out loud:</a:t>
            </a:r>
          </a:p>
          <a:p>
            <a:r>
              <a:rPr dirty="0"/>
              <a:t>1) Not all AI is machine learning. Chess engines and route planners are AI with hand-written rules and search.</a:t>
            </a:r>
          </a:p>
          <a:p>
            <a:r>
              <a:rPr dirty="0"/>
              <a:t>2) Data science overlaps all of this but is a different goal: understanding data vs. building a system that acts.</a:t>
            </a:r>
          </a:p>
          <a:p>
            <a:endParaRPr dirty="0"/>
          </a:p>
          <a:p>
            <a:r>
              <a:rPr dirty="0"/>
              <a:t>Numbering on the right is indicative — adjust to the semester plan.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store.dftba.com</a:t>
            </a:r>
            <a:r>
              <a:rPr lang="en-US" dirty="0"/>
              <a:t>/products/map-of-computer-science-poster</a:t>
            </a:r>
          </a:p>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R</a:t>
            </a:r>
            <a:r>
              <a:rPr lang="en-NO" dirty="0"/>
              <a:t>ef: </a:t>
            </a:r>
            <a:r>
              <a:rPr lang="en-GB" dirty="0"/>
              <a:t>https://</a:t>
            </a:r>
            <a:r>
              <a:rPr lang="en-GB" dirty="0" err="1"/>
              <a:t>www.flickr.com</a:t>
            </a:r>
            <a:r>
              <a:rPr lang="en-GB" dirty="0"/>
              <a:t>/photos/95869671@N08/36231833334</a:t>
            </a:r>
            <a:endParaRPr lang="en-NO" dirty="0"/>
          </a:p>
          <a:p>
            <a:endParaRPr lang="en-US" dirty="0"/>
          </a:p>
          <a:p>
            <a:r>
              <a:rPr lang="en-US" dirty="0"/>
              <a:t>Copyright (by an external person), please </a:t>
            </a:r>
            <a:r>
              <a:rPr lang="en-US" dirty="0" err="1"/>
              <a:t>donot</a:t>
            </a:r>
            <a:r>
              <a:rPr lang="en-US" dirty="0"/>
              <a:t> redistribute.</a:t>
            </a:r>
          </a:p>
        </p:txBody>
      </p:sp>
      <p:sp>
        <p:nvSpPr>
          <p:cNvPr id="4" name="Slide Number Placeholder 3"/>
          <p:cNvSpPr>
            <a:spLocks noGrp="1"/>
          </p:cNvSpPr>
          <p:nvPr>
            <p:ph type="sldNum" sz="quarter" idx="5"/>
          </p:nvPr>
        </p:nvSpPr>
        <p:spPr/>
        <p:txBody>
          <a:bodyPr/>
          <a:lstStyle/>
          <a:p>
            <a:fld id="{61C6333F-E368-4746-A020-FE91A90E005B}" type="slidenum">
              <a:rPr lang="en-US" smtClean="0"/>
              <a:t>11</a:t>
            </a:fld>
            <a:endParaRPr lang="en-US"/>
          </a:p>
        </p:txBody>
      </p:sp>
    </p:spTree>
    <p:extLst>
      <p:ext uri="{BB962C8B-B14F-4D97-AF65-F5344CB8AC3E}">
        <p14:creationId xmlns:p14="http://schemas.microsoft.com/office/powerpoint/2010/main" val="1822654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0643" rtl="0" eaLnBrk="1" fontAlgn="auto" latinLnBrk="0" hangingPunct="1">
              <a:lnSpc>
                <a:spcPct val="100000"/>
              </a:lnSpc>
              <a:spcBef>
                <a:spcPts val="0"/>
              </a:spcBef>
              <a:spcAft>
                <a:spcPts val="0"/>
              </a:spcAft>
              <a:buClrTx/>
              <a:buSzTx/>
              <a:buFontTx/>
              <a:buNone/>
              <a:tabLst/>
              <a:defRPr/>
            </a:pPr>
            <a:r>
              <a:rPr lang="en-GB" sz="1707" i="1" kern="1200" dirty="0">
                <a:solidFill>
                  <a:schemeClr val="tx1"/>
                </a:solidFill>
                <a:effectLst/>
                <a:latin typeface="+mn-lt"/>
                <a:ea typeface="+mn-ea"/>
                <a:cs typeface="+mn-cs"/>
              </a:rPr>
              <a:t>The Fourth Industrial Revolution is upon us, foreshadowing massive changes to the nature</a:t>
            </a:r>
            <a:br>
              <a:rPr lang="en-GB" sz="1707" i="1" kern="1200" dirty="0">
                <a:solidFill>
                  <a:schemeClr val="tx1"/>
                </a:solidFill>
                <a:effectLst/>
                <a:latin typeface="+mn-lt"/>
                <a:ea typeface="+mn-ea"/>
                <a:cs typeface="+mn-cs"/>
              </a:rPr>
            </a:br>
            <a:r>
              <a:rPr lang="en-GB" sz="1707" i="1" kern="1200" dirty="0">
                <a:solidFill>
                  <a:schemeClr val="tx1"/>
                </a:solidFill>
                <a:effectLst/>
                <a:latin typeface="+mn-lt"/>
                <a:ea typeface="+mn-ea"/>
                <a:cs typeface="+mn-cs"/>
              </a:rPr>
              <a:t>of work. Without a concerted focus on skill development, the dislocations will be widespread and felt most acutely by the poorest and least educated. Keeping pace with the fundamental market shifts will demand coordinated investments in skill development — not just by individuals, but also by companies and governments around the world.” —</a:t>
            </a:r>
            <a:br>
              <a:rPr lang="en-GB" sz="1707" i="1" kern="1200" dirty="0">
                <a:solidFill>
                  <a:schemeClr val="tx1"/>
                </a:solidFill>
                <a:effectLst/>
                <a:latin typeface="+mn-lt"/>
                <a:ea typeface="+mn-ea"/>
                <a:cs typeface="+mn-cs"/>
              </a:rPr>
            </a:br>
            <a:r>
              <a:rPr lang="en-GB" sz="1707" kern="1200" dirty="0">
                <a:solidFill>
                  <a:schemeClr val="tx1"/>
                </a:solidFill>
                <a:effectLst/>
                <a:latin typeface="+mn-lt"/>
                <a:ea typeface="+mn-ea"/>
                <a:cs typeface="+mn-cs"/>
              </a:rPr>
              <a:t>Emily Glassberg Sands and Vinod </a:t>
            </a:r>
            <a:r>
              <a:rPr lang="en-GB" sz="1707" kern="1200" dirty="0" err="1">
                <a:solidFill>
                  <a:schemeClr val="tx1"/>
                </a:solidFill>
                <a:effectLst/>
                <a:latin typeface="+mn-lt"/>
                <a:ea typeface="+mn-ea"/>
                <a:cs typeface="+mn-cs"/>
              </a:rPr>
              <a:t>Bakthavachalam</a:t>
            </a:r>
            <a:r>
              <a:rPr lang="en-GB" sz="1707" kern="1200" dirty="0">
                <a:solidFill>
                  <a:schemeClr val="tx1"/>
                </a:solidFill>
                <a:effectLst/>
                <a:latin typeface="+mn-lt"/>
                <a:ea typeface="+mn-ea"/>
                <a:cs typeface="+mn-cs"/>
              </a:rPr>
              <a:t> (Coursera Data Science)</a:t>
            </a:r>
            <a:br>
              <a:rPr lang="en-GB" sz="1707" kern="1200" dirty="0">
                <a:solidFill>
                  <a:schemeClr val="tx1"/>
                </a:solidFill>
                <a:effectLst/>
                <a:latin typeface="+mn-lt"/>
                <a:ea typeface="+mn-ea"/>
                <a:cs typeface="+mn-cs"/>
              </a:rPr>
            </a:br>
            <a:r>
              <a:rPr lang="en-GB" sz="1707" i="1" kern="1200" dirty="0">
                <a:solidFill>
                  <a:schemeClr val="tx1"/>
                </a:solidFill>
                <a:effectLst/>
                <a:latin typeface="+mn-lt"/>
                <a:ea typeface="+mn-ea"/>
                <a:cs typeface="+mn-cs"/>
              </a:rPr>
              <a:t>Harvard Business Review </a:t>
            </a:r>
            <a:endParaRPr lang="en-GB" dirty="0">
              <a:effectLst/>
            </a:endParaRPr>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12</a:t>
            </a:fld>
            <a:endParaRPr lang="en-US"/>
          </a:p>
        </p:txBody>
      </p:sp>
    </p:spTree>
    <p:extLst>
      <p:ext uri="{BB962C8B-B14F-4D97-AF65-F5344CB8AC3E}">
        <p14:creationId xmlns:p14="http://schemas.microsoft.com/office/powerpoint/2010/main" val="24901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a:t>
            </a:r>
            <a:r>
              <a:rPr lang="en-GB" dirty="0" err="1"/>
              <a:t>medium.com</a:t>
            </a:r>
            <a:r>
              <a:rPr lang="en-GB" dirty="0"/>
              <a:t>/ai-design-thinkers/patenting-ai-lets-start-with-a-history-lesson-af2cbc73a024</a:t>
            </a:r>
            <a:endParaRPr lang="en-NO" dirty="0"/>
          </a:p>
        </p:txBody>
      </p:sp>
      <p:sp>
        <p:nvSpPr>
          <p:cNvPr id="4" name="Slide Number Placeholder 3"/>
          <p:cNvSpPr>
            <a:spLocks noGrp="1"/>
          </p:cNvSpPr>
          <p:nvPr>
            <p:ph type="sldNum" sz="quarter" idx="5"/>
          </p:nvPr>
        </p:nvSpPr>
        <p:spPr/>
        <p:txBody>
          <a:bodyPr/>
          <a:lstStyle/>
          <a:p>
            <a:fld id="{D20B45A5-7E4F-BE48-B381-202D8735B8D4}" type="slidenum">
              <a:rPr lang="en-NO" smtClean="0"/>
              <a:t>14</a:t>
            </a:fld>
            <a:endParaRPr lang="en-NO"/>
          </a:p>
        </p:txBody>
      </p:sp>
    </p:spTree>
    <p:extLst>
      <p:ext uri="{BB962C8B-B14F-4D97-AF65-F5344CB8AC3E}">
        <p14:creationId xmlns:p14="http://schemas.microsoft.com/office/powerpoint/2010/main" val="535056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Causes of the first winter (1974–80): machine translation and general problem-solving were oversold; the 1973 Lighthill report withdrew UK funding; combinatorial explosion made toy successes unscalable.</a:t>
            </a:r>
          </a:p>
          <a:p>
            <a:endParaRPr dirty="0"/>
          </a:p>
          <a:p>
            <a:r>
              <a:rPr dirty="0"/>
              <a:t>Second winter (1987–93): expert systems were brittle and expensive to maintain, and the </a:t>
            </a:r>
            <a:r>
              <a:rPr dirty="0" err="1"/>
              <a:t>specialised</a:t>
            </a:r>
            <a:r>
              <a:rPr dirty="0"/>
              <a:t> LISP-machine market collapsed against cheap general hardware.</a:t>
            </a:r>
          </a:p>
          <a:p>
            <a:endParaRPr dirty="0"/>
          </a:p>
          <a:p>
            <a:r>
              <a:rPr dirty="0"/>
              <a:t>Then be fair about today: this boom differs because the technology is generating revenue and is used by hundreds of millions of people — that was not true in 1974 or 1987. But the curve is a caution, not a guarantee. Invite disagreement; it is a genuinely open question.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key conceptual jump is 2017. Before the transformer, sequence models were processed step by step, so you could not use large GPU clusters efficiently. The transformer made training parallel — everything since is largely that plus scale, data and engineering.</a:t>
            </a:r>
          </a:p>
          <a:p>
            <a:endParaRPr dirty="0"/>
          </a:p>
          <a:p>
            <a:r>
              <a:rPr dirty="0"/>
              <a:t>2020 matters because it changed the strategy of the whole field: scaling laws made 'make it bigger' a reliable plan for the first time.</a:t>
            </a:r>
          </a:p>
          <a:p>
            <a:endParaRPr dirty="0"/>
          </a:p>
          <a:p>
            <a:r>
              <a:rPr dirty="0"/>
              <a:t>Keep this slide shallow — mechanics come in the deep learning and Gen AI lectures. Also flag honestly that the 2025–26 line is the least settled: 'reasoning' is a marketing term as much as a technical 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Emphasise</a:t>
            </a:r>
            <a:r>
              <a:rPr dirty="0"/>
              <a:t> 'together'. Any three without the fourth gives you the 1990s: the algorithms for neural networks existed, the data and compute did not.</a:t>
            </a:r>
          </a:p>
          <a:p>
            <a:endParaRPr dirty="0"/>
          </a:p>
          <a:p>
            <a:r>
              <a:rPr dirty="0"/>
              <a:t>ACCESS is the column students underrate, and the one that matters most for their careers: the scarce skill is no longer training models from scratch, it is knowing which problems to point them at and how to tell whether the output is good.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that makes the lecture feel current. Students already use these tools; what they lack is the vocabulary for why they are different in kind, not just better.</a:t>
            </a:r>
          </a:p>
          <a:p>
            <a:endParaRPr dirty="0"/>
          </a:p>
          <a:p>
            <a:r>
              <a:rPr dirty="0"/>
              <a:t>Do not oversell: classic AI did not go away. Most production AI in Norwegian companies is still the left column — fraud detection, forecasting, classification — because it is cheaper, faster and auditable.</a:t>
            </a:r>
          </a:p>
          <a:p>
            <a:endParaRPr dirty="0"/>
          </a:p>
          <a:p>
            <a:r>
              <a:rPr dirty="0"/>
              <a:t>The bottom-right row is the bridge to the ethics lecture: fluency without reliability is a genuinely new safety problem.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Point students at Norwegian examples so it is not all US big tech: fraud detection in banking, NAV and </a:t>
            </a:r>
            <a:r>
              <a:rPr dirty="0" err="1"/>
              <a:t>Skatteetaten</a:t>
            </a:r>
            <a:r>
              <a:rPr dirty="0"/>
              <a:t> case handling, Ruter journey prediction, DNB chat support.</a:t>
            </a:r>
          </a:p>
          <a:p>
            <a:endParaRPr dirty="0"/>
          </a:p>
          <a:p>
            <a:r>
              <a:rPr dirty="0"/>
              <a:t>Ties to the exam: 'where does AI sit in a system architecture?' The answer is almost always 'one component behind an ordinary API'.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a:p>
        </p:txBody>
      </p:sp>
      <p:sp>
        <p:nvSpPr>
          <p:cNvPr id="4" name="Slide Number Placeholder 3"/>
          <p:cNvSpPr>
            <a:spLocks noGrp="1"/>
          </p:cNvSpPr>
          <p:nvPr>
            <p:ph type="sldNum" sz="quarter" idx="5"/>
          </p:nvPr>
        </p:nvSpPr>
        <p:spPr/>
        <p:txBody>
          <a:bodyPr/>
          <a:lstStyle/>
          <a:p>
            <a:fld id="{D20B45A5-7E4F-BE48-B381-202D8735B8D4}" type="slidenum">
              <a:rPr lang="en-NO" smtClean="0"/>
              <a:t>22</a:t>
            </a:fld>
            <a:endParaRPr lang="en-NO"/>
          </a:p>
        </p:txBody>
      </p:sp>
    </p:spTree>
    <p:extLst>
      <p:ext uri="{BB962C8B-B14F-4D97-AF65-F5344CB8AC3E}">
        <p14:creationId xmlns:p14="http://schemas.microsoft.com/office/powerpoint/2010/main" val="1532644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dirty="0"/>
              <a:t>Examples of:</a:t>
            </a:r>
          </a:p>
          <a:p>
            <a:r>
              <a:rPr lang="en-NO" dirty="0"/>
              <a:t>Narrow AI : chatbots, voice assistants, general machine learning</a:t>
            </a:r>
          </a:p>
          <a:p>
            <a:r>
              <a:rPr lang="en-NO" dirty="0"/>
              <a:t>General AI: Nothing as of now, but Goofle Duplex claims to be one</a:t>
            </a:r>
          </a:p>
          <a:p>
            <a:r>
              <a:rPr lang="en-NO" dirty="0"/>
              <a:t>Super AI: none</a:t>
            </a:r>
          </a:p>
        </p:txBody>
      </p:sp>
      <p:sp>
        <p:nvSpPr>
          <p:cNvPr id="4" name="Slide Number Placeholder 3"/>
          <p:cNvSpPr>
            <a:spLocks noGrp="1"/>
          </p:cNvSpPr>
          <p:nvPr>
            <p:ph type="sldNum" sz="quarter" idx="5"/>
          </p:nvPr>
        </p:nvSpPr>
        <p:spPr/>
        <p:txBody>
          <a:bodyPr/>
          <a:lstStyle/>
          <a:p>
            <a:fld id="{D20B45A5-7E4F-BE48-B381-202D8735B8D4}" type="slidenum">
              <a:rPr lang="en-NO" smtClean="0"/>
              <a:t>27</a:t>
            </a:fld>
            <a:endParaRPr lang="en-NO"/>
          </a:p>
        </p:txBody>
      </p:sp>
    </p:spTree>
    <p:extLst>
      <p:ext uri="{BB962C8B-B14F-4D97-AF65-F5344CB8AC3E}">
        <p14:creationId xmlns:p14="http://schemas.microsoft.com/office/powerpoint/2010/main" val="818121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Wikipedia- The </a:t>
            </a:r>
            <a:r>
              <a:rPr lang="en-GB" b="1" dirty="0"/>
              <a:t>Turing test</a:t>
            </a:r>
            <a:r>
              <a:rPr lang="en-GB" dirty="0"/>
              <a:t>, developed by </a:t>
            </a:r>
            <a:r>
              <a:rPr lang="en-GB" dirty="0">
                <a:hlinkClick r:id="rId3" tooltip="Alan Turing"/>
              </a:rPr>
              <a:t>Alan Turing</a:t>
            </a:r>
            <a:r>
              <a:rPr lang="en-GB" dirty="0"/>
              <a:t> in 1950, is a test of a machine's ability to </a:t>
            </a:r>
            <a:r>
              <a:rPr lang="en-GB" dirty="0">
                <a:hlinkClick r:id="rId4" tooltip="Artificial intelligence"/>
              </a:rPr>
              <a:t>exhibit intelligent behaviour</a:t>
            </a:r>
            <a:r>
              <a:rPr lang="en-GB" dirty="0"/>
              <a:t> equivalent to, or indistinguishable from, that of a human.</a:t>
            </a:r>
          </a:p>
          <a:p>
            <a:endParaRPr lang="en-GB" dirty="0"/>
          </a:p>
          <a:p>
            <a:r>
              <a:rPr lang="en-GB" dirty="0"/>
              <a:t>The "standard interpretation" of the Turing test, in which player C, the interrogator, is given the task of trying to determine which player – A or B – is a computer and which is a human. The interrogator is limited to using the responses to written questions to make the determination</a:t>
            </a:r>
            <a:endParaRPr lang="en-NO" dirty="0"/>
          </a:p>
        </p:txBody>
      </p:sp>
      <p:sp>
        <p:nvSpPr>
          <p:cNvPr id="4" name="Slide Number Placeholder 3"/>
          <p:cNvSpPr>
            <a:spLocks noGrp="1"/>
          </p:cNvSpPr>
          <p:nvPr>
            <p:ph type="sldNum" sz="quarter" idx="5"/>
          </p:nvPr>
        </p:nvSpPr>
        <p:spPr/>
        <p:txBody>
          <a:bodyPr/>
          <a:lstStyle/>
          <a:p>
            <a:fld id="{D20B45A5-7E4F-BE48-B381-202D8735B8D4}" type="slidenum">
              <a:rPr lang="en-NO" smtClean="0"/>
              <a:t>28</a:t>
            </a:fld>
            <a:endParaRPr lang="en-NO"/>
          </a:p>
        </p:txBody>
      </p:sp>
    </p:spTree>
    <p:extLst>
      <p:ext uri="{BB962C8B-B14F-4D97-AF65-F5344CB8AC3E}">
        <p14:creationId xmlns:p14="http://schemas.microsoft.com/office/powerpoint/2010/main" val="2123384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replaces the old and false claim that Google Duplex passed the Turing test in 2018.</a:t>
            </a:r>
          </a:p>
          <a:p>
            <a:endParaRPr dirty="0"/>
          </a:p>
          <a:p>
            <a:r>
              <a:rPr dirty="0"/>
              <a:t>Key teaching points:</a:t>
            </a:r>
          </a:p>
          <a:p>
            <a:r>
              <a:rPr dirty="0"/>
              <a:t>1) The persona prompt did the heavy lifting — 21% → 73% with no change to the model. Framing matters enormously; that is an LLM lesson in itself.</a:t>
            </a:r>
          </a:p>
          <a:p>
            <a:r>
              <a:rPr dirty="0"/>
              <a:t>2) ELIZA at 23% is the sanity check that the setup was not trivially easy.</a:t>
            </a:r>
          </a:p>
          <a:p>
            <a:r>
              <a:rPr dirty="0"/>
              <a:t>3) Scoring ABOVE the human is the giveaway: the model performed 'human' better than humans do. It is an imitation contest.</a:t>
            </a:r>
          </a:p>
          <a:p>
            <a:endParaRPr dirty="0"/>
          </a:p>
          <a:p>
            <a:r>
              <a:rPr dirty="0"/>
              <a:t>Then ask the class: if a machine can convince you it is human, what have you actually learned about it? Answer: something about the machine's mimicry and a lot about human judgement. Which is why nobody uses this as a benchmark now.</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D20B45A5-7E4F-BE48-B381-202D8735B8D4}" type="slidenum">
              <a:rPr lang="en-NO" smtClean="0"/>
              <a:t>32</a:t>
            </a:fld>
            <a:endParaRPr lang="en-NO"/>
          </a:p>
        </p:txBody>
      </p:sp>
    </p:spTree>
    <p:extLst>
      <p:ext uri="{BB962C8B-B14F-4D97-AF65-F5344CB8AC3E}">
        <p14:creationId xmlns:p14="http://schemas.microsoft.com/office/powerpoint/2010/main" val="4234759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1B8CB738-8A92-4242-BFAF-5A76148DA9F2}" type="datetime1">
              <a:rPr lang="nb-NO" smtClean="0"/>
              <a:t>18.08.2026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14240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4C8EDD6-68DE-F74C-9242-4F317D6B988E}" type="datetime1">
              <a:rPr lang="nb-NO" smtClean="0"/>
              <a:t>18.08.2026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49029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E2AFA940-BB1A-2546-B1AA-7432196BDF07}" type="datetime1">
              <a:rPr lang="nb-NO" smtClean="0"/>
              <a:t>18.08.2026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51411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B794D83D-072A-A04C-A7F3-4BC8A7FAC58B}" type="datetime1">
              <a:rPr lang="nb-NO" smtClean="0"/>
              <a:t>18.08.2026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69910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970BB29B-3BF2-C649-B67B-86F56F280184}" type="datetime1">
              <a:rPr lang="nb-NO" smtClean="0"/>
              <a:t>18.08.2026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838673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EDE9C3DA-D7F3-C34D-98A9-7B2CFF57CFC6}" type="datetime1">
              <a:rPr lang="nb-NO" smtClean="0"/>
              <a:t>18.08.2026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8796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3E17D02D-71F8-DB4B-9CDA-5E95B12F834E}" type="datetime1">
              <a:rPr lang="nb-NO" smtClean="0"/>
              <a:t>18.08.2026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473004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AFDEF325-5E12-1C40-877B-11C33935E977}" type="datetime1">
              <a:rPr lang="nb-NO" smtClean="0"/>
              <a:t>18.08.2026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78474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0B11FDB4-D115-F743-900E-8B987E95887B}"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2125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D5743DC5-FF72-5D45-9139-1EF4D4DD79A8}"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584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0BE0319-3502-1446-A29C-667B63DCC821}"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30382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A128637-AC9E-7948-8472-9501588C7B1A}"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37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61C00-EFE0-DA4D-A901-8081BF0530A8}"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29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97C2A63-6BBE-E34D-89E1-499FE3704E2E}"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25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AAED39D-2C46-BC47-BC1C-7FBE27DEFBB4}" type="datetime1">
              <a:rPr lang="nb-NO" smtClean="0"/>
              <a:t>18.08.2026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63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B8E6FB85-A9F1-F34E-A3AF-024C8B4A3C90}" type="datetime1">
              <a:rPr lang="nb-NO" smtClean="0"/>
              <a:t>18.08.2026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1304279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9ED5AE83-A1EC-0447-9BCC-8AD153762461}"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9077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DF99E1FF-0333-9143-86D0-C48E337F4E76}" type="datetime1">
              <a:rPr lang="nb-NO" smtClean="0"/>
              <a:t>18.08.2026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72570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0FE61AA1-9CAA-9C44-8967-48285DF6EEA1}" type="datetime1">
              <a:rPr lang="nb-NO" smtClean="0"/>
              <a:t>18.08.2026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13274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B07DE300-15C3-864E-8B70-FD0EFB2B32ED}" type="datetime1">
              <a:rPr lang="nb-NO" smtClean="0"/>
              <a:t>18.08.2026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4663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5DDA4C13-E02D-094A-A01F-5E81A9C48AA1}" type="datetime1">
              <a:rPr lang="nb-NO" smtClean="0"/>
              <a:t>18.08.2026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098047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0EB400F-4224-6149-A03A-94907E8E56D8}" type="datetime1">
              <a:rPr lang="nb-NO" smtClean="0"/>
              <a:t>18.08.2026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943840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A2F66F3E-E7D8-1C40-ACD3-802D967B9B27}" type="datetime1">
              <a:rPr lang="nb-NO" smtClean="0"/>
              <a:t>18.08.2026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16928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82E39379-6D8A-2F40-BC9D-8BFA07414157}" type="datetime1">
              <a:rPr lang="nb-NO" smtClean="0"/>
              <a:t>18.08.2026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4858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32DDBFCF-FA8B-7A40-808A-124DE0789804}" type="datetime1">
              <a:rPr lang="nb-NO" smtClean="0"/>
              <a:t>18.08.2026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767858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DFB3256-400C-5A4E-8683-C5AFF0ED730D}" type="datetime1">
              <a:rPr lang="nb-NO" smtClean="0"/>
              <a:t>18.08.2026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6889017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710D251D-A500-B44A-9332-BDBBDA56C6A2}" type="datetime1">
              <a:rPr lang="nb-NO" smtClean="0"/>
              <a:t>18.08.2026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Introduction to A.I -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81145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007D4310-A029-D244-896B-89DA566B4BB7}" type="datetime1">
              <a:rPr lang="nb-NO" smtClean="0"/>
              <a:t>18.08.2026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3918039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632A589A-55B6-DE4F-A17C-00B396FD2ABE}" type="datetime1">
              <a:rPr lang="nb-NO" smtClean="0"/>
              <a:t>18.08.2026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2103541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0FD87C17-3D40-824B-B05B-BFCD0446F5E6}" type="datetime1">
              <a:rPr lang="nb-NO" smtClean="0"/>
              <a:t>18.08.2026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Introduction to A.I -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32442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22A50806-F55B-C744-8978-4C0C6468AADF}"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86925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1369391F-FD50-3E47-A811-8DD907C21AA3}"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4844641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B59A2FC-2C30-4947-A7A6-AC2A92F8BBB7}"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05704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30188B56-E8AE-954A-B759-F15BEA611FC1}"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984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E7601AA-4730-A84C-A064-CFAA5BC67FD3}"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7098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AC17955-FBE0-DB42-8D8A-D33972F81DD1}"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5090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26B6363-52F4-B149-86AB-4653E581E119}" type="datetime1">
              <a:rPr lang="nb-NO" smtClean="0"/>
              <a:t>18.08.2026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60424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8AB852EC-02F5-6C4D-BEFB-51B1F76722C9}" type="datetime1">
              <a:rPr lang="nb-NO" smtClean="0"/>
              <a:t>18.08.2026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40847756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78B71FCC-7ED5-1B45-8468-F710B7C1B0CB}" type="datetime1">
              <a:rPr lang="nb-NO" smtClean="0"/>
              <a:t>18.08.2026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6607060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B43626B5-3E08-9C43-8DDA-FC9DE9624EB5}" type="datetime1">
              <a:rPr lang="nb-NO" smtClean="0"/>
              <a:t>18.08.2026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Introduction to A.I -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6337445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85B7B548-9239-D543-B54C-D850213F4B10}" type="datetime1">
              <a:rPr lang="nb-NO" smtClean="0"/>
              <a:t>18.08.2026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6628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AD1588FC-A99A-394C-93FD-BA71C81F8457}" type="datetime1">
              <a:rPr lang="nb-NO" smtClean="0"/>
              <a:t>18.08.2026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8195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E2E4D468-A8DD-DA45-B29D-99ABF2C593A2}" type="datetime1">
              <a:rPr lang="nb-NO" smtClean="0"/>
              <a:t>18.08.2026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6109871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10AE1ECB-6C31-2B4A-8B8C-CD864090A2C4}" type="datetime1">
              <a:rPr lang="nb-NO" smtClean="0"/>
              <a:t>18.08.2026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75986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1.pn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710EC14C-1BC8-D644-8538-4CFD4F329370}" type="datetime1">
              <a:rPr lang="nb-NO" smtClean="0"/>
              <a:t>18.08.2026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643857197"/>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2" r:id="rId5"/>
    <p:sldLayoutId id="2147483666" r:id="rId6"/>
    <p:sldLayoutId id="2147483667" r:id="rId7"/>
    <p:sldLayoutId id="2147483668" r:id="rId8"/>
    <p:sldLayoutId id="2147483650" r:id="rId9"/>
    <p:sldLayoutId id="2147483651" r:id="rId10"/>
    <p:sldLayoutId id="2147483656" r:id="rId11"/>
    <p:sldLayoutId id="2147483658" r:id="rId12"/>
    <p:sldLayoutId id="2147483659" r:id="rId13"/>
    <p:sldLayoutId id="2147483660" r:id="rId14"/>
    <p:sldLayoutId id="2147483661" r:id="rId15"/>
    <p:sldLayoutId id="2147483657" r:id="rId16"/>
    <p:sldLayoutId id="2147483670" r:id="rId17"/>
    <p:sldLayoutId id="2147483671" r:id="rId18"/>
    <p:sldLayoutId id="2147483652" r:id="rId19"/>
    <p:sldLayoutId id="2147483653" r:id="rId20"/>
    <p:sldLayoutId id="2147483654" r:id="rId21"/>
    <p:sldLayoutId id="2147483655"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3E27EE5C-360C-234C-895B-090AE76C967B}" type="datetime1">
              <a:rPr lang="nb-NO" smtClean="0"/>
              <a:t>18.08.2026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Introduction to A.I -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533868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
          <a:schemeClr val="accent1"/>
        </a:buClr>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
          <a:schemeClr val="accent1"/>
        </a:buClr>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9.xml"/><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jpeg"/><Relationship Id="rId1" Type="http://schemas.openxmlformats.org/officeDocument/2006/relationships/slideLayout" Target="../slideLayouts/slideLayout9.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28.jpeg"/><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41.gif"/><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jpeg"/><Relationship Id="rId9" Type="http://schemas.openxmlformats.org/officeDocument/2006/relationships/image" Target="../media/image4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52.jpe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slideLayout" Target="../slideLayouts/slideLayout9.xml"/><Relationship Id="rId1" Type="http://schemas.openxmlformats.org/officeDocument/2006/relationships/video" Target="https://www.youtube.com/embed/znNe4pMCsD4?feature=oembed" TargetMode="Externa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tekst 3">
            <a:extLst>
              <a:ext uri="{FF2B5EF4-FFF2-40B4-BE49-F238E27FC236}">
                <a16:creationId xmlns:a16="http://schemas.microsoft.com/office/drawing/2014/main" id="{399A13B8-1B5C-4DBD-AB3C-0BF51F898BC5}"/>
              </a:ext>
            </a:extLst>
          </p:cNvPr>
          <p:cNvSpPr>
            <a:spLocks noGrp="1"/>
          </p:cNvSpPr>
          <p:nvPr>
            <p:ph type="body" sz="quarter" idx="13"/>
          </p:nvPr>
        </p:nvSpPr>
        <p:spPr/>
        <p:txBody>
          <a:bodyPr/>
          <a:lstStyle/>
          <a:p>
            <a:r>
              <a:rPr lang="nb-NO" dirty="0"/>
              <a:t>Umair </a:t>
            </a:r>
            <a:r>
              <a:rPr lang="nb-NO" dirty="0" err="1"/>
              <a:t>Mehmood</a:t>
            </a:r>
            <a:r>
              <a:rPr lang="nb-NO" dirty="0"/>
              <a:t> Imam</a:t>
            </a:r>
          </a:p>
        </p:txBody>
      </p:sp>
      <p:sp>
        <p:nvSpPr>
          <p:cNvPr id="5" name="Plassholder for tekst 4">
            <a:extLst>
              <a:ext uri="{FF2B5EF4-FFF2-40B4-BE49-F238E27FC236}">
                <a16:creationId xmlns:a16="http://schemas.microsoft.com/office/drawing/2014/main" id="{4DB632CC-AA88-49B5-94A8-A9AB855A8EDA}"/>
              </a:ext>
            </a:extLst>
          </p:cNvPr>
          <p:cNvSpPr>
            <a:spLocks noGrp="1"/>
          </p:cNvSpPr>
          <p:nvPr>
            <p:ph type="body" sz="quarter" idx="14"/>
          </p:nvPr>
        </p:nvSpPr>
        <p:spPr/>
        <p:txBody>
          <a:bodyPr/>
          <a:lstStyle/>
          <a:p>
            <a:endParaRPr lang="nb-NO"/>
          </a:p>
        </p:txBody>
      </p:sp>
      <p:sp>
        <p:nvSpPr>
          <p:cNvPr id="7" name="Plassholder for bunntekst 6">
            <a:extLst>
              <a:ext uri="{FF2B5EF4-FFF2-40B4-BE49-F238E27FC236}">
                <a16:creationId xmlns:a16="http://schemas.microsoft.com/office/drawing/2014/main" id="{7036724C-FF80-4743-B52C-D9C23B49A945}"/>
              </a:ext>
            </a:extLst>
          </p:cNvPr>
          <p:cNvSpPr>
            <a:spLocks noGrp="1"/>
          </p:cNvSpPr>
          <p:nvPr>
            <p:ph type="ftr" sz="quarter" idx="18"/>
          </p:nvPr>
        </p:nvSpPr>
        <p:spPr/>
        <p:txBody>
          <a:bodyPr/>
          <a:lstStyle/>
          <a:p>
            <a:r>
              <a:rPr lang="nb-NO"/>
              <a:t>Introduction to A.I - Umair M.I</a:t>
            </a:r>
            <a:endParaRPr lang="nb-NO" dirty="0"/>
          </a:p>
        </p:txBody>
      </p:sp>
      <p:pic>
        <p:nvPicPr>
          <p:cNvPr id="12" name="Bilde 12" descr="Et bilde som inneholder bygning, utendørs, klokke&#10;&#10;Beskrivelse som er generert med høy visshet">
            <a:extLst>
              <a:ext uri="{FF2B5EF4-FFF2-40B4-BE49-F238E27FC236}">
                <a16:creationId xmlns:a16="http://schemas.microsoft.com/office/drawing/2014/main" id="{1142DCAA-C025-4317-BD68-C492DF7AFB7B}"/>
              </a:ext>
            </a:extLst>
          </p:cNvPr>
          <p:cNvPicPr>
            <a:picLocks noGrp="1" noChangeAspect="1"/>
          </p:cNvPicPr>
          <p:nvPr>
            <p:ph type="pic" sz="quarter" idx="16"/>
          </p:nvPr>
        </p:nvPicPr>
        <p:blipFill rotWithShape="1">
          <a:blip r:embed="rId2"/>
          <a:srcRect l="12794" r="12794"/>
          <a:stretch/>
        </p:blipFill>
        <p:spPr>
          <a:prstGeom prst="rect">
            <a:avLst/>
          </a:prstGeom>
        </p:spPr>
      </p:pic>
      <p:sp>
        <p:nvSpPr>
          <p:cNvPr id="8" name="Title 7">
            <a:extLst>
              <a:ext uri="{FF2B5EF4-FFF2-40B4-BE49-F238E27FC236}">
                <a16:creationId xmlns:a16="http://schemas.microsoft.com/office/drawing/2014/main" id="{F4B57672-B3B8-5244-B126-DD1EFB594EFF}"/>
              </a:ext>
            </a:extLst>
          </p:cNvPr>
          <p:cNvSpPr>
            <a:spLocks noGrp="1"/>
          </p:cNvSpPr>
          <p:nvPr>
            <p:ph type="ctrTitle"/>
          </p:nvPr>
        </p:nvSpPr>
        <p:spPr/>
        <p:txBody>
          <a:bodyPr/>
          <a:lstStyle/>
          <a:p>
            <a:r>
              <a:rPr lang="en-NO" dirty="0"/>
              <a:t>Basics of A.I</a:t>
            </a:r>
          </a:p>
        </p:txBody>
      </p:sp>
    </p:spTree>
    <p:extLst>
      <p:ext uri="{BB962C8B-B14F-4D97-AF65-F5344CB8AC3E}">
        <p14:creationId xmlns:p14="http://schemas.microsoft.com/office/powerpoint/2010/main" val="2798264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768BA6-50DC-6F45-8C98-33C1777557E7}"/>
              </a:ext>
            </a:extLst>
          </p:cNvPr>
          <p:cNvSpPr txBox="1">
            <a:spLocks/>
          </p:cNvSpPr>
          <p:nvPr/>
        </p:nvSpPr>
        <p:spPr>
          <a:xfrm>
            <a:off x="4538323" y="3933537"/>
            <a:ext cx="10943925" cy="1884938"/>
          </a:xfrm>
          <a:prstGeom prst="rect">
            <a:avLst/>
          </a:prstGeom>
        </p:spPr>
        <p:txBody>
          <a:bodyPr vert="horz" lIns="130027" tIns="65013" rIns="130027" bIns="65013"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sz="6257" dirty="0"/>
              <a:t>What is Intelligence ?</a:t>
            </a:r>
          </a:p>
        </p:txBody>
      </p:sp>
    </p:spTree>
    <p:extLst>
      <p:ext uri="{BB962C8B-B14F-4D97-AF65-F5344CB8AC3E}">
        <p14:creationId xmlns:p14="http://schemas.microsoft.com/office/powerpoint/2010/main" val="3358014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ot sure if i'm intelligent or everyone around me is stupid ...">
            <a:extLst>
              <a:ext uri="{FF2B5EF4-FFF2-40B4-BE49-F238E27FC236}">
                <a16:creationId xmlns:a16="http://schemas.microsoft.com/office/drawing/2014/main" id="{D0474284-D280-6E4D-A155-4718B2508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385" y="753699"/>
            <a:ext cx="5489291" cy="412230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rtificial intelligence is learning to make memes – InTallaght – mc.ai">
            <a:extLst>
              <a:ext uri="{FF2B5EF4-FFF2-40B4-BE49-F238E27FC236}">
                <a16:creationId xmlns:a16="http://schemas.microsoft.com/office/drawing/2014/main" id="{D64DEE2B-8CCA-6146-8878-FE3C8B88D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03610" y="1073842"/>
            <a:ext cx="5223030" cy="348202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lated image">
            <a:extLst>
              <a:ext uri="{FF2B5EF4-FFF2-40B4-BE49-F238E27FC236}">
                <a16:creationId xmlns:a16="http://schemas.microsoft.com/office/drawing/2014/main" id="{4E703809-D3C8-EB40-BF87-2E8634784D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655" y="5438595"/>
            <a:ext cx="7808892" cy="4072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23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ories of Intelligence in Psychology">
            <a:extLst>
              <a:ext uri="{FF2B5EF4-FFF2-40B4-BE49-F238E27FC236}">
                <a16:creationId xmlns:a16="http://schemas.microsoft.com/office/drawing/2014/main" id="{35D83C51-B222-3647-9A5F-7DF9A2B5017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21320" y="1082943"/>
            <a:ext cx="10661737" cy="710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064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2835F-B166-8C45-8933-B328900D7D62}"/>
              </a:ext>
            </a:extLst>
          </p:cNvPr>
          <p:cNvSpPr>
            <a:spLocks noGrp="1"/>
          </p:cNvSpPr>
          <p:nvPr>
            <p:ph type="title"/>
          </p:nvPr>
        </p:nvSpPr>
        <p:spPr>
          <a:xfrm>
            <a:off x="1195969" y="1"/>
            <a:ext cx="14953086" cy="1191913"/>
          </a:xfrm>
        </p:spPr>
        <p:txBody>
          <a:bodyPr/>
          <a:lstStyle/>
          <a:p>
            <a:pPr algn="ctr"/>
            <a:r>
              <a:rPr lang="en-GB" dirty="0"/>
              <a:t>W</a:t>
            </a:r>
            <a:r>
              <a:rPr lang="en-NO" dirty="0"/>
              <a:t>hat is Artifical Intelligence ?</a:t>
            </a:r>
          </a:p>
        </p:txBody>
      </p:sp>
      <p:sp>
        <p:nvSpPr>
          <p:cNvPr id="3" name="Content Placeholder 2">
            <a:extLst>
              <a:ext uri="{FF2B5EF4-FFF2-40B4-BE49-F238E27FC236}">
                <a16:creationId xmlns:a16="http://schemas.microsoft.com/office/drawing/2014/main" id="{AE986F70-A2F6-6F45-9747-5F49E79988FD}"/>
              </a:ext>
            </a:extLst>
          </p:cNvPr>
          <p:cNvSpPr>
            <a:spLocks noGrp="1"/>
          </p:cNvSpPr>
          <p:nvPr>
            <p:ph idx="1"/>
          </p:nvPr>
        </p:nvSpPr>
        <p:spPr>
          <a:xfrm>
            <a:off x="1195969" y="1937100"/>
            <a:ext cx="14953086" cy="7155991"/>
          </a:xfrm>
        </p:spPr>
        <p:txBody>
          <a:bodyPr>
            <a:normAutofit/>
          </a:bodyPr>
          <a:lstStyle/>
          <a:p>
            <a:pPr marL="0" indent="0" algn="ctr">
              <a:buNone/>
            </a:pPr>
            <a:endParaRPr lang="en-NO" dirty="0">
              <a:solidFill>
                <a:schemeClr val="accent1"/>
              </a:solidFill>
            </a:endParaRPr>
          </a:p>
          <a:p>
            <a:pPr marL="0" indent="0" algn="ctr">
              <a:buNone/>
            </a:pPr>
            <a:r>
              <a:rPr lang="en-NO" dirty="0">
                <a:solidFill>
                  <a:schemeClr val="accent6"/>
                </a:solidFill>
              </a:rPr>
              <a:t>A.I is when </a:t>
            </a:r>
            <a:r>
              <a:rPr lang="en-NO">
                <a:solidFill>
                  <a:schemeClr val="accent6"/>
                </a:solidFill>
              </a:rPr>
              <a:t>we </a:t>
            </a:r>
            <a:r>
              <a:rPr lang="en-NO" i="1" u="sng">
                <a:solidFill>
                  <a:schemeClr val="accent6"/>
                </a:solidFill>
              </a:rPr>
              <a:t>artificially</a:t>
            </a:r>
            <a:r>
              <a:rPr lang="en-NO">
                <a:solidFill>
                  <a:schemeClr val="accent6"/>
                </a:solidFill>
              </a:rPr>
              <a:t> </a:t>
            </a:r>
            <a:r>
              <a:rPr lang="en-NO" dirty="0">
                <a:solidFill>
                  <a:schemeClr val="accent6"/>
                </a:solidFill>
              </a:rPr>
              <a:t>introduce </a:t>
            </a:r>
            <a:r>
              <a:rPr lang="en-NO" u="sng" dirty="0">
                <a:solidFill>
                  <a:schemeClr val="accent6"/>
                </a:solidFill>
              </a:rPr>
              <a:t>intelligence</a:t>
            </a:r>
            <a:r>
              <a:rPr lang="en-NO" dirty="0">
                <a:solidFill>
                  <a:schemeClr val="accent6"/>
                </a:solidFill>
              </a:rPr>
              <a:t> in machines</a:t>
            </a:r>
          </a:p>
          <a:p>
            <a:pPr marL="0" indent="0">
              <a:buNone/>
            </a:pPr>
            <a:endParaRPr lang="en-NO" dirty="0"/>
          </a:p>
          <a:p>
            <a:pPr marL="0" indent="0">
              <a:buNone/>
            </a:pPr>
            <a:r>
              <a:rPr lang="en-NO" dirty="0"/>
              <a:t>thereby giving us:</a:t>
            </a:r>
          </a:p>
          <a:p>
            <a:r>
              <a:rPr lang="en-NO" dirty="0"/>
              <a:t>a machine which mimics human like intelligence</a:t>
            </a:r>
          </a:p>
          <a:p>
            <a:r>
              <a:rPr lang="en-GB" dirty="0"/>
              <a:t>a machine which has d</a:t>
            </a:r>
            <a:r>
              <a:rPr lang="en-NO" dirty="0"/>
              <a:t>ecision making capabilities</a:t>
            </a:r>
          </a:p>
          <a:p>
            <a:r>
              <a:rPr lang="en-NO" dirty="0"/>
              <a:t>a machine which learns on its own</a:t>
            </a:r>
          </a:p>
          <a:p>
            <a:endParaRPr lang="en-NO" dirty="0"/>
          </a:p>
        </p:txBody>
      </p:sp>
    </p:spTree>
    <p:extLst>
      <p:ext uri="{BB962C8B-B14F-4D97-AF65-F5344CB8AC3E}">
        <p14:creationId xmlns:p14="http://schemas.microsoft.com/office/powerpoint/2010/main" val="566114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DDEA-02A1-F345-B353-47E4996F6762}"/>
              </a:ext>
            </a:extLst>
          </p:cNvPr>
          <p:cNvSpPr>
            <a:spLocks noGrp="1"/>
          </p:cNvSpPr>
          <p:nvPr>
            <p:ph type="title"/>
          </p:nvPr>
        </p:nvSpPr>
        <p:spPr/>
        <p:txBody>
          <a:bodyPr/>
          <a:lstStyle/>
          <a:p>
            <a:r>
              <a:rPr lang="en-NO" dirty="0"/>
              <a:t>If you remember one sentence today</a:t>
            </a:r>
          </a:p>
        </p:txBody>
      </p:sp>
      <p:sp>
        <p:nvSpPr>
          <p:cNvPr id="4" name="Footer Placeholder 3">
            <a:extLst>
              <a:ext uri="{FF2B5EF4-FFF2-40B4-BE49-F238E27FC236}">
                <a16:creationId xmlns:a16="http://schemas.microsoft.com/office/drawing/2014/main" id="{16CDB311-0E54-8843-A264-CFFAC6452616}"/>
              </a:ext>
            </a:extLst>
          </p:cNvPr>
          <p:cNvSpPr>
            <a:spLocks noGrp="1"/>
          </p:cNvSpPr>
          <p:nvPr>
            <p:ph type="ftr" sz="quarter" idx="11"/>
          </p:nvPr>
        </p:nvSpPr>
        <p:spPr/>
        <p:txBody>
          <a:bodyPr/>
          <a:lstStyle/>
          <a:p>
            <a:r>
              <a:rPr lang="nb-NO"/>
              <a:t>Introduction to AI – Umair M.I</a:t>
            </a:r>
          </a:p>
        </p:txBody>
      </p:sp>
      <p:sp>
        <p:nvSpPr>
          <p:cNvPr id="5" name="Rectangle 4">
            <a:extLst>
              <a:ext uri="{FF2B5EF4-FFF2-40B4-BE49-F238E27FC236}">
                <a16:creationId xmlns:a16="http://schemas.microsoft.com/office/drawing/2014/main" id="{AB5E1947-67DD-B944-B47E-3F9BC9F7A8B7}"/>
              </a:ext>
            </a:extLst>
          </p:cNvPr>
          <p:cNvSpPr/>
          <p:nvPr/>
        </p:nvSpPr>
        <p:spPr>
          <a:xfrm>
            <a:off x="3028950" y="4352786"/>
            <a:ext cx="10664825" cy="523220"/>
          </a:xfrm>
          <a:prstGeom prst="rect">
            <a:avLst/>
          </a:prstGeom>
        </p:spPr>
        <p:txBody>
          <a:bodyPr wrap="square">
            <a:spAutoFit/>
          </a:bodyPr>
          <a:lstStyle/>
          <a:p>
            <a:r>
              <a:rPr lang="en-GB" sz="2800" i="1" dirty="0">
                <a:latin typeface="NewBaskerville"/>
              </a:rPr>
              <a:t>Software that solves a problem without explicit human instruction </a:t>
            </a:r>
            <a:endParaRPr lang="en-GB" dirty="0"/>
          </a:p>
        </p:txBody>
      </p:sp>
    </p:spTree>
    <p:extLst>
      <p:ext uri="{BB962C8B-B14F-4D97-AF65-F5344CB8AC3E}">
        <p14:creationId xmlns:p14="http://schemas.microsoft.com/office/powerpoint/2010/main" val="4040139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200" b="1" i="0">
                <a:solidFill>
                  <a:srgbClr val="000000"/>
                </a:solidFill>
                <a:latin typeface="Arial"/>
              </a:rPr>
              <a:t>AI, machine learning, deep learning, generative AI</a:t>
            </a:r>
          </a:p>
        </p:txBody>
      </p:sp>
      <p:sp>
        <p:nvSpPr>
          <p:cNvPr id="4" name="ring0" descr="Decorative panel"/>
          <p:cNvSpPr/>
          <p:nvPr/>
        </p:nvSpPr>
        <p:spPr>
          <a:xfrm>
            <a:off x="777240" y="2194560"/>
            <a:ext cx="9692640" cy="6492240"/>
          </a:xfrm>
          <a:prstGeom prst="roundRect">
            <a:avLst>
              <a:gd name="adj" fmla="val 5000"/>
            </a:avLst>
          </a:prstGeom>
          <a:noFill/>
          <a:ln w="38100">
            <a:solidFill>
              <a:srgbClr val="0000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51560" y="2359152"/>
            <a:ext cx="9144000" cy="868680"/>
          </a:xfrm>
          <a:prstGeom prst="rect">
            <a:avLst/>
          </a:prstGeom>
          <a:noFill/>
        </p:spPr>
        <p:txBody>
          <a:bodyPr wrap="square" lIns="45720" tIns="0" rIns="45720" bIns="0" anchor="t">
            <a:spAutoFit/>
          </a:bodyPr>
          <a:lstStyle/>
          <a:p>
            <a:pPr algn="l">
              <a:lnSpc>
                <a:spcPct val="95000"/>
              </a:lnSpc>
              <a:spcAft>
                <a:spcPts val="200"/>
              </a:spcAft>
            </a:pPr>
            <a:r>
              <a:rPr sz="2200" b="1" i="0">
                <a:solidFill>
                  <a:srgbClr val="000064"/>
                </a:solidFill>
                <a:latin typeface="Arial"/>
              </a:rPr>
              <a:t>ARTIFICIAL INTELLIGENCE</a:t>
            </a:r>
          </a:p>
          <a:p>
            <a:pPr algn="l">
              <a:lnSpc>
                <a:spcPct val="95000"/>
              </a:lnSpc>
              <a:spcAft>
                <a:spcPts val="200"/>
              </a:spcAft>
            </a:pPr>
            <a:r>
              <a:rPr sz="1400" b="0" i="0">
                <a:solidFill>
                  <a:srgbClr val="444444"/>
                </a:solidFill>
                <a:latin typeface="Arial"/>
              </a:rPr>
              <a:t>Any machine doing something we would call intelligent</a:t>
            </a:r>
          </a:p>
        </p:txBody>
      </p:sp>
      <p:sp>
        <p:nvSpPr>
          <p:cNvPr id="6" name="ring1" descr="Decorative panel"/>
          <p:cNvSpPr/>
          <p:nvPr/>
        </p:nvSpPr>
        <p:spPr>
          <a:xfrm>
            <a:off x="1618488" y="2926080"/>
            <a:ext cx="8010144" cy="5029200"/>
          </a:xfrm>
          <a:prstGeom prst="roundRect">
            <a:avLst>
              <a:gd name="adj" fmla="val 5000"/>
            </a:avLst>
          </a:prstGeom>
          <a:noFill/>
          <a:ln w="38100">
            <a:solidFill>
              <a:srgbClr val="007A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92807" y="3090672"/>
            <a:ext cx="7461504" cy="868680"/>
          </a:xfrm>
          <a:prstGeom prst="rect">
            <a:avLst/>
          </a:prstGeom>
          <a:noFill/>
        </p:spPr>
        <p:txBody>
          <a:bodyPr wrap="square" lIns="45720" tIns="0" rIns="45720" bIns="0" anchor="t">
            <a:spAutoFit/>
          </a:bodyPr>
          <a:lstStyle/>
          <a:p>
            <a:pPr algn="l">
              <a:lnSpc>
                <a:spcPct val="95000"/>
              </a:lnSpc>
              <a:spcAft>
                <a:spcPts val="200"/>
              </a:spcAft>
            </a:pPr>
            <a:r>
              <a:rPr sz="2100" b="1" i="0">
                <a:solidFill>
                  <a:srgbClr val="007ACC"/>
                </a:solidFill>
                <a:latin typeface="Arial"/>
              </a:rPr>
              <a:t>MACHINE LEARNING</a:t>
            </a:r>
          </a:p>
          <a:p>
            <a:pPr algn="l">
              <a:lnSpc>
                <a:spcPct val="95000"/>
              </a:lnSpc>
              <a:spcAft>
                <a:spcPts val="200"/>
              </a:spcAft>
            </a:pPr>
            <a:r>
              <a:rPr sz="1400" b="0" i="0">
                <a:solidFill>
                  <a:srgbClr val="444444"/>
                </a:solidFill>
                <a:latin typeface="Arial"/>
              </a:rPr>
              <a:t>Systems that learn the rules from data instead of being told</a:t>
            </a:r>
          </a:p>
        </p:txBody>
      </p:sp>
      <p:sp>
        <p:nvSpPr>
          <p:cNvPr id="8" name="ring2" descr="Decorative panel"/>
          <p:cNvSpPr/>
          <p:nvPr/>
        </p:nvSpPr>
        <p:spPr>
          <a:xfrm>
            <a:off x="2459736" y="3657600"/>
            <a:ext cx="6327648" cy="3566159"/>
          </a:xfrm>
          <a:prstGeom prst="roundRect">
            <a:avLst>
              <a:gd name="adj" fmla="val 5000"/>
            </a:avLst>
          </a:prstGeom>
          <a:noFill/>
          <a:ln w="38100">
            <a:solidFill>
              <a:srgbClr val="FF81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734056" y="3822191"/>
            <a:ext cx="5779008" cy="868680"/>
          </a:xfrm>
          <a:prstGeom prst="rect">
            <a:avLst/>
          </a:prstGeom>
          <a:noFill/>
        </p:spPr>
        <p:txBody>
          <a:bodyPr wrap="square" lIns="45720" tIns="0" rIns="45720" bIns="0" anchor="t">
            <a:spAutoFit/>
          </a:bodyPr>
          <a:lstStyle/>
          <a:p>
            <a:pPr algn="l">
              <a:lnSpc>
                <a:spcPct val="95000"/>
              </a:lnSpc>
              <a:spcAft>
                <a:spcPts val="200"/>
              </a:spcAft>
            </a:pPr>
            <a:r>
              <a:rPr sz="2000" b="1" i="0">
                <a:solidFill>
                  <a:srgbClr val="FF8100"/>
                </a:solidFill>
                <a:latin typeface="Arial"/>
              </a:rPr>
              <a:t>DEEP LEARNING</a:t>
            </a:r>
          </a:p>
          <a:p>
            <a:pPr algn="l">
              <a:lnSpc>
                <a:spcPct val="95000"/>
              </a:lnSpc>
              <a:spcAft>
                <a:spcPts val="200"/>
              </a:spcAft>
            </a:pPr>
            <a:r>
              <a:rPr sz="1400" b="0" i="0">
                <a:solidFill>
                  <a:srgbClr val="444444"/>
                </a:solidFill>
                <a:latin typeface="Arial"/>
              </a:rPr>
              <a:t>Machine learning with many-layered neural networks</a:t>
            </a:r>
          </a:p>
        </p:txBody>
      </p:sp>
      <p:sp>
        <p:nvSpPr>
          <p:cNvPr id="10" name="ring3" descr="Decorative panel"/>
          <p:cNvSpPr/>
          <p:nvPr/>
        </p:nvSpPr>
        <p:spPr>
          <a:xfrm>
            <a:off x="3300984" y="4389120"/>
            <a:ext cx="4645151" cy="2103119"/>
          </a:xfrm>
          <a:prstGeom prst="roundRect">
            <a:avLst>
              <a:gd name="adj" fmla="val 5000"/>
            </a:avLst>
          </a:prstGeom>
          <a:noFill/>
          <a:ln w="38100">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75304" y="4553712"/>
            <a:ext cx="4096511" cy="86868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GENERATIVE AI</a:t>
            </a:r>
          </a:p>
          <a:p>
            <a:pPr algn="l">
              <a:lnSpc>
                <a:spcPct val="95000"/>
              </a:lnSpc>
              <a:spcAft>
                <a:spcPts val="200"/>
              </a:spcAft>
            </a:pPr>
            <a:r>
              <a:rPr sz="1400" b="0" i="0">
                <a:solidFill>
                  <a:srgbClr val="444444"/>
                </a:solidFill>
                <a:latin typeface="Arial"/>
              </a:rPr>
              <a:t>Deep models that generate text, images, audio, code</a:t>
            </a:r>
          </a:p>
        </p:txBody>
      </p:sp>
      <p:sp>
        <p:nvSpPr>
          <p:cNvPr id="12" name="TextBox 11"/>
          <p:cNvSpPr txBox="1"/>
          <p:nvPr/>
        </p:nvSpPr>
        <p:spPr>
          <a:xfrm>
            <a:off x="1234440" y="7818120"/>
            <a:ext cx="8778240" cy="640080"/>
          </a:xfrm>
          <a:prstGeom prst="rect">
            <a:avLst/>
          </a:prstGeom>
          <a:noFill/>
        </p:spPr>
        <p:txBody>
          <a:bodyPr wrap="square" lIns="45720" tIns="0" rIns="45720" bIns="0" anchor="t">
            <a:spAutoFit/>
          </a:bodyPr>
          <a:lstStyle/>
          <a:p>
            <a:pPr algn="ctr">
              <a:spcAft>
                <a:spcPts val="600"/>
              </a:spcAft>
            </a:pPr>
            <a:r>
              <a:rPr sz="1700" b="1" i="0">
                <a:solidFill>
                  <a:srgbClr val="8C8C8C"/>
                </a:solidFill>
                <a:latin typeface="Arial"/>
              </a:rPr>
              <a:t>Each ring is a subset of the one outside it — not a competing idea</a:t>
            </a:r>
          </a:p>
        </p:txBody>
      </p:sp>
      <p:sp>
        <p:nvSpPr>
          <p:cNvPr id="14" name="TextBox 13"/>
          <p:cNvSpPr txBox="1"/>
          <p:nvPr/>
        </p:nvSpPr>
        <p:spPr>
          <a:xfrm>
            <a:off x="11338560" y="2423160"/>
            <a:ext cx="4937760" cy="640080"/>
          </a:xfrm>
          <a:prstGeom prst="rect">
            <a:avLst/>
          </a:prstGeom>
          <a:noFill/>
        </p:spPr>
        <p:txBody>
          <a:bodyPr wrap="square" lIns="45720" tIns="0" rIns="45720" bIns="0" anchor="t">
            <a:spAutoFit/>
          </a:bodyPr>
          <a:lstStyle/>
          <a:p>
            <a:pPr algn="l">
              <a:spcAft>
                <a:spcPts val="600"/>
              </a:spcAft>
            </a:pPr>
            <a:r>
              <a:rPr sz="2400" b="1" i="0">
                <a:solidFill>
                  <a:srgbClr val="000000"/>
                </a:solidFill>
                <a:latin typeface="Arial"/>
              </a:rPr>
              <a:t>Where the 12 lectures go</a:t>
            </a:r>
          </a:p>
        </p:txBody>
      </p:sp>
      <p:sp>
        <p:nvSpPr>
          <p:cNvPr id="15" name="tag0" descr="Decorative panel"/>
          <p:cNvSpPr/>
          <p:nvPr/>
        </p:nvSpPr>
        <p:spPr>
          <a:xfrm>
            <a:off x="11338560" y="3291840"/>
            <a:ext cx="1143000" cy="566928"/>
          </a:xfrm>
          <a:prstGeom prst="roundRect">
            <a:avLst>
              <a:gd name="adj" fmla="val 18000"/>
            </a:avLst>
          </a:prstGeom>
          <a:solidFill>
            <a:srgbClr val="99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1338560" y="3291840"/>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L1</a:t>
            </a:r>
          </a:p>
        </p:txBody>
      </p:sp>
      <p:sp>
        <p:nvSpPr>
          <p:cNvPr id="17" name="TextBox 16"/>
          <p:cNvSpPr txBox="1"/>
          <p:nvPr/>
        </p:nvSpPr>
        <p:spPr>
          <a:xfrm>
            <a:off x="12664440" y="3346704"/>
            <a:ext cx="3657600" cy="548640"/>
          </a:xfrm>
          <a:prstGeom prst="rect">
            <a:avLst/>
          </a:prstGeom>
          <a:noFill/>
        </p:spPr>
        <p:txBody>
          <a:bodyPr wrap="square" lIns="45720" tIns="0" rIns="45720" bIns="0" anchor="t">
            <a:spAutoFit/>
          </a:bodyPr>
          <a:lstStyle/>
          <a:p>
            <a:pPr algn="l">
              <a:spcAft>
                <a:spcPts val="600"/>
              </a:spcAft>
            </a:pPr>
            <a:r>
              <a:rPr sz="1700" b="1" i="0">
                <a:solidFill>
                  <a:srgbClr val="99002B"/>
                </a:solidFill>
                <a:latin typeface="Arial"/>
              </a:rPr>
              <a:t>Basics and history — you are here</a:t>
            </a:r>
          </a:p>
        </p:txBody>
      </p:sp>
      <p:sp>
        <p:nvSpPr>
          <p:cNvPr id="18" name="tag1" descr="Decorative panel"/>
          <p:cNvSpPr/>
          <p:nvPr/>
        </p:nvSpPr>
        <p:spPr>
          <a:xfrm>
            <a:off x="11338560" y="4041648"/>
            <a:ext cx="1143000" cy="566928"/>
          </a:xfrm>
          <a:prstGeom prst="roundRect">
            <a:avLst>
              <a:gd name="adj" fmla="val 18000"/>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1338560" y="4041648"/>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L2–L3</a:t>
            </a:r>
          </a:p>
        </p:txBody>
      </p:sp>
      <p:sp>
        <p:nvSpPr>
          <p:cNvPr id="20" name="TextBox 19"/>
          <p:cNvSpPr txBox="1"/>
          <p:nvPr/>
        </p:nvSpPr>
        <p:spPr>
          <a:xfrm>
            <a:off x="12664440" y="4096511"/>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Data and data science</a:t>
            </a:r>
          </a:p>
        </p:txBody>
      </p:sp>
      <p:sp>
        <p:nvSpPr>
          <p:cNvPr id="21" name="tag2" descr="Decorative panel"/>
          <p:cNvSpPr/>
          <p:nvPr/>
        </p:nvSpPr>
        <p:spPr>
          <a:xfrm>
            <a:off x="11338560" y="4791456"/>
            <a:ext cx="1143000" cy="566928"/>
          </a:xfrm>
          <a:prstGeom prst="roundRect">
            <a:avLst>
              <a:gd name="adj" fmla="val 18000"/>
            </a:avLst>
          </a:prstGeom>
          <a:solidFill>
            <a:srgbClr val="000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338560" y="4791456"/>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L4</a:t>
            </a:r>
          </a:p>
        </p:txBody>
      </p:sp>
      <p:sp>
        <p:nvSpPr>
          <p:cNvPr id="23" name="TextBox 22"/>
          <p:cNvSpPr txBox="1"/>
          <p:nvPr/>
        </p:nvSpPr>
        <p:spPr>
          <a:xfrm>
            <a:off x="12664440" y="4846320"/>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Key AI concepts: search, reasoning</a:t>
            </a:r>
          </a:p>
        </p:txBody>
      </p:sp>
      <p:sp>
        <p:nvSpPr>
          <p:cNvPr id="24" name="tag3" descr="Decorative panel"/>
          <p:cNvSpPr/>
          <p:nvPr/>
        </p:nvSpPr>
        <p:spPr>
          <a:xfrm>
            <a:off x="11338560" y="5541264"/>
            <a:ext cx="1143000" cy="566928"/>
          </a:xfrm>
          <a:prstGeom prst="roundRect">
            <a:avLst>
              <a:gd name="adj" fmla="val 18000"/>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1338560" y="5541264"/>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L5</a:t>
            </a:r>
          </a:p>
        </p:txBody>
      </p:sp>
      <p:sp>
        <p:nvSpPr>
          <p:cNvPr id="26" name="TextBox 25"/>
          <p:cNvSpPr txBox="1"/>
          <p:nvPr/>
        </p:nvSpPr>
        <p:spPr>
          <a:xfrm>
            <a:off x="12664440" y="5596128"/>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Machine learning</a:t>
            </a:r>
          </a:p>
        </p:txBody>
      </p:sp>
      <p:sp>
        <p:nvSpPr>
          <p:cNvPr id="27" name="tag4" descr="Decorative panel"/>
          <p:cNvSpPr/>
          <p:nvPr/>
        </p:nvSpPr>
        <p:spPr>
          <a:xfrm>
            <a:off x="11338560" y="6291072"/>
            <a:ext cx="1143000" cy="566928"/>
          </a:xfrm>
          <a:prstGeom prst="roundRect">
            <a:avLst>
              <a:gd name="adj" fmla="val 18000"/>
            </a:avLst>
          </a:prstGeom>
          <a:solidFill>
            <a:srgbClr val="FF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1338560" y="6291072"/>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L6</a:t>
            </a:r>
          </a:p>
        </p:txBody>
      </p:sp>
      <p:sp>
        <p:nvSpPr>
          <p:cNvPr id="29" name="TextBox 28"/>
          <p:cNvSpPr txBox="1"/>
          <p:nvPr/>
        </p:nvSpPr>
        <p:spPr>
          <a:xfrm>
            <a:off x="12664440" y="6345936"/>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Deep learning and neural networks</a:t>
            </a:r>
          </a:p>
        </p:txBody>
      </p:sp>
      <p:sp>
        <p:nvSpPr>
          <p:cNvPr id="30" name="tag5" descr="Decorative panel"/>
          <p:cNvSpPr/>
          <p:nvPr/>
        </p:nvSpPr>
        <p:spPr>
          <a:xfrm>
            <a:off x="11338560" y="7040879"/>
            <a:ext cx="1143000" cy="566928"/>
          </a:xfrm>
          <a:prstGeom prst="roundRect">
            <a:avLst>
              <a:gd name="adj" fmla="val 18000"/>
            </a:avLst>
          </a:prstGeom>
          <a:solidFill>
            <a:srgbClr val="99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1338560" y="7040879"/>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L7</a:t>
            </a:r>
          </a:p>
        </p:txBody>
      </p:sp>
      <p:sp>
        <p:nvSpPr>
          <p:cNvPr id="32" name="TextBox 31"/>
          <p:cNvSpPr txBox="1"/>
          <p:nvPr/>
        </p:nvSpPr>
        <p:spPr>
          <a:xfrm>
            <a:off x="12664440" y="7095743"/>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Generative AI</a:t>
            </a:r>
          </a:p>
        </p:txBody>
      </p:sp>
      <p:sp>
        <p:nvSpPr>
          <p:cNvPr id="33" name="tag6" descr="Decorative panel"/>
          <p:cNvSpPr/>
          <p:nvPr/>
        </p:nvSpPr>
        <p:spPr>
          <a:xfrm>
            <a:off x="11338560" y="7790688"/>
            <a:ext cx="1143000" cy="566928"/>
          </a:xfrm>
          <a:prstGeom prst="roundRect">
            <a:avLst>
              <a:gd name="adj" fmla="val 18000"/>
            </a:avLst>
          </a:prstGeom>
          <a:solidFill>
            <a:srgbClr val="000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1338560" y="7790688"/>
            <a:ext cx="1143000" cy="566928"/>
          </a:xfrm>
          <a:prstGeom prst="rect">
            <a:avLst/>
          </a:prstGeom>
          <a:noFill/>
        </p:spPr>
        <p:txBody>
          <a:bodyPr wrap="square" lIns="45720" tIns="0" rIns="45720" bIns="0" anchor="ctr">
            <a:spAutoFit/>
          </a:bodyPr>
          <a:lstStyle/>
          <a:p>
            <a:pPr algn="ctr">
              <a:spcAft>
                <a:spcPts val="200"/>
              </a:spcAft>
            </a:pPr>
            <a:r>
              <a:rPr sz="1700" b="1" i="0">
                <a:solidFill>
                  <a:srgbClr val="FFFFFF"/>
                </a:solidFill>
                <a:latin typeface="Arial"/>
              </a:rPr>
              <a:t>L8+</a:t>
            </a:r>
          </a:p>
        </p:txBody>
      </p:sp>
      <p:sp>
        <p:nvSpPr>
          <p:cNvPr id="35" name="TextBox 34"/>
          <p:cNvSpPr txBox="1"/>
          <p:nvPr/>
        </p:nvSpPr>
        <p:spPr>
          <a:xfrm>
            <a:off x="12664440" y="7845552"/>
            <a:ext cx="3657600" cy="548640"/>
          </a:xfrm>
          <a:prstGeom prst="rect">
            <a:avLst/>
          </a:prstGeom>
          <a:noFill/>
        </p:spPr>
        <p:txBody>
          <a:bodyPr wrap="square" lIns="45720" tIns="0" rIns="45720" bIns="0" anchor="t">
            <a:spAutoFit/>
          </a:bodyPr>
          <a:lstStyle/>
          <a:p>
            <a:pPr algn="l">
              <a:spcAft>
                <a:spcPts val="600"/>
              </a:spcAft>
            </a:pPr>
            <a:r>
              <a:rPr sz="1700" b="0" i="0">
                <a:solidFill>
                  <a:srgbClr val="000000"/>
                </a:solidFill>
                <a:latin typeface="Arial"/>
              </a:rPr>
              <a:t>Responsible AI, ethics, EU AI 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9">
            <a:extLst>
              <a:ext uri="{FF2B5EF4-FFF2-40B4-BE49-F238E27FC236}">
                <a16:creationId xmlns:a16="http://schemas.microsoft.com/office/drawing/2014/main" id="{FF95F023-868D-2A47-ACD4-C2357C3328E7}"/>
              </a:ext>
            </a:extLst>
          </p:cNvPr>
          <p:cNvGraphicFramePr>
            <a:graphicFrameLocks noGrp="1"/>
          </p:cNvGraphicFramePr>
          <p:nvPr>
            <p:ph idx="1"/>
            <p:extLst>
              <p:ext uri="{D42A27DB-BD31-4B8C-83A1-F6EECF244321}">
                <p14:modId xmlns:p14="http://schemas.microsoft.com/office/powerpoint/2010/main" val="1084440996"/>
              </p:ext>
            </p:extLst>
          </p:nvPr>
        </p:nvGraphicFramePr>
        <p:xfrm>
          <a:off x="840709" y="1809750"/>
          <a:ext cx="15374938" cy="8038281"/>
        </p:xfrm>
        <a:graphic>
          <a:graphicData uri="http://schemas.openxmlformats.org/drawingml/2006/table">
            <a:tbl>
              <a:tblPr firstRow="1" bandRow="1">
                <a:tableStyleId>{5F0DDD49-8066-4352-B6B5-FC1A8E5854EA}</a:tableStyleId>
              </a:tblPr>
              <a:tblGrid>
                <a:gridCol w="7687469">
                  <a:extLst>
                    <a:ext uri="{9D8B030D-6E8A-4147-A177-3AD203B41FA5}">
                      <a16:colId xmlns:a16="http://schemas.microsoft.com/office/drawing/2014/main" val="2456755765"/>
                    </a:ext>
                  </a:extLst>
                </a:gridCol>
                <a:gridCol w="7687469">
                  <a:extLst>
                    <a:ext uri="{9D8B030D-6E8A-4147-A177-3AD203B41FA5}">
                      <a16:colId xmlns:a16="http://schemas.microsoft.com/office/drawing/2014/main" val="871125169"/>
                    </a:ext>
                  </a:extLst>
                </a:gridCol>
              </a:tblGrid>
              <a:tr h="762961">
                <a:tc>
                  <a:txBody>
                    <a:bodyPr/>
                    <a:lstStyle/>
                    <a:p>
                      <a:r>
                        <a:rPr lang="en-US" dirty="0"/>
                        <a:t>Conventional programming</a:t>
                      </a:r>
                    </a:p>
                  </a:txBody>
                  <a:tcPr/>
                </a:tc>
                <a:tc>
                  <a:txBody>
                    <a:bodyPr/>
                    <a:lstStyle/>
                    <a:p>
                      <a:r>
                        <a:rPr lang="en-US" dirty="0"/>
                        <a:t>Artificial Intelligence</a:t>
                      </a:r>
                    </a:p>
                  </a:txBody>
                  <a:tcPr/>
                </a:tc>
                <a:extLst>
                  <a:ext uri="{0D108BD9-81ED-4DB2-BD59-A6C34878D82A}">
                    <a16:rowId xmlns:a16="http://schemas.microsoft.com/office/drawing/2014/main" val="633874774"/>
                  </a:ext>
                </a:extLst>
              </a:tr>
              <a:tr h="1381054">
                <a:tc>
                  <a:txBody>
                    <a:bodyPr/>
                    <a:lstStyle/>
                    <a:p>
                      <a:r>
                        <a:rPr lang="en-US" dirty="0"/>
                        <a:t>Programmers look at the problem (desired output) and build an algorithm/application to solve this problem.</a:t>
                      </a:r>
                    </a:p>
                  </a:txBody>
                  <a:tcPr/>
                </a:tc>
                <a:tc>
                  <a:txBody>
                    <a:bodyPr/>
                    <a:lstStyle/>
                    <a:p>
                      <a:r>
                        <a:rPr lang="en-US" dirty="0"/>
                        <a:t>Ai programmers show the problem (desired output) to the A.I algorithms and expect the algorithms to find a solution.</a:t>
                      </a:r>
                    </a:p>
                  </a:txBody>
                  <a:tcPr/>
                </a:tc>
                <a:extLst>
                  <a:ext uri="{0D108BD9-81ED-4DB2-BD59-A6C34878D82A}">
                    <a16:rowId xmlns:a16="http://schemas.microsoft.com/office/drawing/2014/main" val="136372674"/>
                  </a:ext>
                </a:extLst>
              </a:tr>
              <a:tr h="1381054">
                <a:tc>
                  <a:txBody>
                    <a:bodyPr/>
                    <a:lstStyle/>
                    <a:p>
                      <a:r>
                        <a:rPr lang="en-US" dirty="0"/>
                        <a:t>A programmer has complete control over their application</a:t>
                      </a:r>
                    </a:p>
                  </a:txBody>
                  <a:tcPr/>
                </a:tc>
                <a:tc>
                  <a:txBody>
                    <a:bodyPr/>
                    <a:lstStyle/>
                    <a:p>
                      <a:r>
                        <a:rPr lang="en-US" dirty="0"/>
                        <a:t>An A.I programmer can never claim to have full control over their A.I applications. (Explainable A.I is hard to achieve)</a:t>
                      </a:r>
                    </a:p>
                  </a:txBody>
                  <a:tcPr/>
                </a:tc>
                <a:extLst>
                  <a:ext uri="{0D108BD9-81ED-4DB2-BD59-A6C34878D82A}">
                    <a16:rowId xmlns:a16="http://schemas.microsoft.com/office/drawing/2014/main" val="3063942410"/>
                  </a:ext>
                </a:extLst>
              </a:tr>
              <a:tr h="1504131">
                <a:tc>
                  <a:txBody>
                    <a:bodyPr/>
                    <a:lstStyle/>
                    <a:p>
                      <a:r>
                        <a:rPr lang="en-US" dirty="0"/>
                        <a:t>The software must follow a logical series of steps to reach a conclusion (hard coded instructions by the programmer)</a:t>
                      </a:r>
                    </a:p>
                  </a:txBody>
                  <a:tcPr/>
                </a:tc>
                <a:tc>
                  <a:txBody>
                    <a:bodyPr/>
                    <a:lstStyle/>
                    <a:p>
                      <a:r>
                        <a:rPr lang="en-US" dirty="0"/>
                        <a:t>Ai applications use the technique of search and pattern matching</a:t>
                      </a:r>
                    </a:p>
                  </a:txBody>
                  <a:tcPr/>
                </a:tc>
                <a:extLst>
                  <a:ext uri="{0D108BD9-81ED-4DB2-BD59-A6C34878D82A}">
                    <a16:rowId xmlns:a16="http://schemas.microsoft.com/office/drawing/2014/main" val="1575307497"/>
                  </a:ext>
                </a:extLst>
              </a:tr>
              <a:tr h="1009932">
                <a:tc>
                  <a:txBody>
                    <a:bodyPr/>
                    <a:lstStyle/>
                    <a:p>
                      <a:r>
                        <a:rPr lang="en-US" dirty="0"/>
                        <a:t>Its easy to explain a conventional algorithm</a:t>
                      </a:r>
                    </a:p>
                  </a:txBody>
                  <a:tcPr/>
                </a:tc>
                <a:tc>
                  <a:txBody>
                    <a:bodyPr/>
                    <a:lstStyle/>
                    <a:p>
                      <a:r>
                        <a:rPr lang="en-US" dirty="0"/>
                        <a:t>Its very hard to explain how an A.I algorithm reached its desired output</a:t>
                      </a:r>
                    </a:p>
                  </a:txBody>
                  <a:tcPr/>
                </a:tc>
                <a:extLst>
                  <a:ext uri="{0D108BD9-81ED-4DB2-BD59-A6C34878D82A}">
                    <a16:rowId xmlns:a16="http://schemas.microsoft.com/office/drawing/2014/main" val="637476109"/>
                  </a:ext>
                </a:extLst>
              </a:tr>
              <a:tr h="1999149">
                <a:tc>
                  <a:txBody>
                    <a:bodyPr/>
                    <a:lstStyle/>
                    <a:p>
                      <a:r>
                        <a:rPr lang="en-US" dirty="0"/>
                        <a:t>The most important element here is the algorithm</a:t>
                      </a:r>
                    </a:p>
                  </a:txBody>
                  <a:tcPr/>
                </a:tc>
                <a:tc>
                  <a:txBody>
                    <a:bodyPr/>
                    <a:lstStyle/>
                    <a:p>
                      <a:r>
                        <a:rPr lang="en-US" dirty="0"/>
                        <a:t>The most important elements here are data and algorithms</a:t>
                      </a:r>
                    </a:p>
                  </a:txBody>
                  <a:tcPr/>
                </a:tc>
                <a:extLst>
                  <a:ext uri="{0D108BD9-81ED-4DB2-BD59-A6C34878D82A}">
                    <a16:rowId xmlns:a16="http://schemas.microsoft.com/office/drawing/2014/main" val="1557842386"/>
                  </a:ext>
                </a:extLst>
              </a:tr>
            </a:tbl>
          </a:graphicData>
        </a:graphic>
      </p:graphicFrame>
      <p:sp>
        <p:nvSpPr>
          <p:cNvPr id="5" name="Rectangle 4">
            <a:extLst>
              <a:ext uri="{FF2B5EF4-FFF2-40B4-BE49-F238E27FC236}">
                <a16:creationId xmlns:a16="http://schemas.microsoft.com/office/drawing/2014/main" id="{F80C6494-1D81-474F-AC92-BDD59586F2E3}"/>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8" name="Title 1">
            <a:extLst>
              <a:ext uri="{FF2B5EF4-FFF2-40B4-BE49-F238E27FC236}">
                <a16:creationId xmlns:a16="http://schemas.microsoft.com/office/drawing/2014/main" id="{537F91AA-8F3C-5843-A47D-9AEAA0AB545F}"/>
              </a:ext>
            </a:extLst>
          </p:cNvPr>
          <p:cNvSpPr txBox="1">
            <a:spLocks/>
          </p:cNvSpPr>
          <p:nvPr/>
        </p:nvSpPr>
        <p:spPr>
          <a:xfrm>
            <a:off x="210122" y="587818"/>
            <a:ext cx="15373922" cy="664797"/>
          </a:xfrm>
          <a:prstGeom prst="rect">
            <a:avLst/>
          </a:prstGeom>
        </p:spPr>
        <p:txBody>
          <a:bodyPr vert="horz" lIns="0" tIns="0" rIns="0" bIns="0" rtlCol="0" anchor="b" anchorCtr="0">
            <a:normAutofit fontScale="92500"/>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US" dirty="0"/>
              <a:t>Artificial Intelligence versus conventional programming</a:t>
            </a:r>
          </a:p>
        </p:txBody>
      </p:sp>
    </p:spTree>
    <p:extLst>
      <p:ext uri="{BB962C8B-B14F-4D97-AF65-F5344CB8AC3E}">
        <p14:creationId xmlns:p14="http://schemas.microsoft.com/office/powerpoint/2010/main" val="4221000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C4B25E8-ECB9-42D4-FA65-7BB415304B30}"/>
              </a:ext>
            </a:extLst>
          </p:cNvPr>
          <p:cNvSpPr>
            <a:spLocks noGrp="1"/>
          </p:cNvSpPr>
          <p:nvPr>
            <p:ph type="ftr" sz="quarter" idx="11"/>
          </p:nvPr>
        </p:nvSpPr>
        <p:spPr/>
        <p:txBody>
          <a:bodyPr/>
          <a:lstStyle/>
          <a:p>
            <a:r>
              <a:rPr lang="nb-NO"/>
              <a:t>Introduction to A.I - Umair M.I</a:t>
            </a:r>
          </a:p>
        </p:txBody>
      </p:sp>
      <p:pic>
        <p:nvPicPr>
          <p:cNvPr id="5" name="Picture 4">
            <a:extLst>
              <a:ext uri="{FF2B5EF4-FFF2-40B4-BE49-F238E27FC236}">
                <a16:creationId xmlns:a16="http://schemas.microsoft.com/office/drawing/2014/main" id="{F62BECB0-ACFF-B4A8-30D7-D914AC81D1D4}"/>
              </a:ext>
            </a:extLst>
          </p:cNvPr>
          <p:cNvPicPr>
            <a:picLocks noChangeAspect="1"/>
          </p:cNvPicPr>
          <p:nvPr/>
        </p:nvPicPr>
        <p:blipFill>
          <a:blip r:embed="rId2"/>
          <a:stretch>
            <a:fillRect/>
          </a:stretch>
        </p:blipFill>
        <p:spPr>
          <a:xfrm>
            <a:off x="8870107" y="669765"/>
            <a:ext cx="6341790" cy="8412481"/>
          </a:xfrm>
          <a:prstGeom prst="rect">
            <a:avLst/>
          </a:prstGeom>
        </p:spPr>
      </p:pic>
      <p:pic>
        <p:nvPicPr>
          <p:cNvPr id="7" name="Picture 6">
            <a:extLst>
              <a:ext uri="{FF2B5EF4-FFF2-40B4-BE49-F238E27FC236}">
                <a16:creationId xmlns:a16="http://schemas.microsoft.com/office/drawing/2014/main" id="{64BC6E15-968B-4384-A1AB-EF265A5250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6276" y="669765"/>
            <a:ext cx="4848569" cy="7686258"/>
          </a:xfrm>
          <a:prstGeom prst="rect">
            <a:avLst/>
          </a:prstGeom>
        </p:spPr>
      </p:pic>
    </p:spTree>
    <p:extLst>
      <p:ext uri="{BB962C8B-B14F-4D97-AF65-F5344CB8AC3E}">
        <p14:creationId xmlns:p14="http://schemas.microsoft.com/office/powerpoint/2010/main" val="338588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0D68EAD-2FE5-7348-83D2-EBE25AE812EF}"/>
              </a:ext>
            </a:extLst>
          </p:cNvPr>
          <p:cNvSpPr>
            <a:spLocks noGrp="1"/>
          </p:cNvSpPr>
          <p:nvPr>
            <p:ph type="ftr" sz="quarter" idx="11"/>
          </p:nvPr>
        </p:nvSpPr>
        <p:spPr/>
        <p:txBody>
          <a:bodyPr/>
          <a:lstStyle/>
          <a:p>
            <a:r>
              <a:rPr lang="nb-NO"/>
              <a:t>Introduction to A.I - Umair M.I</a:t>
            </a:r>
          </a:p>
        </p:txBody>
      </p:sp>
      <p:pic>
        <p:nvPicPr>
          <p:cNvPr id="2050" name="Picture 2">
            <a:extLst>
              <a:ext uri="{FF2B5EF4-FFF2-40B4-BE49-F238E27FC236}">
                <a16:creationId xmlns:a16="http://schemas.microsoft.com/office/drawing/2014/main" id="{76291C5F-A98F-FD41-B91C-755BBCEFB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6243" y="416447"/>
            <a:ext cx="9502070" cy="855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20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F9C6-63EB-CC4F-8565-73CC38AD18EF}"/>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2AB94BC1-C50C-DF48-A27D-FD8C524F9B21}"/>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0EA93AAD-D176-CD43-8E1D-692771F89396}"/>
              </a:ext>
            </a:extLst>
          </p:cNvPr>
          <p:cNvSpPr>
            <a:spLocks noGrp="1"/>
          </p:cNvSpPr>
          <p:nvPr>
            <p:ph type="ftr" sz="quarter" idx="11"/>
          </p:nvPr>
        </p:nvSpPr>
        <p:spPr/>
        <p:txBody>
          <a:bodyPr/>
          <a:lstStyle/>
          <a:p>
            <a:r>
              <a:rPr lang="nb-NO"/>
              <a:t>Introduction to A.I - Umair M.I</a:t>
            </a:r>
          </a:p>
        </p:txBody>
      </p:sp>
      <p:sp>
        <p:nvSpPr>
          <p:cNvPr id="6" name="Rectangle 5">
            <a:extLst>
              <a:ext uri="{FF2B5EF4-FFF2-40B4-BE49-F238E27FC236}">
                <a16:creationId xmlns:a16="http://schemas.microsoft.com/office/drawing/2014/main" id="{4D72A828-71F4-C345-9F2E-2D6592578930}"/>
              </a:ext>
            </a:extLst>
          </p:cNvPr>
          <p:cNvSpPr/>
          <p:nvPr/>
        </p:nvSpPr>
        <p:spPr>
          <a:xfrm>
            <a:off x="-217288" y="-83421"/>
            <a:ext cx="17752741" cy="98771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Content Placeholder 4">
            <a:extLst>
              <a:ext uri="{FF2B5EF4-FFF2-40B4-BE49-F238E27FC236}">
                <a16:creationId xmlns:a16="http://schemas.microsoft.com/office/drawing/2014/main" id="{8FE32C40-65CD-9549-8C1E-7DC06BFA0A6C}"/>
              </a:ext>
            </a:extLst>
          </p:cNvPr>
          <p:cNvPicPr>
            <a:picLocks noChangeAspect="1"/>
          </p:cNvPicPr>
          <p:nvPr/>
        </p:nvPicPr>
        <p:blipFill>
          <a:blip r:embed="rId3"/>
          <a:stretch>
            <a:fillRect/>
          </a:stretch>
        </p:blipFill>
        <p:spPr>
          <a:xfrm>
            <a:off x="1673032" y="-41712"/>
            <a:ext cx="13972102" cy="9835435"/>
          </a:xfrm>
          <a:prstGeom prst="rect">
            <a:avLst/>
          </a:prstGeom>
        </p:spPr>
      </p:pic>
      <p:sp>
        <p:nvSpPr>
          <p:cNvPr id="8" name="Rectangle 7">
            <a:extLst>
              <a:ext uri="{FF2B5EF4-FFF2-40B4-BE49-F238E27FC236}">
                <a16:creationId xmlns:a16="http://schemas.microsoft.com/office/drawing/2014/main" id="{382BF6C6-81F9-EF44-A697-3817A003DA00}"/>
              </a:ext>
            </a:extLst>
          </p:cNvPr>
          <p:cNvSpPr/>
          <p:nvPr/>
        </p:nvSpPr>
        <p:spPr>
          <a:xfrm>
            <a:off x="1716824" y="5334000"/>
            <a:ext cx="6055576" cy="4418013"/>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906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3538AE-E53D-6949-872C-BDCC43FC35E1}"/>
              </a:ext>
            </a:extLst>
          </p:cNvPr>
          <p:cNvSpPr>
            <a:spLocks noGrp="1"/>
          </p:cNvSpPr>
          <p:nvPr>
            <p:ph type="ftr" sz="quarter" idx="11"/>
          </p:nvPr>
        </p:nvSpPr>
        <p:spPr/>
        <p:txBody>
          <a:bodyPr/>
          <a:lstStyle/>
          <a:p>
            <a:r>
              <a:rPr lang="nb-NO" dirty="0" err="1"/>
              <a:t>Introduction</a:t>
            </a:r>
            <a:r>
              <a:rPr lang="nb-NO" dirty="0"/>
              <a:t> to A.I - Umair M.I</a:t>
            </a:r>
          </a:p>
        </p:txBody>
      </p:sp>
      <p:pic>
        <p:nvPicPr>
          <p:cNvPr id="6" name="Picture 5">
            <a:extLst>
              <a:ext uri="{FF2B5EF4-FFF2-40B4-BE49-F238E27FC236}">
                <a16:creationId xmlns:a16="http://schemas.microsoft.com/office/drawing/2014/main" id="{AEF4A736-B530-DE47-BCAF-F20D91D39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1420" y="2477293"/>
            <a:ext cx="2119313" cy="3002360"/>
          </a:xfrm>
          <a:prstGeom prst="rect">
            <a:avLst/>
          </a:prstGeom>
        </p:spPr>
      </p:pic>
      <p:pic>
        <p:nvPicPr>
          <p:cNvPr id="8" name="Picture 7">
            <a:extLst>
              <a:ext uri="{FF2B5EF4-FFF2-40B4-BE49-F238E27FC236}">
                <a16:creationId xmlns:a16="http://schemas.microsoft.com/office/drawing/2014/main" id="{27ECD8CF-6AFF-014D-B573-5AC845A3F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8594" y="4602326"/>
            <a:ext cx="2119313" cy="2991971"/>
          </a:xfrm>
          <a:prstGeom prst="rect">
            <a:avLst/>
          </a:prstGeom>
        </p:spPr>
      </p:pic>
      <p:pic>
        <p:nvPicPr>
          <p:cNvPr id="10" name="Picture 9">
            <a:extLst>
              <a:ext uri="{FF2B5EF4-FFF2-40B4-BE49-F238E27FC236}">
                <a16:creationId xmlns:a16="http://schemas.microsoft.com/office/drawing/2014/main" id="{69B60DD4-7FBC-834B-A2E2-A4C2A29D1B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4780" y="2477293"/>
            <a:ext cx="2119313" cy="3089601"/>
          </a:xfrm>
          <a:prstGeom prst="rect">
            <a:avLst/>
          </a:prstGeom>
        </p:spPr>
      </p:pic>
      <p:pic>
        <p:nvPicPr>
          <p:cNvPr id="12" name="Picture 11">
            <a:extLst>
              <a:ext uri="{FF2B5EF4-FFF2-40B4-BE49-F238E27FC236}">
                <a16:creationId xmlns:a16="http://schemas.microsoft.com/office/drawing/2014/main" id="{BA99A1F8-2025-5745-9440-454C0C6ADA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92584" y="4602326"/>
            <a:ext cx="2119313" cy="3127279"/>
          </a:xfrm>
          <a:prstGeom prst="rect">
            <a:avLst/>
          </a:prstGeom>
        </p:spPr>
      </p:pic>
      <p:sp>
        <p:nvSpPr>
          <p:cNvPr id="13" name="TextBox 12">
            <a:extLst>
              <a:ext uri="{FF2B5EF4-FFF2-40B4-BE49-F238E27FC236}">
                <a16:creationId xmlns:a16="http://schemas.microsoft.com/office/drawing/2014/main" id="{DC662E86-36ED-D940-8D96-A7FA236D2D27}"/>
              </a:ext>
            </a:extLst>
          </p:cNvPr>
          <p:cNvSpPr txBox="1"/>
          <p:nvPr/>
        </p:nvSpPr>
        <p:spPr>
          <a:xfrm>
            <a:off x="2335288" y="5796633"/>
            <a:ext cx="1171575" cy="369332"/>
          </a:xfrm>
          <a:prstGeom prst="rect">
            <a:avLst/>
          </a:prstGeom>
          <a:noFill/>
        </p:spPr>
        <p:txBody>
          <a:bodyPr wrap="square" rtlCol="0">
            <a:spAutoFit/>
          </a:bodyPr>
          <a:lstStyle/>
          <a:p>
            <a:r>
              <a:rPr lang="en-NO" sz="1800" dirty="0"/>
              <a:t>1784</a:t>
            </a:r>
          </a:p>
        </p:txBody>
      </p:sp>
      <p:sp>
        <p:nvSpPr>
          <p:cNvPr id="16" name="TextBox 15">
            <a:extLst>
              <a:ext uri="{FF2B5EF4-FFF2-40B4-BE49-F238E27FC236}">
                <a16:creationId xmlns:a16="http://schemas.microsoft.com/office/drawing/2014/main" id="{33E13984-E80B-4843-A4EC-745E7E7B7934}"/>
              </a:ext>
            </a:extLst>
          </p:cNvPr>
          <p:cNvSpPr txBox="1"/>
          <p:nvPr/>
        </p:nvSpPr>
        <p:spPr>
          <a:xfrm>
            <a:off x="5742462" y="7848329"/>
            <a:ext cx="1171575" cy="369332"/>
          </a:xfrm>
          <a:prstGeom prst="rect">
            <a:avLst/>
          </a:prstGeom>
          <a:noFill/>
        </p:spPr>
        <p:txBody>
          <a:bodyPr wrap="square" rtlCol="0">
            <a:spAutoFit/>
          </a:bodyPr>
          <a:lstStyle/>
          <a:p>
            <a:r>
              <a:rPr lang="en-NO" sz="1800" dirty="0"/>
              <a:t>1870</a:t>
            </a:r>
          </a:p>
        </p:txBody>
      </p:sp>
      <p:sp>
        <p:nvSpPr>
          <p:cNvPr id="17" name="TextBox 16">
            <a:extLst>
              <a:ext uri="{FF2B5EF4-FFF2-40B4-BE49-F238E27FC236}">
                <a16:creationId xmlns:a16="http://schemas.microsoft.com/office/drawing/2014/main" id="{439A4863-FA7E-CB46-955A-686F0ABDA68B}"/>
              </a:ext>
            </a:extLst>
          </p:cNvPr>
          <p:cNvSpPr txBox="1"/>
          <p:nvPr/>
        </p:nvSpPr>
        <p:spPr>
          <a:xfrm>
            <a:off x="9539759" y="5728979"/>
            <a:ext cx="1171575" cy="369332"/>
          </a:xfrm>
          <a:prstGeom prst="rect">
            <a:avLst/>
          </a:prstGeom>
          <a:noFill/>
        </p:spPr>
        <p:txBody>
          <a:bodyPr wrap="square" rtlCol="0">
            <a:spAutoFit/>
          </a:bodyPr>
          <a:lstStyle/>
          <a:p>
            <a:r>
              <a:rPr lang="en-NO" sz="1800" dirty="0"/>
              <a:t>1969</a:t>
            </a:r>
          </a:p>
        </p:txBody>
      </p:sp>
      <p:sp>
        <p:nvSpPr>
          <p:cNvPr id="18" name="TextBox 17">
            <a:extLst>
              <a:ext uri="{FF2B5EF4-FFF2-40B4-BE49-F238E27FC236}">
                <a16:creationId xmlns:a16="http://schemas.microsoft.com/office/drawing/2014/main" id="{8367013F-B75C-3E49-83C6-CA360EC8A8A9}"/>
              </a:ext>
            </a:extLst>
          </p:cNvPr>
          <p:cNvSpPr txBox="1"/>
          <p:nvPr/>
        </p:nvSpPr>
        <p:spPr>
          <a:xfrm>
            <a:off x="13264034" y="7965341"/>
            <a:ext cx="2295054" cy="369332"/>
          </a:xfrm>
          <a:prstGeom prst="rect">
            <a:avLst/>
          </a:prstGeom>
          <a:noFill/>
        </p:spPr>
        <p:txBody>
          <a:bodyPr wrap="square" rtlCol="0">
            <a:spAutoFit/>
          </a:bodyPr>
          <a:lstStyle/>
          <a:p>
            <a:r>
              <a:rPr lang="en-GB" sz="1800" dirty="0"/>
              <a:t>N</a:t>
            </a:r>
            <a:r>
              <a:rPr lang="en-NO" sz="1800" dirty="0"/>
              <a:t>ow or future ?</a:t>
            </a:r>
          </a:p>
        </p:txBody>
      </p:sp>
      <p:sp>
        <p:nvSpPr>
          <p:cNvPr id="11" name="Rectangle 10">
            <a:extLst>
              <a:ext uri="{FF2B5EF4-FFF2-40B4-BE49-F238E27FC236}">
                <a16:creationId xmlns:a16="http://schemas.microsoft.com/office/drawing/2014/main" id="{7AF81B5A-693E-124F-AF2E-7B3C67CF3D4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4" name="TextBox 13">
            <a:extLst>
              <a:ext uri="{FF2B5EF4-FFF2-40B4-BE49-F238E27FC236}">
                <a16:creationId xmlns:a16="http://schemas.microsoft.com/office/drawing/2014/main" id="{1EDBD458-7103-5E41-80BF-5A0E585486D5}"/>
              </a:ext>
            </a:extLst>
          </p:cNvPr>
          <p:cNvSpPr txBox="1"/>
          <p:nvPr/>
        </p:nvSpPr>
        <p:spPr>
          <a:xfrm>
            <a:off x="1409700" y="504718"/>
            <a:ext cx="12915900" cy="830997"/>
          </a:xfrm>
          <a:prstGeom prst="rect">
            <a:avLst/>
          </a:prstGeom>
          <a:noFill/>
        </p:spPr>
        <p:txBody>
          <a:bodyPr wrap="square" rtlCol="0">
            <a:spAutoFit/>
          </a:bodyPr>
          <a:lstStyle/>
          <a:p>
            <a:r>
              <a:rPr lang="en-US" sz="4800" b="1" dirty="0"/>
              <a:t>The</a:t>
            </a:r>
            <a:r>
              <a:rPr lang="en-US" sz="4800" dirty="0"/>
              <a:t> </a:t>
            </a:r>
            <a:r>
              <a:rPr lang="en-US" sz="4800" b="1" dirty="0"/>
              <a:t>4</a:t>
            </a:r>
            <a:r>
              <a:rPr lang="en-US" sz="4800" b="1" baseline="30000" dirty="0"/>
              <a:t>th</a:t>
            </a:r>
            <a:r>
              <a:rPr lang="en-US" sz="4800" b="1" dirty="0"/>
              <a:t> and the biggest industrial revolution</a:t>
            </a:r>
            <a:endParaRPr lang="en-US" sz="4800" dirty="0"/>
          </a:p>
        </p:txBody>
      </p:sp>
    </p:spTree>
    <p:extLst>
      <p:ext uri="{BB962C8B-B14F-4D97-AF65-F5344CB8AC3E}">
        <p14:creationId xmlns:p14="http://schemas.microsoft.com/office/powerpoint/2010/main" val="329433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D93-C692-DD49-AB27-7AC03E4BB8B4}"/>
              </a:ext>
            </a:extLst>
          </p:cNvPr>
          <p:cNvSpPr>
            <a:spLocks noGrp="1"/>
          </p:cNvSpPr>
          <p:nvPr>
            <p:ph type="title"/>
          </p:nvPr>
        </p:nvSpPr>
        <p:spPr/>
        <p:txBody>
          <a:bodyPr/>
          <a:lstStyle/>
          <a:p>
            <a:r>
              <a:rPr lang="en-NO" dirty="0"/>
              <a:t>History of A.I – important points</a:t>
            </a:r>
          </a:p>
        </p:txBody>
      </p:sp>
      <p:sp>
        <p:nvSpPr>
          <p:cNvPr id="3" name="Content Placeholder 2">
            <a:extLst>
              <a:ext uri="{FF2B5EF4-FFF2-40B4-BE49-F238E27FC236}">
                <a16:creationId xmlns:a16="http://schemas.microsoft.com/office/drawing/2014/main" id="{CA8B410D-7035-3C43-AC49-EE5306A15C2B}"/>
              </a:ext>
            </a:extLst>
          </p:cNvPr>
          <p:cNvSpPr>
            <a:spLocks noGrp="1"/>
          </p:cNvSpPr>
          <p:nvPr>
            <p:ph idx="1"/>
          </p:nvPr>
        </p:nvSpPr>
        <p:spPr/>
        <p:txBody>
          <a:bodyPr/>
          <a:lstStyle/>
          <a:p>
            <a:r>
              <a:rPr lang="en-GB" dirty="0"/>
              <a:t>Efforts to create </a:t>
            </a:r>
            <a:r>
              <a:rPr lang="en-NO" dirty="0"/>
              <a:t>intelligent machines started as early as 1642</a:t>
            </a:r>
          </a:p>
          <a:p>
            <a:pPr lvl="1"/>
            <a:r>
              <a:rPr lang="en-GB" dirty="0"/>
              <a:t>F</a:t>
            </a:r>
            <a:r>
              <a:rPr lang="en-NO" dirty="0"/>
              <a:t>irst mechanical calculating machine – Blaise Pascal </a:t>
            </a:r>
          </a:p>
          <a:p>
            <a:endParaRPr lang="en-NO" dirty="0"/>
          </a:p>
          <a:p>
            <a:r>
              <a:rPr lang="en-NO" dirty="0"/>
              <a:t>Turing test was introduced in 1950</a:t>
            </a:r>
          </a:p>
          <a:p>
            <a:endParaRPr lang="en-NO" dirty="0"/>
          </a:p>
          <a:p>
            <a:r>
              <a:rPr lang="en-NO" dirty="0"/>
              <a:t>In 1955 we coined the term, “Artifical Intelligence"</a:t>
            </a:r>
          </a:p>
        </p:txBody>
      </p:sp>
    </p:spTree>
    <p:extLst>
      <p:ext uri="{BB962C8B-B14F-4D97-AF65-F5344CB8AC3E}">
        <p14:creationId xmlns:p14="http://schemas.microsoft.com/office/powerpoint/2010/main" val="2122865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62D5-3359-BD49-A23F-4F0AAAFD3631}"/>
              </a:ext>
            </a:extLst>
          </p:cNvPr>
          <p:cNvSpPr>
            <a:spLocks noGrp="1"/>
          </p:cNvSpPr>
          <p:nvPr>
            <p:ph type="title"/>
          </p:nvPr>
        </p:nvSpPr>
        <p:spPr/>
        <p:txBody>
          <a:bodyPr/>
          <a:lstStyle/>
          <a:p>
            <a:endParaRPr lang="en-NO"/>
          </a:p>
        </p:txBody>
      </p:sp>
      <p:pic>
        <p:nvPicPr>
          <p:cNvPr id="3074" name="Picture 2" descr="Image for post">
            <a:extLst>
              <a:ext uri="{FF2B5EF4-FFF2-40B4-BE49-F238E27FC236}">
                <a16:creationId xmlns:a16="http://schemas.microsoft.com/office/drawing/2014/main" id="{E1A194A4-1827-104F-A384-33E435C14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6" y="363442"/>
            <a:ext cx="17037702" cy="8869366"/>
          </a:xfrm>
          <a:prstGeom prst="rect">
            <a:avLst/>
          </a:prstGeom>
          <a:noFill/>
          <a:extLst>
            <a:ext uri="{909E8E84-426E-40DD-AFC4-6F175D3DCCD1}">
              <a14:hiddenFill xmlns:a14="http://schemas.microsoft.com/office/drawing/2010/main">
                <a:solidFill>
                  <a:srgbClr val="FFFFFF"/>
                </a:solidFill>
              </a14:hiddenFill>
            </a:ext>
          </a:extLst>
        </p:spPr>
      </p:pic>
      <p:pic>
        <p:nvPicPr>
          <p:cNvPr id="11" name="Content Placeholder 6">
            <a:extLst>
              <a:ext uri="{FF2B5EF4-FFF2-40B4-BE49-F238E27FC236}">
                <a16:creationId xmlns:a16="http://schemas.microsoft.com/office/drawing/2014/main" id="{0A0DC456-0E5F-604B-A04E-1FE531F12A80}"/>
              </a:ext>
            </a:extLst>
          </p:cNvPr>
          <p:cNvPicPr>
            <a:picLocks noGrp="1" noChangeAspect="1"/>
          </p:cNvPicPr>
          <p:nvPr>
            <p:ph idx="1"/>
          </p:nvPr>
        </p:nvPicPr>
        <p:blipFill>
          <a:blip r:embed="rId4"/>
          <a:stretch>
            <a:fillRect/>
          </a:stretch>
        </p:blipFill>
        <p:spPr>
          <a:xfrm>
            <a:off x="7179052" y="1118836"/>
            <a:ext cx="252039" cy="409563"/>
          </a:xfrm>
        </p:spPr>
      </p:pic>
    </p:spTree>
    <p:extLst>
      <p:ext uri="{BB962C8B-B14F-4D97-AF65-F5344CB8AC3E}">
        <p14:creationId xmlns:p14="http://schemas.microsoft.com/office/powerpoint/2010/main" val="187690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800" b="1" i="0">
                <a:solidFill>
                  <a:srgbClr val="000000"/>
                </a:solidFill>
                <a:latin typeface="Arial"/>
              </a:rPr>
              <a:t>The two AI winters — why this history matters</a:t>
            </a:r>
          </a:p>
        </p:txBody>
      </p:sp>
      <p:cxnSp>
        <p:nvCxnSpPr>
          <p:cNvPr id="4" name="Connector 3"/>
          <p:cNvCxnSpPr/>
          <p:nvPr/>
        </p:nvCxnSpPr>
        <p:spPr>
          <a:xfrm>
            <a:off x="1234440" y="7086600"/>
            <a:ext cx="15224760" cy="0"/>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234440" y="2606040"/>
            <a:ext cx="0" cy="4480560"/>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7160" y="2331720"/>
            <a:ext cx="960120" cy="1097280"/>
          </a:xfrm>
          <a:prstGeom prst="rect">
            <a:avLst/>
          </a:prstGeom>
          <a:noFill/>
        </p:spPr>
        <p:txBody>
          <a:bodyPr wrap="square" lIns="45720" tIns="0" rIns="45720" bIns="0" anchor="t">
            <a:spAutoFit/>
          </a:bodyPr>
          <a:lstStyle/>
          <a:p>
            <a:pPr algn="r">
              <a:lnSpc>
                <a:spcPct val="95000"/>
              </a:lnSpc>
              <a:spcAft>
                <a:spcPts val="0"/>
              </a:spcAft>
            </a:pPr>
            <a:r>
              <a:rPr sz="1400" b="1" i="0">
                <a:solidFill>
                  <a:srgbClr val="8C8C8C"/>
                </a:solidFill>
                <a:latin typeface="Arial"/>
              </a:rPr>
              <a:t>Hype</a:t>
            </a:r>
            <a:br/>
            <a:r>
              <a:rPr sz="1400" b="1" i="0">
                <a:solidFill>
                  <a:srgbClr val="8C8C8C"/>
                </a:solidFill>
                <a:latin typeface="Arial"/>
              </a:rPr>
              <a:t>&amp;</a:t>
            </a:r>
            <a:br/>
            <a:r>
              <a:rPr sz="1400" b="1" i="0">
                <a:solidFill>
                  <a:srgbClr val="8C8C8C"/>
                </a:solidFill>
                <a:latin typeface="Arial"/>
              </a:rPr>
              <a:t>funding</a:t>
            </a:r>
          </a:p>
        </p:txBody>
      </p:sp>
      <p:sp>
        <p:nvSpPr>
          <p:cNvPr id="7" name="winter1974" descr="Shaded band marking the first ai winter, 1974 to 1980."/>
          <p:cNvSpPr/>
          <p:nvPr/>
        </p:nvSpPr>
        <p:spPr>
          <a:xfrm>
            <a:off x="5970069" y="2606040"/>
            <a:ext cx="1183907" cy="4480560"/>
          </a:xfrm>
          <a:prstGeom prst="rect">
            <a:avLst/>
          </a:prstGeom>
          <a:solidFill>
            <a:srgbClr val="E8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327583" y="1847088"/>
            <a:ext cx="2468880" cy="731520"/>
          </a:xfrm>
          <a:prstGeom prst="rect">
            <a:avLst/>
          </a:prstGeom>
          <a:noFill/>
        </p:spPr>
        <p:txBody>
          <a:bodyPr wrap="square" lIns="45720" tIns="0" rIns="45720" bIns="0" anchor="t">
            <a:spAutoFit/>
          </a:bodyPr>
          <a:lstStyle/>
          <a:p>
            <a:pPr algn="ctr">
              <a:lnSpc>
                <a:spcPct val="95000"/>
              </a:lnSpc>
              <a:spcAft>
                <a:spcPts val="0"/>
              </a:spcAft>
            </a:pPr>
            <a:r>
              <a:rPr sz="1400" b="1" i="0">
                <a:solidFill>
                  <a:srgbClr val="E02D00"/>
                </a:solidFill>
                <a:latin typeface="Arial"/>
              </a:rPr>
              <a:t>First AI winter  1974–1980</a:t>
            </a:r>
          </a:p>
        </p:txBody>
      </p:sp>
      <p:sp>
        <p:nvSpPr>
          <p:cNvPr id="9" name="winter1987" descr="Shaded band marking the second ai winter, 1987 to 1993."/>
          <p:cNvSpPr/>
          <p:nvPr/>
        </p:nvSpPr>
        <p:spPr>
          <a:xfrm>
            <a:off x="8535202" y="2606040"/>
            <a:ext cx="1183907" cy="4480560"/>
          </a:xfrm>
          <a:prstGeom prst="rect">
            <a:avLst/>
          </a:prstGeom>
          <a:solidFill>
            <a:srgbClr val="E8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892715" y="1847088"/>
            <a:ext cx="2468880" cy="731520"/>
          </a:xfrm>
          <a:prstGeom prst="rect">
            <a:avLst/>
          </a:prstGeom>
          <a:noFill/>
        </p:spPr>
        <p:txBody>
          <a:bodyPr wrap="square" lIns="45720" tIns="0" rIns="45720" bIns="0" anchor="t">
            <a:spAutoFit/>
          </a:bodyPr>
          <a:lstStyle/>
          <a:p>
            <a:pPr algn="ctr">
              <a:lnSpc>
                <a:spcPct val="95000"/>
              </a:lnSpc>
              <a:spcAft>
                <a:spcPts val="0"/>
              </a:spcAft>
            </a:pPr>
            <a:r>
              <a:rPr sz="1400" b="1" i="0">
                <a:solidFill>
                  <a:srgbClr val="E02D00"/>
                </a:solidFill>
                <a:latin typeface="Arial"/>
              </a:rPr>
              <a:t>Second AI winter  1987–1993</a:t>
            </a:r>
          </a:p>
        </p:txBody>
      </p:sp>
      <p:sp>
        <p:nvSpPr>
          <p:cNvPr id="11" name="HypeCurve" descr="Line showing AI hype and funding rising after 1956, collapsing in the 1974–1980 winter, recovering with expert systems, collapsing again in 1987–1993, then climbing steadily from the 1990s and steeply after 2012 and 2022."/>
          <p:cNvSpPr/>
          <p:nvPr/>
        </p:nvSpPr>
        <p:spPr>
          <a:xfrm>
            <a:off x="1234440" y="2743200"/>
            <a:ext cx="14996160" cy="4297680"/>
          </a:xfrm>
          <a:custGeom>
            <a:avLst/>
            <a:gdLst/>
            <a:ahLst/>
            <a:cxnLst/>
            <a:rect l="l" t="t" r="r" b="b"/>
            <a:pathLst>
              <a:path w="14996160" h="4297680">
                <a:moveTo>
                  <a:pt x="0" y="4297680"/>
                </a:moveTo>
                <a:lnTo>
                  <a:pt x="1183907" y="2103120"/>
                </a:lnTo>
                <a:lnTo>
                  <a:pt x="2959768" y="548640"/>
                </a:lnTo>
                <a:lnTo>
                  <a:pt x="3946357" y="137160"/>
                </a:lnTo>
                <a:lnTo>
                  <a:pt x="4735629" y="1188720"/>
                </a:lnTo>
                <a:lnTo>
                  <a:pt x="5524901" y="3291840"/>
                </a:lnTo>
                <a:lnTo>
                  <a:pt x="5919536" y="3566160"/>
                </a:lnTo>
                <a:lnTo>
                  <a:pt x="6708808" y="1005839"/>
                </a:lnTo>
                <a:lnTo>
                  <a:pt x="7300762" y="1371600"/>
                </a:lnTo>
                <a:lnTo>
                  <a:pt x="7892715" y="3566160"/>
                </a:lnTo>
                <a:lnTo>
                  <a:pt x="8484669" y="3794760"/>
                </a:lnTo>
                <a:lnTo>
                  <a:pt x="9273941" y="2651760"/>
                </a:lnTo>
                <a:lnTo>
                  <a:pt x="9865894" y="3200400"/>
                </a:lnTo>
                <a:lnTo>
                  <a:pt x="10852484" y="3017520"/>
                </a:lnTo>
                <a:lnTo>
                  <a:pt x="12233709" y="1828800"/>
                </a:lnTo>
                <a:lnTo>
                  <a:pt x="13022981" y="822960"/>
                </a:lnTo>
                <a:lnTo>
                  <a:pt x="13812252" y="502920"/>
                </a:lnTo>
                <a:lnTo>
                  <a:pt x="14206888" y="137160"/>
                </a:lnTo>
                <a:lnTo>
                  <a:pt x="14996160" y="0"/>
                </a:lnTo>
              </a:path>
            </a:pathLst>
          </a:custGeom>
          <a:noFill/>
          <a:ln w="57150">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03947" y="3977639"/>
            <a:ext cx="1828800" cy="822960"/>
          </a:xfrm>
          <a:prstGeom prst="rect">
            <a:avLst/>
          </a:prstGeom>
          <a:noFill/>
        </p:spPr>
        <p:txBody>
          <a:bodyPr wrap="square" lIns="45720" tIns="0" rIns="45720" bIns="0" anchor="t">
            <a:spAutoFit/>
          </a:bodyPr>
          <a:lstStyle/>
          <a:p>
            <a:pPr algn="ctr">
              <a:lnSpc>
                <a:spcPct val="90000"/>
              </a:lnSpc>
              <a:spcAft>
                <a:spcPts val="0"/>
              </a:spcAft>
            </a:pPr>
            <a:r>
              <a:rPr sz="1400" b="1" i="0">
                <a:solidFill>
                  <a:srgbClr val="000064"/>
                </a:solidFill>
                <a:latin typeface="Arial"/>
              </a:rPr>
              <a:t>Dartmouth</a:t>
            </a:r>
            <a:br/>
            <a:r>
              <a:rPr sz="1400" b="1" i="0">
                <a:solidFill>
                  <a:srgbClr val="000064"/>
                </a:solidFill>
                <a:latin typeface="Arial"/>
              </a:rPr>
              <a:t>optimism</a:t>
            </a:r>
          </a:p>
        </p:txBody>
      </p:sp>
      <p:sp>
        <p:nvSpPr>
          <p:cNvPr id="13" name="TextBox 12"/>
          <p:cNvSpPr txBox="1"/>
          <p:nvPr/>
        </p:nvSpPr>
        <p:spPr>
          <a:xfrm>
            <a:off x="6239576" y="5440680"/>
            <a:ext cx="1828800" cy="822960"/>
          </a:xfrm>
          <a:prstGeom prst="rect">
            <a:avLst/>
          </a:prstGeom>
          <a:noFill/>
        </p:spPr>
        <p:txBody>
          <a:bodyPr wrap="square" lIns="45720" tIns="0" rIns="45720" bIns="0" anchor="t">
            <a:spAutoFit/>
          </a:bodyPr>
          <a:lstStyle/>
          <a:p>
            <a:pPr algn="ctr">
              <a:lnSpc>
                <a:spcPct val="90000"/>
              </a:lnSpc>
              <a:spcAft>
                <a:spcPts val="0"/>
              </a:spcAft>
            </a:pPr>
            <a:r>
              <a:rPr sz="1400" b="1" i="0">
                <a:solidFill>
                  <a:srgbClr val="007ACC"/>
                </a:solidFill>
                <a:latin typeface="Arial"/>
              </a:rPr>
              <a:t>Expert systems</a:t>
            </a:r>
            <a:br/>
            <a:r>
              <a:rPr sz="1400" b="1" i="0">
                <a:solidFill>
                  <a:srgbClr val="007ACC"/>
                </a:solidFill>
                <a:latin typeface="Arial"/>
              </a:rPr>
              <a:t>boom</a:t>
            </a:r>
          </a:p>
        </p:txBody>
      </p:sp>
      <p:sp>
        <p:nvSpPr>
          <p:cNvPr id="14" name="TextBox 13"/>
          <p:cNvSpPr txBox="1"/>
          <p:nvPr/>
        </p:nvSpPr>
        <p:spPr>
          <a:xfrm>
            <a:off x="12553749" y="4709160"/>
            <a:ext cx="1828800" cy="822960"/>
          </a:xfrm>
          <a:prstGeom prst="rect">
            <a:avLst/>
          </a:prstGeom>
          <a:noFill/>
        </p:spPr>
        <p:txBody>
          <a:bodyPr wrap="square" lIns="45720" tIns="0" rIns="45720" bIns="0" anchor="t">
            <a:spAutoFit/>
          </a:bodyPr>
          <a:lstStyle/>
          <a:p>
            <a:pPr algn="ctr">
              <a:lnSpc>
                <a:spcPct val="90000"/>
              </a:lnSpc>
              <a:spcAft>
                <a:spcPts val="0"/>
              </a:spcAft>
            </a:pPr>
            <a:r>
              <a:rPr sz="1400" b="1" i="0">
                <a:solidFill>
                  <a:srgbClr val="FF8100"/>
                </a:solidFill>
                <a:latin typeface="Arial"/>
              </a:rPr>
              <a:t>Deep learning</a:t>
            </a:r>
            <a:br/>
            <a:r>
              <a:rPr sz="1400" b="1" i="0">
                <a:solidFill>
                  <a:srgbClr val="FF8100"/>
                </a:solidFill>
                <a:latin typeface="Arial"/>
              </a:rPr>
              <a:t>works</a:t>
            </a:r>
          </a:p>
        </p:txBody>
      </p:sp>
      <p:sp>
        <p:nvSpPr>
          <p:cNvPr id="15" name="TextBox 14"/>
          <p:cNvSpPr txBox="1"/>
          <p:nvPr/>
        </p:nvSpPr>
        <p:spPr>
          <a:xfrm>
            <a:off x="14526928" y="2377439"/>
            <a:ext cx="1828800" cy="822960"/>
          </a:xfrm>
          <a:prstGeom prst="rect">
            <a:avLst/>
          </a:prstGeom>
          <a:noFill/>
        </p:spPr>
        <p:txBody>
          <a:bodyPr wrap="square" lIns="45720" tIns="0" rIns="45720" bIns="0" anchor="t">
            <a:spAutoFit/>
          </a:bodyPr>
          <a:lstStyle/>
          <a:p>
            <a:pPr algn="ctr">
              <a:lnSpc>
                <a:spcPct val="90000"/>
              </a:lnSpc>
              <a:spcAft>
                <a:spcPts val="0"/>
              </a:spcAft>
            </a:pPr>
            <a:r>
              <a:rPr sz="1400" b="1" i="0">
                <a:solidFill>
                  <a:srgbClr val="99002B"/>
                </a:solidFill>
                <a:latin typeface="Arial"/>
              </a:rPr>
              <a:t>ChatGPT</a:t>
            </a:r>
          </a:p>
        </p:txBody>
      </p:sp>
      <p:sp>
        <p:nvSpPr>
          <p:cNvPr id="16" name="TextBox 15"/>
          <p:cNvSpPr txBox="1"/>
          <p:nvPr/>
        </p:nvSpPr>
        <p:spPr>
          <a:xfrm>
            <a:off x="777240" y="7196328"/>
            <a:ext cx="914400" cy="365760"/>
          </a:xfrm>
          <a:prstGeom prst="rect">
            <a:avLst/>
          </a:prstGeom>
          <a:noFill/>
        </p:spPr>
        <p:txBody>
          <a:bodyPr wrap="square" lIns="45720" tIns="0" rIns="45720" bIns="0" anchor="t">
            <a:spAutoFit/>
          </a:bodyPr>
          <a:lstStyle/>
          <a:p>
            <a:pPr algn="ctr">
              <a:spcAft>
                <a:spcPts val="0"/>
              </a:spcAft>
            </a:pPr>
            <a:r>
              <a:rPr sz="1400" b="1" i="0">
                <a:solidFill>
                  <a:srgbClr val="8C8C8C"/>
                </a:solidFill>
                <a:latin typeface="Arial"/>
              </a:rPr>
              <a:t>1950</a:t>
            </a:r>
          </a:p>
        </p:txBody>
      </p:sp>
      <p:sp>
        <p:nvSpPr>
          <p:cNvPr id="17" name="TextBox 16"/>
          <p:cNvSpPr txBox="1"/>
          <p:nvPr/>
        </p:nvSpPr>
        <p:spPr>
          <a:xfrm>
            <a:off x="4723597" y="7196328"/>
            <a:ext cx="914400" cy="365760"/>
          </a:xfrm>
          <a:prstGeom prst="rect">
            <a:avLst/>
          </a:prstGeom>
          <a:noFill/>
        </p:spPr>
        <p:txBody>
          <a:bodyPr wrap="square" lIns="45720" tIns="0" rIns="45720" bIns="0" anchor="t">
            <a:spAutoFit/>
          </a:bodyPr>
          <a:lstStyle/>
          <a:p>
            <a:pPr algn="ctr">
              <a:spcAft>
                <a:spcPts val="0"/>
              </a:spcAft>
            </a:pPr>
            <a:r>
              <a:rPr sz="1400" b="1" i="0">
                <a:solidFill>
                  <a:srgbClr val="8C8C8C"/>
                </a:solidFill>
                <a:latin typeface="Arial"/>
              </a:rPr>
              <a:t>1970</a:t>
            </a:r>
          </a:p>
        </p:txBody>
      </p:sp>
      <p:sp>
        <p:nvSpPr>
          <p:cNvPr id="18" name="TextBox 17"/>
          <p:cNvSpPr txBox="1"/>
          <p:nvPr/>
        </p:nvSpPr>
        <p:spPr>
          <a:xfrm>
            <a:off x="8669955" y="7196328"/>
            <a:ext cx="914400" cy="365760"/>
          </a:xfrm>
          <a:prstGeom prst="rect">
            <a:avLst/>
          </a:prstGeom>
          <a:noFill/>
        </p:spPr>
        <p:txBody>
          <a:bodyPr wrap="square" lIns="45720" tIns="0" rIns="45720" bIns="0" anchor="t">
            <a:spAutoFit/>
          </a:bodyPr>
          <a:lstStyle/>
          <a:p>
            <a:pPr algn="ctr">
              <a:spcAft>
                <a:spcPts val="0"/>
              </a:spcAft>
            </a:pPr>
            <a:r>
              <a:rPr sz="1400" b="1" i="0">
                <a:solidFill>
                  <a:srgbClr val="8C8C8C"/>
                </a:solidFill>
                <a:latin typeface="Arial"/>
              </a:rPr>
              <a:t>1990</a:t>
            </a:r>
          </a:p>
        </p:txBody>
      </p:sp>
      <p:sp>
        <p:nvSpPr>
          <p:cNvPr id="19" name="TextBox 18"/>
          <p:cNvSpPr txBox="1"/>
          <p:nvPr/>
        </p:nvSpPr>
        <p:spPr>
          <a:xfrm>
            <a:off x="12616313" y="7196328"/>
            <a:ext cx="914400" cy="365760"/>
          </a:xfrm>
          <a:prstGeom prst="rect">
            <a:avLst/>
          </a:prstGeom>
          <a:noFill/>
        </p:spPr>
        <p:txBody>
          <a:bodyPr wrap="square" lIns="45720" tIns="0" rIns="45720" bIns="0" anchor="t">
            <a:spAutoFit/>
          </a:bodyPr>
          <a:lstStyle/>
          <a:p>
            <a:pPr algn="ctr">
              <a:spcAft>
                <a:spcPts val="0"/>
              </a:spcAft>
            </a:pPr>
            <a:r>
              <a:rPr sz="1400" b="1" i="0">
                <a:solidFill>
                  <a:srgbClr val="8C8C8C"/>
                </a:solidFill>
                <a:latin typeface="Arial"/>
              </a:rPr>
              <a:t>2010</a:t>
            </a:r>
          </a:p>
        </p:txBody>
      </p:sp>
      <p:sp>
        <p:nvSpPr>
          <p:cNvPr id="20" name="TextBox 19"/>
          <p:cNvSpPr txBox="1"/>
          <p:nvPr/>
        </p:nvSpPr>
        <p:spPr>
          <a:xfrm>
            <a:off x="15773400" y="7196328"/>
            <a:ext cx="914400" cy="365760"/>
          </a:xfrm>
          <a:prstGeom prst="rect">
            <a:avLst/>
          </a:prstGeom>
          <a:noFill/>
        </p:spPr>
        <p:txBody>
          <a:bodyPr wrap="square" lIns="45720" tIns="0" rIns="45720" bIns="0" anchor="t">
            <a:spAutoFit/>
          </a:bodyPr>
          <a:lstStyle/>
          <a:p>
            <a:pPr algn="ctr">
              <a:spcAft>
                <a:spcPts val="0"/>
              </a:spcAft>
            </a:pPr>
            <a:r>
              <a:rPr sz="1400" b="1" i="0">
                <a:solidFill>
                  <a:srgbClr val="8C8C8C"/>
                </a:solidFill>
                <a:latin typeface="Arial"/>
              </a:rPr>
              <a:t>2026</a:t>
            </a:r>
          </a:p>
        </p:txBody>
      </p:sp>
      <p:sp>
        <p:nvSpPr>
          <p:cNvPr id="21" name="lesson" descr="Decorative panel"/>
          <p:cNvSpPr/>
          <p:nvPr/>
        </p:nvSpPr>
        <p:spPr>
          <a:xfrm>
            <a:off x="1234440" y="7818120"/>
            <a:ext cx="15224759" cy="1143000"/>
          </a:xfrm>
          <a:prstGeom prst="roundRect">
            <a:avLst>
              <a:gd name="adj" fmla="val 3000"/>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508760" y="7973568"/>
            <a:ext cx="14630400" cy="914400"/>
          </a:xfrm>
          <a:prstGeom prst="rect">
            <a:avLst/>
          </a:prstGeom>
          <a:noFill/>
        </p:spPr>
        <p:txBody>
          <a:bodyPr wrap="square" lIns="45720" tIns="0" rIns="45720" bIns="0" anchor="t">
            <a:spAutoFit/>
          </a:bodyPr>
          <a:lstStyle/>
          <a:p>
            <a:pPr algn="l">
              <a:lnSpc>
                <a:spcPct val="100000"/>
              </a:lnSpc>
              <a:spcAft>
                <a:spcPts val="600"/>
              </a:spcAft>
            </a:pPr>
            <a:r>
              <a:rPr sz="1800" b="1" i="0">
                <a:solidFill>
                  <a:srgbClr val="000000"/>
                </a:solidFill>
                <a:latin typeface="Arial"/>
              </a:rPr>
              <a:t>Both winters came after confident public predictions that did not arrive. The pattern to learn: ask what has actually been demonstrated, on what data, measured how.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69BF32-A10D-7B45-9787-95514845B269}"/>
              </a:ext>
            </a:extLst>
          </p:cNvPr>
          <p:cNvSpPr>
            <a:spLocks noGrp="1"/>
          </p:cNvSpPr>
          <p:nvPr>
            <p:ph type="ftr" sz="quarter" idx="11"/>
          </p:nvPr>
        </p:nvSpPr>
        <p:spPr>
          <a:xfrm>
            <a:off x="5981700" y="8867707"/>
            <a:ext cx="9001125" cy="262593"/>
          </a:xfrm>
        </p:spPr>
        <p:txBody>
          <a:bodyPr/>
          <a:lstStyle/>
          <a:p>
            <a:r>
              <a:rPr lang="nb-NO"/>
              <a:t>Introduction to A.I - Umair M.I</a:t>
            </a:r>
          </a:p>
        </p:txBody>
      </p:sp>
      <p:pic>
        <p:nvPicPr>
          <p:cNvPr id="8" name="Picture 7" descr="A picture containing bird&#10;&#10;Description automatically generated">
            <a:extLst>
              <a:ext uri="{FF2B5EF4-FFF2-40B4-BE49-F238E27FC236}">
                <a16:creationId xmlns:a16="http://schemas.microsoft.com/office/drawing/2014/main" id="{4DFC8A8C-1572-804E-B432-1360495A2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4878" y="2487391"/>
            <a:ext cx="5926548" cy="3656806"/>
          </a:xfrm>
          <a:prstGeom prst="rect">
            <a:avLst/>
          </a:prstGeom>
        </p:spPr>
      </p:pic>
      <p:sp>
        <p:nvSpPr>
          <p:cNvPr id="11" name="TextBox 10">
            <a:extLst>
              <a:ext uri="{FF2B5EF4-FFF2-40B4-BE49-F238E27FC236}">
                <a16:creationId xmlns:a16="http://schemas.microsoft.com/office/drawing/2014/main" id="{43BBF329-2B73-2C44-A2ED-2A23B557C1E2}"/>
              </a:ext>
            </a:extLst>
          </p:cNvPr>
          <p:cNvSpPr txBox="1"/>
          <p:nvPr/>
        </p:nvSpPr>
        <p:spPr>
          <a:xfrm>
            <a:off x="12573000" y="2818582"/>
            <a:ext cx="1809750" cy="486287"/>
          </a:xfrm>
          <a:prstGeom prst="rect">
            <a:avLst/>
          </a:prstGeom>
          <a:noFill/>
        </p:spPr>
        <p:txBody>
          <a:bodyPr wrap="square" rtlCol="0">
            <a:spAutoFit/>
          </a:bodyPr>
          <a:lstStyle/>
          <a:p>
            <a:r>
              <a:rPr lang="en-US" dirty="0"/>
              <a:t>More Data</a:t>
            </a:r>
          </a:p>
        </p:txBody>
      </p:sp>
      <p:sp>
        <p:nvSpPr>
          <p:cNvPr id="12" name="TextBox 11">
            <a:extLst>
              <a:ext uri="{FF2B5EF4-FFF2-40B4-BE49-F238E27FC236}">
                <a16:creationId xmlns:a16="http://schemas.microsoft.com/office/drawing/2014/main" id="{F4BBC243-6772-FB4E-BECD-48F8BCA3B9F1}"/>
              </a:ext>
            </a:extLst>
          </p:cNvPr>
          <p:cNvSpPr txBox="1"/>
          <p:nvPr/>
        </p:nvSpPr>
        <p:spPr>
          <a:xfrm>
            <a:off x="653462" y="3604161"/>
            <a:ext cx="4630916" cy="880241"/>
          </a:xfrm>
          <a:prstGeom prst="rect">
            <a:avLst/>
          </a:prstGeom>
          <a:noFill/>
        </p:spPr>
        <p:txBody>
          <a:bodyPr wrap="square" rtlCol="0">
            <a:spAutoFit/>
          </a:bodyPr>
          <a:lstStyle/>
          <a:p>
            <a:r>
              <a:rPr lang="en-US" dirty="0"/>
              <a:t>Connectedness -&gt; Internet / IOT</a:t>
            </a:r>
          </a:p>
        </p:txBody>
      </p:sp>
      <p:sp>
        <p:nvSpPr>
          <p:cNvPr id="13" name="TextBox 12">
            <a:extLst>
              <a:ext uri="{FF2B5EF4-FFF2-40B4-BE49-F238E27FC236}">
                <a16:creationId xmlns:a16="http://schemas.microsoft.com/office/drawing/2014/main" id="{B39C5342-DA30-D643-8762-2A8279A7829A}"/>
              </a:ext>
            </a:extLst>
          </p:cNvPr>
          <p:cNvSpPr txBox="1"/>
          <p:nvPr/>
        </p:nvSpPr>
        <p:spPr>
          <a:xfrm>
            <a:off x="12573000" y="3801139"/>
            <a:ext cx="2657947" cy="486287"/>
          </a:xfrm>
          <a:prstGeom prst="rect">
            <a:avLst/>
          </a:prstGeom>
          <a:noFill/>
        </p:spPr>
        <p:txBody>
          <a:bodyPr wrap="square" rtlCol="0">
            <a:spAutoFit/>
          </a:bodyPr>
          <a:lstStyle/>
          <a:p>
            <a:r>
              <a:rPr lang="en-US" dirty="0"/>
              <a:t>Cloud computing</a:t>
            </a:r>
          </a:p>
        </p:txBody>
      </p:sp>
      <p:sp>
        <p:nvSpPr>
          <p:cNvPr id="14" name="TextBox 13">
            <a:extLst>
              <a:ext uri="{FF2B5EF4-FFF2-40B4-BE49-F238E27FC236}">
                <a16:creationId xmlns:a16="http://schemas.microsoft.com/office/drawing/2014/main" id="{FEFACC5B-D23F-3942-A327-9DAD4BAA8405}"/>
              </a:ext>
            </a:extLst>
          </p:cNvPr>
          <p:cNvSpPr txBox="1"/>
          <p:nvPr/>
        </p:nvSpPr>
        <p:spPr>
          <a:xfrm>
            <a:off x="8082434" y="6615517"/>
            <a:ext cx="4972050" cy="486287"/>
          </a:xfrm>
          <a:prstGeom prst="rect">
            <a:avLst/>
          </a:prstGeom>
          <a:noFill/>
        </p:spPr>
        <p:txBody>
          <a:bodyPr wrap="square" rtlCol="0">
            <a:spAutoFit/>
          </a:bodyPr>
          <a:lstStyle/>
          <a:p>
            <a:r>
              <a:rPr lang="en-US" dirty="0"/>
              <a:t>Machine learning, deep learning</a:t>
            </a:r>
          </a:p>
        </p:txBody>
      </p:sp>
      <p:sp>
        <p:nvSpPr>
          <p:cNvPr id="15" name="TextBox 14">
            <a:extLst>
              <a:ext uri="{FF2B5EF4-FFF2-40B4-BE49-F238E27FC236}">
                <a16:creationId xmlns:a16="http://schemas.microsoft.com/office/drawing/2014/main" id="{CFC1401C-50C8-3244-B14F-1E51B5A48A30}"/>
              </a:ext>
            </a:extLst>
          </p:cNvPr>
          <p:cNvSpPr txBox="1"/>
          <p:nvPr/>
        </p:nvSpPr>
        <p:spPr>
          <a:xfrm>
            <a:off x="9873661" y="7298781"/>
            <a:ext cx="3562350" cy="880241"/>
          </a:xfrm>
          <a:prstGeom prst="rect">
            <a:avLst/>
          </a:prstGeom>
          <a:noFill/>
        </p:spPr>
        <p:txBody>
          <a:bodyPr wrap="square" rtlCol="0">
            <a:spAutoFit/>
          </a:bodyPr>
          <a:lstStyle/>
          <a:p>
            <a:r>
              <a:rPr lang="en-US" dirty="0">
                <a:solidFill>
                  <a:schemeClr val="accent3"/>
                </a:solidFill>
              </a:rPr>
              <a:t>Natural language processing</a:t>
            </a:r>
          </a:p>
        </p:txBody>
      </p:sp>
      <p:sp>
        <p:nvSpPr>
          <p:cNvPr id="16" name="TextBox 15">
            <a:extLst>
              <a:ext uri="{FF2B5EF4-FFF2-40B4-BE49-F238E27FC236}">
                <a16:creationId xmlns:a16="http://schemas.microsoft.com/office/drawing/2014/main" id="{8317CEE1-03B1-794C-8D0B-1DFB4718DE2F}"/>
              </a:ext>
            </a:extLst>
          </p:cNvPr>
          <p:cNvSpPr txBox="1"/>
          <p:nvPr/>
        </p:nvSpPr>
        <p:spPr>
          <a:xfrm>
            <a:off x="653462" y="5978419"/>
            <a:ext cx="5328238" cy="486287"/>
          </a:xfrm>
          <a:prstGeom prst="rect">
            <a:avLst/>
          </a:prstGeom>
          <a:noFill/>
        </p:spPr>
        <p:txBody>
          <a:bodyPr wrap="square" rtlCol="0">
            <a:spAutoFit/>
          </a:bodyPr>
          <a:lstStyle/>
          <a:p>
            <a:r>
              <a:rPr lang="en-US" dirty="0">
                <a:solidFill>
                  <a:schemeClr val="accent3"/>
                </a:solidFill>
              </a:rPr>
              <a:t>Ease of use of A.I applications</a:t>
            </a:r>
          </a:p>
        </p:txBody>
      </p:sp>
      <p:sp>
        <p:nvSpPr>
          <p:cNvPr id="17" name="TextBox 16">
            <a:extLst>
              <a:ext uri="{FF2B5EF4-FFF2-40B4-BE49-F238E27FC236}">
                <a16:creationId xmlns:a16="http://schemas.microsoft.com/office/drawing/2014/main" id="{A05F5436-8AD7-C44F-BA87-56FBAF8D6A3E}"/>
              </a:ext>
            </a:extLst>
          </p:cNvPr>
          <p:cNvSpPr txBox="1"/>
          <p:nvPr/>
        </p:nvSpPr>
        <p:spPr>
          <a:xfrm>
            <a:off x="12573000" y="4958074"/>
            <a:ext cx="4267200" cy="486287"/>
          </a:xfrm>
          <a:prstGeom prst="rect">
            <a:avLst/>
          </a:prstGeom>
          <a:noFill/>
        </p:spPr>
        <p:txBody>
          <a:bodyPr wrap="square" rtlCol="0">
            <a:spAutoFit/>
          </a:bodyPr>
          <a:lstStyle/>
          <a:p>
            <a:r>
              <a:rPr lang="en-US" dirty="0"/>
              <a:t>Powerful chips / processors</a:t>
            </a:r>
          </a:p>
        </p:txBody>
      </p:sp>
      <p:sp>
        <p:nvSpPr>
          <p:cNvPr id="19" name="Rectangle 18">
            <a:extLst>
              <a:ext uri="{FF2B5EF4-FFF2-40B4-BE49-F238E27FC236}">
                <a16:creationId xmlns:a16="http://schemas.microsoft.com/office/drawing/2014/main" id="{13A133EC-5A70-B142-BB4A-E95D387F6104}"/>
              </a:ext>
            </a:extLst>
          </p:cNvPr>
          <p:cNvSpPr/>
          <p:nvPr/>
        </p:nvSpPr>
        <p:spPr>
          <a:xfrm>
            <a:off x="5379628" y="2344425"/>
            <a:ext cx="5926548" cy="37997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800EC7D-C784-7940-BB8A-46D8D653A031}"/>
              </a:ext>
            </a:extLst>
          </p:cNvPr>
          <p:cNvSpPr/>
          <p:nvPr/>
        </p:nvSpPr>
        <p:spPr>
          <a:xfrm>
            <a:off x="42862" y="194190"/>
            <a:ext cx="16797338"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1" name="TextBox 20">
            <a:extLst>
              <a:ext uri="{FF2B5EF4-FFF2-40B4-BE49-F238E27FC236}">
                <a16:creationId xmlns:a16="http://schemas.microsoft.com/office/drawing/2014/main" id="{7800F69C-A04F-EA40-A590-CE6544BAC43B}"/>
              </a:ext>
            </a:extLst>
          </p:cNvPr>
          <p:cNvSpPr txBox="1"/>
          <p:nvPr/>
        </p:nvSpPr>
        <p:spPr>
          <a:xfrm>
            <a:off x="1143000" y="426915"/>
            <a:ext cx="12915900" cy="830997"/>
          </a:xfrm>
          <a:prstGeom prst="rect">
            <a:avLst/>
          </a:prstGeom>
          <a:noFill/>
        </p:spPr>
        <p:txBody>
          <a:bodyPr wrap="square" rtlCol="0">
            <a:spAutoFit/>
          </a:bodyPr>
          <a:lstStyle/>
          <a:p>
            <a:r>
              <a:rPr lang="en-US" sz="4800" b="1" dirty="0"/>
              <a:t>WHY ?</a:t>
            </a:r>
            <a:endParaRPr lang="en-US" sz="4800" dirty="0"/>
          </a:p>
        </p:txBody>
      </p:sp>
    </p:spTree>
    <p:extLst>
      <p:ext uri="{BB962C8B-B14F-4D97-AF65-F5344CB8AC3E}">
        <p14:creationId xmlns:p14="http://schemas.microsoft.com/office/powerpoint/2010/main" val="44883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800" b="1" i="0">
                <a:solidFill>
                  <a:srgbClr val="000000"/>
                </a:solidFill>
                <a:latin typeface="Arial"/>
              </a:rPr>
              <a:t>The modern era — and why it accelerated</a:t>
            </a:r>
          </a:p>
        </p:txBody>
      </p:sp>
      <p:cxnSp>
        <p:nvCxnSpPr>
          <p:cNvPr id="4" name="Connector 3"/>
          <p:cNvCxnSpPr/>
          <p:nvPr/>
        </p:nvCxnSpPr>
        <p:spPr>
          <a:xfrm>
            <a:off x="777240" y="5074920"/>
            <a:ext cx="15791687" cy="0"/>
          </a:xfrm>
          <a:prstGeom prst="line">
            <a:avLst/>
          </a:prstGeom>
          <a:ln w="50800">
            <a:solidFill>
              <a:srgbClr val="D7D7D7"/>
            </a:solidFill>
          </a:ln>
        </p:spPr>
        <p:style>
          <a:lnRef idx="2">
            <a:schemeClr val="accent1"/>
          </a:lnRef>
          <a:fillRef idx="0">
            <a:schemeClr val="accent1"/>
          </a:fillRef>
          <a:effectRef idx="1">
            <a:schemeClr val="accent1"/>
          </a:effectRef>
          <a:fontRef idx="minor">
            <a:schemeClr val="tx1"/>
          </a:fontRef>
        </p:style>
      </p:cxnSp>
      <p:sp>
        <p:nvSpPr>
          <p:cNvPr id="5" name="Oval 4" descr="Timeline marker"/>
          <p:cNvSpPr/>
          <p:nvPr/>
        </p:nvSpPr>
        <p:spPr>
          <a:xfrm>
            <a:off x="1768057" y="4937759"/>
            <a:ext cx="274320" cy="274320"/>
          </a:xfrm>
          <a:prstGeom prst="ellipse">
            <a:avLst/>
          </a:prstGeom>
          <a:solidFill>
            <a:srgbClr val="FF810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V="1">
            <a:off x="1905217" y="4572000"/>
            <a:ext cx="0" cy="356616"/>
          </a:xfrm>
          <a:prstGeom prst="line">
            <a:avLst/>
          </a:prstGeom>
          <a:ln w="25400">
            <a:solidFill>
              <a:srgbClr val="FF8100"/>
            </a:solidFill>
          </a:ln>
        </p:spPr>
        <p:style>
          <a:lnRef idx="2">
            <a:schemeClr val="accent1"/>
          </a:lnRef>
          <a:fillRef idx="0">
            <a:schemeClr val="accent1"/>
          </a:fillRef>
          <a:effectRef idx="1">
            <a:schemeClr val="accent1"/>
          </a:effectRef>
          <a:fontRef idx="minor">
            <a:schemeClr val="tx1"/>
          </a:fontRef>
        </p:style>
      </p:cxnSp>
      <p:sp>
        <p:nvSpPr>
          <p:cNvPr id="7" name="tl0" descr="Decorative panel"/>
          <p:cNvSpPr/>
          <p:nvPr/>
        </p:nvSpPr>
        <p:spPr>
          <a:xfrm>
            <a:off x="844918" y="1783080"/>
            <a:ext cx="2120598" cy="2788920"/>
          </a:xfrm>
          <a:prstGeom prst="roundRect">
            <a:avLst>
              <a:gd name="adj" fmla="val 7000"/>
            </a:avLst>
          </a:prstGeom>
          <a:solidFill>
            <a:srgbClr val="F2F2F2"/>
          </a:solidFill>
          <a:ln w="22225">
            <a:solidFill>
              <a:srgbClr val="FF81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3790" y="192938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FF8100"/>
                </a:solidFill>
                <a:latin typeface="Arial"/>
              </a:rPr>
              <a:t>2012</a:t>
            </a:r>
          </a:p>
          <a:p>
            <a:pPr algn="l">
              <a:lnSpc>
                <a:spcPct val="92000"/>
              </a:lnSpc>
              <a:spcAft>
                <a:spcPts val="500"/>
              </a:spcAft>
            </a:pPr>
            <a:r>
              <a:rPr sz="1700" b="1" i="0">
                <a:solidFill>
                  <a:srgbClr val="000000"/>
                </a:solidFill>
                <a:latin typeface="Arial"/>
              </a:rPr>
              <a:t>AlexNet</a:t>
            </a:r>
          </a:p>
          <a:p>
            <a:pPr algn="l">
              <a:lnSpc>
                <a:spcPct val="92000"/>
              </a:lnSpc>
              <a:spcAft>
                <a:spcPts val="500"/>
              </a:spcAft>
            </a:pPr>
            <a:r>
              <a:rPr sz="1400" b="0" i="0">
                <a:solidFill>
                  <a:srgbClr val="444444"/>
                </a:solidFill>
                <a:latin typeface="Arial"/>
              </a:rPr>
              <a:t>A deep network wins ImageNet by a huge margin. GPUs + big data start working.</a:t>
            </a:r>
          </a:p>
        </p:txBody>
      </p:sp>
      <p:sp>
        <p:nvSpPr>
          <p:cNvPr id="9" name="Oval 8" descr="Timeline marker"/>
          <p:cNvSpPr/>
          <p:nvPr/>
        </p:nvSpPr>
        <p:spPr>
          <a:xfrm>
            <a:off x="4024013" y="4937759"/>
            <a:ext cx="274320" cy="274320"/>
          </a:xfrm>
          <a:prstGeom prst="ellipse">
            <a:avLst/>
          </a:prstGeom>
          <a:solidFill>
            <a:srgbClr val="007AC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4161173" y="5221224"/>
            <a:ext cx="0" cy="356616"/>
          </a:xfrm>
          <a:prstGeom prst="line">
            <a:avLst/>
          </a:prstGeom>
          <a:ln w="25400">
            <a:solidFill>
              <a:srgbClr val="007ACC"/>
            </a:solidFill>
          </a:ln>
        </p:spPr>
        <p:style>
          <a:lnRef idx="2">
            <a:schemeClr val="accent1"/>
          </a:lnRef>
          <a:fillRef idx="0">
            <a:schemeClr val="accent1"/>
          </a:fillRef>
          <a:effectRef idx="1">
            <a:schemeClr val="accent1"/>
          </a:effectRef>
          <a:fontRef idx="minor">
            <a:schemeClr val="tx1"/>
          </a:fontRef>
        </p:style>
      </p:cxnSp>
      <p:sp>
        <p:nvSpPr>
          <p:cNvPr id="11" name="tl1" descr="Decorative panel"/>
          <p:cNvSpPr/>
          <p:nvPr/>
        </p:nvSpPr>
        <p:spPr>
          <a:xfrm>
            <a:off x="3100874" y="5577840"/>
            <a:ext cx="2120598" cy="2788920"/>
          </a:xfrm>
          <a:prstGeom prst="roundRect">
            <a:avLst>
              <a:gd name="adj" fmla="val 7000"/>
            </a:avLst>
          </a:prstGeom>
          <a:solidFill>
            <a:srgbClr val="F2F2F2"/>
          </a:solidFill>
          <a:ln w="22225">
            <a:solidFill>
              <a:srgbClr val="007A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219746" y="572414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007ACC"/>
                </a:solidFill>
                <a:latin typeface="Arial"/>
              </a:rPr>
              <a:t>2016</a:t>
            </a:r>
          </a:p>
          <a:p>
            <a:pPr algn="l">
              <a:lnSpc>
                <a:spcPct val="92000"/>
              </a:lnSpc>
              <a:spcAft>
                <a:spcPts val="500"/>
              </a:spcAft>
            </a:pPr>
            <a:r>
              <a:rPr sz="1700" b="1" i="0">
                <a:solidFill>
                  <a:srgbClr val="000000"/>
                </a:solidFill>
                <a:latin typeface="Arial"/>
              </a:rPr>
              <a:t>AlphaGo</a:t>
            </a:r>
          </a:p>
          <a:p>
            <a:pPr algn="l">
              <a:lnSpc>
                <a:spcPct val="92000"/>
              </a:lnSpc>
              <a:spcAft>
                <a:spcPts val="500"/>
              </a:spcAft>
            </a:pPr>
            <a:r>
              <a:rPr sz="1400" b="0" i="0">
                <a:solidFill>
                  <a:srgbClr val="444444"/>
                </a:solidFill>
                <a:latin typeface="Arial"/>
              </a:rPr>
              <a:t>DeepMind beats Lee Sedol at Go — learning and search, a decade earlier than expected.</a:t>
            </a:r>
          </a:p>
        </p:txBody>
      </p:sp>
      <p:sp>
        <p:nvSpPr>
          <p:cNvPr id="13" name="Oval 12" descr="Timeline marker"/>
          <p:cNvSpPr/>
          <p:nvPr/>
        </p:nvSpPr>
        <p:spPr>
          <a:xfrm>
            <a:off x="6279968" y="4937759"/>
            <a:ext cx="274320" cy="274320"/>
          </a:xfrm>
          <a:prstGeom prst="ellipse">
            <a:avLst/>
          </a:prstGeom>
          <a:solidFill>
            <a:srgbClr val="9900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6417128" y="4572000"/>
            <a:ext cx="0" cy="356616"/>
          </a:xfrm>
          <a:prstGeom prst="line">
            <a:avLst/>
          </a:prstGeom>
          <a:ln w="25400">
            <a:solidFill>
              <a:srgbClr val="99002B"/>
            </a:solidFill>
          </a:ln>
        </p:spPr>
        <p:style>
          <a:lnRef idx="2">
            <a:schemeClr val="accent1"/>
          </a:lnRef>
          <a:fillRef idx="0">
            <a:schemeClr val="accent1"/>
          </a:fillRef>
          <a:effectRef idx="1">
            <a:schemeClr val="accent1"/>
          </a:effectRef>
          <a:fontRef idx="minor">
            <a:schemeClr val="tx1"/>
          </a:fontRef>
        </p:style>
      </p:cxnSp>
      <p:sp>
        <p:nvSpPr>
          <p:cNvPr id="15" name="tl2" descr="Decorative panel"/>
          <p:cNvSpPr/>
          <p:nvPr/>
        </p:nvSpPr>
        <p:spPr>
          <a:xfrm>
            <a:off x="5356829" y="1783080"/>
            <a:ext cx="2120598" cy="2788920"/>
          </a:xfrm>
          <a:prstGeom prst="roundRect">
            <a:avLst>
              <a:gd name="adj" fmla="val 7000"/>
            </a:avLst>
          </a:prstGeom>
          <a:solidFill>
            <a:srgbClr val="F2F2F2"/>
          </a:solidFill>
          <a:ln w="22225">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475701" y="192938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99002B"/>
                </a:solidFill>
                <a:latin typeface="Arial"/>
              </a:rPr>
              <a:t>2017</a:t>
            </a:r>
          </a:p>
          <a:p>
            <a:pPr algn="l">
              <a:lnSpc>
                <a:spcPct val="92000"/>
              </a:lnSpc>
              <a:spcAft>
                <a:spcPts val="500"/>
              </a:spcAft>
            </a:pPr>
            <a:r>
              <a:rPr sz="1700" b="1" i="0">
                <a:solidFill>
                  <a:srgbClr val="000000"/>
                </a:solidFill>
                <a:latin typeface="Arial"/>
              </a:rPr>
              <a:t>The transformer</a:t>
            </a:r>
          </a:p>
          <a:p>
            <a:pPr algn="l">
              <a:lnSpc>
                <a:spcPct val="92000"/>
              </a:lnSpc>
              <a:spcAft>
                <a:spcPts val="500"/>
              </a:spcAft>
            </a:pPr>
            <a:r>
              <a:rPr sz="1400" b="0" i="0">
                <a:solidFill>
                  <a:srgbClr val="444444"/>
                </a:solidFill>
                <a:latin typeface="Arial"/>
              </a:rPr>
              <a:t>“Attention is all you need.” Training becomes parallelisable, so models can scale.</a:t>
            </a:r>
          </a:p>
        </p:txBody>
      </p:sp>
      <p:sp>
        <p:nvSpPr>
          <p:cNvPr id="17" name="Oval 16" descr="Timeline marker"/>
          <p:cNvSpPr/>
          <p:nvPr/>
        </p:nvSpPr>
        <p:spPr>
          <a:xfrm>
            <a:off x="8535923" y="4937759"/>
            <a:ext cx="274320" cy="274320"/>
          </a:xfrm>
          <a:prstGeom prst="ellipse">
            <a:avLst/>
          </a:prstGeom>
          <a:solidFill>
            <a:srgbClr val="00006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8673083" y="5221224"/>
            <a:ext cx="0" cy="356616"/>
          </a:xfrm>
          <a:prstGeom prst="line">
            <a:avLst/>
          </a:prstGeom>
          <a:ln w="25400">
            <a:solidFill>
              <a:srgbClr val="000064"/>
            </a:solidFill>
          </a:ln>
        </p:spPr>
        <p:style>
          <a:lnRef idx="2">
            <a:schemeClr val="accent1"/>
          </a:lnRef>
          <a:fillRef idx="0">
            <a:schemeClr val="accent1"/>
          </a:fillRef>
          <a:effectRef idx="1">
            <a:schemeClr val="accent1"/>
          </a:effectRef>
          <a:fontRef idx="minor">
            <a:schemeClr val="tx1"/>
          </a:fontRef>
        </p:style>
      </p:cxnSp>
      <p:sp>
        <p:nvSpPr>
          <p:cNvPr id="19" name="tl3" descr="Decorative panel"/>
          <p:cNvSpPr/>
          <p:nvPr/>
        </p:nvSpPr>
        <p:spPr>
          <a:xfrm>
            <a:off x="7612784" y="5577840"/>
            <a:ext cx="2120598" cy="2788920"/>
          </a:xfrm>
          <a:prstGeom prst="roundRect">
            <a:avLst>
              <a:gd name="adj" fmla="val 7000"/>
            </a:avLst>
          </a:prstGeom>
          <a:solidFill>
            <a:srgbClr val="F2F2F2"/>
          </a:solidFill>
          <a:ln w="22225">
            <a:solidFill>
              <a:srgbClr val="0000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31656" y="572414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000064"/>
                </a:solidFill>
                <a:latin typeface="Arial"/>
              </a:rPr>
              <a:t>2020</a:t>
            </a:r>
          </a:p>
          <a:p>
            <a:pPr algn="l">
              <a:lnSpc>
                <a:spcPct val="92000"/>
              </a:lnSpc>
              <a:spcAft>
                <a:spcPts val="500"/>
              </a:spcAft>
            </a:pPr>
            <a:r>
              <a:rPr sz="1700" b="1" i="0">
                <a:solidFill>
                  <a:srgbClr val="000000"/>
                </a:solidFill>
                <a:latin typeface="Arial"/>
              </a:rPr>
              <a:t>Scaling works</a:t>
            </a:r>
          </a:p>
          <a:p>
            <a:pPr algn="l">
              <a:lnSpc>
                <a:spcPct val="92000"/>
              </a:lnSpc>
              <a:spcAft>
                <a:spcPts val="500"/>
              </a:spcAft>
            </a:pPr>
            <a:r>
              <a:rPr sz="1400" b="0" i="0">
                <a:solidFill>
                  <a:srgbClr val="444444"/>
                </a:solidFill>
                <a:latin typeface="Arial"/>
              </a:rPr>
              <a:t>GPT-3 shows that bigger models plus more data keep getting better without new tricks.</a:t>
            </a:r>
          </a:p>
        </p:txBody>
      </p:sp>
      <p:sp>
        <p:nvSpPr>
          <p:cNvPr id="21" name="Oval 20" descr="Timeline marker"/>
          <p:cNvSpPr/>
          <p:nvPr/>
        </p:nvSpPr>
        <p:spPr>
          <a:xfrm>
            <a:off x="10791879" y="4937759"/>
            <a:ext cx="274320" cy="274320"/>
          </a:xfrm>
          <a:prstGeom prst="ellipse">
            <a:avLst/>
          </a:prstGeom>
          <a:solidFill>
            <a:srgbClr val="9900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10929039" y="4572000"/>
            <a:ext cx="0" cy="356616"/>
          </a:xfrm>
          <a:prstGeom prst="line">
            <a:avLst/>
          </a:prstGeom>
          <a:ln w="25400">
            <a:solidFill>
              <a:srgbClr val="99002B"/>
            </a:solidFill>
          </a:ln>
        </p:spPr>
        <p:style>
          <a:lnRef idx="2">
            <a:schemeClr val="accent1"/>
          </a:lnRef>
          <a:fillRef idx="0">
            <a:schemeClr val="accent1"/>
          </a:fillRef>
          <a:effectRef idx="1">
            <a:schemeClr val="accent1"/>
          </a:effectRef>
          <a:fontRef idx="minor">
            <a:schemeClr val="tx1"/>
          </a:fontRef>
        </p:style>
      </p:cxnSp>
      <p:sp>
        <p:nvSpPr>
          <p:cNvPr id="23" name="tl4" descr="Decorative panel"/>
          <p:cNvSpPr/>
          <p:nvPr/>
        </p:nvSpPr>
        <p:spPr>
          <a:xfrm>
            <a:off x="9868740" y="1783080"/>
            <a:ext cx="2120598" cy="2788920"/>
          </a:xfrm>
          <a:prstGeom prst="roundRect">
            <a:avLst>
              <a:gd name="adj" fmla="val 7000"/>
            </a:avLst>
          </a:prstGeom>
          <a:solidFill>
            <a:srgbClr val="F2F2F2"/>
          </a:solidFill>
          <a:ln w="22225">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987612" y="192938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99002B"/>
                </a:solidFill>
                <a:latin typeface="Arial"/>
              </a:rPr>
              <a:t>2022</a:t>
            </a:r>
          </a:p>
          <a:p>
            <a:pPr algn="l">
              <a:lnSpc>
                <a:spcPct val="92000"/>
              </a:lnSpc>
              <a:spcAft>
                <a:spcPts val="500"/>
              </a:spcAft>
            </a:pPr>
            <a:r>
              <a:rPr sz="1700" b="1" i="0">
                <a:solidFill>
                  <a:srgbClr val="000000"/>
                </a:solidFill>
                <a:latin typeface="Arial"/>
              </a:rPr>
              <a:t>ChatGPT</a:t>
            </a:r>
          </a:p>
          <a:p>
            <a:pPr algn="l">
              <a:lnSpc>
                <a:spcPct val="92000"/>
              </a:lnSpc>
              <a:spcAft>
                <a:spcPts val="500"/>
              </a:spcAft>
            </a:pPr>
            <a:r>
              <a:rPr sz="1400" b="0" i="0">
                <a:solidFill>
                  <a:srgbClr val="444444"/>
                </a:solidFill>
                <a:latin typeface="Arial"/>
              </a:rPr>
              <a:t>AI becomes a consumer product. Fastest-adopted software in history.</a:t>
            </a:r>
          </a:p>
        </p:txBody>
      </p:sp>
      <p:sp>
        <p:nvSpPr>
          <p:cNvPr id="25" name="Oval 24" descr="Timeline marker"/>
          <p:cNvSpPr/>
          <p:nvPr/>
        </p:nvSpPr>
        <p:spPr>
          <a:xfrm>
            <a:off x="13047834" y="4937759"/>
            <a:ext cx="274320" cy="274320"/>
          </a:xfrm>
          <a:prstGeom prst="ellipse">
            <a:avLst/>
          </a:prstGeom>
          <a:solidFill>
            <a:srgbClr val="FF810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13184994" y="5221224"/>
            <a:ext cx="0" cy="356616"/>
          </a:xfrm>
          <a:prstGeom prst="line">
            <a:avLst/>
          </a:prstGeom>
          <a:ln w="25400">
            <a:solidFill>
              <a:srgbClr val="FF8100"/>
            </a:solidFill>
          </a:ln>
        </p:spPr>
        <p:style>
          <a:lnRef idx="2">
            <a:schemeClr val="accent1"/>
          </a:lnRef>
          <a:fillRef idx="0">
            <a:schemeClr val="accent1"/>
          </a:fillRef>
          <a:effectRef idx="1">
            <a:schemeClr val="accent1"/>
          </a:effectRef>
          <a:fontRef idx="minor">
            <a:schemeClr val="tx1"/>
          </a:fontRef>
        </p:style>
      </p:cxnSp>
      <p:sp>
        <p:nvSpPr>
          <p:cNvPr id="27" name="tl5" descr="Decorative panel"/>
          <p:cNvSpPr/>
          <p:nvPr/>
        </p:nvSpPr>
        <p:spPr>
          <a:xfrm>
            <a:off x="12124695" y="5577840"/>
            <a:ext cx="2120598" cy="2788920"/>
          </a:xfrm>
          <a:prstGeom prst="roundRect">
            <a:avLst>
              <a:gd name="adj" fmla="val 7000"/>
            </a:avLst>
          </a:prstGeom>
          <a:solidFill>
            <a:srgbClr val="F2F2F2"/>
          </a:solidFill>
          <a:ln w="22225">
            <a:solidFill>
              <a:srgbClr val="FF81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2243567" y="572414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FF8100"/>
                </a:solidFill>
                <a:latin typeface="Arial"/>
              </a:rPr>
              <a:t>2024</a:t>
            </a:r>
          </a:p>
          <a:p>
            <a:pPr algn="l">
              <a:lnSpc>
                <a:spcPct val="92000"/>
              </a:lnSpc>
              <a:spcAft>
                <a:spcPts val="500"/>
              </a:spcAft>
            </a:pPr>
            <a:r>
              <a:rPr sz="1700" b="1" i="0">
                <a:solidFill>
                  <a:srgbClr val="000000"/>
                </a:solidFill>
                <a:latin typeface="Arial"/>
              </a:rPr>
              <a:t>Multimodal</a:t>
            </a:r>
          </a:p>
          <a:p>
            <a:pPr algn="l">
              <a:lnSpc>
                <a:spcPct val="92000"/>
              </a:lnSpc>
              <a:spcAft>
                <a:spcPts val="500"/>
              </a:spcAft>
            </a:pPr>
            <a:r>
              <a:rPr sz="1400" b="0" i="0">
                <a:solidFill>
                  <a:srgbClr val="444444"/>
                </a:solidFill>
                <a:latin typeface="Arial"/>
              </a:rPr>
              <a:t>One model handles text, images, audio and video; AlphaFold wins a Nobel Prize.</a:t>
            </a:r>
          </a:p>
        </p:txBody>
      </p:sp>
      <p:sp>
        <p:nvSpPr>
          <p:cNvPr id="29" name="Oval 28" descr="Timeline marker"/>
          <p:cNvSpPr/>
          <p:nvPr/>
        </p:nvSpPr>
        <p:spPr>
          <a:xfrm>
            <a:off x="15303790" y="4937759"/>
            <a:ext cx="274320" cy="274320"/>
          </a:xfrm>
          <a:prstGeom prst="ellipse">
            <a:avLst/>
          </a:prstGeom>
          <a:solidFill>
            <a:srgbClr val="007AC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5440950" y="4572000"/>
            <a:ext cx="0" cy="356616"/>
          </a:xfrm>
          <a:prstGeom prst="line">
            <a:avLst/>
          </a:prstGeom>
          <a:ln w="25400">
            <a:solidFill>
              <a:srgbClr val="007ACC"/>
            </a:solidFill>
          </a:ln>
        </p:spPr>
        <p:style>
          <a:lnRef idx="2">
            <a:schemeClr val="accent1"/>
          </a:lnRef>
          <a:fillRef idx="0">
            <a:schemeClr val="accent1"/>
          </a:fillRef>
          <a:effectRef idx="1">
            <a:schemeClr val="accent1"/>
          </a:effectRef>
          <a:fontRef idx="minor">
            <a:schemeClr val="tx1"/>
          </a:fontRef>
        </p:style>
      </p:cxnSp>
      <p:sp>
        <p:nvSpPr>
          <p:cNvPr id="31" name="tl6" descr="Decorative panel"/>
          <p:cNvSpPr/>
          <p:nvPr/>
        </p:nvSpPr>
        <p:spPr>
          <a:xfrm>
            <a:off x="14380651" y="1783080"/>
            <a:ext cx="2120598" cy="2788920"/>
          </a:xfrm>
          <a:prstGeom prst="roundRect">
            <a:avLst>
              <a:gd name="adj" fmla="val 7000"/>
            </a:avLst>
          </a:prstGeom>
          <a:solidFill>
            <a:srgbClr val="F2F2F2"/>
          </a:solidFill>
          <a:ln w="22225">
            <a:solidFill>
              <a:srgbClr val="007A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4499523" y="1929384"/>
            <a:ext cx="1882854" cy="2514600"/>
          </a:xfrm>
          <a:prstGeom prst="rect">
            <a:avLst/>
          </a:prstGeom>
          <a:noFill/>
        </p:spPr>
        <p:txBody>
          <a:bodyPr wrap="square" lIns="45720" tIns="0" rIns="45720" bIns="0" anchor="t">
            <a:spAutoFit/>
          </a:bodyPr>
          <a:lstStyle/>
          <a:p>
            <a:pPr algn="l">
              <a:lnSpc>
                <a:spcPct val="92000"/>
              </a:lnSpc>
              <a:spcAft>
                <a:spcPts val="500"/>
              </a:spcAft>
            </a:pPr>
            <a:r>
              <a:rPr sz="2600" b="1" i="0">
                <a:solidFill>
                  <a:srgbClr val="007ACC"/>
                </a:solidFill>
                <a:latin typeface="Arial"/>
              </a:rPr>
              <a:t>2025–26</a:t>
            </a:r>
          </a:p>
          <a:p>
            <a:pPr algn="l">
              <a:lnSpc>
                <a:spcPct val="92000"/>
              </a:lnSpc>
              <a:spcAft>
                <a:spcPts val="500"/>
              </a:spcAft>
            </a:pPr>
            <a:r>
              <a:rPr sz="1700" b="1" i="0">
                <a:solidFill>
                  <a:srgbClr val="000000"/>
                </a:solidFill>
                <a:latin typeface="Arial"/>
              </a:rPr>
              <a:t>Reasoning &amp; agents</a:t>
            </a:r>
          </a:p>
          <a:p>
            <a:pPr algn="l">
              <a:lnSpc>
                <a:spcPct val="92000"/>
              </a:lnSpc>
              <a:spcAft>
                <a:spcPts val="500"/>
              </a:spcAft>
            </a:pPr>
            <a:r>
              <a:rPr sz="1400" b="0" i="0">
                <a:solidFill>
                  <a:srgbClr val="444444"/>
                </a:solidFill>
                <a:latin typeface="Arial"/>
              </a:rPr>
              <a:t>Models that spend compute on thinking, and that call tools to act, not just answer.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800" b="1" i="0">
                <a:solidFill>
                  <a:srgbClr val="000000"/>
                </a:solidFill>
                <a:latin typeface="Arial"/>
              </a:rPr>
              <a:t>Why now? Four things had to arrive together</a:t>
            </a:r>
          </a:p>
        </p:txBody>
      </p:sp>
      <p:sp>
        <p:nvSpPr>
          <p:cNvPr id="4" name="pil0" descr="Decorative panel"/>
          <p:cNvSpPr/>
          <p:nvPr/>
        </p:nvSpPr>
        <p:spPr>
          <a:xfrm>
            <a:off x="777240" y="2240280"/>
            <a:ext cx="3794760" cy="4663440"/>
          </a:xfrm>
          <a:prstGeom prst="roundRect">
            <a:avLst>
              <a:gd name="adj" fmla="val 4000"/>
            </a:avLst>
          </a:prstGeom>
          <a:solidFill>
            <a:srgbClr val="FFFFFF"/>
          </a:solidFill>
          <a:ln w="22225">
            <a:solidFill>
              <a:srgbClr val="007A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ilh0" descr="Decorative panel"/>
          <p:cNvSpPr/>
          <p:nvPr/>
        </p:nvSpPr>
        <p:spPr>
          <a:xfrm>
            <a:off x="777240" y="2240280"/>
            <a:ext cx="3794760" cy="841248"/>
          </a:xfrm>
          <a:prstGeom prst="roundRect">
            <a:avLst>
              <a:gd name="adj" fmla="val 4000"/>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2240280"/>
            <a:ext cx="37947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DATA</a:t>
            </a:r>
          </a:p>
        </p:txBody>
      </p:sp>
      <p:sp>
        <p:nvSpPr>
          <p:cNvPr id="7" name="TextBox 6"/>
          <p:cNvSpPr txBox="1"/>
          <p:nvPr/>
        </p:nvSpPr>
        <p:spPr>
          <a:xfrm>
            <a:off x="1033271" y="3246120"/>
            <a:ext cx="3291840" cy="1737360"/>
          </a:xfrm>
          <a:prstGeom prst="rect">
            <a:avLst/>
          </a:prstGeom>
          <a:noFill/>
        </p:spPr>
        <p:txBody>
          <a:bodyPr wrap="square" lIns="45720" tIns="0" rIns="45720" bIns="0" anchor="t">
            <a:spAutoFit/>
          </a:bodyPr>
          <a:lstStyle/>
          <a:p>
            <a:pPr algn="l">
              <a:lnSpc>
                <a:spcPct val="102000"/>
              </a:lnSpc>
              <a:spcAft>
                <a:spcPts val="600"/>
              </a:spcAft>
            </a:pPr>
            <a:r>
              <a:rPr sz="1600" b="0" i="0">
                <a:solidFill>
                  <a:srgbClr val="000000"/>
                </a:solidFill>
                <a:latin typeface="Arial"/>
              </a:rPr>
              <a:t>The internet, smartphones and sensors produced training data at a scale nobody had in 1990.</a:t>
            </a:r>
          </a:p>
        </p:txBody>
      </p:sp>
      <p:sp>
        <p:nvSpPr>
          <p:cNvPr id="8" name="TextBox 7"/>
          <p:cNvSpPr txBox="1"/>
          <p:nvPr/>
        </p:nvSpPr>
        <p:spPr>
          <a:xfrm>
            <a:off x="1033271" y="5029200"/>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7ACC"/>
                </a:solidFill>
                <a:latin typeface="Arial"/>
              </a:rPr>
              <a:t>▪  Digitised text, images, video</a:t>
            </a:r>
          </a:p>
        </p:txBody>
      </p:sp>
      <p:sp>
        <p:nvSpPr>
          <p:cNvPr id="9" name="TextBox 8"/>
          <p:cNvSpPr txBox="1"/>
          <p:nvPr/>
        </p:nvSpPr>
        <p:spPr>
          <a:xfrm>
            <a:off x="1033271" y="5596128"/>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7ACC"/>
                </a:solidFill>
                <a:latin typeface="Arial"/>
              </a:rPr>
              <a:t>▪  Labelled datasets (ImageNet)</a:t>
            </a:r>
          </a:p>
        </p:txBody>
      </p:sp>
      <p:sp>
        <p:nvSpPr>
          <p:cNvPr id="10" name="TextBox 9"/>
          <p:cNvSpPr txBox="1"/>
          <p:nvPr/>
        </p:nvSpPr>
        <p:spPr>
          <a:xfrm>
            <a:off x="1033271" y="6163056"/>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7ACC"/>
                </a:solidFill>
                <a:latin typeface="Arial"/>
              </a:rPr>
              <a:t>▪  Logs from billions of users</a:t>
            </a:r>
          </a:p>
        </p:txBody>
      </p:sp>
      <p:sp>
        <p:nvSpPr>
          <p:cNvPr id="11" name="pil1" descr="Decorative panel"/>
          <p:cNvSpPr/>
          <p:nvPr/>
        </p:nvSpPr>
        <p:spPr>
          <a:xfrm>
            <a:off x="4919472" y="2240280"/>
            <a:ext cx="3794760" cy="4663440"/>
          </a:xfrm>
          <a:prstGeom prst="roundRect">
            <a:avLst>
              <a:gd name="adj" fmla="val 4000"/>
            </a:avLst>
          </a:prstGeom>
          <a:solidFill>
            <a:srgbClr val="FFFFFF"/>
          </a:solidFill>
          <a:ln w="22225">
            <a:solidFill>
              <a:srgbClr val="FF81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pilh1" descr="Decorative panel"/>
          <p:cNvSpPr/>
          <p:nvPr/>
        </p:nvSpPr>
        <p:spPr>
          <a:xfrm>
            <a:off x="4919472" y="2240280"/>
            <a:ext cx="3794760" cy="841248"/>
          </a:xfrm>
          <a:prstGeom prst="roundRect">
            <a:avLst>
              <a:gd name="adj" fmla="val 4000"/>
            </a:avLst>
          </a:prstGeom>
          <a:solidFill>
            <a:srgbClr val="FF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919472" y="2240280"/>
            <a:ext cx="37947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COMPUTE</a:t>
            </a:r>
          </a:p>
        </p:txBody>
      </p:sp>
      <p:sp>
        <p:nvSpPr>
          <p:cNvPr id="14" name="TextBox 13"/>
          <p:cNvSpPr txBox="1"/>
          <p:nvPr/>
        </p:nvSpPr>
        <p:spPr>
          <a:xfrm>
            <a:off x="5175504" y="3246120"/>
            <a:ext cx="3291840" cy="1737360"/>
          </a:xfrm>
          <a:prstGeom prst="rect">
            <a:avLst/>
          </a:prstGeom>
          <a:noFill/>
        </p:spPr>
        <p:txBody>
          <a:bodyPr wrap="square" lIns="45720" tIns="0" rIns="45720" bIns="0" anchor="t">
            <a:spAutoFit/>
          </a:bodyPr>
          <a:lstStyle/>
          <a:p>
            <a:pPr algn="l">
              <a:lnSpc>
                <a:spcPct val="102000"/>
              </a:lnSpc>
              <a:spcAft>
                <a:spcPts val="600"/>
              </a:spcAft>
            </a:pPr>
            <a:r>
              <a:rPr sz="1600" b="0" i="0">
                <a:solidFill>
                  <a:srgbClr val="000000"/>
                </a:solidFill>
                <a:latin typeface="Arial"/>
              </a:rPr>
              <a:t>GPUs turned out to be ideal for the maths neural networks need — and got vastly cheaper per operation.</a:t>
            </a:r>
          </a:p>
        </p:txBody>
      </p:sp>
      <p:sp>
        <p:nvSpPr>
          <p:cNvPr id="15" name="TextBox 14"/>
          <p:cNvSpPr txBox="1"/>
          <p:nvPr/>
        </p:nvSpPr>
        <p:spPr>
          <a:xfrm>
            <a:off x="5175504" y="5029200"/>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FF8100"/>
                </a:solidFill>
                <a:latin typeface="Arial"/>
              </a:rPr>
              <a:t>▪  GPUs and TPUs</a:t>
            </a:r>
          </a:p>
        </p:txBody>
      </p:sp>
      <p:sp>
        <p:nvSpPr>
          <p:cNvPr id="16" name="TextBox 15"/>
          <p:cNvSpPr txBox="1"/>
          <p:nvPr/>
        </p:nvSpPr>
        <p:spPr>
          <a:xfrm>
            <a:off x="5175504" y="5596128"/>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FF8100"/>
                </a:solidFill>
                <a:latin typeface="Arial"/>
              </a:rPr>
              <a:t>▪  Cloud: rent 1000 machines for an hour</a:t>
            </a:r>
          </a:p>
        </p:txBody>
      </p:sp>
      <p:sp>
        <p:nvSpPr>
          <p:cNvPr id="17" name="TextBox 16"/>
          <p:cNvSpPr txBox="1"/>
          <p:nvPr/>
        </p:nvSpPr>
        <p:spPr>
          <a:xfrm>
            <a:off x="5175504" y="6163056"/>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FF8100"/>
                </a:solidFill>
                <a:latin typeface="Arial"/>
              </a:rPr>
              <a:t>▪  Training runs no lab could afford in 1990</a:t>
            </a:r>
          </a:p>
        </p:txBody>
      </p:sp>
      <p:sp>
        <p:nvSpPr>
          <p:cNvPr id="18" name="pil2" descr="Decorative panel"/>
          <p:cNvSpPr/>
          <p:nvPr/>
        </p:nvSpPr>
        <p:spPr>
          <a:xfrm>
            <a:off x="9061704" y="2240280"/>
            <a:ext cx="3794760" cy="4663440"/>
          </a:xfrm>
          <a:prstGeom prst="roundRect">
            <a:avLst>
              <a:gd name="adj" fmla="val 4000"/>
            </a:avLst>
          </a:prstGeom>
          <a:solidFill>
            <a:srgbClr val="FFFFFF"/>
          </a:solidFill>
          <a:ln w="22225">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pilh2" descr="Decorative panel"/>
          <p:cNvSpPr/>
          <p:nvPr/>
        </p:nvSpPr>
        <p:spPr>
          <a:xfrm>
            <a:off x="9061704" y="2240280"/>
            <a:ext cx="3794760" cy="841248"/>
          </a:xfrm>
          <a:prstGeom prst="roundRect">
            <a:avLst>
              <a:gd name="adj" fmla="val 4000"/>
            </a:avLst>
          </a:prstGeom>
          <a:solidFill>
            <a:srgbClr val="99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061704" y="2240280"/>
            <a:ext cx="37947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ALGORITHMS</a:t>
            </a:r>
          </a:p>
        </p:txBody>
      </p:sp>
      <p:sp>
        <p:nvSpPr>
          <p:cNvPr id="21" name="TextBox 20"/>
          <p:cNvSpPr txBox="1"/>
          <p:nvPr/>
        </p:nvSpPr>
        <p:spPr>
          <a:xfrm>
            <a:off x="9317736" y="3246120"/>
            <a:ext cx="3291840" cy="1737360"/>
          </a:xfrm>
          <a:prstGeom prst="rect">
            <a:avLst/>
          </a:prstGeom>
          <a:noFill/>
        </p:spPr>
        <p:txBody>
          <a:bodyPr wrap="square" lIns="45720" tIns="0" rIns="45720" bIns="0" anchor="t">
            <a:spAutoFit/>
          </a:bodyPr>
          <a:lstStyle/>
          <a:p>
            <a:pPr algn="l">
              <a:lnSpc>
                <a:spcPct val="102000"/>
              </a:lnSpc>
              <a:spcAft>
                <a:spcPts val="600"/>
              </a:spcAft>
            </a:pPr>
            <a:r>
              <a:rPr sz="1600" b="0" i="0">
                <a:solidFill>
                  <a:srgbClr val="000000"/>
                </a:solidFill>
                <a:latin typeface="Arial"/>
              </a:rPr>
              <a:t>The transformer (2017) let models absorb all that data efficiently, and scaling laws made progress predictable.</a:t>
            </a:r>
          </a:p>
        </p:txBody>
      </p:sp>
      <p:sp>
        <p:nvSpPr>
          <p:cNvPr id="22" name="TextBox 21"/>
          <p:cNvSpPr txBox="1"/>
          <p:nvPr/>
        </p:nvSpPr>
        <p:spPr>
          <a:xfrm>
            <a:off x="9317736" y="5029200"/>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99002B"/>
                </a:solidFill>
                <a:latin typeface="Arial"/>
              </a:rPr>
              <a:t>▪  Backpropagation at depth</a:t>
            </a:r>
          </a:p>
        </p:txBody>
      </p:sp>
      <p:sp>
        <p:nvSpPr>
          <p:cNvPr id="23" name="TextBox 22"/>
          <p:cNvSpPr txBox="1"/>
          <p:nvPr/>
        </p:nvSpPr>
        <p:spPr>
          <a:xfrm>
            <a:off x="9317736" y="5596128"/>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99002B"/>
                </a:solidFill>
                <a:latin typeface="Arial"/>
              </a:rPr>
              <a:t>▪  Transformers and attention</a:t>
            </a:r>
          </a:p>
        </p:txBody>
      </p:sp>
      <p:sp>
        <p:nvSpPr>
          <p:cNvPr id="24" name="TextBox 23"/>
          <p:cNvSpPr txBox="1"/>
          <p:nvPr/>
        </p:nvSpPr>
        <p:spPr>
          <a:xfrm>
            <a:off x="9317736" y="6163056"/>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99002B"/>
                </a:solidFill>
                <a:latin typeface="Arial"/>
              </a:rPr>
              <a:t>▪  Pre-train once, adapt cheaply</a:t>
            </a:r>
          </a:p>
        </p:txBody>
      </p:sp>
      <p:sp>
        <p:nvSpPr>
          <p:cNvPr id="25" name="pil3" descr="Decorative panel"/>
          <p:cNvSpPr/>
          <p:nvPr/>
        </p:nvSpPr>
        <p:spPr>
          <a:xfrm>
            <a:off x="13203936" y="2240280"/>
            <a:ext cx="3794760" cy="4663440"/>
          </a:xfrm>
          <a:prstGeom prst="roundRect">
            <a:avLst>
              <a:gd name="adj" fmla="val 4000"/>
            </a:avLst>
          </a:prstGeom>
          <a:solidFill>
            <a:srgbClr val="FFFFFF"/>
          </a:solidFill>
          <a:ln w="22225">
            <a:solidFill>
              <a:srgbClr val="0000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pilh3" descr="Decorative panel"/>
          <p:cNvSpPr/>
          <p:nvPr/>
        </p:nvSpPr>
        <p:spPr>
          <a:xfrm>
            <a:off x="13203936" y="2240280"/>
            <a:ext cx="3794760" cy="841248"/>
          </a:xfrm>
          <a:prstGeom prst="roundRect">
            <a:avLst>
              <a:gd name="adj" fmla="val 4000"/>
            </a:avLst>
          </a:prstGeom>
          <a:solidFill>
            <a:srgbClr val="000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203936" y="2240280"/>
            <a:ext cx="37947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ACCESS</a:t>
            </a:r>
          </a:p>
        </p:txBody>
      </p:sp>
      <p:sp>
        <p:nvSpPr>
          <p:cNvPr id="28" name="TextBox 27"/>
          <p:cNvSpPr txBox="1"/>
          <p:nvPr/>
        </p:nvSpPr>
        <p:spPr>
          <a:xfrm>
            <a:off x="13459967" y="3246120"/>
            <a:ext cx="3291840" cy="1737360"/>
          </a:xfrm>
          <a:prstGeom prst="rect">
            <a:avLst/>
          </a:prstGeom>
          <a:noFill/>
        </p:spPr>
        <p:txBody>
          <a:bodyPr wrap="square" lIns="45720" tIns="0" rIns="45720" bIns="0" anchor="t">
            <a:spAutoFit/>
          </a:bodyPr>
          <a:lstStyle/>
          <a:p>
            <a:pPr algn="l">
              <a:lnSpc>
                <a:spcPct val="102000"/>
              </a:lnSpc>
              <a:spcAft>
                <a:spcPts val="600"/>
              </a:spcAft>
            </a:pPr>
            <a:r>
              <a:rPr sz="1600" b="0" i="0">
                <a:solidFill>
                  <a:srgbClr val="000000"/>
                </a:solidFill>
                <a:latin typeface="Arial"/>
              </a:rPr>
              <a:t>You no longer need a PhD or a cluster. That is why adoption outran every previous wave.</a:t>
            </a:r>
          </a:p>
        </p:txBody>
      </p:sp>
      <p:sp>
        <p:nvSpPr>
          <p:cNvPr id="29" name="TextBox 28"/>
          <p:cNvSpPr txBox="1"/>
          <p:nvPr/>
        </p:nvSpPr>
        <p:spPr>
          <a:xfrm>
            <a:off x="13459967" y="5029200"/>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0064"/>
                </a:solidFill>
                <a:latin typeface="Arial"/>
              </a:rPr>
              <a:t>▪  Open libraries and open weights</a:t>
            </a:r>
          </a:p>
        </p:txBody>
      </p:sp>
      <p:sp>
        <p:nvSpPr>
          <p:cNvPr id="30" name="TextBox 29"/>
          <p:cNvSpPr txBox="1"/>
          <p:nvPr/>
        </p:nvSpPr>
        <p:spPr>
          <a:xfrm>
            <a:off x="13459967" y="5596128"/>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0064"/>
                </a:solidFill>
                <a:latin typeface="Arial"/>
              </a:rPr>
              <a:t>▪  APIs: a few lines of code</a:t>
            </a:r>
          </a:p>
        </p:txBody>
      </p:sp>
      <p:sp>
        <p:nvSpPr>
          <p:cNvPr id="31" name="TextBox 30"/>
          <p:cNvSpPr txBox="1"/>
          <p:nvPr/>
        </p:nvSpPr>
        <p:spPr>
          <a:xfrm>
            <a:off x="13459967" y="6163056"/>
            <a:ext cx="3291840" cy="548640"/>
          </a:xfrm>
          <a:prstGeom prst="rect">
            <a:avLst/>
          </a:prstGeom>
          <a:noFill/>
        </p:spPr>
        <p:txBody>
          <a:bodyPr wrap="square" lIns="45720" tIns="0" rIns="45720" bIns="0" anchor="t">
            <a:spAutoFit/>
          </a:bodyPr>
          <a:lstStyle/>
          <a:p>
            <a:pPr algn="l">
              <a:lnSpc>
                <a:spcPct val="95000"/>
              </a:lnSpc>
              <a:spcAft>
                <a:spcPts val="600"/>
              </a:spcAft>
            </a:pPr>
            <a:r>
              <a:rPr sz="1500" b="1" i="0">
                <a:solidFill>
                  <a:srgbClr val="000064"/>
                </a:solidFill>
                <a:latin typeface="Arial"/>
              </a:rPr>
              <a:t>▪  Chat interfaces need no training</a:t>
            </a:r>
          </a:p>
        </p:txBody>
      </p:sp>
      <p:sp>
        <p:nvSpPr>
          <p:cNvPr id="32" name="result" descr="Decorative panel"/>
          <p:cNvSpPr/>
          <p:nvPr/>
        </p:nvSpPr>
        <p:spPr>
          <a:xfrm>
            <a:off x="777240" y="7269480"/>
            <a:ext cx="15773400" cy="1234440"/>
          </a:xfrm>
          <a:prstGeom prst="homePlat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51560" y="7498079"/>
            <a:ext cx="14081760" cy="914400"/>
          </a:xfrm>
          <a:prstGeom prst="rect">
            <a:avLst/>
          </a:prstGeom>
          <a:noFill/>
        </p:spPr>
        <p:txBody>
          <a:bodyPr wrap="square" lIns="45720" tIns="0" rIns="45720" bIns="0" anchor="t">
            <a:spAutoFit/>
          </a:bodyPr>
          <a:lstStyle/>
          <a:p>
            <a:pPr algn="l">
              <a:lnSpc>
                <a:spcPct val="100000"/>
              </a:lnSpc>
              <a:spcAft>
                <a:spcPts val="600"/>
              </a:spcAft>
            </a:pPr>
            <a:r>
              <a:rPr sz="2100" b="1" i="0">
                <a:solidFill>
                  <a:srgbClr val="000000"/>
                </a:solidFill>
                <a:latin typeface="Arial"/>
              </a:rPr>
              <a:t>→  Result: foundation models — trained once at enormous cost, then reused for thousands of tasks by everyone else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800" b="1" i="0">
                <a:solidFill>
                  <a:srgbClr val="000000"/>
                </a:solidFill>
                <a:latin typeface="Arial"/>
              </a:rPr>
              <a:t>What actually changed with generative AI</a:t>
            </a:r>
          </a:p>
        </p:txBody>
      </p:sp>
      <p:sp>
        <p:nvSpPr>
          <p:cNvPr id="4" name="era0" descr="Decorative panel"/>
          <p:cNvSpPr/>
          <p:nvPr/>
        </p:nvSpPr>
        <p:spPr>
          <a:xfrm>
            <a:off x="777240" y="2240280"/>
            <a:ext cx="7680960" cy="6446520"/>
          </a:xfrm>
          <a:prstGeom prst="roundRect">
            <a:avLst>
              <a:gd name="adj" fmla="val 3000"/>
            </a:avLst>
          </a:prstGeom>
          <a:solidFill>
            <a:srgbClr val="FFFFFF"/>
          </a:solidFill>
          <a:ln w="22225">
            <a:solidFill>
              <a:srgbClr val="007A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erah0" descr="Decorative panel"/>
          <p:cNvSpPr/>
          <p:nvPr/>
        </p:nvSpPr>
        <p:spPr>
          <a:xfrm>
            <a:off x="777240" y="2240280"/>
            <a:ext cx="7680960" cy="841248"/>
          </a:xfrm>
          <a:prstGeom prst="roundRect">
            <a:avLst>
              <a:gd name="adj" fmla="val 3000"/>
            </a:avLst>
          </a:prstGeom>
          <a:solidFill>
            <a:srgbClr val="007A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2240280"/>
            <a:ext cx="76809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Classic AI  (roughly pre-2022)</a:t>
            </a:r>
          </a:p>
        </p:txBody>
      </p:sp>
      <p:sp>
        <p:nvSpPr>
          <p:cNvPr id="7" name="TextBox 6"/>
          <p:cNvSpPr txBox="1"/>
          <p:nvPr/>
        </p:nvSpPr>
        <p:spPr>
          <a:xfrm>
            <a:off x="1097280" y="3291840"/>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007ACC"/>
                </a:solidFill>
                <a:latin typeface="Arial"/>
              </a:rPr>
              <a:t>One model, one task</a:t>
            </a:r>
          </a:p>
          <a:p>
            <a:pPr algn="l">
              <a:lnSpc>
                <a:spcPct val="95000"/>
              </a:lnSpc>
              <a:spcAft>
                <a:spcPts val="200"/>
              </a:spcAft>
            </a:pPr>
            <a:r>
              <a:rPr sz="1600" b="0" i="0">
                <a:solidFill>
                  <a:srgbClr val="444444"/>
                </a:solidFill>
                <a:latin typeface="Arial"/>
              </a:rPr>
              <a:t>A spam classifier classifies spam. That is all it does.</a:t>
            </a:r>
          </a:p>
        </p:txBody>
      </p:sp>
      <p:sp>
        <p:nvSpPr>
          <p:cNvPr id="8" name="TextBox 7"/>
          <p:cNvSpPr txBox="1"/>
          <p:nvPr/>
        </p:nvSpPr>
        <p:spPr>
          <a:xfrm>
            <a:off x="1097280" y="4352544"/>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007ACC"/>
                </a:solidFill>
                <a:latin typeface="Arial"/>
              </a:rPr>
              <a:t>You needed labelled data</a:t>
            </a:r>
          </a:p>
          <a:p>
            <a:pPr algn="l">
              <a:lnSpc>
                <a:spcPct val="95000"/>
              </a:lnSpc>
              <a:spcAft>
                <a:spcPts val="200"/>
              </a:spcAft>
            </a:pPr>
            <a:r>
              <a:rPr sz="1600" b="0" i="0">
                <a:solidFill>
                  <a:srgbClr val="444444"/>
                </a:solidFill>
                <a:latin typeface="Arial"/>
              </a:rPr>
              <a:t>Thousands of examples per task, hand-labelled.</a:t>
            </a:r>
          </a:p>
        </p:txBody>
      </p:sp>
      <p:sp>
        <p:nvSpPr>
          <p:cNvPr id="9" name="TextBox 8"/>
          <p:cNvSpPr txBox="1"/>
          <p:nvPr/>
        </p:nvSpPr>
        <p:spPr>
          <a:xfrm>
            <a:off x="1097280" y="5413248"/>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007ACC"/>
                </a:solidFill>
                <a:latin typeface="Arial"/>
              </a:rPr>
              <a:t>Built by specialists</a:t>
            </a:r>
          </a:p>
          <a:p>
            <a:pPr algn="l">
              <a:lnSpc>
                <a:spcPct val="95000"/>
              </a:lnSpc>
              <a:spcAft>
                <a:spcPts val="200"/>
              </a:spcAft>
            </a:pPr>
            <a:r>
              <a:rPr sz="1600" b="0" i="0">
                <a:solidFill>
                  <a:srgbClr val="444444"/>
                </a:solidFill>
                <a:latin typeface="Arial"/>
              </a:rPr>
              <a:t>A data science team, weeks of work per use case.</a:t>
            </a:r>
          </a:p>
        </p:txBody>
      </p:sp>
      <p:sp>
        <p:nvSpPr>
          <p:cNvPr id="10" name="TextBox 9"/>
          <p:cNvSpPr txBox="1"/>
          <p:nvPr/>
        </p:nvSpPr>
        <p:spPr>
          <a:xfrm>
            <a:off x="1097280" y="6473952"/>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007ACC"/>
                </a:solidFill>
                <a:latin typeface="Arial"/>
              </a:rPr>
              <a:t>Output: a number</a:t>
            </a:r>
          </a:p>
          <a:p>
            <a:pPr algn="l">
              <a:lnSpc>
                <a:spcPct val="95000"/>
              </a:lnSpc>
              <a:spcAft>
                <a:spcPts val="200"/>
              </a:spcAft>
            </a:pPr>
            <a:r>
              <a:rPr sz="1600" b="0" i="0">
                <a:solidFill>
                  <a:srgbClr val="444444"/>
                </a:solidFill>
                <a:latin typeface="Arial"/>
              </a:rPr>
              <a:t>A probability, a class, a score — consumed by other code.</a:t>
            </a:r>
          </a:p>
        </p:txBody>
      </p:sp>
      <p:sp>
        <p:nvSpPr>
          <p:cNvPr id="11" name="TextBox 10"/>
          <p:cNvSpPr txBox="1"/>
          <p:nvPr/>
        </p:nvSpPr>
        <p:spPr>
          <a:xfrm>
            <a:off x="1097280" y="7534656"/>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007ACC"/>
                </a:solidFill>
                <a:latin typeface="Arial"/>
              </a:rPr>
              <a:t>Predictable failure</a:t>
            </a:r>
          </a:p>
          <a:p>
            <a:pPr algn="l">
              <a:lnSpc>
                <a:spcPct val="95000"/>
              </a:lnSpc>
              <a:spcAft>
                <a:spcPts val="200"/>
              </a:spcAft>
            </a:pPr>
            <a:r>
              <a:rPr sz="1600" b="0" i="0">
                <a:solidFill>
                  <a:srgbClr val="444444"/>
                </a:solidFill>
                <a:latin typeface="Arial"/>
              </a:rPr>
              <a:t>Accuracy you could measure once and trust.</a:t>
            </a:r>
          </a:p>
        </p:txBody>
      </p:sp>
      <p:sp>
        <p:nvSpPr>
          <p:cNvPr id="12" name="era1" descr="Decorative panel"/>
          <p:cNvSpPr/>
          <p:nvPr/>
        </p:nvSpPr>
        <p:spPr>
          <a:xfrm>
            <a:off x="8778240" y="2240280"/>
            <a:ext cx="7680960" cy="6446520"/>
          </a:xfrm>
          <a:prstGeom prst="roundRect">
            <a:avLst>
              <a:gd name="adj" fmla="val 3000"/>
            </a:avLst>
          </a:prstGeom>
          <a:solidFill>
            <a:srgbClr val="FFFFFF"/>
          </a:solidFill>
          <a:ln w="22225">
            <a:solidFill>
              <a:srgbClr val="9900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erah1" descr="Decorative panel"/>
          <p:cNvSpPr/>
          <p:nvPr/>
        </p:nvSpPr>
        <p:spPr>
          <a:xfrm>
            <a:off x="8778240" y="2240280"/>
            <a:ext cx="7680960" cy="841248"/>
          </a:xfrm>
          <a:prstGeom prst="roundRect">
            <a:avLst>
              <a:gd name="adj" fmla="val 3000"/>
            </a:avLst>
          </a:prstGeom>
          <a:solidFill>
            <a:srgbClr val="99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778240" y="2240280"/>
            <a:ext cx="7680960" cy="841248"/>
          </a:xfrm>
          <a:prstGeom prst="rect">
            <a:avLst/>
          </a:prstGeom>
          <a:noFill/>
        </p:spPr>
        <p:txBody>
          <a:bodyPr wrap="square" lIns="45720" tIns="0" rIns="45720" bIns="0" anchor="ctr">
            <a:spAutoFit/>
          </a:bodyPr>
          <a:lstStyle/>
          <a:p>
            <a:pPr algn="ctr">
              <a:spcAft>
                <a:spcPts val="200"/>
              </a:spcAft>
            </a:pPr>
            <a:r>
              <a:rPr sz="2400" b="1" i="0">
                <a:solidFill>
                  <a:srgbClr val="FFFFFF"/>
                </a:solidFill>
                <a:latin typeface="Arial"/>
              </a:rPr>
              <a:t>Generative AI  (2022 →)</a:t>
            </a:r>
          </a:p>
        </p:txBody>
      </p:sp>
      <p:sp>
        <p:nvSpPr>
          <p:cNvPr id="15" name="TextBox 14"/>
          <p:cNvSpPr txBox="1"/>
          <p:nvPr/>
        </p:nvSpPr>
        <p:spPr>
          <a:xfrm>
            <a:off x="9098280" y="3291840"/>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One model, many tasks</a:t>
            </a:r>
          </a:p>
          <a:p>
            <a:pPr algn="l">
              <a:lnSpc>
                <a:spcPct val="95000"/>
              </a:lnSpc>
              <a:spcAft>
                <a:spcPts val="200"/>
              </a:spcAft>
            </a:pPr>
            <a:r>
              <a:rPr sz="1600" b="0" i="0">
                <a:solidFill>
                  <a:srgbClr val="444444"/>
                </a:solidFill>
                <a:latin typeface="Arial"/>
              </a:rPr>
              <a:t>The same model translates, summarises, writes code, answers questions.</a:t>
            </a:r>
          </a:p>
        </p:txBody>
      </p:sp>
      <p:sp>
        <p:nvSpPr>
          <p:cNvPr id="16" name="TextBox 15"/>
          <p:cNvSpPr txBox="1"/>
          <p:nvPr/>
        </p:nvSpPr>
        <p:spPr>
          <a:xfrm>
            <a:off x="9098280" y="4352544"/>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You describe the task</a:t>
            </a:r>
          </a:p>
          <a:p>
            <a:pPr algn="l">
              <a:lnSpc>
                <a:spcPct val="95000"/>
              </a:lnSpc>
              <a:spcAft>
                <a:spcPts val="200"/>
              </a:spcAft>
            </a:pPr>
            <a:r>
              <a:rPr sz="1600" b="0" i="0">
                <a:solidFill>
                  <a:srgbClr val="444444"/>
                </a:solidFill>
                <a:latin typeface="Arial"/>
              </a:rPr>
              <a:t>A prompt and a few examples replace a labelled dataset.</a:t>
            </a:r>
          </a:p>
        </p:txBody>
      </p:sp>
      <p:sp>
        <p:nvSpPr>
          <p:cNvPr id="17" name="TextBox 16"/>
          <p:cNvSpPr txBox="1"/>
          <p:nvPr/>
        </p:nvSpPr>
        <p:spPr>
          <a:xfrm>
            <a:off x="9098280" y="5413248"/>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Built by anyone</a:t>
            </a:r>
          </a:p>
          <a:p>
            <a:pPr algn="l">
              <a:lnSpc>
                <a:spcPct val="95000"/>
              </a:lnSpc>
              <a:spcAft>
                <a:spcPts val="200"/>
              </a:spcAft>
            </a:pPr>
            <a:r>
              <a:rPr sz="1600" b="0" i="0">
                <a:solidFill>
                  <a:srgbClr val="444444"/>
                </a:solidFill>
                <a:latin typeface="Arial"/>
              </a:rPr>
              <a:t>An API call, or plain language. No training run.</a:t>
            </a:r>
          </a:p>
        </p:txBody>
      </p:sp>
      <p:sp>
        <p:nvSpPr>
          <p:cNvPr id="18" name="TextBox 17"/>
          <p:cNvSpPr txBox="1"/>
          <p:nvPr/>
        </p:nvSpPr>
        <p:spPr>
          <a:xfrm>
            <a:off x="9098280" y="6473952"/>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Output: content</a:t>
            </a:r>
          </a:p>
          <a:p>
            <a:pPr algn="l">
              <a:lnSpc>
                <a:spcPct val="95000"/>
              </a:lnSpc>
              <a:spcAft>
                <a:spcPts val="200"/>
              </a:spcAft>
            </a:pPr>
            <a:r>
              <a:rPr sz="1600" b="0" i="0">
                <a:solidFill>
                  <a:srgbClr val="444444"/>
                </a:solidFill>
                <a:latin typeface="Arial"/>
              </a:rPr>
              <a:t>Text, images, audio, code — consumed by humans.</a:t>
            </a:r>
          </a:p>
        </p:txBody>
      </p:sp>
      <p:sp>
        <p:nvSpPr>
          <p:cNvPr id="19" name="TextBox 18"/>
          <p:cNvSpPr txBox="1"/>
          <p:nvPr/>
        </p:nvSpPr>
        <p:spPr>
          <a:xfrm>
            <a:off x="9098280" y="7534656"/>
            <a:ext cx="7040880" cy="1005840"/>
          </a:xfrm>
          <a:prstGeom prst="rect">
            <a:avLst/>
          </a:prstGeom>
          <a:noFill/>
        </p:spPr>
        <p:txBody>
          <a:bodyPr wrap="square" lIns="45720" tIns="0" rIns="45720" bIns="0" anchor="t">
            <a:spAutoFit/>
          </a:bodyPr>
          <a:lstStyle/>
          <a:p>
            <a:pPr algn="l">
              <a:lnSpc>
                <a:spcPct val="95000"/>
              </a:lnSpc>
              <a:spcAft>
                <a:spcPts val="200"/>
              </a:spcAft>
            </a:pPr>
            <a:r>
              <a:rPr sz="1900" b="1" i="0">
                <a:solidFill>
                  <a:srgbClr val="99002B"/>
                </a:solidFill>
                <a:latin typeface="Arial"/>
              </a:rPr>
              <a:t>Confidently wrong</a:t>
            </a:r>
          </a:p>
          <a:p>
            <a:pPr algn="l">
              <a:lnSpc>
                <a:spcPct val="95000"/>
              </a:lnSpc>
              <a:spcAft>
                <a:spcPts val="200"/>
              </a:spcAft>
            </a:pPr>
            <a:r>
              <a:rPr sz="1600" b="0" i="0">
                <a:solidFill>
                  <a:srgbClr val="444444"/>
                </a:solidFill>
                <a:latin typeface="Arial"/>
              </a:rPr>
              <a:t>Fluent, plausible and sometimes fabricated. New failure mode, new evaluation problem.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7585F8-3A0E-CC44-9EC9-C637ECD64A7E}"/>
              </a:ext>
            </a:extLst>
          </p:cNvPr>
          <p:cNvSpPr>
            <a:spLocks noGrp="1"/>
          </p:cNvSpPr>
          <p:nvPr>
            <p:ph idx="1"/>
          </p:nvPr>
        </p:nvSpPr>
        <p:spPr>
          <a:xfrm>
            <a:off x="1195969" y="2596022"/>
            <a:ext cx="14953086" cy="5982137"/>
          </a:xfrm>
        </p:spPr>
        <p:txBody>
          <a:bodyPr/>
          <a:lstStyle/>
          <a:p>
            <a:pPr marL="0" indent="0">
              <a:buNone/>
            </a:pPr>
            <a:r>
              <a:t>You rarely use “an AI”. You use ordinary software with AI inside it:</a:t>
            </a:r>
            <a:endParaRPr lang="en-NO" dirty="0"/>
          </a:p>
          <a:p>
            <a:pPr lvl="1"/>
            <a:r>
              <a:t>speech recognition and ranking inside voice assistants and search</a:t>
            </a:r>
          </a:p>
          <a:p>
            <a:pPr lvl="1"/>
            <a:r>
              <a:t>machine translation inside DeepL, Google Translate and subtitles</a:t>
            </a:r>
          </a:p>
          <a:p>
            <a:pPr lvl="1"/>
            <a:r>
              <a:t>fraud and anomaly detection inside your bank's app (Vipps, BankID flows)</a:t>
            </a:r>
          </a:p>
          <a:p>
            <a:pPr lvl="1"/>
            <a:r>
              <a:t>autocorrect, spam filtering, photo search, route prediction</a:t>
            </a:r>
          </a:p>
          <a:p>
            <a:r>
              <a:t>The AI is a component, not the product — that is the normal case in industry</a:t>
            </a:r>
          </a:p>
        </p:txBody>
      </p:sp>
      <p:sp>
        <p:nvSpPr>
          <p:cNvPr id="4" name="Rectangle 3">
            <a:extLst>
              <a:ext uri="{FF2B5EF4-FFF2-40B4-BE49-F238E27FC236}">
                <a16:creationId xmlns:a16="http://schemas.microsoft.com/office/drawing/2014/main" id="{BF88F64C-52D3-624C-8CA1-2A7B21EED067}"/>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1"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000" b="1" i="0">
                <a:solidFill>
                  <a:srgbClr val="000000"/>
                </a:solidFill>
                <a:latin typeface="Arial"/>
              </a:rPr>
              <a:t>Most AI is invisible — it powers other software</a:t>
            </a:r>
          </a:p>
        </p:txBody>
      </p:sp>
    </p:spTree>
    <p:extLst>
      <p:ext uri="{BB962C8B-B14F-4D97-AF65-F5344CB8AC3E}">
        <p14:creationId xmlns:p14="http://schemas.microsoft.com/office/powerpoint/2010/main" val="142926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Orpat OT-512GT Calculator (Black): Amazon.in: Office Products">
            <a:extLst>
              <a:ext uri="{FF2B5EF4-FFF2-40B4-BE49-F238E27FC236}">
                <a16:creationId xmlns:a16="http://schemas.microsoft.com/office/drawing/2014/main" id="{99F2C99C-E0C3-5E44-9901-B62F1A17A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742" y="2518981"/>
            <a:ext cx="3247983" cy="326602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83EB22B-4E73-D24A-A604-7AA63BC3C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35936" y="86728"/>
            <a:ext cx="3862652" cy="289698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2C47106A-A5AA-AF4E-934B-B127DC8C50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55097" y="3783038"/>
            <a:ext cx="3343490" cy="298525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va er best: app eller hardware-basert kjørebok?">
            <a:extLst>
              <a:ext uri="{FF2B5EF4-FFF2-40B4-BE49-F238E27FC236}">
                <a16:creationId xmlns:a16="http://schemas.microsoft.com/office/drawing/2014/main" id="{DE49D766-9FD9-9749-B228-D7C04E00B4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151" y="1099601"/>
            <a:ext cx="5110777" cy="323261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nvestors find AI hardware an attractive opportunity; Researchers ...">
            <a:extLst>
              <a:ext uri="{FF2B5EF4-FFF2-40B4-BE49-F238E27FC236}">
                <a16:creationId xmlns:a16="http://schemas.microsoft.com/office/drawing/2014/main" id="{319565ED-A2C8-9F48-96E7-AC479E85FB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625" y="5419799"/>
            <a:ext cx="4966303" cy="322338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mazon.com: Apple MC297LL/A iPod Classic MP3/MP4 Player 160GB ...">
            <a:extLst>
              <a:ext uri="{FF2B5EF4-FFF2-40B4-BE49-F238E27FC236}">
                <a16:creationId xmlns:a16="http://schemas.microsoft.com/office/drawing/2014/main" id="{9F75129F-18AC-9843-87AE-E807CCF9E9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22725" y="5392511"/>
            <a:ext cx="3250671" cy="3250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33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riving Car Stock Illustrations, Cliparts And Royalty Free Driving ...">
            <a:extLst>
              <a:ext uri="{FF2B5EF4-FFF2-40B4-BE49-F238E27FC236}">
                <a16:creationId xmlns:a16="http://schemas.microsoft.com/office/drawing/2014/main" id="{C5EF1118-8C87-B047-BEDF-0C147C4D6AB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24408" y="1444741"/>
            <a:ext cx="5851208" cy="585120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smart traffic analyzer">
            <a:extLst>
              <a:ext uri="{FF2B5EF4-FFF2-40B4-BE49-F238E27FC236}">
                <a16:creationId xmlns:a16="http://schemas.microsoft.com/office/drawing/2014/main" id="{741990C0-887B-1E42-BAEB-DD7BD8695E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5018" y="4370345"/>
            <a:ext cx="4225872" cy="28274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a:extLst>
              <a:ext uri="{FF2B5EF4-FFF2-40B4-BE49-F238E27FC236}">
                <a16:creationId xmlns:a16="http://schemas.microsoft.com/office/drawing/2014/main" id="{2CA58F76-C337-3846-87BD-C7CEAF646C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53532" y="1657778"/>
            <a:ext cx="2541480" cy="2269179"/>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361643B1-3F63-2F48-B0E5-917485A1AB8A}"/>
              </a:ext>
            </a:extLst>
          </p:cNvPr>
          <p:cNvSpPr txBox="1">
            <a:spLocks/>
          </p:cNvSpPr>
          <p:nvPr/>
        </p:nvSpPr>
        <p:spPr>
          <a:xfrm>
            <a:off x="2098936" y="6941535"/>
            <a:ext cx="3702153" cy="708827"/>
          </a:xfrm>
          <a:prstGeom prst="rect">
            <a:avLst/>
          </a:prstGeom>
        </p:spPr>
        <p:txBody>
          <a:bodyPr vert="horz" lIns="130027" tIns="65013" rIns="130027" bIns="65013"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O" sz="3982" dirty="0"/>
              <a:t>Self driving cars</a:t>
            </a:r>
          </a:p>
        </p:txBody>
      </p:sp>
      <p:sp>
        <p:nvSpPr>
          <p:cNvPr id="12" name="Content Placeholder 2">
            <a:extLst>
              <a:ext uri="{FF2B5EF4-FFF2-40B4-BE49-F238E27FC236}">
                <a16:creationId xmlns:a16="http://schemas.microsoft.com/office/drawing/2014/main" id="{E65DB6B3-F2A3-F443-B18D-88723716279A}"/>
              </a:ext>
            </a:extLst>
          </p:cNvPr>
          <p:cNvSpPr txBox="1">
            <a:spLocks/>
          </p:cNvSpPr>
          <p:nvPr/>
        </p:nvSpPr>
        <p:spPr>
          <a:xfrm>
            <a:off x="9963754" y="7938473"/>
            <a:ext cx="5562259" cy="708827"/>
          </a:xfrm>
          <a:prstGeom prst="rect">
            <a:avLst/>
          </a:prstGeom>
        </p:spPr>
        <p:txBody>
          <a:bodyPr vert="horz" lIns="130027" tIns="65013" rIns="130027" bIns="65013"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O" sz="3982" dirty="0"/>
              <a:t>Image / video analysis</a:t>
            </a:r>
          </a:p>
        </p:txBody>
      </p:sp>
      <p:sp>
        <p:nvSpPr>
          <p:cNvPr id="9" name="Rectangle 8">
            <a:extLst>
              <a:ext uri="{FF2B5EF4-FFF2-40B4-BE49-F238E27FC236}">
                <a16:creationId xmlns:a16="http://schemas.microsoft.com/office/drawing/2014/main" id="{66B6EFD7-2FD2-0049-8D67-5F4D5BC6AD46}"/>
              </a:ext>
            </a:extLst>
          </p:cNvPr>
          <p:cNvSpPr/>
          <p:nvPr/>
        </p:nvSpPr>
        <p:spPr>
          <a:xfrm>
            <a:off x="0" y="316017"/>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Title 1">
            <a:extLst>
              <a:ext uri="{FF2B5EF4-FFF2-40B4-BE49-F238E27FC236}">
                <a16:creationId xmlns:a16="http://schemas.microsoft.com/office/drawing/2014/main" id="{877B8FDB-ED3A-0445-BA87-F224FE3EDA30}"/>
              </a:ext>
            </a:extLst>
          </p:cNvPr>
          <p:cNvSpPr txBox="1">
            <a:spLocks/>
          </p:cNvSpPr>
          <p:nvPr/>
        </p:nvSpPr>
        <p:spPr>
          <a:xfrm>
            <a:off x="0" y="554443"/>
            <a:ext cx="10366028" cy="975201"/>
          </a:xfrm>
          <a:prstGeom prst="rect">
            <a:avLst/>
          </a:prstGeom>
        </p:spPr>
        <p:txBody>
          <a:bodyPr vert="horz" lIns="130027" tIns="65013" rIns="130027" bIns="65013"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O" sz="6257" dirty="0"/>
              <a:t>Examples of A.i in our daily lives</a:t>
            </a:r>
          </a:p>
        </p:txBody>
      </p:sp>
    </p:spTree>
    <p:extLst>
      <p:ext uri="{BB962C8B-B14F-4D97-AF65-F5344CB8AC3E}">
        <p14:creationId xmlns:p14="http://schemas.microsoft.com/office/powerpoint/2010/main" val="108030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2">
            <a:extLst>
              <a:ext uri="{FF2B5EF4-FFF2-40B4-BE49-F238E27FC236}">
                <a16:creationId xmlns:a16="http://schemas.microsoft.com/office/drawing/2014/main" id="{223D7C0F-15B9-EE41-BC59-2EB1E1526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945" y="2568368"/>
            <a:ext cx="5942256" cy="44566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he 10 Things You Need to Know Before Implementing a Banking Chatbot">
            <a:extLst>
              <a:ext uri="{FF2B5EF4-FFF2-40B4-BE49-F238E27FC236}">
                <a16:creationId xmlns:a16="http://schemas.microsoft.com/office/drawing/2014/main" id="{171E6718-7B8A-EC40-966B-A03A16C5A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5017" y="3532142"/>
            <a:ext cx="5634499" cy="311576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FD1276FC-020E-EA44-AF9B-31B4619F4B24}"/>
              </a:ext>
            </a:extLst>
          </p:cNvPr>
          <p:cNvSpPr txBox="1">
            <a:spLocks/>
          </p:cNvSpPr>
          <p:nvPr/>
        </p:nvSpPr>
        <p:spPr>
          <a:xfrm>
            <a:off x="6369956" y="8119066"/>
            <a:ext cx="5562259" cy="708827"/>
          </a:xfrm>
          <a:prstGeom prst="rect">
            <a:avLst/>
          </a:prstGeom>
        </p:spPr>
        <p:txBody>
          <a:bodyPr vert="horz" lIns="130027" tIns="65013" rIns="130027" bIns="65013"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O" sz="3982" dirty="0"/>
              <a:t>Voice and chat assistants</a:t>
            </a:r>
          </a:p>
        </p:txBody>
      </p:sp>
    </p:spTree>
    <p:extLst>
      <p:ext uri="{BB962C8B-B14F-4D97-AF65-F5344CB8AC3E}">
        <p14:creationId xmlns:p14="http://schemas.microsoft.com/office/powerpoint/2010/main" val="2648019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hy do we need Spam Filters for our Software? – CRT Cloud">
            <a:extLst>
              <a:ext uri="{FF2B5EF4-FFF2-40B4-BE49-F238E27FC236}">
                <a16:creationId xmlns:a16="http://schemas.microsoft.com/office/drawing/2014/main" id="{8081656A-4C5F-8B4F-95B5-21C8AE897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220" y="2067787"/>
            <a:ext cx="4641236" cy="325067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Plagiarism Checker X (@PlagiarismX) | Twitter">
            <a:extLst>
              <a:ext uri="{FF2B5EF4-FFF2-40B4-BE49-F238E27FC236}">
                <a16:creationId xmlns:a16="http://schemas.microsoft.com/office/drawing/2014/main" id="{DD0CBC87-1DAB-154A-9350-6AC2CA0F0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117" y="5318458"/>
            <a:ext cx="4063339" cy="40633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Upgrade your Google Maps Account | Internet Marketing, Website ...">
            <a:extLst>
              <a:ext uri="{FF2B5EF4-FFF2-40B4-BE49-F238E27FC236}">
                <a16:creationId xmlns:a16="http://schemas.microsoft.com/office/drawing/2014/main" id="{94B343EC-6239-524F-ADFE-71FCA89487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0599" y="695282"/>
            <a:ext cx="4099457" cy="228806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Uber's new 'quiet mode' lets you avoid small talk with drivers - CNET">
            <a:extLst>
              <a:ext uri="{FF2B5EF4-FFF2-40B4-BE49-F238E27FC236}">
                <a16:creationId xmlns:a16="http://schemas.microsoft.com/office/drawing/2014/main" id="{30C3AAEE-CD20-BC46-B8B6-C9ADC29A9B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7903" y="3828251"/>
            <a:ext cx="2790156" cy="209551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descr="Apple Maps App Icon by Around Sketch on Dribbble">
            <a:extLst>
              <a:ext uri="{FF2B5EF4-FFF2-40B4-BE49-F238E27FC236}">
                <a16:creationId xmlns:a16="http://schemas.microsoft.com/office/drawing/2014/main" id="{354E82DA-7300-DF48-99D7-98904F7826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66717" y="6223683"/>
            <a:ext cx="3512528" cy="263439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8F799A6-F104-924A-9E7D-4CB54B885A57}"/>
              </a:ext>
            </a:extLst>
          </p:cNvPr>
          <p:cNvSpPr/>
          <p:nvPr/>
        </p:nvSpPr>
        <p:spPr>
          <a:xfrm>
            <a:off x="42862" y="162618"/>
            <a:ext cx="10751518"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Title 1">
            <a:extLst>
              <a:ext uri="{FF2B5EF4-FFF2-40B4-BE49-F238E27FC236}">
                <a16:creationId xmlns:a16="http://schemas.microsoft.com/office/drawing/2014/main" id="{3938A9E3-1466-AF4F-A209-FFEAC0A6F292}"/>
              </a:ext>
            </a:extLst>
          </p:cNvPr>
          <p:cNvSpPr txBox="1">
            <a:spLocks/>
          </p:cNvSpPr>
          <p:nvPr/>
        </p:nvSpPr>
        <p:spPr>
          <a:xfrm>
            <a:off x="797404" y="213560"/>
            <a:ext cx="10366028" cy="975201"/>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dirty="0"/>
              <a:t>Examples of A.I in our daily lives</a:t>
            </a:r>
          </a:p>
        </p:txBody>
      </p:sp>
    </p:spTree>
    <p:extLst>
      <p:ext uri="{BB962C8B-B14F-4D97-AF65-F5344CB8AC3E}">
        <p14:creationId xmlns:p14="http://schemas.microsoft.com/office/powerpoint/2010/main" val="3318750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A7FAA7-A6B4-9A4C-BE4F-7AA231DC8A88}"/>
              </a:ext>
            </a:extLst>
          </p:cNvPr>
          <p:cNvSpPr>
            <a:spLocks noGrp="1"/>
          </p:cNvSpPr>
          <p:nvPr>
            <p:ph idx="1"/>
          </p:nvPr>
        </p:nvSpPr>
        <p:spPr>
          <a:xfrm>
            <a:off x="997317" y="7964144"/>
            <a:ext cx="5562259" cy="708827"/>
          </a:xfrm>
        </p:spPr>
        <p:txBody>
          <a:bodyPr>
            <a:normAutofit/>
          </a:bodyPr>
          <a:lstStyle/>
          <a:p>
            <a:pPr marL="0" indent="0">
              <a:buNone/>
            </a:pPr>
            <a:r>
              <a:rPr lang="en-NO" dirty="0"/>
              <a:t>Content reccomendation</a:t>
            </a:r>
          </a:p>
        </p:txBody>
      </p:sp>
      <p:pic>
        <p:nvPicPr>
          <p:cNvPr id="4" name="Picture 4" descr="Cloud based software, supply chain">
            <a:extLst>
              <a:ext uri="{FF2B5EF4-FFF2-40B4-BE49-F238E27FC236}">
                <a16:creationId xmlns:a16="http://schemas.microsoft.com/office/drawing/2014/main" id="{0626AFCC-9924-9E4A-9380-13276451D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918" y="1808187"/>
            <a:ext cx="5750947" cy="5750947"/>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D4EBF626-6D2B-EA48-8A10-4DC4534CE97D}"/>
              </a:ext>
            </a:extLst>
          </p:cNvPr>
          <p:cNvSpPr/>
          <p:nvPr/>
        </p:nvSpPr>
        <p:spPr>
          <a:xfrm>
            <a:off x="6866584" y="4243931"/>
            <a:ext cx="1950403" cy="632075"/>
          </a:xfrm>
          <a:prstGeom prst="right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NO" sz="3640" dirty="0"/>
          </a:p>
        </p:txBody>
      </p:sp>
      <p:pic>
        <p:nvPicPr>
          <p:cNvPr id="6" name="Picture 2" descr="Facebook - Apps on Google Play">
            <a:extLst>
              <a:ext uri="{FF2B5EF4-FFF2-40B4-BE49-F238E27FC236}">
                <a16:creationId xmlns:a16="http://schemas.microsoft.com/office/drawing/2014/main" id="{2F6C872F-AFAD-B04C-8947-4108E8649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0085" y="3578191"/>
            <a:ext cx="1665306" cy="16653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 Instagram: How to save live videos">
            <a:extLst>
              <a:ext uri="{FF2B5EF4-FFF2-40B4-BE49-F238E27FC236}">
                <a16:creationId xmlns:a16="http://schemas.microsoft.com/office/drawing/2014/main" id="{E4F34E33-32CA-1D47-B13D-BF6CA10D5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91010" y="5833148"/>
            <a:ext cx="2745011" cy="154635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napchat i markedsføring | Utheve AS">
            <a:extLst>
              <a:ext uri="{FF2B5EF4-FFF2-40B4-BE49-F238E27FC236}">
                <a16:creationId xmlns:a16="http://schemas.microsoft.com/office/drawing/2014/main" id="{8C7EA222-4B40-6548-9FEC-A8811CFB54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54950" y="3397553"/>
            <a:ext cx="1692756" cy="16927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TikTok Glitch Mistaken for a Ban in the United States">
            <a:extLst>
              <a:ext uri="{FF2B5EF4-FFF2-40B4-BE49-F238E27FC236}">
                <a16:creationId xmlns:a16="http://schemas.microsoft.com/office/drawing/2014/main" id="{E54C6EC0-D558-A143-BAB5-53136069E4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80538" y="1173852"/>
            <a:ext cx="1765958" cy="1765958"/>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Amazon sales: all the latest deals available now | TechRadar">
            <a:extLst>
              <a:ext uri="{FF2B5EF4-FFF2-40B4-BE49-F238E27FC236}">
                <a16:creationId xmlns:a16="http://schemas.microsoft.com/office/drawing/2014/main" id="{6C4D12BA-1A4A-F94C-90FC-16BC1C6F69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48232" y="331692"/>
            <a:ext cx="2620998" cy="147649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Google">
            <a:extLst>
              <a:ext uri="{FF2B5EF4-FFF2-40B4-BE49-F238E27FC236}">
                <a16:creationId xmlns:a16="http://schemas.microsoft.com/office/drawing/2014/main" id="{D8A87878-742F-9542-80D1-3E220FBCFD2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39124" y="8318556"/>
            <a:ext cx="3171039" cy="1109864"/>
          </a:xfrm>
          <a:prstGeom prst="rect">
            <a:avLst/>
          </a:prstGeom>
          <a:noFill/>
          <a:extLst>
            <a:ext uri="{909E8E84-426E-40DD-AFC4-6F175D3DCCD1}">
              <a14:hiddenFill xmlns:a14="http://schemas.microsoft.com/office/drawing/2010/main">
                <a:solidFill>
                  <a:srgbClr val="FFFFFF"/>
                </a:solidFill>
              </a14:hiddenFill>
            </a:ext>
          </a:extLst>
        </p:spPr>
      </p:pic>
      <p:sp>
        <p:nvSpPr>
          <p:cNvPr id="12" name="Right Arrow 11">
            <a:extLst>
              <a:ext uri="{FF2B5EF4-FFF2-40B4-BE49-F238E27FC236}">
                <a16:creationId xmlns:a16="http://schemas.microsoft.com/office/drawing/2014/main" id="{7B103782-DF15-664F-8AFA-44143E02E66B}"/>
              </a:ext>
            </a:extLst>
          </p:cNvPr>
          <p:cNvSpPr/>
          <p:nvPr/>
        </p:nvSpPr>
        <p:spPr>
          <a:xfrm>
            <a:off x="6920761" y="5243497"/>
            <a:ext cx="1950403" cy="632075"/>
          </a:xfrm>
          <a:prstGeom prst="right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NO" sz="3640" dirty="0"/>
          </a:p>
        </p:txBody>
      </p:sp>
      <p:pic>
        <p:nvPicPr>
          <p:cNvPr id="11270" name="Picture 6" descr="Publish android app on google play store by S_ssoftwares">
            <a:extLst>
              <a:ext uri="{FF2B5EF4-FFF2-40B4-BE49-F238E27FC236}">
                <a16:creationId xmlns:a16="http://schemas.microsoft.com/office/drawing/2014/main" id="{11595EB1-0560-FA4E-BA0E-3C9CF11479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32609" y="7873576"/>
            <a:ext cx="2633483" cy="1488490"/>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Fleeceware apps discovered on the iOS App Store | ZDNet">
            <a:extLst>
              <a:ext uri="{FF2B5EF4-FFF2-40B4-BE49-F238E27FC236}">
                <a16:creationId xmlns:a16="http://schemas.microsoft.com/office/drawing/2014/main" id="{599B1D97-484B-DF45-891E-4066F2666F0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14016" y="6051183"/>
            <a:ext cx="2726952" cy="150795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F708B117-732E-704C-B92D-19B60877C266}"/>
              </a:ext>
            </a:extLst>
          </p:cNvPr>
          <p:cNvSpPr/>
          <p:nvPr/>
        </p:nvSpPr>
        <p:spPr>
          <a:xfrm>
            <a:off x="42862" y="162618"/>
            <a:ext cx="10751518"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9" name="Title 1">
            <a:extLst>
              <a:ext uri="{FF2B5EF4-FFF2-40B4-BE49-F238E27FC236}">
                <a16:creationId xmlns:a16="http://schemas.microsoft.com/office/drawing/2014/main" id="{ABC3F164-0355-7A4C-A6A4-B99C6F126469}"/>
              </a:ext>
            </a:extLst>
          </p:cNvPr>
          <p:cNvSpPr txBox="1">
            <a:spLocks/>
          </p:cNvSpPr>
          <p:nvPr/>
        </p:nvSpPr>
        <p:spPr>
          <a:xfrm>
            <a:off x="797404" y="213560"/>
            <a:ext cx="10366028" cy="975201"/>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dirty="0"/>
              <a:t>Examples of A.I in our daily lives</a:t>
            </a:r>
          </a:p>
        </p:txBody>
      </p:sp>
    </p:spTree>
    <p:extLst>
      <p:ext uri="{BB962C8B-B14F-4D97-AF65-F5344CB8AC3E}">
        <p14:creationId xmlns:p14="http://schemas.microsoft.com/office/powerpoint/2010/main" val="45472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7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B3BF2-311A-284E-A1B7-37048527E70B}"/>
              </a:ext>
            </a:extLst>
          </p:cNvPr>
          <p:cNvSpPr>
            <a:spLocks noGrp="1"/>
          </p:cNvSpPr>
          <p:nvPr>
            <p:ph type="title"/>
          </p:nvPr>
        </p:nvSpPr>
        <p:spPr>
          <a:xfrm>
            <a:off x="6807076" y="2991068"/>
            <a:ext cx="4261991" cy="1884938"/>
          </a:xfrm>
        </p:spPr>
        <p:txBody>
          <a:bodyPr/>
          <a:lstStyle/>
          <a:p>
            <a:r>
              <a:rPr lang="en-NO" dirty="0"/>
              <a:t>Types of A.I</a:t>
            </a:r>
          </a:p>
        </p:txBody>
      </p:sp>
    </p:spTree>
    <p:extLst>
      <p:ext uri="{BB962C8B-B14F-4D97-AF65-F5344CB8AC3E}">
        <p14:creationId xmlns:p14="http://schemas.microsoft.com/office/powerpoint/2010/main" val="3259001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The Difference Between Machine Learning &amp; Deep Learning - APRO ...">
            <a:extLst>
              <a:ext uri="{FF2B5EF4-FFF2-40B4-BE49-F238E27FC236}">
                <a16:creationId xmlns:a16="http://schemas.microsoft.com/office/drawing/2014/main" id="{50E51732-A28B-AA44-9A38-5C279D9BC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186" y="2151313"/>
            <a:ext cx="11563140" cy="59622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DA1247-17A1-E84A-BBB0-78C5AAB19100}"/>
              </a:ext>
            </a:extLst>
          </p:cNvPr>
          <p:cNvSpPr/>
          <p:nvPr/>
        </p:nvSpPr>
        <p:spPr>
          <a:xfrm>
            <a:off x="205426" y="432883"/>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8" name="Title 1">
            <a:extLst>
              <a:ext uri="{FF2B5EF4-FFF2-40B4-BE49-F238E27FC236}">
                <a16:creationId xmlns:a16="http://schemas.microsoft.com/office/drawing/2014/main" id="{9BF75FBF-86F9-5F41-80AC-D6517E597B1E}"/>
              </a:ext>
            </a:extLst>
          </p:cNvPr>
          <p:cNvSpPr txBox="1">
            <a:spLocks/>
          </p:cNvSpPr>
          <p:nvPr/>
        </p:nvSpPr>
        <p:spPr>
          <a:xfrm>
            <a:off x="6475385" y="-246482"/>
            <a:ext cx="5815089" cy="1884938"/>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dirty="0"/>
              <a:t>3 Types of A.I</a:t>
            </a:r>
          </a:p>
        </p:txBody>
      </p:sp>
    </p:spTree>
    <p:extLst>
      <p:ext uri="{BB962C8B-B14F-4D97-AF65-F5344CB8AC3E}">
        <p14:creationId xmlns:p14="http://schemas.microsoft.com/office/powerpoint/2010/main" val="4068695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325C-2E11-6C4F-98EF-42004BF48A3C}"/>
              </a:ext>
            </a:extLst>
          </p:cNvPr>
          <p:cNvSpPr>
            <a:spLocks noGrp="1"/>
          </p:cNvSpPr>
          <p:nvPr>
            <p:ph type="title"/>
          </p:nvPr>
        </p:nvSpPr>
        <p:spPr>
          <a:xfrm>
            <a:off x="744487" y="519205"/>
            <a:ext cx="14953086" cy="1267536"/>
          </a:xfrm>
        </p:spPr>
        <p:txBody>
          <a:bodyPr/>
          <a:lstStyle/>
          <a:p>
            <a:pPr algn="ctr"/>
            <a:r>
              <a:rPr lang="en-NO" dirty="0"/>
              <a:t>Turing Test – General AI</a:t>
            </a:r>
          </a:p>
        </p:txBody>
      </p:sp>
      <p:pic>
        <p:nvPicPr>
          <p:cNvPr id="5122" name="Picture 2" descr="Turing test - Wikipedia">
            <a:extLst>
              <a:ext uri="{FF2B5EF4-FFF2-40B4-BE49-F238E27FC236}">
                <a16:creationId xmlns:a16="http://schemas.microsoft.com/office/drawing/2014/main" id="{4F0F0E9C-5ABF-A54A-807F-83F6CE49317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56344" y="2690977"/>
            <a:ext cx="7801610" cy="5957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99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iri Commands, Siri Questions, Things to ask Siri 2020 (iOS 13)">
            <a:extLst>
              <a:ext uri="{FF2B5EF4-FFF2-40B4-BE49-F238E27FC236}">
                <a16:creationId xmlns:a16="http://schemas.microsoft.com/office/drawing/2014/main" id="{53A4B3DF-5ABE-0540-BC83-957921CC2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902" y="3575738"/>
            <a:ext cx="7205654" cy="360282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The 10 Things You Need to Know Before Implementing a Banking Chatbot">
            <a:extLst>
              <a:ext uri="{FF2B5EF4-FFF2-40B4-BE49-F238E27FC236}">
                <a16:creationId xmlns:a16="http://schemas.microsoft.com/office/drawing/2014/main" id="{FC712793-A315-3B46-BDAF-243EA92540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471" y="3575738"/>
            <a:ext cx="6609697" cy="36550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5C5C72C-D8DD-FB4E-A9BB-201834BC9489}"/>
              </a:ext>
            </a:extLst>
          </p:cNvPr>
          <p:cNvSpPr/>
          <p:nvPr/>
        </p:nvSpPr>
        <p:spPr>
          <a:xfrm>
            <a:off x="0" y="540331"/>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itle 1">
            <a:extLst>
              <a:ext uri="{FF2B5EF4-FFF2-40B4-BE49-F238E27FC236}">
                <a16:creationId xmlns:a16="http://schemas.microsoft.com/office/drawing/2014/main" id="{2A4E344C-89BE-DA46-9CB6-562D75E539B2}"/>
              </a:ext>
            </a:extLst>
          </p:cNvPr>
          <p:cNvSpPr txBox="1">
            <a:spLocks/>
          </p:cNvSpPr>
          <p:nvPr/>
        </p:nvSpPr>
        <p:spPr>
          <a:xfrm>
            <a:off x="1832912" y="361911"/>
            <a:ext cx="13038802" cy="1267536"/>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pPr marL="0" lvl="1" defTabSz="914400"/>
            <a:r>
              <a:rPr lang="en-NO" sz="4550" kern="0" dirty="0">
                <a:solidFill>
                  <a:sysClr val="windowText" lastClr="000000"/>
                </a:solidFill>
              </a:rPr>
              <a:t>Can modern AI assistants pass the turing test ?</a:t>
            </a:r>
          </a:p>
        </p:txBody>
      </p:sp>
    </p:spTree>
    <p:extLst>
      <p:ext uri="{BB962C8B-B14F-4D97-AF65-F5344CB8AC3E}">
        <p14:creationId xmlns:p14="http://schemas.microsoft.com/office/powerpoint/2010/main" val="999341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descr="Google Duplex Demo (Google I/O 2018)">
            <a:hlinkClick r:id="" action="ppaction://media"/>
            <a:extLst>
              <a:ext uri="{FF2B5EF4-FFF2-40B4-BE49-F238E27FC236}">
                <a16:creationId xmlns:a16="http://schemas.microsoft.com/office/drawing/2014/main" id="{44B0F69D-F5E7-3245-A604-4578B94E9E85}"/>
              </a:ext>
            </a:extLst>
          </p:cNvPr>
          <p:cNvPicPr>
            <a:picLocks noGrp="1" noRot="1" noChangeAspect="1"/>
          </p:cNvPicPr>
          <p:nvPr>
            <p:ph idx="1"/>
            <a:videoFile r:link="rId1"/>
          </p:nvPr>
        </p:nvPicPr>
        <p:blipFill>
          <a:blip r:embed="rId3"/>
          <a:stretch>
            <a:fillRect/>
          </a:stretch>
        </p:blipFill>
        <p:spPr>
          <a:xfrm>
            <a:off x="2694272" y="2394846"/>
            <a:ext cx="11000361" cy="6187562"/>
          </a:xfrm>
          <a:prstGeom prst="rect">
            <a:avLst/>
          </a:prstGeom>
        </p:spPr>
      </p:pic>
      <p:sp>
        <p:nvSpPr>
          <p:cNvPr id="4" name="Rectangle 3">
            <a:extLst>
              <a:ext uri="{FF2B5EF4-FFF2-40B4-BE49-F238E27FC236}">
                <a16:creationId xmlns:a16="http://schemas.microsoft.com/office/drawing/2014/main" id="{C0712237-B701-4C43-A27B-6593F95FF250}"/>
              </a:ext>
            </a:extLst>
          </p:cNvPr>
          <p:cNvSpPr/>
          <p:nvPr/>
        </p:nvSpPr>
        <p:spPr>
          <a:xfrm>
            <a:off x="42862" y="355272"/>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itle 1">
            <a:extLst>
              <a:ext uri="{FF2B5EF4-FFF2-40B4-BE49-F238E27FC236}">
                <a16:creationId xmlns:a16="http://schemas.microsoft.com/office/drawing/2014/main" id="{228FDF5A-4135-5146-96E4-12602D2F67D3}"/>
              </a:ext>
            </a:extLst>
          </p:cNvPr>
          <p:cNvSpPr txBox="1">
            <a:spLocks/>
          </p:cNvSpPr>
          <p:nvPr/>
        </p:nvSpPr>
        <p:spPr>
          <a:xfrm>
            <a:off x="1195969" y="519205"/>
            <a:ext cx="14953086" cy="1124190"/>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a:t>Google Duplex passed the turing test in 2018</a:t>
            </a:r>
            <a:endParaRPr lang="en-NO" dirty="0"/>
          </a:p>
        </p:txBody>
      </p:sp>
    </p:spTree>
    <p:extLst>
      <p:ext uri="{BB962C8B-B14F-4D97-AF65-F5344CB8AC3E}">
        <p14:creationId xmlns:p14="http://schemas.microsoft.com/office/powerpoint/2010/main" val="99988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descr="Decorative title banner"/>
          <p:cNvSpPr/>
          <p:nvPr/>
        </p:nvSpPr>
        <p:spPr>
          <a:xfrm>
            <a:off x="42862" y="194190"/>
            <a:ext cx="16303182" cy="1452055"/>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1"/>
          <p:cNvSpPr txBox="1">
            <a:spLocks noGrp="1"/>
          </p:cNvSpPr>
          <p:nvPr>
            <p:ph type="title"/>
          </p:nvPr>
        </p:nvSpPr>
        <p:spPr>
          <a:xfrm>
            <a:off x="210122" y="587818"/>
            <a:ext cx="15373922" cy="664797"/>
          </a:xfrm>
          <a:prstGeom prst="rect">
            <a:avLst/>
          </a:prstGeom>
          <a:noFill/>
        </p:spPr>
        <p:txBody>
          <a:bodyPr wrap="square" lIns="0" tIns="0" rIns="0" bIns="0" anchor="b">
            <a:spAutoFit/>
          </a:bodyPr>
          <a:lstStyle/>
          <a:p>
            <a:r>
              <a:rPr sz="4800" b="1" i="0">
                <a:solidFill>
                  <a:srgbClr val="000000"/>
                </a:solidFill>
                <a:latin typeface="Arial"/>
              </a:rPr>
              <a:t>So has the Turing Test been passed? (2025)</a:t>
            </a:r>
          </a:p>
        </p:txBody>
      </p:sp>
      <p:graphicFrame>
        <p:nvGraphicFramePr>
          <p:cNvPr id="4" name="Chart 3" descr="Column chart of the 2025 UC San Diego three-party Turing test: GPT-4.5 with a persona prompt was judged the human 73% of the time, LLaMa-3.1-405B 56%, GPT-4o without a persona 21%, and the 1966 ELIZA baseline 23%."/>
          <p:cNvGraphicFramePr>
            <a:graphicFrameLocks noGrp="1"/>
          </p:cNvGraphicFramePr>
          <p:nvPr/>
        </p:nvGraphicFramePr>
        <p:xfrm>
          <a:off x="822960" y="2286000"/>
          <a:ext cx="9692640" cy="5852160"/>
        </p:xfrm>
        <a:graphic>
          <a:graphicData uri="http://schemas.openxmlformats.org/drawingml/2006/chart">
            <c:chart xmlns:c="http://schemas.openxmlformats.org/drawingml/2006/chart" xmlns:r="http://schemas.openxmlformats.org/officeDocument/2006/relationships" r:id="rId3"/>
          </a:graphicData>
        </a:graphic>
      </p:graphicFrame>
      <p:sp>
        <p:nvSpPr>
          <p:cNvPr id="5" name="readit" descr="Decorative panel"/>
          <p:cNvSpPr/>
          <p:nvPr/>
        </p:nvSpPr>
        <p:spPr>
          <a:xfrm>
            <a:off x="10972800" y="2286000"/>
            <a:ext cx="5577840" cy="5852160"/>
          </a:xfrm>
          <a:prstGeom prst="roundRect">
            <a:avLst>
              <a:gd name="adj" fmla="val 3000"/>
            </a:avLst>
          </a:prstGeom>
          <a:solidFill>
            <a:srgbClr val="F2F2F2"/>
          </a:solidFill>
          <a:ln w="22225">
            <a:solidFill>
              <a:srgbClr val="0000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1292840" y="2514600"/>
            <a:ext cx="4937760" cy="5486400"/>
          </a:xfrm>
          <a:prstGeom prst="rect">
            <a:avLst/>
          </a:prstGeom>
          <a:noFill/>
        </p:spPr>
        <p:txBody>
          <a:bodyPr wrap="square" lIns="45720" tIns="0" rIns="45720" bIns="0" anchor="t">
            <a:spAutoFit/>
          </a:bodyPr>
          <a:lstStyle/>
          <a:p>
            <a:pPr algn="l">
              <a:lnSpc>
                <a:spcPct val="100000"/>
              </a:lnSpc>
              <a:spcAft>
                <a:spcPts val="1100"/>
              </a:spcAft>
            </a:pPr>
            <a:r>
              <a:rPr sz="2400" b="1" i="0">
                <a:solidFill>
                  <a:srgbClr val="000064"/>
                </a:solidFill>
                <a:latin typeface="Arial"/>
              </a:rPr>
              <a:t>Yes — and read it carefully</a:t>
            </a:r>
          </a:p>
          <a:p>
            <a:pPr algn="l">
              <a:lnSpc>
                <a:spcPct val="100000"/>
              </a:lnSpc>
              <a:spcAft>
                <a:spcPts val="1100"/>
              </a:spcAft>
            </a:pPr>
            <a:r>
              <a:rPr sz="1700" b="0" i="0">
                <a:solidFill>
                  <a:srgbClr val="000000"/>
                </a:solidFill>
                <a:latin typeface="Arial"/>
              </a:rPr>
              <a:t>In a proper three-party test, judges picked GPT-4.5 as the human more often than the actual human.</a:t>
            </a:r>
          </a:p>
          <a:p>
            <a:pPr algn="l">
              <a:lnSpc>
                <a:spcPct val="100000"/>
              </a:lnSpc>
              <a:spcAft>
                <a:spcPts val="1100"/>
              </a:spcAft>
            </a:pPr>
            <a:r>
              <a:rPr sz="1900" b="1" i="0">
                <a:solidFill>
                  <a:srgbClr val="99002B"/>
                </a:solidFill>
                <a:latin typeface="Arial"/>
              </a:rPr>
              <a:t>But:</a:t>
            </a:r>
          </a:p>
          <a:p>
            <a:pPr algn="l">
              <a:lnSpc>
                <a:spcPct val="100000"/>
              </a:lnSpc>
              <a:spcAft>
                <a:spcPts val="1100"/>
              </a:spcAft>
            </a:pPr>
            <a:r>
              <a:rPr sz="1600" b="0" i="0">
                <a:solidFill>
                  <a:srgbClr val="000000"/>
                </a:solidFill>
                <a:latin typeface="Arial"/>
              </a:rPr>
              <a:t>it only worked with a persona prompt — the same model without one scored 21%</a:t>
            </a:r>
          </a:p>
          <a:p>
            <a:pPr algn="l">
              <a:lnSpc>
                <a:spcPct val="100000"/>
              </a:lnSpc>
              <a:spcAft>
                <a:spcPts val="1100"/>
              </a:spcAft>
            </a:pPr>
            <a:r>
              <a:rPr sz="1600" b="0" i="0">
                <a:solidFill>
                  <a:srgbClr val="000000"/>
                </a:solidFill>
                <a:latin typeface="Arial"/>
              </a:rPr>
              <a:t>50% would mean judges were purely guessing — GPT-4.5 scored above that</a:t>
            </a:r>
          </a:p>
          <a:p>
            <a:pPr algn="l">
              <a:lnSpc>
                <a:spcPct val="100000"/>
              </a:lnSpc>
              <a:spcAft>
                <a:spcPts val="1100"/>
              </a:spcAft>
            </a:pPr>
            <a:r>
              <a:rPr sz="1600" b="0" i="0">
                <a:solidFill>
                  <a:srgbClr val="000000"/>
                </a:solidFill>
                <a:latin typeface="Arial"/>
              </a:rPr>
              <a:t>conversations were short, with untrained judges</a:t>
            </a:r>
          </a:p>
          <a:p>
            <a:pPr algn="l">
              <a:lnSpc>
                <a:spcPct val="100000"/>
              </a:lnSpc>
              <a:spcAft>
                <a:spcPts val="1100"/>
              </a:spcAft>
            </a:pPr>
            <a:r>
              <a:rPr sz="1600" b="0" i="0">
                <a:solidFill>
                  <a:srgbClr val="000000"/>
                </a:solidFill>
                <a:latin typeface="Arial"/>
              </a:rPr>
              <a:t>passing means imitating a human, including human mistakes — it is not a measure of usefulness, reasoning or understanding</a:t>
            </a:r>
          </a:p>
          <a:p>
            <a:pPr algn="l">
              <a:lnSpc>
                <a:spcPct val="100000"/>
              </a:lnSpc>
              <a:spcAft>
                <a:spcPts val="1100"/>
              </a:spcAft>
            </a:pPr>
            <a:r>
              <a:rPr sz="1700" b="1" i="0">
                <a:solidFill>
                  <a:srgbClr val="000064"/>
                </a:solidFill>
                <a:latin typeface="Arial"/>
              </a:rPr>
              <a:t>So: the test fell, and the field had already moved on to better benchmarks.</a:t>
            </a:r>
          </a:p>
        </p:txBody>
      </p:sp>
      <p:sp>
        <p:nvSpPr>
          <p:cNvPr id="7" name="TextBox 6"/>
          <p:cNvSpPr txBox="1"/>
          <p:nvPr/>
        </p:nvSpPr>
        <p:spPr>
          <a:xfrm>
            <a:off x="502920" y="8549640"/>
            <a:ext cx="11430000" cy="365760"/>
          </a:xfrm>
          <a:prstGeom prst="rect">
            <a:avLst/>
          </a:prstGeom>
          <a:noFill/>
        </p:spPr>
        <p:txBody>
          <a:bodyPr wrap="square" lIns="45720" tIns="0" rIns="45720" bIns="0" anchor="t">
            <a:spAutoFit/>
          </a:bodyPr>
          <a:lstStyle/>
          <a:p>
            <a:pPr algn="l">
              <a:spcAft>
                <a:spcPts val="0"/>
              </a:spcAft>
            </a:pPr>
            <a:r>
              <a:rPr sz="1200" b="0" i="0">
                <a:solidFill>
                  <a:srgbClr val="8C8C8C"/>
                </a:solidFill>
                <a:latin typeface="Arial"/>
              </a:rPr>
              <a:t>Jones &amp; Bergen, UC San Diego (2025), “Large Language Models Pass the Turing Test” — three-party test, ~300 judges. Verify the latest version before citing.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tificial Intelligence | Machine learning | Deep learning | Argility">
            <a:extLst>
              <a:ext uri="{FF2B5EF4-FFF2-40B4-BE49-F238E27FC236}">
                <a16:creationId xmlns:a16="http://schemas.microsoft.com/office/drawing/2014/main" id="{5087C906-2CCB-5849-994A-761469C4F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5426" y="2338067"/>
            <a:ext cx="7130949" cy="6894741"/>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484D825F-E5CD-9D4E-A6C5-7C889B144C57}"/>
              </a:ext>
            </a:extLst>
          </p:cNvPr>
          <p:cNvSpPr/>
          <p:nvPr/>
        </p:nvSpPr>
        <p:spPr>
          <a:xfrm>
            <a:off x="9571783" y="5655385"/>
            <a:ext cx="3289835" cy="340509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2400" dirty="0"/>
              <a:t>DATA SCIENCE</a:t>
            </a:r>
          </a:p>
        </p:txBody>
      </p:sp>
      <p:sp>
        <p:nvSpPr>
          <p:cNvPr id="5" name="Oval 4">
            <a:extLst>
              <a:ext uri="{FF2B5EF4-FFF2-40B4-BE49-F238E27FC236}">
                <a16:creationId xmlns:a16="http://schemas.microsoft.com/office/drawing/2014/main" id="{44EEFAF7-545F-E44F-93CF-103E9BBAE75B}"/>
              </a:ext>
            </a:extLst>
          </p:cNvPr>
          <p:cNvSpPr/>
          <p:nvPr/>
        </p:nvSpPr>
        <p:spPr>
          <a:xfrm>
            <a:off x="3450193" y="5805630"/>
            <a:ext cx="3127528" cy="3254854"/>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2000" dirty="0"/>
              <a:t>NATURAL LANGUAGE PROCESSING</a:t>
            </a:r>
          </a:p>
        </p:txBody>
      </p:sp>
      <p:sp>
        <p:nvSpPr>
          <p:cNvPr id="6" name="Oval 5">
            <a:extLst>
              <a:ext uri="{FF2B5EF4-FFF2-40B4-BE49-F238E27FC236}">
                <a16:creationId xmlns:a16="http://schemas.microsoft.com/office/drawing/2014/main" id="{DB78AC5D-07DB-9C4B-A89C-252412F1CDE6}"/>
              </a:ext>
            </a:extLst>
          </p:cNvPr>
          <p:cNvSpPr/>
          <p:nvPr/>
        </p:nvSpPr>
        <p:spPr>
          <a:xfrm>
            <a:off x="157600" y="3441572"/>
            <a:ext cx="3127528" cy="325485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2400" dirty="0"/>
              <a:t>ROBOTICS</a:t>
            </a:r>
          </a:p>
        </p:txBody>
      </p:sp>
      <p:sp>
        <p:nvSpPr>
          <p:cNvPr id="7" name="Oval 6">
            <a:extLst>
              <a:ext uri="{FF2B5EF4-FFF2-40B4-BE49-F238E27FC236}">
                <a16:creationId xmlns:a16="http://schemas.microsoft.com/office/drawing/2014/main" id="{355EA741-641F-FD4C-AC4F-6D104970C596}"/>
              </a:ext>
            </a:extLst>
          </p:cNvPr>
          <p:cNvSpPr/>
          <p:nvPr/>
        </p:nvSpPr>
        <p:spPr>
          <a:xfrm>
            <a:off x="13575204" y="2400531"/>
            <a:ext cx="3127528" cy="3254854"/>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2400" dirty="0"/>
              <a:t>VISION</a:t>
            </a:r>
          </a:p>
        </p:txBody>
      </p:sp>
      <p:sp>
        <p:nvSpPr>
          <p:cNvPr id="8" name="Oval 7">
            <a:extLst>
              <a:ext uri="{FF2B5EF4-FFF2-40B4-BE49-F238E27FC236}">
                <a16:creationId xmlns:a16="http://schemas.microsoft.com/office/drawing/2014/main" id="{1B9A7ECD-F7F4-FA49-ABA4-2D179B842B47}"/>
              </a:ext>
            </a:extLst>
          </p:cNvPr>
          <p:cNvSpPr/>
          <p:nvPr/>
        </p:nvSpPr>
        <p:spPr>
          <a:xfrm>
            <a:off x="13575204" y="5805630"/>
            <a:ext cx="3127528" cy="325485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2400" dirty="0"/>
              <a:t>SPEECH</a:t>
            </a:r>
          </a:p>
        </p:txBody>
      </p:sp>
      <p:sp>
        <p:nvSpPr>
          <p:cNvPr id="9" name="Rectangle 8">
            <a:extLst>
              <a:ext uri="{FF2B5EF4-FFF2-40B4-BE49-F238E27FC236}">
                <a16:creationId xmlns:a16="http://schemas.microsoft.com/office/drawing/2014/main" id="{AB5A143D-2F3F-254D-ADF6-E5DA8FB7C464}"/>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le 1">
            <a:extLst>
              <a:ext uri="{FF2B5EF4-FFF2-40B4-BE49-F238E27FC236}">
                <a16:creationId xmlns:a16="http://schemas.microsoft.com/office/drawing/2014/main" id="{F5EF86EA-4B7B-2F45-9020-F4CA1EC030F9}"/>
              </a:ext>
            </a:extLst>
          </p:cNvPr>
          <p:cNvSpPr txBox="1">
            <a:spLocks/>
          </p:cNvSpPr>
          <p:nvPr/>
        </p:nvSpPr>
        <p:spPr>
          <a:xfrm>
            <a:off x="998981" y="587818"/>
            <a:ext cx="15373922" cy="664797"/>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a:t>Branches of A.I</a:t>
            </a:r>
            <a:endParaRPr lang="en-NO" dirty="0"/>
          </a:p>
        </p:txBody>
      </p:sp>
    </p:spTree>
    <p:extLst>
      <p:ext uri="{BB962C8B-B14F-4D97-AF65-F5344CB8AC3E}">
        <p14:creationId xmlns:p14="http://schemas.microsoft.com/office/powerpoint/2010/main" val="38078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6" grpId="0" animBg="1"/>
      <p:bldP spid="6" grpId="1" animBg="1"/>
      <p:bldP spid="7" grpId="0" animBg="1"/>
      <p:bldP spid="7" grpId="1" animBg="1"/>
      <p:bldP spid="8" grpId="0" animBg="1"/>
      <p:bldP spid="8"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Skillset needed to work with A.I</a:t>
            </a:r>
          </a:p>
        </p:txBody>
      </p:sp>
      <p:sp>
        <p:nvSpPr>
          <p:cNvPr id="3" name="Content Placeholder 2">
            <a:extLst>
              <a:ext uri="{FF2B5EF4-FFF2-40B4-BE49-F238E27FC236}">
                <a16:creationId xmlns:a16="http://schemas.microsoft.com/office/drawing/2014/main" id="{E0BAC923-030A-F346-8E52-C87A246D3E66}"/>
              </a:ext>
            </a:extLst>
          </p:cNvPr>
          <p:cNvSpPr>
            <a:spLocks noGrp="1"/>
          </p:cNvSpPr>
          <p:nvPr>
            <p:ph idx="1"/>
          </p:nvPr>
        </p:nvSpPr>
        <p:spPr>
          <a:xfrm>
            <a:off x="972122" y="1985963"/>
            <a:ext cx="15373922" cy="6187058"/>
          </a:xfrm>
        </p:spPr>
        <p:txBody>
          <a:bodyPr>
            <a:normAutofit fontScale="92500" lnSpcReduction="20000"/>
          </a:bodyPr>
          <a:lstStyle/>
          <a:p>
            <a:pPr marL="0" indent="0">
              <a:buNone/>
            </a:pPr>
            <a:r>
              <a:rPr lang="nb-NO" sz="2800" b="1" dirty="0"/>
              <a:t>Math</a:t>
            </a:r>
          </a:p>
          <a:p>
            <a:pPr lvl="1"/>
            <a:r>
              <a:rPr lang="en-GB" sz="2400" dirty="0"/>
              <a:t>the theoretical background necessary to conduct and apply AI research</a:t>
            </a:r>
            <a:br>
              <a:rPr lang="en-GB" sz="2400" dirty="0"/>
            </a:br>
            <a:endParaRPr lang="en-GB" sz="2400" b="1" dirty="0"/>
          </a:p>
          <a:p>
            <a:pPr marL="0" indent="0">
              <a:buNone/>
            </a:pPr>
            <a:r>
              <a:rPr lang="en-NO" sz="2800" b="1" dirty="0"/>
              <a:t>Statistics</a:t>
            </a:r>
          </a:p>
          <a:p>
            <a:pPr lvl="1"/>
            <a:r>
              <a:rPr lang="en-GB" sz="2400" dirty="0"/>
              <a:t>empirical skills needed to fit and measure the impact of AI models </a:t>
            </a:r>
          </a:p>
          <a:p>
            <a:pPr marL="325069" lvl="1" indent="0">
              <a:buNone/>
            </a:pPr>
            <a:endParaRPr lang="en-GB" sz="2400" dirty="0"/>
          </a:p>
          <a:p>
            <a:pPr marL="0" indent="0">
              <a:buNone/>
            </a:pPr>
            <a:r>
              <a:rPr lang="en-GB" sz="2800" b="1" dirty="0"/>
              <a:t>Machine Learning</a:t>
            </a:r>
          </a:p>
          <a:p>
            <a:pPr lvl="1"/>
            <a:r>
              <a:rPr lang="en-GB" sz="2400" dirty="0"/>
              <a:t>skills needed to build self learning models like deep learning and other supervised models that power most AI applications today </a:t>
            </a:r>
          </a:p>
          <a:p>
            <a:pPr marL="325069" lvl="1" indent="0">
              <a:buNone/>
            </a:pPr>
            <a:endParaRPr lang="en-GB" sz="2400" dirty="0"/>
          </a:p>
          <a:p>
            <a:pPr marL="0" indent="0">
              <a:buNone/>
            </a:pPr>
            <a:r>
              <a:rPr lang="en-GB" sz="2800" b="1" dirty="0"/>
              <a:t>Statistical Programming</a:t>
            </a:r>
          </a:p>
          <a:p>
            <a:pPr lvl="1"/>
            <a:r>
              <a:rPr lang="en-GB" sz="2400" dirty="0"/>
              <a:t>programming skills needed to implement AI models such as in python and related packages like sci-kit learn and pandas </a:t>
            </a:r>
            <a:endParaRPr lang="en-GB" sz="2400" b="1" dirty="0"/>
          </a:p>
          <a:p>
            <a:pPr lvl="1"/>
            <a:endParaRPr lang="en-GB" sz="2400" b="1" dirty="0"/>
          </a:p>
          <a:p>
            <a:pPr marL="0" indent="0">
              <a:buNone/>
            </a:pPr>
            <a:r>
              <a:rPr lang="en-GB" sz="2800" b="1" dirty="0"/>
              <a:t>Software Engineering </a:t>
            </a:r>
          </a:p>
          <a:p>
            <a:pPr lvl="1"/>
            <a:r>
              <a:rPr lang="en-GB" sz="2400" dirty="0"/>
              <a:t>programming skills needed to design and scale AI powered applications </a:t>
            </a:r>
          </a:p>
          <a:p>
            <a:endParaRPr lang="en-NO" sz="2800"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264653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15A617-98EC-2543-AD90-FCE81E75C61C}"/>
              </a:ext>
            </a:extLst>
          </p:cNvPr>
          <p:cNvSpPr>
            <a:spLocks noGrp="1"/>
          </p:cNvSpPr>
          <p:nvPr>
            <p:ph idx="1"/>
          </p:nvPr>
        </p:nvSpPr>
        <p:spPr>
          <a:xfrm>
            <a:off x="1533728" y="2229178"/>
            <a:ext cx="13084120" cy="6598410"/>
          </a:xfrm>
        </p:spPr>
        <p:txBody>
          <a:bodyPr>
            <a:normAutofit/>
          </a:bodyPr>
          <a:lstStyle/>
          <a:p>
            <a:r>
              <a:rPr lang="nb-NO" dirty="0"/>
              <a:t>Human </a:t>
            </a:r>
            <a:r>
              <a:rPr lang="nb-NO" dirty="0" err="1"/>
              <a:t>trafficking</a:t>
            </a:r>
            <a:endParaRPr lang="nb-NO" dirty="0"/>
          </a:p>
          <a:p>
            <a:r>
              <a:rPr lang="nb-NO" dirty="0"/>
              <a:t>Money Laundering</a:t>
            </a:r>
          </a:p>
          <a:p>
            <a:r>
              <a:rPr lang="nb-NO" dirty="0" err="1"/>
              <a:t>Terrorism</a:t>
            </a:r>
            <a:endParaRPr lang="nb-NO" dirty="0"/>
          </a:p>
          <a:p>
            <a:r>
              <a:rPr lang="nb-NO" dirty="0"/>
              <a:t>Covid19 </a:t>
            </a:r>
            <a:r>
              <a:rPr lang="nb-NO" dirty="0" err="1"/>
              <a:t>research</a:t>
            </a:r>
            <a:endParaRPr lang="nb-NO" dirty="0"/>
          </a:p>
          <a:p>
            <a:r>
              <a:rPr lang="en-GB" dirty="0"/>
              <a:t>e</a:t>
            </a:r>
            <a:r>
              <a:rPr lang="en-NO" dirty="0"/>
              <a:t>tc ..</a:t>
            </a:r>
          </a:p>
        </p:txBody>
      </p:sp>
      <p:sp>
        <p:nvSpPr>
          <p:cNvPr id="4" name="Rectangle 3">
            <a:extLst>
              <a:ext uri="{FF2B5EF4-FFF2-40B4-BE49-F238E27FC236}">
                <a16:creationId xmlns:a16="http://schemas.microsoft.com/office/drawing/2014/main" id="{7C4FA2C3-2EE4-3847-AB42-AC366DE053D7}"/>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extBox 1">
            <a:extLst>
              <a:ext uri="{FF2B5EF4-FFF2-40B4-BE49-F238E27FC236}">
                <a16:creationId xmlns:a16="http://schemas.microsoft.com/office/drawing/2014/main" id="{0B6C410E-DAAE-9D47-8C60-3A1CF4D89E73}"/>
              </a:ext>
            </a:extLst>
          </p:cNvPr>
          <p:cNvSpPr txBox="1"/>
          <p:nvPr/>
        </p:nvSpPr>
        <p:spPr>
          <a:xfrm>
            <a:off x="1189213" y="504718"/>
            <a:ext cx="13773150" cy="830997"/>
          </a:xfrm>
          <a:prstGeom prst="rect">
            <a:avLst/>
          </a:prstGeom>
          <a:noFill/>
        </p:spPr>
        <p:txBody>
          <a:bodyPr wrap="square" rtlCol="0">
            <a:spAutoFit/>
          </a:bodyPr>
          <a:lstStyle/>
          <a:p>
            <a:r>
              <a:rPr lang="en-US" sz="4800" dirty="0"/>
              <a:t>A.I buzz is also helping to solve many problems</a:t>
            </a:r>
          </a:p>
        </p:txBody>
      </p:sp>
      <p:pic>
        <p:nvPicPr>
          <p:cNvPr id="5122" name="Picture 2" descr="How to help AI find human trafficking victims">
            <a:extLst>
              <a:ext uri="{FF2B5EF4-FFF2-40B4-BE49-F238E27FC236}">
                <a16:creationId xmlns:a16="http://schemas.microsoft.com/office/drawing/2014/main" id="{8EED5911-24AE-F44B-A9E8-E65FC5C86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5295" y="3781943"/>
            <a:ext cx="7435023" cy="374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16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2.xml><?xml version="1.0" encoding="utf-8"?>
<a:theme xmlns:a="http://schemas.openxmlformats.org/drawingml/2006/main" name="1_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B571884E-641B-4B14-A4C2-E6C27909D956}"/>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1818A354CD664446AEC35BBAE2499562" ma:contentTypeVersion="13" ma:contentTypeDescription="Opprett et nytt dokument." ma:contentTypeScope="" ma:versionID="c05c63c057be531b98f917e986ab73c0">
  <xsd:schema xmlns:xsd="http://www.w3.org/2001/XMLSchema" xmlns:xs="http://www.w3.org/2001/XMLSchema" xmlns:p="http://schemas.microsoft.com/office/2006/metadata/properties" xmlns:ns3="38664639-412d-4c21-8e39-7e7d568987ec" xmlns:ns4="3aca559b-e256-4fa3-843e-2d1bb256df5f" targetNamespace="http://schemas.microsoft.com/office/2006/metadata/properties" ma:root="true" ma:fieldsID="d1ab16c94bf7e86b8919e30ac7bb9e89" ns3:_="" ns4:_="">
    <xsd:import namespace="38664639-412d-4c21-8e39-7e7d568987ec"/>
    <xsd:import namespace="3aca559b-e256-4fa3-843e-2d1bb256df5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64639-412d-4c21-8e39-7e7d568987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ca559b-e256-4fa3-843e-2d1bb256df5f"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SharingHintHash" ma:index="18"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8737683-68CB-4077-9859-434B8A1CE3E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8664639-412d-4c21-8e39-7e7d568987ec"/>
    <ds:schemaRef ds:uri="3aca559b-e256-4fa3-843e-2d1bb256df5f"/>
    <ds:schemaRef ds:uri="http://www.w3.org/XML/1998/namespace"/>
    <ds:schemaRef ds:uri="http://purl.org/dc/dcmitype/"/>
  </ds:schemaRefs>
</ds:datastoreItem>
</file>

<file path=customXml/itemProps2.xml><?xml version="1.0" encoding="utf-8"?>
<ds:datastoreItem xmlns:ds="http://schemas.openxmlformats.org/officeDocument/2006/customXml" ds:itemID="{48E28474-1722-4CE4-848A-F0F44280BEBA}">
  <ds:schemaRefs>
    <ds:schemaRef ds:uri="http://schemas.microsoft.com/sharepoint/v3/contenttype/forms"/>
  </ds:schemaRefs>
</ds:datastoreItem>
</file>

<file path=customXml/itemProps3.xml><?xml version="1.0" encoding="utf-8"?>
<ds:datastoreItem xmlns:ds="http://schemas.openxmlformats.org/officeDocument/2006/customXml" ds:itemID="{9BA0E907-83E9-4FEC-BCF8-F9D0EC14F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64639-412d-4c21-8e39-7e7d568987ec"/>
    <ds:schemaRef ds:uri="3aca559b-e256-4fa3-843e-2d1bb256d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presentation OsloMet_english</Template>
  <TotalTime>9168</TotalTime>
  <Words>2534</Words>
  <Application>Microsoft Macintosh PowerPoint</Application>
  <PresentationFormat>Custom</PresentationFormat>
  <Paragraphs>276</Paragraphs>
  <Slides>34</Slides>
  <Notes>17</Notes>
  <HiddenSlides>0</HiddenSlides>
  <MMClips>1</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34</vt:i4>
      </vt:variant>
    </vt:vector>
  </HeadingPairs>
  <TitlesOfParts>
    <vt:vector size="39" baseType="lpstr">
      <vt:lpstr>Arial</vt:lpstr>
      <vt:lpstr>Calibri</vt:lpstr>
      <vt:lpstr>NewBaskerville</vt:lpstr>
      <vt:lpstr>Office-tema</vt:lpstr>
      <vt:lpstr>1_Office-tema</vt:lpstr>
      <vt:lpstr>Basics of A.I</vt:lpstr>
      <vt:lpstr>PowerPoint Presentation</vt:lpstr>
      <vt:lpstr>PowerPoint Presentation</vt:lpstr>
      <vt:lpstr>PowerPoint Presentation</vt:lpstr>
      <vt:lpstr>What is Artifical Intelligence ?</vt:lpstr>
      <vt:lpstr>If you remember one sentence today</vt:lpstr>
      <vt:lpstr>AI, machine learning, deep learning, generative AI</vt:lpstr>
      <vt:lpstr>PowerPoint Presentation</vt:lpstr>
      <vt:lpstr>PowerPoint Presentation</vt:lpstr>
      <vt:lpstr>PowerPoint Presentation</vt:lpstr>
      <vt:lpstr>PowerPoint Presentation</vt:lpstr>
      <vt:lpstr>PowerPoint Presentation</vt:lpstr>
      <vt:lpstr>History of A.I – important points</vt:lpstr>
      <vt:lpstr>PowerPoint Presentation</vt:lpstr>
      <vt:lpstr>The two AI winters — why this history matters</vt:lpstr>
      <vt:lpstr>PowerPoint Presentation</vt:lpstr>
      <vt:lpstr>The modern era — and why it accelerated</vt:lpstr>
      <vt:lpstr>Why now? Four things had to arrive together</vt:lpstr>
      <vt:lpstr>What actually changed with generative AI</vt:lpstr>
      <vt:lpstr>Most AI is invisible — it powers other software</vt:lpstr>
      <vt:lpstr>PowerPoint Presentation</vt:lpstr>
      <vt:lpstr>PowerPoint Presentation</vt:lpstr>
      <vt:lpstr>PowerPoint Presentation</vt:lpstr>
      <vt:lpstr>PowerPoint Presentation</vt:lpstr>
      <vt:lpstr>PowerPoint Presentation</vt:lpstr>
      <vt:lpstr>Types of A.I</vt:lpstr>
      <vt:lpstr>PowerPoint Presentation</vt:lpstr>
      <vt:lpstr>Turing Test – General AI</vt:lpstr>
      <vt:lpstr>PowerPoint Presentation</vt:lpstr>
      <vt:lpstr>PowerPoint Presentation</vt:lpstr>
      <vt:lpstr>So has the Turing Test been passed? (2025)</vt:lpstr>
      <vt:lpstr>PowerPoint Presentation</vt:lpstr>
      <vt:lpstr>Skillset needed to work with A.I</vt:lpstr>
      <vt:lpstr>PowerPoint Presentation</vt:lpstr>
    </vt:vector>
  </TitlesOfParts>
  <Company>Høgskolen i Oslo og Akershus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OsloMet –  Oslo Metropolitan University </dc:title>
  <dc:creator>Gustavo Mello</dc:creator>
  <dc:description>template by officeconsult.no</dc:description>
  <cp:lastModifiedBy>Umair M.Imam</cp:lastModifiedBy>
  <cp:revision>221</cp:revision>
  <dcterms:created xsi:type="dcterms:W3CDTF">2020-07-02T15:35:18Z</dcterms:created>
  <dcterms:modified xsi:type="dcterms:W3CDTF">2026-08-18T14:14:31Z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0x0101001818A354CD664446AEC35BBAE2499562</vt:lpwstr>
  </property>
</Properties>
</file>